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94" r:id="rId8"/>
    <p:sldId id="293" r:id="rId9"/>
    <p:sldId id="300" r:id="rId10"/>
    <p:sldId id="292" r:id="rId11"/>
    <p:sldId id="268" r:id="rId12"/>
    <p:sldId id="297" r:id="rId13"/>
    <p:sldId id="296" r:id="rId14"/>
    <p:sldId id="299" r:id="rId15"/>
    <p:sldId id="295" r:id="rId16"/>
    <p:sldId id="298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81" userDrawn="1">
          <p15:clr>
            <a:srgbClr val="A4A3A4"/>
          </p15:clr>
        </p15:guide>
        <p15:guide id="2" pos="30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81"/>
        <p:guide pos="301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工作流对比：原生 OpenSpec vs OpenSpec-HW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78425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4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14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34305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34305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34305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34305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34305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34305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34305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34305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094640"/>
            <a:ext cx="5000000" cy="266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4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14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20420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20420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20420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080420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20420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20420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20420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20420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20420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20420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080420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20420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670420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670420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670420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Microsoft YaHei" panose="020B0503020204020204" charset="-122"/>
              </a:rPr>
              <a:t>2/41</a:t>
            </a:r>
            <a:endParaRPr sz="10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11045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3504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60700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1952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58185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095625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868295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42235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53895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25210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08020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044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0888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5" name="Rounded Rectangle 14"/>
          <p:cNvSpPr/>
          <p:nvPr/>
        </p:nvSpPr>
        <p:spPr>
          <a:xfrm>
            <a:off x="854710" y="1488440"/>
            <a:ext cx="2754630" cy="4591050"/>
          </a:xfrm>
          <a:prstGeom prst="roundRect">
            <a:avLst>
              <a:gd name="adj" fmla="val 4000"/>
            </a:avLst>
          </a:prstGeom>
          <a:solidFill>
            <a:srgbClr val="F0FAFA"/>
          </a:solidFill>
          <a:ln w="19050">
            <a:solidFill>
              <a:srgbClr val="008B8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91440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1A2E"/>
                </a:solidFill>
              </a:rPr>
              <a:t>背景与框架：Agentic Coding 与 OpenSpec</a:t>
            </a:r>
            <a:endParaRPr sz="2200" b="1">
              <a:solidFill>
                <a:srgbClr val="1A1A2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290695" y="1313815"/>
            <a:ext cx="2769870" cy="4806315"/>
          </a:xfrm>
          <a:prstGeom prst="roundRect">
            <a:avLst>
              <a:gd name="adj" fmla="val 4000"/>
            </a:avLst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0695" y="1313815"/>
            <a:ext cx="2769870" cy="270510"/>
          </a:xfrm>
          <a:prstGeom prst="roundRect">
            <a:avLst>
              <a:gd name="adj" fmla="val 4000"/>
            </a:avLst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3720" y="1302385"/>
            <a:ext cx="2301240" cy="29591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FFFFFF"/>
                </a:solidFill>
              </a:rPr>
              <a:t>为什么需要 OpenSpec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45305" y="1578610"/>
            <a:ext cx="2791460" cy="450342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Agentic Coding 现状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Claude Code 等 AI 编程工具已能自主完成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复杂的软件开发任务。但在企业环境中，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能写代码只是第一步。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需求失控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容易自作主张添加/遗漏功能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需求只存在于聊天记录中，无法追溯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质量不稳定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同样需求，不同对话产出差异大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缺乏验证标准，靠人肉 review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协作困难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AI 对话上下文无法共享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多人并行修改容易冲突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❌ 知识流失</a:t>
            </a:r>
            <a:endParaRPr sz="9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决策过程随对话消失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新人接手困难，重复踩坑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⚠ 解决了"怎么写"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0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但没解决"写什么"和"写得对不对"</a:t>
            </a:r>
            <a:endParaRPr sz="10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753985" y="1264920"/>
            <a:ext cx="3061335" cy="485521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53985" y="1264920"/>
            <a:ext cx="3061970" cy="237490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27010" y="1253490"/>
            <a:ext cx="2572385" cy="2603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FFFFFF"/>
                </a:solidFill>
              </a:rPr>
              <a:t>OpenSpec：规格驱动的人机协同框架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08595" y="1529715"/>
            <a:ext cx="3090545" cy="458978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定位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轻量级规格驱动框架，让人和 AI 在写代码之前先达成共识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四大设计原则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流动而非僵化 — 没有阶段门控，按需推进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迭代而非瀑布 — 边做边学，持续优化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增量而非全量 — 用 Delta 记录变更，不重写整体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存量优先 — 为已有项目设计，不只给新项目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项目结构（两个核心目录）</a:t>
            </a:r>
            <a:endParaRPr sz="9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openspec/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├── specs/           ← 当前行为的真相源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│   └── &lt;domain&gt;/spec.md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changes/         ← 提议的变更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proposal.md  （为什么改）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usecases.md  （用户场景）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specs/       （Delta: 增/改/删）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design.md    （怎么改）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└── tasks.md     （实现清单）</a:t>
            </a:r>
            <a:endParaRPr sz="75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200"/>
              </a:spcBef>
              <a:spcAft>
                <a:spcPts val="0"/>
              </a:spcAft>
            </a:pPr>
            <a:endParaRPr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核心创新：Delta Spec（增量规格）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不是重写整个规格，而是只描述变化：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ADDED Requirements      ← 新增需求</a:t>
            </a:r>
            <a:endParaRPr sz="900" b="0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MODIFIED Requirements  ← 修改需求</a:t>
            </a:r>
            <a:endParaRPr sz="900" b="0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## REMOVED Requirements   ← 删除需求</a:t>
            </a:r>
            <a:endParaRPr sz="900" b="0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每个需求附带 Given/When/Then 验证场景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归档时自动合并到主规格 → 活文档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2165" y="1329055"/>
            <a:ext cx="2827655" cy="273685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5190" y="1374140"/>
            <a:ext cx="2754630" cy="15875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FFFFFF"/>
                </a:solidFill>
              </a:rPr>
              <a:t>更大的背景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49325" y="3056890"/>
            <a:ext cx="2626360" cy="22961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008B8B"/>
                </a:solidFill>
              </a:rPr>
              <a:t>人与 AI 智能体的</a:t>
            </a:r>
            <a:endParaRPr sz="1400" b="1">
              <a:solidFill>
                <a:srgbClr val="008B8B"/>
              </a:solidFill>
            </a:endParaRPr>
          </a:p>
          <a:p>
            <a:pPr algn="ctr"/>
            <a:r>
              <a:rPr sz="1400" b="1">
                <a:solidFill>
                  <a:srgbClr val="008B8B"/>
                </a:solidFill>
              </a:rPr>
              <a:t>工程能力建设</a:t>
            </a:r>
            <a:endParaRPr sz="1400" b="1">
              <a:solidFill>
                <a:srgbClr val="008B8B"/>
              </a:solidFill>
            </a:endParaRPr>
          </a:p>
          <a:p>
            <a:pPr algn="ctr">
              <a:spcBef>
                <a:spcPts val="1600"/>
              </a:spcBef>
            </a:pPr>
            <a:r>
              <a:rPr sz="1100" b="0">
                <a:solidFill>
                  <a:srgbClr val="888888"/>
                </a:solidFill>
              </a:rPr>
              <a:t>（讨论内容）</a:t>
            </a:r>
            <a:endParaRPr sz="1100" b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866900" cy="4298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1A2E"/>
                </a:solidFill>
              </a:rPr>
              <a:t>潜在研究方向</a:t>
            </a:r>
            <a:endParaRPr sz="2200" b="1">
              <a:solidFill>
                <a:srgbClr val="1A1A2E"/>
              </a:solidFill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182880" y="658368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18288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56032" y="658368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37744" y="896239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</a:rPr>
              <a:t>核心价值</a:t>
            </a:r>
            <a:endParaRPr sz="900" b="1">
              <a:solidFill>
                <a:srgbClr val="0078D4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</a:rPr>
              <a:t>✦ 可与方向 3 Self-Evolving 形成审查—学习闭环</a:t>
            </a:r>
            <a:endParaRPr sz="900" b="1">
              <a:solidFill>
                <a:srgbClr val="0078D4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学术依据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Du et al. (ICML'24) Multi-Agent Debate 提升推理准确性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Chan et al. (ICLR'24) ChatEval 多智能体辩论评估有效性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Oriol et al. (RE@Next!'25) MAD 在需求工程的初步探索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888888"/>
                </a:solidFill>
              </a:rPr>
              <a:t>实施路径</a:t>
            </a:r>
            <a:endParaRPr sz="900" b="1">
              <a:solidFill>
                <a:srgbClr val="888888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Agent 角色定义 → 审查协议 → 交叉审查引擎 → Spec 修复建议 → 与 Self-Evolving 闭环</a:t>
            </a:r>
            <a:endParaRPr sz="800" b="0">
              <a:solidFill>
                <a:srgbClr val="888888"/>
              </a:solidFill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49340" y="658368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4934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22492" y="658368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04204" y="923544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自动生成 property-based tests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核心价值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学术依据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Meyer (1988/1992) Design by Contract 理论基础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Kiro (AWS, GA 2025) EARS→test 验证 | Tessl、spec-kit 也在探索此方向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182880" y="3758184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182880" y="375818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56032" y="3758184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37744" y="4023360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蒸馏领域级 Spec 最佳实践原则（如：风控 spec 必须包含 X/Y/Z）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核心价值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✦ 经验沉淀为可复用的组织知识资产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✦ 与 Domain Packs 差异化互补：Pack = 行业通识，Self-Evolving = 项目经验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学术依据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EvolveR (Wu et al., arXiv:2510.16079) LLM Agent 经验蒸馏自进化框架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自进化 Agent 综述 (Gao et al., arXiv:2507.21046; Tao et al., arXiv:2508.07407)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49340" y="3758184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49340" y="375818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22492" y="3758184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04204" y="4023360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通用大模型不懂行业：电信须符合 3GPP、汽车须通过 ISO 26262、能源须满足 IEC 62109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Schema 约束 + 验证规则（Validators）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</a:rPr>
              <a:t>差异化价值</a:t>
            </a:r>
            <a:endParaRPr sz="900" b="1">
              <a:solidFill>
                <a:srgbClr val="008B8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行业落地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ICT：3GPP 协议合规 + 网络功能 spec 模板 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汽车：ASIL 等级模板 + AUTOSAR 约束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Microsoft YaHei" panose="020B0503020204020204" charset="-122"/>
              </a:rPr>
              <a:t>三组实验综合评分：五维度 SE 质量对比</a:t>
            </a:r>
            <a:endParaRPr sz="26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60000"/>
            <a:ext cx="10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2500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255000"/>
            <a:ext cx="379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初始构建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0000" y="1520000"/>
            <a:ext cx="3790000" cy="380000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5300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190000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1912000"/>
            <a:ext cx="130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190000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3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190000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190000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18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19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45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46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272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273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299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00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26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27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353500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354300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2500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255000"/>
            <a:ext cx="34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需求变更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10000" y="1520000"/>
            <a:ext cx="3400000" cy="380000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5300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190000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1912000"/>
            <a:ext cx="130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5410000" y="190000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10000" y="191200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6460000" y="190000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60000" y="191200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18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19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5410000" y="218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10000" y="218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6460000" y="218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60000" y="218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45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46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5410000" y="245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10000" y="245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6460000" y="245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60000" y="245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272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273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5410000" y="272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10000" y="272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460000" y="272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60000" y="272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299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00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410000" y="299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10000" y="299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460000" y="299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60000" y="299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26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27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5410000" y="326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10000" y="326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6460000" y="326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60000" y="326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353500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354300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5410000" y="353500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10000" y="353700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6460000" y="353500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60000" y="353700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2500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255000"/>
            <a:ext cx="379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初始构建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000" y="1520000"/>
            <a:ext cx="3790000" cy="380000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5300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含前端交互界面、后端 REST API、数据可视化、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用户认证等功能模块，验证结论跨项目类型通用性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190000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1912000"/>
            <a:ext cx="130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190000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90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190000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190000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18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19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45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46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272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273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299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00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26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27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353500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354300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389000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Vanilla Claude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389000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110000" y="391000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4110000" y="442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5810000" y="391000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5810000" y="442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Vanilla Claude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389000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Vanilla Claude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485000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4875000"/>
            <a:ext cx="1120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 Vanilla Claude Code（平均 23.3 vs 6.7 / 25）。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0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0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维护演进（5:1）</a:t>
            </a:r>
            <a:r>
              <a:rPr sz="1000" b="1">
                <a:solidFill>
                  <a:srgbClr val="1A1A2E"/>
                </a:solidFill>
                <a:latin typeface="Microsoft YaHei" panose="020B0503020204020204" charset="-122"/>
              </a:rPr>
              <a:t>   差距最小：</a:t>
            </a:r>
            <a:r>
              <a:rPr sz="1000" b="1">
                <a:solidFill>
                  <a:srgbClr val="E86C00"/>
                </a:solidFill>
                <a:latin typeface="Microsoft YaHei" panose="020B0503020204020204" charset="-122"/>
              </a:rPr>
              <a:t>实现（4:2）</a:t>
            </a:r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   结论跨项目类型（量化交易 / Dashboard）与开发阶段（初始构建 / 需求变更）均成立，具有可复现性。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3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4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5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6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7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8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9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0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2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3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4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5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6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7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19704</Words>
  <Application>WPS Presentation</Application>
  <PresentationFormat/>
  <Paragraphs>1589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7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20</cp:revision>
  <dcterms:created xsi:type="dcterms:W3CDTF">2026-02-26T00:15:00Z</dcterms:created>
  <dcterms:modified xsi:type="dcterms:W3CDTF">2026-02-26T03:23:37Z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