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6"/>
  </p:notesMasterIdLst>
  <p:sldIdLst>
    <p:sldId id="302" r:id="rId3"/>
    <p:sldId id="309" r:id="rId4"/>
    <p:sldId id="306" r:id="rId5"/>
    <p:sldId id="307" r:id="rId7"/>
    <p:sldId id="308" r:id="rId8"/>
    <p:sldId id="301" r:id="rId9"/>
    <p:sldId id="256" r:id="rId10"/>
    <p:sldId id="257" r:id="rId11"/>
    <p:sldId id="258" r:id="rId12"/>
    <p:sldId id="294" r:id="rId13"/>
    <p:sldId id="293" r:id="rId14"/>
    <p:sldId id="292" r:id="rId15"/>
    <p:sldId id="268" r:id="rId16"/>
    <p:sldId id="297" r:id="rId17"/>
    <p:sldId id="296" r:id="rId18"/>
    <p:sldId id="295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</p:sldIdLst>
  <p:sldSz cx="1219073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48" userDrawn="1">
          <p15:clr>
            <a:srgbClr val="A4A3A4"/>
          </p15:clr>
        </p15:guide>
        <p15:guide id="2" pos="30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919ADCB-30F0-46B4-BD1B-84930864387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48"/>
        <p:guide pos="301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添加一下原生OpenSpec的流程是什么，把Khaled的方式页加进去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5-6页数量是没问题的，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面向人 +CodeAgent协同的可信系统工程方法与框架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提一下这个OpenSpec不支持我们华为的特定要求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1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0" name="Google Shape;700;p2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4" name="Google Shape;764;p2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2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6" name="Google Shape;776;p2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8" name="Google Shape;788;p2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2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0" name="Google Shape;820;p26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3" name="Google Shape;833;p27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2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8" name="Google Shape;848;p28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2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8" name="Google Shape;858;p29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6" name="Google Shape;866;p30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9" name="Google Shape;879;p3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3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5" name="Google Shape;895;p3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8" name="Google Shape;908;p3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3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4" name="Google Shape;934;p3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1" name="Google Shape;951;p3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9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0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2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3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43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3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43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5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4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7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8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7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notesSlide" Target="../notesSlides/notesSlide2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/>
          <p:nvPr>
            <p:ph type="ctrTitle"/>
          </p:nvPr>
        </p:nvSpPr>
        <p:spPr/>
        <p:txBody>
          <a:bodyPr/>
          <a:p>
            <a:r>
              <a:rPr lang="en-US"/>
              <a:t>Compact Ver.</a:t>
            </a:r>
            <a:endParaRPr lang="en-US"/>
          </a:p>
        </p:txBody>
      </p:sp>
      <p:sp>
        <p:nvSpPr>
          <p:cNvPr id="7" name="Subtitle 6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Rounded Rectangle 14"/>
          <p:cNvSpPr/>
          <p:nvPr/>
        </p:nvSpPr>
        <p:spPr>
          <a:xfrm>
            <a:off x="687070" y="1488440"/>
            <a:ext cx="3363595" cy="4591050"/>
          </a:xfrm>
          <a:prstGeom prst="roundRect">
            <a:avLst>
              <a:gd name="adj" fmla="val 4000"/>
            </a:avLst>
          </a:prstGeom>
          <a:solidFill>
            <a:srgbClr val="F0FAFA"/>
          </a:solidFill>
          <a:ln w="19050">
            <a:solidFill>
              <a:srgbClr val="008B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7540" y="409321"/>
            <a:ext cx="91440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1A2E"/>
                </a:solidFill>
              </a:rPr>
              <a:t>背景与框架：Agentic Coding 与 OpenSpec</a:t>
            </a:r>
            <a:endParaRPr sz="2200" b="1">
              <a:solidFill>
                <a:srgbClr val="1A1A2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290695" y="1313815"/>
            <a:ext cx="3528060" cy="4806315"/>
          </a:xfrm>
          <a:prstGeom prst="roundRect">
            <a:avLst>
              <a:gd name="adj" fmla="val 400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0695" y="1313815"/>
            <a:ext cx="3528060" cy="270510"/>
          </a:xfrm>
          <a:prstGeom prst="roundRect">
            <a:avLst>
              <a:gd name="adj" fmla="val 4000"/>
            </a:avLst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3720" y="1302385"/>
            <a:ext cx="2301240" cy="29591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FFFFFF"/>
                </a:solidFill>
              </a:rPr>
              <a:t>为什么需要 OpenSpec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45305" y="1578610"/>
            <a:ext cx="2410460" cy="450342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Agentic Coding 现状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Claude Code 等 AI 编程工具已能自主完成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复杂的软件开发任务。但在企业环境中，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能写代码只是第一步。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需求失控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 容易自作主张添加/遗漏功能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需求只存在于聊天记录中，无法追溯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质量不稳定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同样需求，不同对话产出差异大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缺乏验证标准，靠人肉 review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协作困难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 对话上下文无法共享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多人并行修改容易冲突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知识流失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决策过程随对话消失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新人接手困难，重复踩坑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0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⚠ 解决了"怎么写"</a:t>
            </a:r>
            <a:endParaRPr sz="10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0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但没解决"写什么"和"写得对不对"</a:t>
            </a:r>
            <a:endParaRPr sz="10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04175" y="1302385"/>
            <a:ext cx="3470275" cy="481457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04175" y="1302385"/>
            <a:ext cx="3469640" cy="237490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77200" y="1290955"/>
            <a:ext cx="2572385" cy="260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FFFFFF"/>
                </a:solidFill>
              </a:rPr>
              <a:t>OpenSpec：规格驱动的人机协同框架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58785" y="1567180"/>
            <a:ext cx="2869565" cy="455041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定位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轻量级规格驱动框架，让人和 AI 在写代码之前先达成共识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，确保工程标准水平的</a:t>
            </a:r>
            <a:r>
              <a:rPr lang="en-US" alt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code</a:t>
            </a:r>
            <a:r>
              <a:rPr lang="zh-CN" altLang="en-US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产出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四大设计原则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流动而非僵化 — 没有阶段门控，按需推进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迭代而非瀑布 — 边做边学，持续优化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增量而非全量 — 用 Delta 记录变更，不重写整体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存量优先 — 为已有项目设计，不只给新项目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项目结构（两个核心目录）</a:t>
            </a:r>
            <a:endParaRPr sz="9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openspec/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├── specs/           ← 当前行为的真相源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│   └── &lt;domain&gt;/spec.md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└── changes/         ← 提议的变更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proposal.md  （为什么改）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usecases.md  （用户场景）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specs/       （Delta: 增/改/删）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design.md    （怎么改）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└── tasks.md     （实现清单）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核心创新：Delta Spec（增量规格）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不是重写整个规格，而是只描述变化：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ADDED Requirements      ← 新增需求</a:t>
            </a:r>
            <a:endParaRPr sz="900" b="0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MODIFIED Requirements  ← 修改需求</a:t>
            </a:r>
            <a:endParaRPr sz="900" b="0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REMOVED Requirements   ← 删除需求</a:t>
            </a:r>
            <a:endParaRPr sz="900" b="0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每个需求附带 Given/When/Then 验证场景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归档时自动合并到主规格 → 活文档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7540" y="1329055"/>
            <a:ext cx="3452495" cy="273685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550" y="1374140"/>
            <a:ext cx="3363595" cy="1587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zh-CN" sz="1100" b="1">
                <a:solidFill>
                  <a:srgbClr val="FFFFFF"/>
                </a:solidFill>
                <a:ea typeface="SimSun" panose="02010600030101010101" pitchFamily="2" charset="-122"/>
              </a:rPr>
              <a:t>人</a:t>
            </a:r>
            <a:r>
              <a:rPr lang="en-US" altLang="zh-CN" sz="1100" b="1">
                <a:solidFill>
                  <a:srgbClr val="FFFFFF"/>
                </a:solidFill>
                <a:ea typeface="SimSun" panose="02010600030101010101" pitchFamily="2" charset="-122"/>
              </a:rPr>
              <a:t> +AI</a:t>
            </a:r>
            <a:r>
              <a:rPr lang="zh-CN" altLang="en-US" sz="1100" b="1">
                <a:solidFill>
                  <a:srgbClr val="FFFFFF"/>
                </a:solidFill>
                <a:ea typeface="SimSun" panose="02010600030101010101" pitchFamily="2" charset="-122"/>
              </a:rPr>
              <a:t>开发智能体</a:t>
            </a:r>
            <a:r>
              <a:rPr lang="en-US" altLang="zh-CN" sz="1100" b="1">
                <a:solidFill>
                  <a:srgbClr val="FFFFFF"/>
                </a:solidFill>
                <a:ea typeface="SimSun" panose="02010600030101010101" pitchFamily="2" charset="-122"/>
              </a:rPr>
              <a:t> </a:t>
            </a:r>
            <a:r>
              <a:rPr lang="zh-CN" altLang="en-US" sz="1100" b="1">
                <a:solidFill>
                  <a:srgbClr val="FFFFFF"/>
                </a:solidFill>
                <a:ea typeface="SimSun" panose="02010600030101010101" pitchFamily="2" charset="-122"/>
              </a:rPr>
              <a:t>的工程能力建设</a:t>
            </a:r>
            <a:endParaRPr lang="zh-CN" altLang="en-US" sz="1100" b="1">
              <a:solidFill>
                <a:srgbClr val="FFFFFF"/>
              </a:solidFill>
              <a:ea typeface="SimSun" panose="02010600030101010101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4385" y="3056890"/>
            <a:ext cx="3206115" cy="22961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人与 AI 智能体</a:t>
            </a:r>
            <a:r>
              <a:rPr lang="zh-CN"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：</a:t>
            </a:r>
            <a:endParaRPr lang="zh-CN"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altLang="zh-CN" sz="9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s 3"/>
          <p:cNvSpPr/>
          <p:nvPr/>
        </p:nvSpPr>
        <p:spPr>
          <a:xfrm>
            <a:off x="249555" y="4348480"/>
            <a:ext cx="11357610" cy="23228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Rectangles 6"/>
          <p:cNvSpPr/>
          <p:nvPr/>
        </p:nvSpPr>
        <p:spPr>
          <a:xfrm>
            <a:off x="249555" y="1463040"/>
            <a:ext cx="10483215" cy="15379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7" name="Google Shape;147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731520" y="365760"/>
            <a:ext cx="91440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 工作流对比：vs 原生 OpenSpec </a:t>
            </a:r>
            <a:endParaRPr sz="18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31520" y="1080000"/>
            <a:ext cx="100584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是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基于OpenSpec，根据Huawei实际情况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改进的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的fork</a:t>
            </a:r>
            <a:endParaRPr sz="1495" b="0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1165" y="140095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66666"/>
                </a:solidFill>
                <a:latin typeface="Microsoft YaHei" panose="020B0503020204020204" charset="-122"/>
              </a:rPr>
              <a:t>原生 OpenSpec</a:t>
            </a:r>
            <a:endParaRPr sz="1800" b="1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489105" y="1771770"/>
            <a:ext cx="950000" cy="800000"/>
          </a:xfrm>
          <a:prstGeom prst="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910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2910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260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64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369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9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3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478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8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482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87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7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591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696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6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00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805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5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809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9148655" y="1771770"/>
            <a:ext cx="950000" cy="800000"/>
          </a:xfrm>
          <a:prstGeom prst="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18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运行测试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验证功能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1165" y="423878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OpenSpec-HW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61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65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70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70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74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用户场景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主流程+异常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79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9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283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</a:t>
            </a:r>
            <a:r>
              <a:rPr lang="zh-CN" sz="850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388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88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392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497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97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01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606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6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10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715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15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719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824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24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828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933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3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Case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937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用例生成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基于</a:t>
            </a:r>
            <a:r>
              <a:rPr lang="en-US" sz="850">
                <a:solidFill>
                  <a:srgbClr val="FFFFFF"/>
                </a:solidFill>
                <a:latin typeface="Microsoft YaHei" panose="020B0503020204020204" charset="-122"/>
              </a:rPr>
              <a:t>Usecase &amp;</a:t>
            </a:r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Spec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042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2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Exec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046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执行测试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自动化验证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398880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350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59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568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677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786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895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51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260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369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478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87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96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805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914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1023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170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933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42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" name="Right Brace 1"/>
          <p:cNvSpPr/>
          <p:nvPr/>
        </p:nvSpPr>
        <p:spPr>
          <a:xfrm rot="5400000">
            <a:off x="2489835" y="2048510"/>
            <a:ext cx="174625" cy="14166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ight Brace 2"/>
          <p:cNvSpPr/>
          <p:nvPr/>
        </p:nvSpPr>
        <p:spPr>
          <a:xfrm rot="16200000">
            <a:off x="2228215" y="3572510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2691765" y="3098165"/>
            <a:ext cx="19177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usecase screenshots</a:t>
            </a:r>
            <a:endParaRPr lang="en-US"/>
          </a:p>
        </p:txBody>
      </p:sp>
      <p:sp>
        <p:nvSpPr>
          <p:cNvPr id="6" name="Right Brace 5"/>
          <p:cNvSpPr/>
          <p:nvPr/>
        </p:nvSpPr>
        <p:spPr>
          <a:xfrm rot="16200000">
            <a:off x="10307955" y="3856990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8808720" y="3295650"/>
            <a:ext cx="12896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</a:t>
            </a:r>
            <a:r>
              <a:rPr 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Spec/Usecase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的测试用例生成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7487920" y="3133090"/>
            <a:ext cx="13208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 demo</a:t>
            </a:r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2317750" y="2905760"/>
            <a:ext cx="262890" cy="16598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9658350" y="2679700"/>
            <a:ext cx="700405" cy="1877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6" idx="1"/>
            <a:endCxn id="15" idx="1"/>
          </p:cNvCxnSpPr>
          <p:nvPr/>
        </p:nvCxnSpPr>
        <p:spPr>
          <a:xfrm rot="16200000" flipH="1" flipV="1">
            <a:off x="6303645" y="1991360"/>
            <a:ext cx="3175" cy="8183245"/>
          </a:xfrm>
          <a:prstGeom prst="bentConnector3">
            <a:avLst>
              <a:gd name="adj1" fmla="val 1132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5603875" y="6162675"/>
            <a:ext cx="296481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新增基于需求的测试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412875" y="3245485"/>
            <a:ext cx="1101725" cy="807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新增基于华为方法论的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" name="Right Brace 14"/>
          <p:cNvSpPr/>
          <p:nvPr/>
        </p:nvSpPr>
        <p:spPr>
          <a:xfrm rot="5400000">
            <a:off x="2124710" y="4841875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10307955" y="5126355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23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23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49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149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75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75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110000" y="4401810"/>
            <a:ext cx="34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694960" y="4433875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760365" y="4933715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4159635" y="443324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199005" y="493308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760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8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60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886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886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012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24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012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5361810"/>
            <a:ext cx="11500000" cy="6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5386810"/>
            <a:ext cx="11200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核心结论：三组独立实验一致证明，OpenSpec-HW 在所有 SE 维度系统性领先</a:t>
            </a:r>
            <a:r>
              <a:rPr lang="en-US" sz="11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custDataLst>
              <p:tags r:id="rId1"/>
            </p:custDataLst>
          </p:nvPr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5059045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潜在研究方向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201930" y="658495"/>
            <a:ext cx="5856605" cy="260096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20193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7508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1</a:t>
            </a:r>
            <a:r>
              <a:rPr sz="1100" b="1">
                <a:solidFill>
                  <a:srgbClr val="FFFFFF"/>
                </a:solidFill>
              </a:rPr>
              <a:t>   Multi-Perspective Spec Eval（多智能体多视角规格评估）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56540" y="895985"/>
            <a:ext cx="5746750" cy="2362835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 Spec 质量检查依赖人工评审或单一模型实例评审，存在系统性盲区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Perspective-Based Reading (PBR) 研究表明，单一视角审查难以覆盖多维缺陷类别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构建多角色 Agent 审查组，在 spec 提交前执行多视角交叉验证：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完整性审查（遗漏场景与逻辑矛盾检测）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异常路径覆盖（错误流程与异常输入生成）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边界条件分析（边界值与竞态条件识别）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集成一致性检查（与已有 main specs 的隐性冲突检测）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多轮交叉审查后输出经多视角验证的高质量 spec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PBR 多视角团队比单一视角多发现 ~41% 缺陷（Shull, IEEE 2000）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可与方向 3 Self-Evolving 形成审查学习闭环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6168390" y="658495"/>
            <a:ext cx="5856605" cy="2600325"/>
          </a:xfrm>
          <a:prstGeom prst="roundRect">
            <a:avLst>
              <a:gd name="adj" fmla="val 4000"/>
            </a:avLst>
          </a:prstGeom>
          <a:solidFill>
            <a:srgbClr val="EF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>
            <p:custDataLst>
              <p:tags r:id="rId7"/>
            </p:custDataLst>
          </p:nvPr>
        </p:nvSpPr>
        <p:spPr>
          <a:xfrm>
            <a:off x="616839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24154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2</a:t>
            </a:r>
            <a:r>
              <a:rPr sz="1100" b="1">
                <a:solidFill>
                  <a:srgbClr val="FFFFFF"/>
                </a:solidFill>
              </a:rPr>
              <a:t>   Spec-as-Runtime Guardrail（规格即运行时护栏）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223000" y="923290"/>
            <a:ext cx="5746750" cy="2193925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传统 Spec-Code 一致性在实现完成后验证，AI 高速生成代码场景下事后验证返工成本高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 Spec 从"参考文档"变为"可执行的运行时约束"，缺乏强制约束机制违规无法拦截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Design by Contract (Meyer, 1988) 在 AI 辅助编程场景的延伸：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Spec→Constraint 编译：结构化需求（EARS 格式）→ property-based predicates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Agent 行为实时监控：AI 写代码时实时分析合规性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违规拦截：违反 spec 的代码在 save 前被拦截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自动生成 property-based tests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Kiro (AWS, GA 2025) 已验证 EARS→property test 可行性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EU AI Act Art.72 要求高风险 AI 系统建立持续合规监控体系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安全关键行业（电信/汽车/能源）预防 &gt; 追溯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201930" y="3450590"/>
            <a:ext cx="5856605" cy="2468880"/>
          </a:xfrm>
          <a:prstGeom prst="roundRect">
            <a:avLst>
              <a:gd name="adj" fmla="val 4000"/>
            </a:avLst>
          </a:prstGeom>
          <a:solidFill>
            <a:srgbClr val="FF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201930" y="345084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75082" y="3408743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3</a:t>
            </a:r>
            <a:r>
              <a:rPr sz="1100" b="1">
                <a:solidFill>
                  <a:srgbClr val="FFFFFF"/>
                </a:solidFill>
              </a:rPr>
              <a:t>   Self-Evolving Spec Agents（自我进化规格智能体）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256540" y="3716020"/>
            <a:ext cx="5746750" cy="220345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现有 AI 记忆（Copilot Memory、Claude Code auto-memory）仅记录代码模式和用户偏好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缺乏从 spec 质量到 spec 编写策略的闭环反馈，同类项目反复犯相同错误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借鉴 experience-driven self-evolution 框架，引入 spec 质量闭环反馈：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每次 Apply→Verify 循环，记录哪些 spec 写法→高质量实现，哪些→返工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蒸馏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华为</a:t>
            </a:r>
            <a:r>
              <a:rPr lang="zh-CN"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业务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级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Spec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最佳实践原则</a:t>
            </a:r>
            <a:r>
              <a:rPr lang="en-US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更进一步蒸馏华为</a:t>
            </a:r>
            <a:r>
              <a:rPr 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个人级</a:t>
            </a:r>
            <a:r>
              <a:rPr lang="en-US" alt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Spec</a:t>
            </a:r>
            <a:r>
              <a:rPr lang="zh-CN" altLang="en-US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最佳实践原则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创建 spec 时系统主动检索并注入相关原则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经验积累效应：使用越多，spec 质量越高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经验沉淀为可复用的组织知识资产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与 Domain Packs 差异化互补：Pack = 行业通识，Self-Evolving = 项目经验</a:t>
            </a:r>
            <a:r>
              <a:rPr lang="zh-CN"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，互相补充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4"/>
            </p:custDataLst>
          </p:nvPr>
        </p:nvSpPr>
        <p:spPr>
          <a:xfrm>
            <a:off x="6168390" y="3451225"/>
            <a:ext cx="5856605" cy="2468245"/>
          </a:xfrm>
          <a:prstGeom prst="roundRect">
            <a:avLst>
              <a:gd name="adj" fmla="val 4000"/>
            </a:avLst>
          </a:prstGeom>
          <a:solidFill>
            <a:srgbClr val="EB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6168390" y="3451479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6241542" y="340937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4</a:t>
            </a:r>
            <a:r>
              <a:rPr sz="1100" b="1">
                <a:solidFill>
                  <a:srgbClr val="FFFFFF"/>
                </a:solidFill>
              </a:rPr>
              <a:t>   Domain-Specific Packs（领域规格智能包）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6223000" y="3716655"/>
            <a:ext cx="5746750" cy="235077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通用大模型不懂行业：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比如</a:t>
            </a: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电信须符合 3GPP、汽车须通过 ISO 26262、能源须满足 IEC 62109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生成的 spec 缺乏行业深度与合规性，公司多年行业积累恰好填补空白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将行业 Know-How 封装为 Domain Packs（规格模板 + 规则集 + 验证逻辑）：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Rules（行业规则）+ Spec 模板（必填字段与标准结构）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Schema 约束 + 验证规则（Validators）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AI 生成 spec/code 时自动注入行业先验知识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差异化价值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行业 Know-How 是稀缺资源，无法通过网页爬取或模型训练获得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先发优势 → 累积效应：越用越好 → 越好越多人用 → 竞争壁垒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行业落地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ICT：3GPP 协议合规 + 网络功能 spec 模板 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汽车：ASIL 等级模板 + AUTOSAR 约束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能源：IEC 62109/62619 并网安全 + 极端工况场景库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Text Box 20"/>
          <p:cNvSpPr txBox="1"/>
          <p:nvPr/>
        </p:nvSpPr>
        <p:spPr>
          <a:xfrm>
            <a:off x="4209415" y="2316480"/>
            <a:ext cx="2013585" cy="9029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endParaRPr lang="en-US"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173355" y="6011545"/>
            <a:ext cx="11851640" cy="6502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研究潜在为华为不同领域的业务提供需求，设计，测评等支持</a:t>
            </a:r>
            <a:r>
              <a:rPr lang="en-US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 </a:t>
            </a:r>
            <a:r>
              <a:rPr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未来更进一步为生产线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人员提供个性化的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Agentic Codeing Assistant</a:t>
            </a:r>
            <a:endParaRPr lang="en-US" altLang="zh-CN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/>
        <p:txBody>
          <a:bodyPr/>
          <a:p>
            <a:r>
              <a:rPr lang="en-US"/>
              <a:t>Archive</a:t>
            </a:r>
            <a:endParaRPr lang="en-US"/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317740" y="2476500"/>
            <a:ext cx="6096000" cy="889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1</a:t>
            </a:r>
            <a:endParaRPr sz="5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Du et al. (ICML'24) Multi-Agent Debate 提升推理准确性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Chan et al. (ICLR'24) ChatEval 多智能体辩论评估有效性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Oriol et al. (RE@Next!'25) MAD 在需求工程的初步探索</a:t>
            </a:r>
            <a:endParaRPr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2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Meyer (1988/1992) Design by Contract 理论基础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Kiro (AWS, GA 2025) EARS→test 验证 | Tessl、spec-kit 也在探索此方向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3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EvolveR (Wu et al., arXiv:2510.16079) LLM Agent 经验蒸馏自进化框架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自进化 Agent 综述 (Gao et al., arXiv:2507.21046; Tao et al., arXiv:2508.07407)</a:t>
            </a:r>
            <a:endParaRPr lang="en-US"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73025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规范化 Agentic Coding 的系统工程支持</a:t>
            </a:r>
            <a:endParaRPr sz="2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2658110"/>
            <a:ext cx="914400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 Claude Code 的企业级 AI 辅助开发规范化研究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Lead：Ou Wei 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Member：Khaled, Zhifei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7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技术研究汇报  |  2026年2月</a:t>
            </a:r>
            <a:endParaRPr sz="12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1/41</a:t>
            </a:r>
            <a:endParaRPr sz="10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背景：Agentic Coding 正在改变软件开发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31520" y="1280160"/>
            <a:ext cx="10058400" cy="706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等 AI 编程工具已经能够自主完成复杂的软件开发任务。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但在企业环境中，能写代码只是第一步 但是更关键的是写对的代码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 cap="flat" cmpd="sng">
            <a:solidFill>
              <a:srgbClr val="D1343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需求失控</a:t>
            </a:r>
            <a:endParaRPr lang="en-US" sz="20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容易自作主张添加/遗漏功能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需求只存在于聊天记录中，无法追溯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质量不稳定</a:t>
            </a:r>
            <a:endParaRPr lang="en-US" sz="2000" b="1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同样的需求，不同对话产出差异大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缺乏验证标准，靠人肉 review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协作困难</a:t>
            </a:r>
            <a:endParaRPr lang="en-US" sz="20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一个人的 AI 对话上下文无法共享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多人并行修改容易冲突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 cap="flat" cmpd="sng">
            <a:solidFill>
              <a:srgbClr val="44444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知识流失</a:t>
            </a:r>
            <a:endParaRPr lang="en-US" sz="2000" b="1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为什么做、怎么做的决策过程随对话消失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新人接手困难，重复踩坑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731520" y="6217920"/>
            <a:ext cx="10058400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解决了怎么写，但没有解决写什么和写得对不对</a:t>
            </a:r>
            <a:endParaRPr lang="en-US" sz="15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365760"/>
            <a:ext cx="1124585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人机协同开发的系统开发框架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是一个轻量级的规格驱动框架，让人和 AI 在写代码之前先达成共识。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流动而非僵化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没有阶段门控，按需推进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迭代而非瀑布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边做边学，持续优化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增量而非全量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用 Delta 记录变更，不重写整体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存量优先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为已有项目设计，不是只给新项目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项目结构（两个核心目录）</a:t>
            </a:r>
            <a:endParaRPr lang="en-US" sz="16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openspec/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├── specs/              ← 当前行为的真相源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│   └── &lt;domain&gt;/spec.md    （按领域组织的需求）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└── changes/            ← 提议的变更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├── &lt;change-name&gt;/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proposal.md     （为什么改）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usecases.md     （用户场景）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specs/          （Delta: 增/改/删）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design.md       （怎么改）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└── tasks.md        （实现清单）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└── archive/            （已完成变更的归档）</a:t>
            </a:r>
            <a:endParaRPr lang="en-US" sz="1100" b="0" i="0" u="none" strike="noStrike" cap="none">
              <a:solidFill>
                <a:srgbClr val="444444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核心创新：Delta Spec（增量规格）</a:t>
            </a:r>
            <a:endParaRPr lang="en-US" sz="1500" b="1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不是重写整个规格，而是只描述变化：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ADDED Requirements      ← 新增需求</a:t>
            </a:r>
            <a:endParaRPr lang="en-US" sz="1200" b="0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MODIFIED Requirements  ← 修改需求</a:t>
            </a:r>
            <a:endParaRPr lang="en-US" sz="1200" b="0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REMOVED Requirements   ← 删除需求</a:t>
            </a:r>
            <a:endParaRPr lang="en-US"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每个需求附带 Given/When/Then 验证场景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归档时自动合并到主规格 → 活文档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初始构建实验：三方软件工程质量五维度评估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8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Microsoft YaHei" panose="020B0503020204020204" charset="-122"/>
              </a:rPr>
              <a:t>同一量化交易需求，分别用 Vanilla Claude Code、原生 OpenSpec、OpenSpec-HW 构建，评估五个软件工程维度</a:t>
            </a:r>
            <a:endParaRPr sz="15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550000"/>
            <a:ext cx="210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A: 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B: 原生 OpenSpec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C: 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192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3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229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0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1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66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67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7200" y="303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04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1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57200" y="340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41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57200" y="377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378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 (满分25)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1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57200" y="414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15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 (满分5)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1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3.8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365760" y="4650000"/>
            <a:ext cx="11430000" cy="58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4680000"/>
            <a:ext cx="110642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核心结论：OpenSpec-HW 的规格驱动工作流在所有维度全面领先 Vanilla Claude Code（23 vs 6），差距最大在需求/设计/维护（5:1）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65760" y="5400000"/>
            <a:ext cx="3580000" cy="12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Project A: Vanilla Claude Code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4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6 个 Python 文件，0 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0 规格文档，0 设计文档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总分：6/25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045760" y="5400000"/>
            <a:ext cx="3580000" cy="12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2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Project B: 原生 OpenSpec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12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28 个 Python 文件，58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16 个规格文档（600行）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总分：19/25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725760" y="5400000"/>
            <a:ext cx="3580000" cy="12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Project C: OpenSpec-HW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27 个 Python 文件，56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24 个规格文档（1634行）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总分：23/25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5485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0000"/>
            <a:ext cx="256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17520" y="118000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OpenSpec-HW（C）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0" y="118000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Code（A）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698480" y="118000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2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60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0" y="160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1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9752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8 个规格文档 + 用例文档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38 需求 + 56 场景 (WHEN/THEN)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800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无需求、无用例、无 API 规格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2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02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3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752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254 行设计文档 + 8 个架构决策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Protocol/ABC/Adapter 设计模式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800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行设计文档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OOP、无抽象、逻辑重复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205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4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98480" y="244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5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9752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3909 行 / 7 个包 / type hints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YAML 配置 + CLI + 优雅降级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3800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1200 行 / 6 个平铺文件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调试、代码重复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698480" y="247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86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286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87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9752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56 个测试 + 集成测试（779 行）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边界/异常覆盖 + conftest 复用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3800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pytest / CI / linting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698480" y="289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28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98480" y="328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29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09752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README + 变更归档 + 活文档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插件架构 + Protocol 扩展点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93800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README / 无文档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无扩展点、硬编码配置、无日志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33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78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0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关键发现：OpenSpec 的规格驱动流程使 AI 在编码前先建立需求共识，从而在设计、测试、维护各环节产生系统性提升。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444444"/>
                </a:solidFill>
                <a:latin typeface="Microsoft YaHei" panose="020B0503020204020204" charset="-122"/>
              </a:rPr>
              <a:t>无 OpenSpec 时，AI 跳过了需求分析直接写代码，导致零测试、零文档、架构混乱的「能跑但不可维护」的结果。</a:t>
            </a:r>
            <a:endParaRPr sz="13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关键发现与分析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00" y="1280000"/>
            <a:ext cx="400000" cy="4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规格驱动 = 全维度提升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 项目在所有 5 个维度均显著领先。结构化的 proposal→specs→design→tasks 工作流确保需求在编码前被明确捕获。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8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7200" y="1280000"/>
            <a:ext cx="400000" cy="40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有 Spec 才有 Test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8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 WHEN/THEN 场景直接映射为测试用例（56 个），实现需求→测试的可追溯性。无 Spec 的项目测试为 0。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1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7200" y="1280000"/>
            <a:ext cx="400000" cy="4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6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设计文档驱动架构质量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有设计文档的项目采用 Protocol/ABC/Adapter 等模式，模块化清晰。无设计文档的项目出现逻辑重复、紧耦合。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5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37200" y="3110000"/>
            <a:ext cx="400000" cy="400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90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Microsoft YaHei" panose="020B0503020204020204" charset="-122"/>
              </a:rPr>
              <a:t>维护差距最为显著</a:t>
            </a:r>
            <a:endParaRPr sz="1400" b="1">
              <a:solidFill>
                <a:srgbClr val="9C27B0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的变更归档、活文档、插件架构使系统可持续演进。无 OpenSpec 的项目任何修改都面临回归风险。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98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200" y="3110000"/>
            <a:ext cx="400000" cy="4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实现质量差距相对最小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三个项目都能产出可运行的量化交易系统，说明 AI 编码能力本身已足够。差距在于「写对的代码」而非「能写代码」。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5760" y="510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3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总结：OpenSpec 解决的不是「AI 能不能写代码」的问题，而是「AI 写的代码是否符合工程标准」的问题。从 6/25 到 23/25 的提升证明了规格驱动开发的系统性价值。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实验2- 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" y="1062355"/>
            <a:ext cx="1005840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前面展示了初始构建的对比。但软件 80% 的成本在维护阶段需求变更时，Vanilla Claude Code和Openspec类SDD工具差距更大。故设计了以下实验，</a:t>
            </a:r>
            <a:r>
              <a:rPr lang="en-US" sz="16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详见Demo</a:t>
            </a:r>
            <a:endParaRPr sz="1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E67E2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594360" y="4572000"/>
            <a:ext cx="502920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proposal → usecases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→ design → tasks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6217920" y="4572000"/>
            <a:ext cx="5120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模拟vibe coding最常见的 拿到需求直接写代码 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9" name="Google Shape;389;p13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11/41</a:t>
            </a:r>
            <a:endParaRPr sz="1100" b="0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需求变更实验：五维度软件工程质量评估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0000"/>
            <a:ext cx="105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Microsoft YaHei" panose="020B0503020204020204" charset="-122"/>
              </a:rPr>
              <a:t>同一基线系统 + 同一需求变更，分别用 OpenSpec-HW 与 Vanilla Claude Code 实现，独立评估五个 SE 维度</a:t>
            </a:r>
            <a:endParaRPr sz="14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500000"/>
            <a:ext cx="303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差距分析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188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4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规格文档 636 行 vs 0 行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1520" y="226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模块化 vs 单文件膨胀 62%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1520" y="264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65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4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类型安全 + 日志 vs 无类型/print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1520" y="302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03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31 个测试 vs 0 个测试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31520" y="340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4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4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YAML配置+归档 vs 硬编码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78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7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总分（满分 25）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8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0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OpenSpec-HW 领先 +17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31520" y="416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平均分（满分 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8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4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0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差距 3.8 倍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48640" y="5050000"/>
            <a:ext cx="5400000" cy="14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0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OpenSpec-HW 方法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0000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6 个 artifact 文档（636行）+ 10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3 个新模块 + 31 个新测试 + 19 个配置参数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变更分布在 7 个文件，职责隔离清晰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T+1 冲突、渐进恢复、频率切换全覆盖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098640" y="5050000"/>
            <a:ext cx="5400000" cy="14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4864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Code 方法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4864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个规格文档 + 仅 2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个新模块、0 个测试，仅改 2 个文件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backtester.py 膨胀 62%（257→416 行）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遗漏 T+1 冲突、渐进恢复、频率切换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240000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0000"/>
            <a:ext cx="24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0000" y="1150000"/>
            <a:ext cx="3760000" cy="44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00000" y="1150000"/>
            <a:ext cx="3760000" cy="44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500000" y="1150000"/>
            <a:ext cx="109728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00" y="11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9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00" y="159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0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proposal+usecases+specs+design+tasks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 + 636 行 artifact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个规格文档、0 个用例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仅靠 requirement_change.md 直接编码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0000" y="162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3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00000" y="203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4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 新模块隔离 + CircuitBreakerState 状态机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向后兼容（volatility_ratio 可选参数）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全部逻辑塞入 run_backtest() 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内联 if/elif、无状态机、硬编码阈值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00000" y="206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7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00000" y="247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8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type hints + logging + 防御编程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dataclass 结构化 + YAML 配置 19 参数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调试、1e-9 硬编码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止损用百分比而非 ATR（偏离需求）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500000" y="250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91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0000" y="291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92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31 新测试（边界值 + 状态转换 + T+1）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测试方法名映射用例（test_UC1_1 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个测试、0 测试基础设施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三个关键边界场景完全遗漏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00000" y="294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35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00000" y="335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36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9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变更归档 + delta specs + 可追溯链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新增 4 维度只需改 YAML + 新模块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7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文档、0 设计记录、无变更历史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任何修改需读懂 416 行单函数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00000" y="33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85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7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核心结论：需求变更场景下差距比初始构建更大。OpenSpec 的 usecases 阶段强制识别边界场景（10 vs 2），是质量差异的根源。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Vanilla Claude 跳过需求分析直接编码，导致 3 个关键边界遗漏（T+1 冲突、渐进恢复、频率切换），且产生单文件膨胀的技术债。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关键发现：需求变更中的工程质量差异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000" y="120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000" y="1260000"/>
            <a:ext cx="360000" cy="36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00" y="127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0000" y="127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边界场景发现：10 vs 2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000" y="164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的 usecases 阶段系统性枚举了 10 个边界场景（含 T+1 冲突、熔断恢复中断、频率切换等），Vanilla Claude 仅识别 2 个，遗漏 3 个关键场景。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0000" y="236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000" y="2420000"/>
            <a:ext cx="360000" cy="3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00" y="243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0000" y="243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模块化 vs 单文件膨胀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0000" y="280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创建 3 个新模块（volatility/circuit_breaker/stop_loss），变更分布 7 个文件。Vanilla Claude 将全部逻辑塞入 backtester.py，单文件膨胀 62%。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0000" y="352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00" y="3580000"/>
            <a:ext cx="360000" cy="36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" y="359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0000" y="359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需求偏离：止损实现不符规格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000" y="396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需求要求 ATR-based 自适应止损（1.5x/2.0x/2.5x ATR 乘数），Vanilla Claude 实现为简单百分比止损（-6%/-8%/-10%），偏离了原始需求规格。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0000" y="468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000" y="4740000"/>
            <a:ext cx="360000" cy="3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000" y="475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000" y="475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零测试 = 零信心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0000" y="512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产出 31 个测试覆盖状态转换、边界值和 T+1。Vanilla Claude 零测试——量化交易系统的数值正确性直接影响资金安全，零测试是致命缺陷。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00000" y="1200000"/>
            <a:ext cx="5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遗漏的 3 个关键边界场景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00000" y="160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00000" y="164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T+1 结算冲突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0000" y="194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熔断触发全清仓时，当日买入的股票因 T+1 规则无法卖出。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在 usecases 阶段即识别此冲突，设计了延迟卖出队列。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完全未考虑，熔断日可能产生非法交易指令。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800000" y="277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0000" y="28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渐进恢复机制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00000" y="311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L2 熔断后恢复应分阶段（L2→recovering→normal），而非一步跳回满仓。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设计了 4 状态状态机，含恢复中断（新下跌重置计数器）。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直接从清仓跳回满仓，可能在市场未稳定时重新满仓。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800000" y="394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0000" y="398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再平衡频率切换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0000" y="428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月度→双周→周度切换时，需处理月中状态变更和计时器重置。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用例明确定义了频率切换的过渡规则。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仅用简单天数计数器，频率切换时可能跳过再平衡。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5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8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结论：需求变更场景放大了规格驱动开发的优势。边界场景覆盖率（10:2）是质量差异的核心驱动力——有 spec 才能发现边界，有边界才能写对代码。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2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3" name="Google Shape;703;p2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Openspec-HW2（或类似工具平台）潜在的研究方向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4" name="Google Shape;704;p22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35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5FF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7" name="Google Shape;707;p22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Multi-Perspective</a:t>
            </a:r>
            <a:b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Eval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8" name="Google Shape;708;p22"/>
          <p:cNvSpPr/>
          <p:nvPr/>
        </p:nvSpPr>
        <p:spPr>
          <a:xfrm>
            <a:off x="41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9" name="Google Shape;709;p22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0" name="Google Shape;710;p22"/>
          <p:cNvSpPr txBox="1"/>
          <p:nvPr/>
        </p:nvSpPr>
        <p:spPr>
          <a:xfrm>
            <a:off x="469900" y="215011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检查依赖人工或单一 AI 评审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单一视角存在系统性盲区（PBR 研究证实）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41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2" name="Google Shape;712;p22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450215" y="3449955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多角色 Agent 审查组，交叉验证：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完整性（遗漏场景与逻辑矛盾）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异常路径（错误流程与异常输入）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边界条件（边界值与竞态条件）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集成一致性（与 main specs 冲突）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41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5" name="Google Shape;715;p22"/>
          <p:cNvSpPr txBox="1"/>
          <p:nvPr/>
        </p:nvSpPr>
        <p:spPr>
          <a:xfrm>
            <a:off x="470000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6" name="Google Shape;716;p22"/>
          <p:cNvSpPr txBox="1"/>
          <p:nvPr/>
        </p:nvSpPr>
        <p:spPr>
          <a:xfrm>
            <a:off x="47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多视角可多发现 ~41% 缺陷（PBR 研究）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学术验证：ICML'24 + ICLR'24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Self-Evolving 形成审查—学习闭环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8802704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8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9" name="Google Shape;719;p22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8862704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2" name="Google Shape;722;p22"/>
          <p:cNvSpPr txBox="1"/>
          <p:nvPr/>
        </p:nvSpPr>
        <p:spPr>
          <a:xfrm>
            <a:off x="8922704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通用大模型不懂行业规范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3GPP / ISO 26262 / IEC 62109 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缺乏行业深度与合规性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8862704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4" name="Google Shape;724;p22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922704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 Know-How 封装为 Domain Packs：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行业规则 + Spec 模板（必填字段）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约束 + 验证规则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生成 spec 时自动注入先验知识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8862704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8" name="Google Shape;728;p22"/>
          <p:cNvSpPr txBox="1"/>
          <p:nvPr/>
        </p:nvSpPr>
        <p:spPr>
          <a:xfrm>
            <a:off x="8922704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Know-How 稀缺，无法通过训练获得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先发优势 → 累积效应 → 竞争壁垒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路线：电信(Q1)→汽车(Q2)→能源(Q3)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599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FF5E6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1" name="Google Shape;731;p22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Self-Evolving</a:t>
            </a:r>
            <a:b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Agents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2" name="Google Shape;732;p22"/>
          <p:cNvSpPr/>
          <p:nvPr/>
        </p:nvSpPr>
        <p:spPr>
          <a:xfrm>
            <a:off x="605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3" name="Google Shape;733;p22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4" name="Google Shape;734;p22"/>
          <p:cNvSpPr txBox="1"/>
          <p:nvPr/>
        </p:nvSpPr>
        <p:spPr>
          <a:xfrm>
            <a:off x="6110000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现有 AI 记忆仅记录代码模式和偏好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 spec 质量→编写策略的闭环反馈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质量不随使用量提升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605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6" name="Google Shape;736;p2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6110000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self-evolution 框架：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Apply→Verify 记录写法与质量关联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蒸馏 Spec 最佳实践原则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创建 spec 时自动检索注入原则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8" name="Google Shape;738;p22"/>
          <p:cNvSpPr/>
          <p:nvPr/>
        </p:nvSpPr>
        <p:spPr>
          <a:xfrm>
            <a:off x="605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9" name="Google Shape;739;p22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0" name="Google Shape;740;p22"/>
          <p:cNvSpPr txBox="1"/>
          <p:nvPr/>
        </p:nvSpPr>
        <p:spPr>
          <a:xfrm>
            <a:off x="611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积累效应：使用越多，质量越高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经验沉淀为组织知识资产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Domain Packs 互补（通识 vs 经验）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3177296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2" name="Google Shape;742;p22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3" name="Google Shape;743;p22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Spec-as-Runtime</a:t>
            </a:r>
            <a:b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Guardrail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4" name="Google Shape;744;p22"/>
          <p:cNvSpPr/>
          <p:nvPr/>
        </p:nvSpPr>
        <p:spPr>
          <a:xfrm>
            <a:off x="3237296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5" name="Google Shape;745;p22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3297296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高速生成代码，事后验证返工成本高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无强制约束，违规代码无法实时拦截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7" name="Google Shape;747;p22"/>
          <p:cNvSpPr/>
          <p:nvPr/>
        </p:nvSpPr>
        <p:spPr>
          <a:xfrm>
            <a:off x="3237296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8" name="Google Shape;748;p22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9" name="Google Shape;749;p22"/>
          <p:cNvSpPr txBox="1"/>
          <p:nvPr/>
        </p:nvSpPr>
        <p:spPr>
          <a:xfrm>
            <a:off x="3297296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从参考文档 → 可执行运行时约束：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Spec→Constraint 编译（EARS 格式）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编码时实时合规监控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违规代码落盘前拦截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0" name="Google Shape;750;p22"/>
          <p:cNvSpPr/>
          <p:nvPr/>
        </p:nvSpPr>
        <p:spPr>
          <a:xfrm>
            <a:off x="3237296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1" name="Google Shape;751;p22"/>
          <p:cNvSpPr txBox="1"/>
          <p:nvPr/>
        </p:nvSpPr>
        <p:spPr>
          <a:xfrm>
            <a:off x="3297296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2" name="Google Shape;752;p22"/>
          <p:cNvSpPr txBox="1"/>
          <p:nvPr/>
        </p:nvSpPr>
        <p:spPr>
          <a:xfrm>
            <a:off x="3297296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已验证技术可行性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EU AI Act Art.72 驱动合规需求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by Contract：预防 &gt; 追溯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20/41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4" name="Google Shape;754;p22"/>
          <p:cNvSpPr/>
          <p:nvPr/>
        </p:nvSpPr>
        <p:spPr>
          <a:xfrm>
            <a:off x="2437370" y="128078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5" name="Google Shape;755;p22"/>
          <p:cNvSpPr txBox="1"/>
          <p:nvPr/>
        </p:nvSpPr>
        <p:spPr>
          <a:xfrm>
            <a:off x="2437370" y="130078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6" name="Google Shape;756;p22"/>
          <p:cNvSpPr/>
          <p:nvPr/>
        </p:nvSpPr>
        <p:spPr>
          <a:xfrm>
            <a:off x="5265350" y="128015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7" name="Google Shape;757;p22"/>
          <p:cNvSpPr txBox="1"/>
          <p:nvPr/>
        </p:nvSpPr>
        <p:spPr>
          <a:xfrm>
            <a:off x="5265350" y="130015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8" name="Google Shape;758;p22"/>
          <p:cNvSpPr/>
          <p:nvPr/>
        </p:nvSpPr>
        <p:spPr>
          <a:xfrm>
            <a:off x="8027925" y="126110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8027925" y="128110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0" name="Google Shape;760;p22"/>
          <p:cNvSpPr/>
          <p:nvPr/>
        </p:nvSpPr>
        <p:spPr>
          <a:xfrm>
            <a:off x="10947330" y="127982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1" name="Google Shape;761;p22"/>
          <p:cNvSpPr txBox="1"/>
          <p:nvPr/>
        </p:nvSpPr>
        <p:spPr>
          <a:xfrm>
            <a:off x="10947330" y="129982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3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1：Multi-Perspective Spec Eval（多智能体多视角规格评估）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7" name="Google Shape;767;p23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8" name="Google Shape;768;p23"/>
          <p:cNvSpPr txBox="1"/>
          <p:nvPr/>
        </p:nvSpPr>
        <p:spPr>
          <a:xfrm>
            <a:off x="548640" y="1421130"/>
            <a:ext cx="5669280" cy="3558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当前OpenSpec LLM 驱动的Spec质量检查依赖人工评审或单一模型实例评审，存在系统性盲区</a:t>
            </a:r>
            <a:endParaRPr sz="13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Perspective-Based Reading (PBR) 研究表明，单一视角审查难以覆盖多维缺陷类别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构建多角色 Agent 审查组，在 spec 提交前执行多视角交叉验证：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完整性审查（遗漏场景与逻辑矛盾检测）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异常路径覆盖（错误流程与异常输入生成）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边界条件分析（边界值与竞态条件识别）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集成一致性检查（与已有 main specs 的隐性冲突检测）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多轮交叉审查后输出经多视角验证的高质量 spec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0" name="Google Shape;770;p23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Du et al. (ICML 2024): Multi-Agent Debate 提升 LLM 推理与事实准确性 [arXiv:2305.14325]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Chan et al. (ICLR 2024): ChatEval 验证多智能体辩论在文本评估中的有效性 [arXiv:2308.07201]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Oriol et al. (RE@Next! 2025): MAD 在需求工程的初步探索，尚未与结构化 spec 结合 [arXiv:2507.05981]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Shull et al. (IEEE Computer, 2000): PBR 多视角团队比单一视角团队多发现约 41% 缺陷，但后续复现结果存在差异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3" name="Google Shape;773;p2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21/41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24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2：Spec-as-Runtime-Guardrail（规格即运行时护栏）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9" name="Google Shape;779;p24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0" name="Google Shape;780;p24"/>
          <p:cNvSpPr txBox="1"/>
          <p:nvPr/>
        </p:nvSpPr>
        <p:spPr>
          <a:xfrm>
            <a:off x="548640" y="1000443"/>
            <a:ext cx="5669280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传统 Spec-Code Traceability 在实现完成后进行一致性验证。在 AI Agent 高速生成代码的场景下，事后验证导致发现偏差时已产生大量返工成本。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Spec→Constraint 编译：将结构化需求（如 EARS 格式）转译为 property-based test predicates 和 invariant assertions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Agent 行为实时监控：AI 写代码时实时分析合规性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违规拦截：违反 spec 的代码在save前被拦截。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该思路是 Design by Contract [Meyer, 1988] 在 AI 辅助编程场景的延伸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已验证从 EARS 格式需求生成 property-based test 的可行性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Tessl、spec-kit 等工具也在探索 spec-driven development，但尚未实现运行时实时拦截。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1" name="Google Shape;781;p24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2" name="Google Shape;782;p24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Meyer (1988/1992): Design by Contract 理论基础 [Object-Oriented Software Construction, Prentice-Hall, 1988; IEEE Computer, 1992]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EU AI Act (Reg. 2024/1689) Art.72: 要求高风险 AI 系统建立上市后持续合规监控体系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Kiro (AWS, GA 2025.11): 从 EARS 格式需求生成 property-based test，验证 spec→可执行测试 的可行性；Tessl、spec-kit 等也在探索此方向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4" name="Google Shape;784;p24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5" name="Google Shape;785;p2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22/41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5"/>
          <p:cNvSpPr txBox="1"/>
          <p:nvPr/>
        </p:nvSpPr>
        <p:spPr>
          <a:xfrm>
            <a:off x="194945" y="271145"/>
            <a:ext cx="985139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3：Self-Evolving Spec Agents（自我进化规格智能体）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1" name="Google Shape;791;p25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2" name="Google Shape;792;p25"/>
          <p:cNvSpPr txBox="1"/>
          <p:nvPr/>
        </p:nvSpPr>
        <p:spPr>
          <a:xfrm>
            <a:off x="548640" y="1382395"/>
            <a:ext cx="5029200" cy="3636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尽管部分 AI 编程工具已引入持久化记忆（如 Copilot Memory Claude Code auto-memory），这些机制主要记录代码模式和用户偏好，缺乏从 spec 质量到 spec 编写策略的闭环反馈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这些工具不会根据 哪种 spec 写法产生了高质量实现 来改进后续 spec 生成策略。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E86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experience-driven self-evolution 框架，在 OpenSpec 工作流中引入 spec 质量闭环反馈机制：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蒸馏出Spec实践原则 比如：金融领域的风控 spec 必须包含 X Y Z等信息才能让 Agent正确生成code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下次创建 spec 时，系统主动检索并注入相关原则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3" name="Google Shape;793;p25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4" name="Google Shape;794;p25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学术依据：EvolveR [Wu et al., arXiv:2510.16079] LLM Agent 经验蒸馏自进化框架 | 自进化 Agent 综述 [Gao et al., arXiv:2507.21046; Tao et al., arXiv:2508.07407]    应用前景：经验积累效应 | 经验沉淀形成领域资产 | 与 Domain Packs 差异化互补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5" name="Google Shape;795;p2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6" name="Google Shape;796;p25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7" name="Google Shape;797;p2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23/41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8" name="Google Shape;798;p25"/>
          <p:cNvSpPr/>
          <p:nvPr/>
        </p:nvSpPr>
        <p:spPr>
          <a:xfrm>
            <a:off x="5760720" y="960120"/>
            <a:ext cx="5486400" cy="44805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9" name="Google Shape;799;p25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经验积累循环示意图</a:t>
            </a:r>
            <a:endParaRPr sz="1200" b="1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0" name="Google Shape;800;p25"/>
          <p:cNvSpPr/>
          <p:nvPr/>
        </p:nvSpPr>
        <p:spPr>
          <a:xfrm>
            <a:off x="7795260" y="1348740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1" name="Google Shape;801;p25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① 创建 Spec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自动注入原则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2" name="Google Shape;802;p25"/>
          <p:cNvSpPr/>
          <p:nvPr/>
        </p:nvSpPr>
        <p:spPr>
          <a:xfrm>
            <a:off x="9143211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3" name="Google Shape;803;p2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② Apply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按 spec 实现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4" name="Google Shape;804;p25"/>
          <p:cNvSpPr/>
          <p:nvPr/>
        </p:nvSpPr>
        <p:spPr>
          <a:xfrm>
            <a:off x="8628339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③ Verify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对照 spec 验证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6" name="Google Shape;806;p25"/>
          <p:cNvSpPr/>
          <p:nvPr/>
        </p:nvSpPr>
        <p:spPr>
          <a:xfrm>
            <a:off x="6962180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7" name="Google Shape;807;p25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④ 记录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哪些写法效果好/差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8" name="Google Shape;808;p25"/>
          <p:cNvSpPr/>
          <p:nvPr/>
        </p:nvSpPr>
        <p:spPr>
          <a:xfrm>
            <a:off x="6447308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9" name="Google Shape;809;p25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⑤ 蒸馏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提炼最佳实践原则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↘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↙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←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↖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↗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5" name="Google Shape;815;p25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8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</a:t>
            </a:r>
            <a:endParaRPr sz="1300" b="1">
              <a:solidFill>
                <a:srgbClr val="FF8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持续优化</a:t>
            </a:r>
            <a:endParaRPr sz="1100" b="0"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7" name="Google Shape;817;p25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每个循环积累的经验提升后续 Spec 质量</a:t>
            </a:r>
            <a:endParaRPr sz="1000" b="0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26"/>
          <p:cNvSpPr txBox="1"/>
          <p:nvPr/>
        </p:nvSpPr>
        <p:spPr>
          <a:xfrm>
            <a:off x="548640" y="274320"/>
            <a:ext cx="95027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3" name="Google Shape;823;p26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4" name="Google Shape;824;p26"/>
          <p:cNvSpPr/>
          <p:nvPr/>
        </p:nvSpPr>
        <p:spPr>
          <a:xfrm>
            <a:off x="548640" y="1051560"/>
            <a:ext cx="10058400" cy="1371600"/>
          </a:xfrm>
          <a:prstGeom prst="roundRect">
            <a:avLst>
              <a:gd name="adj" fmla="val 16667"/>
            </a:avLst>
          </a:prstGeom>
          <a:solidFill>
            <a:srgbClr val="E6F7F7"/>
          </a:solidFill>
          <a:ln w="12700" cap="flat" cmpd="sng">
            <a:solidFill>
              <a:srgbClr val="008B8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通用大模型擅长写代码，但不懂行业。它不知道电信系统必须符合 3GPP 标准、汽车软件必须通过 ISO 26262 认证、能源系统必须满足 IEC 62109。而我司多年积累的行业 Know-How，业务规则、合规标准、最佳实践，恰好填补了这个空白。将这些 domain knowledge 封装成结构化的 领域规格包（Domain Pack），就是把公司的隐性知识变成可复用的数字资产。</a:t>
            </a: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Pack潜在包含的具体内容：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8" name="Google Shape;828;p2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9" name="Google Shape;829;p2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24/41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0" name="Google Shape;830;p26"/>
          <p:cNvSpPr txBox="1"/>
          <p:nvPr/>
        </p:nvSpPr>
        <p:spPr>
          <a:xfrm>
            <a:off x="784860" y="1096645"/>
            <a:ext cx="60960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现状问题：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7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 Domain-Specific Pack - 华为潜在行业落地机会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6" name="Google Shape;836;p27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54864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8" name="Google Shape;838;p27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ICT / 电信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9" name="Google Shape;839;p27"/>
          <p:cNvSpPr/>
          <p:nvPr/>
        </p:nvSpPr>
        <p:spPr>
          <a:xfrm>
            <a:off x="393192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0" name="Google Shape;840;p2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数字能源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极端工况异常场景库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1" name="Google Shape;841;p27"/>
          <p:cNvSpPr/>
          <p:nvPr/>
        </p:nvSpPr>
        <p:spPr>
          <a:xfrm>
            <a:off x="731520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2" name="Google Shape;842;p27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智能汽车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4" name="Google Shape;844;p27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5" name="Google Shape;845;p2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25/41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8"/>
          <p:cNvSpPr txBox="1"/>
          <p:nvPr/>
        </p:nvSpPr>
        <p:spPr>
          <a:xfrm>
            <a:off x="548640" y="274320"/>
            <a:ext cx="103276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潜在研究方向4：Domain-Specific Packs-为什么是核心竞争差异化优势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1" name="Google Shape;851;p28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2" name="Google Shape;852;p28"/>
          <p:cNvSpPr txBox="1"/>
          <p:nvPr/>
        </p:nvSpPr>
        <p:spPr>
          <a:xfrm>
            <a:off x="548640" y="1005840"/>
            <a:ext cx="10058400" cy="2563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行业规则、合规标准、最佳实践，这些知识散布在华为行业专家的脑中、监管文件里、和多年项目经验中。它们无法通过简单的网页爬取或模型训练获得。公司已有的行业积累，就是天然的数据差异化优势。</a:t>
            </a:r>
            <a:endParaRPr sz="14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先发优势带来累积效应 （呼应研究方向3)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3" name="Google Shape;853;p28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4" name="Google Shape;854;p2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5" name="Google Shape;855;p2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26/41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29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1" name="Google Shape;861;p29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8F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3F2FD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0F0F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3" name="Google Shape;863;p2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27/41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0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9" name="Google Shape;869;p30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0" name="Google Shape;870;p30"/>
          <p:cNvSpPr/>
          <p:nvPr/>
        </p:nvSpPr>
        <p:spPr>
          <a:xfrm>
            <a:off x="45720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1" name="Google Shape;871;p30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2" name="Google Shape;872;p30"/>
          <p:cNvSpPr/>
          <p:nvPr/>
        </p:nvSpPr>
        <p:spPr>
          <a:xfrm>
            <a:off x="397764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3" name="Google Shape;873;p30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4" name="Google Shape;874;p30"/>
          <p:cNvSpPr/>
          <p:nvPr/>
        </p:nvSpPr>
        <p:spPr>
          <a:xfrm>
            <a:off x="749808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5" name="Google Shape;875;p30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6" name="Google Shape;876;p30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28/41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3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2" name="Google Shape;882;p31"/>
          <p:cNvSpPr/>
          <p:nvPr/>
        </p:nvSpPr>
        <p:spPr>
          <a:xfrm>
            <a:off x="48514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3" name="Google Shape;883;p31"/>
          <p:cNvSpPr txBox="1"/>
          <p:nvPr/>
        </p:nvSpPr>
        <p:spPr>
          <a:xfrm>
            <a:off x="457200" y="777240"/>
            <a:ext cx="10058400" cy="27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在量化交易中，风控能力决定了系统能否在真实市场中存活。质量差不完整的风险控制Spec意味着在市场出现罕见情况的时候爆仓</a:t>
            </a:r>
            <a:endParaRPr sz="1200" b="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4" name="Google Shape;884;p31"/>
          <p:cNvSpPr/>
          <p:nvPr/>
        </p:nvSpPr>
        <p:spPr>
          <a:xfrm>
            <a:off x="45720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5" name="Google Shape;885;p31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6" name="Google Shape;886;p31"/>
          <p:cNvSpPr/>
          <p:nvPr/>
        </p:nvSpPr>
        <p:spPr>
          <a:xfrm>
            <a:off x="397764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7" name="Google Shape;887;p31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8" name="Google Shape;888;p31"/>
          <p:cNvSpPr/>
          <p:nvPr/>
        </p:nvSpPr>
        <p:spPr>
          <a:xfrm>
            <a:off x="749808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9" name="Google Shape;889;p31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0" name="Google Shape;890;p31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1" name="Google Shape;891;p3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2" name="Google Shape;892;p3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29/41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2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回测真实性三方对比：回测结果评估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8" name="Google Shape;898;p3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9" name="Google Shape;899;p32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graphicFrame>
        <p:nvGraphicFramePr>
          <p:cNvPr id="900" name="Google Shape;900;p32"/>
          <p:cNvGraphicFramePr/>
          <p:nvPr/>
        </p:nvGraphicFramePr>
        <p:xfrm>
          <a:off x="457200" y="1234440"/>
          <a:ext cx="6400800" cy="3000000"/>
        </p:xfrm>
        <a:graphic>
          <a:graphicData uri="http://schemas.openxmlformats.org/drawingml/2006/table">
            <a:tbl>
              <a:tblPr firstRow="1" bandRow="1">
                <a:noFill/>
                <a:tableStyleId>{1919ADCB-30F0-46B4-BD1B-849308643872}</a:tableStyleId>
              </a:tblPr>
              <a:tblGrid>
                <a:gridCol w="2194550"/>
                <a:gridCol w="1280150"/>
                <a:gridCol w="1463050"/>
                <a:gridCol w="1463050"/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A 股交易规则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Vanilla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原生 OpenSpec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OpenSpec-HW2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T+1 交收制度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涨跌停限制 (10%)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印花税 / 佣金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最小买入单位 (100股)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停牌处理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前视偏差检测</a:t>
                      </a:r>
                      <a:endParaRPr sz="1100" b="0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1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滑点模拟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基础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完整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901" name="Google Shape;901;p32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2" name="Google Shape;902;p32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3" name="Google Shape;903;p32"/>
          <p:cNvSpPr/>
          <p:nvPr/>
        </p:nvSpPr>
        <p:spPr>
          <a:xfrm>
            <a:off x="457200" y="4434840"/>
            <a:ext cx="10332720" cy="118872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4" name="Google Shape;904;p32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5" name="Google Shape;905;p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30/41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/>
          <p:nvPr/>
        </p:nvSpPr>
        <p:spPr>
          <a:xfrm>
            <a:off x="457200" y="182880"/>
            <a:ext cx="10058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前视偏差检测详解：OpenSpec-HW2 得益于Usecase生成独有的回测真实性保障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1" name="Google Shape;911;p33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2" name="Google Shape;912;p33"/>
          <p:cNvSpPr txBox="1"/>
          <p:nvPr/>
        </p:nvSpPr>
        <p:spPr>
          <a:xfrm>
            <a:off x="457200" y="713232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前视偏差（Look-Ahead Bias）是量化回测中的经典陷阱：回测时"偷看"了当时不可能知道的未来数据，导致回测收益虚高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3" name="Google Shape;913;p33"/>
          <p:cNvSpPr txBox="1"/>
          <p:nvPr/>
        </p:nvSpPr>
        <p:spPr>
          <a:xfrm>
            <a:off x="457200" y="10058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典型前视偏差场景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4" name="Google Shape;914;p33"/>
          <p:cNvSpPr txBox="1"/>
          <p:nvPr/>
        </p:nvSpPr>
        <p:spPr>
          <a:xfrm>
            <a:off x="5760720" y="1005840"/>
            <a:ext cx="3005455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 的防前视偏差实现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5" name="Google Shape;915;p33"/>
          <p:cNvSpPr/>
          <p:nvPr/>
        </p:nvSpPr>
        <p:spPr>
          <a:xfrm>
            <a:off x="45720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6" name="Google Shape;916;p33"/>
          <p:cNvSpPr txBox="1"/>
          <p:nvPr/>
        </p:nvSpPr>
        <p:spPr>
          <a:xfrm>
            <a:off x="64008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幸存者偏差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用今天的成分股列表回测 3 年前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已退市的"坏股票"被排除，回测只选了活下来的赢家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导致回测收益虚高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7" name="Google Shape;917;p33"/>
          <p:cNvSpPr/>
          <p:nvPr/>
        </p:nvSpPr>
        <p:spPr>
          <a:xfrm>
            <a:off x="45720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8" name="Google Shape;918;p33"/>
          <p:cNvSpPr txBox="1"/>
          <p:nvPr/>
        </p:nvSpPr>
        <p:spPr>
          <a:xfrm>
            <a:off x="64008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数据泄露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用当天收盘价决定当天是否买入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实际交易中收盘价要到收盘后才知道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9" name="Google Shape;919;p33"/>
          <p:cNvSpPr/>
          <p:nvPr/>
        </p:nvSpPr>
        <p:spPr>
          <a:xfrm>
            <a:off x="45720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0" name="Google Shape;920;p33"/>
          <p:cNvSpPr txBox="1"/>
          <p:nvPr/>
        </p:nvSpPr>
        <p:spPr>
          <a:xfrm>
            <a:off x="64008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未来函数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用未来才发布的财报数据做当期因子计算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如 Q3 财报 10 月底发布，但回测在 7 月就使用了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1" name="Google Shape;921;p33"/>
          <p:cNvSpPr/>
          <p:nvPr/>
        </p:nvSpPr>
        <p:spPr>
          <a:xfrm>
            <a:off x="576072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2" name="Google Shape;922;p33"/>
          <p:cNvSpPr txBox="1"/>
          <p:nvPr/>
        </p:nvSpPr>
        <p:spPr>
          <a:xfrm>
            <a:off x="594360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Point-in-time 股票池查询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get_point_in_time_universe(date) 查询历史时点行业分类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包含已退市 / 更名 / 转行业的股票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3" name="Google Shape;923;p33"/>
          <p:cNvSpPr/>
          <p:nvPr/>
        </p:nvSpPr>
        <p:spPr>
          <a:xfrm>
            <a:off x="576072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4" name="Google Shape;924;p33"/>
          <p:cNvSpPr txBox="1"/>
          <p:nvPr/>
        </p:nvSpPr>
        <p:spPr>
          <a:xfrm>
            <a:off x="594360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明确约束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"The stock universe at each backtest date SHALL include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only stocks classified as non-ferrous metals on that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5" name="Google Shape;925;p33"/>
          <p:cNvSpPr/>
          <p:nvPr/>
        </p:nvSpPr>
        <p:spPr>
          <a:xfrm>
            <a:off x="576072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6" name="Google Shape;926;p33"/>
          <p:cNvSpPr txBox="1"/>
          <p:nvPr/>
        </p:nvSpPr>
        <p:spPr>
          <a:xfrm>
            <a:off x="594360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完整追溯链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Usecases 第 6 用例第 7 步 → 驱动 Spec 增加条款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→ Design 列出 Mitigation → Code 实现函数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7" name="Google Shape;927;p33"/>
          <p:cNvSpPr/>
          <p:nvPr/>
        </p:nvSpPr>
        <p:spPr>
          <a:xfrm>
            <a:off x="457200" y="48006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457200" y="4892040"/>
            <a:ext cx="10332720" cy="105156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9" name="Google Shape;929;p33"/>
          <p:cNvSpPr txBox="1"/>
          <p:nvPr/>
        </p:nvSpPr>
        <p:spPr>
          <a:xfrm>
            <a:off x="640080" y="493776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需求追溯链（Usecases → Spec → Design → Code）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→ "系统使用当时的行业成分股（非当前成分股）以避免幸存者偏差"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(backtest) → "SHALL use point-in-time industry classification data"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(universe) → "SHALL support querying the universe as of any historical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Code → src/universe/filter.py → get_point_in_time_universe() 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0" name="Google Shape;930;p33"/>
          <p:cNvSpPr txBox="1"/>
          <p:nvPr/>
        </p:nvSpPr>
        <p:spPr>
          <a:xfrm>
            <a:off x="457200" y="59893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 缺少 Usecases 步骤 → 未捕获此需求 → 代码中无防前视偏差实现。这是 Usecases 带来实质性提升的典型案例。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1" name="Google Shape;931;p33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31/41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4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测试覆盖度三方深度对比：不只是数量，更是结构与深度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7" name="Google Shape;937;p34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8" name="Google Shape;938;p34"/>
          <p:cNvSpPr txBox="1"/>
          <p:nvPr/>
        </p:nvSpPr>
        <p:spPr>
          <a:xfrm>
            <a:off x="457200" y="658368"/>
            <a:ext cx="10058400" cy="245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OpenSpec类工具依据task.md中内容生成测试，测试结构（单元/集成/端到端）、测试深度（每函数断言数）、工程规范（fixtures/conftest）共同决定测试有效性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9" name="Google Shape;939;p34"/>
          <p:cNvSpPr/>
          <p:nvPr/>
        </p:nvSpPr>
        <p:spPr>
          <a:xfrm>
            <a:off x="457200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0" name="Google Shape;940;p34"/>
          <p:cNvSpPr txBox="1"/>
          <p:nvPr/>
        </p:nvSpPr>
        <p:spPr>
          <a:xfrm>
            <a:off x="64008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 Claude Code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测试函数：0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测试代码：0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完全跳过测试环节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无任何单元测试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无端到端测试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无测试框架引入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覆盖模块：0/6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1" name="Google Shape;941;p34"/>
          <p:cNvSpPr/>
          <p:nvPr/>
        </p:nvSpPr>
        <p:spPr>
          <a:xfrm>
            <a:off x="397763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2" name="Google Shape;942;p34"/>
          <p:cNvSpPr txBox="1"/>
          <p:nvPr/>
        </p:nvSpPr>
        <p:spPr>
          <a:xfrm>
            <a:off x="416052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测试文件：8 个 | 测试函数：67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测试代码：570 行 | 断言：98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按模块覆盖（扁平，全在 tests/ 下）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test_backtest.py: 11 函数 / 115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test_risk.py: 13 函数 / 119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test_factors.py: 12 函数 / 75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test_universe.py: 9 函数 / 45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覆盖模块：8/8（全部单元测试）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3" name="Google Shape;943;p34"/>
          <p:cNvSpPr/>
          <p:nvPr/>
        </p:nvSpPr>
        <p:spPr>
          <a:xfrm>
            <a:off x="749807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4" name="Google Shape;944;p34"/>
          <p:cNvSpPr txBox="1"/>
          <p:nvPr/>
        </p:nvSpPr>
        <p:spPr>
          <a:xfrm>
            <a:off x="7680959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测试文件：9+1 个 | 测试函数：57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测试代码：779 行 | 断言：105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按模块子目录 + conftest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test_integration.py: 6 / 195 行 ★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backtest/test_backtest.py: 9 / 81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risk/test_risk.py: 9 / 82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strategy/test_scorer.py: 6 / 89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覆盖：7/7 + 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5" name="Google Shape;945;p34"/>
          <p:cNvSpPr/>
          <p:nvPr/>
        </p:nvSpPr>
        <p:spPr>
          <a:xfrm>
            <a:off x="457200" y="484632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6" name="Google Shape;946;p34"/>
          <p:cNvSpPr/>
          <p:nvPr/>
        </p:nvSpPr>
        <p:spPr>
          <a:xfrm>
            <a:off x="457200" y="4937760"/>
            <a:ext cx="1033272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7" name="Google Shape;947;p34"/>
          <p:cNvSpPr txBox="1"/>
          <p:nvPr/>
        </p:nvSpPr>
        <p:spPr>
          <a:xfrm>
            <a:off x="640080" y="4983480"/>
            <a:ext cx="9966960" cy="8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关键差异分析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测试结构升级：Native 扁平在 tests/ 下；HW2 按模块建子目录 + conftest.py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集成测试从无到有：HW2 新增 195 行端到端集成测试（含合成数据库、完整 pipeline 验证）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测试深度 &gt; 测试数量：HW2 每函数平均 13.7 行，含更多多步骤验证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数据驱动测试：HW2 集成测试用 SQLite + 合成 OHLCV 完整模拟真实数据管道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8" name="Google Shape;948;p34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32/41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35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代码规模与任务分解三方深度对比：规格化如何驱动系统完整度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4" name="Google Shape;954;p35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5" name="Google Shape;955;p35"/>
          <p:cNvSpPr txBox="1"/>
          <p:nvPr/>
        </p:nvSpPr>
        <p:spPr>
          <a:xfrm>
            <a:off x="457200" y="65836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相同需求描述，三种方式产出的代码规模、模块分布、任务分解粒度差异直接反映规格化程度对 AI 行为的引导效果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6" name="Google Shape;956;p35"/>
          <p:cNvSpPr txBox="1"/>
          <p:nvPr/>
        </p:nvSpPr>
        <p:spPr>
          <a:xfrm>
            <a:off x="457200" y="960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代码规模分布（含测试）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7" name="Google Shape;957;p35"/>
          <p:cNvSpPr/>
          <p:nvPr/>
        </p:nvSpPr>
        <p:spPr>
          <a:xfrm>
            <a:off x="457200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8" name="Google Shape;958;p35"/>
          <p:cNvSpPr txBox="1"/>
          <p:nvPr/>
        </p:nvSpPr>
        <p:spPr>
          <a:xfrm>
            <a:off x="64008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1,194 行 · 6 文件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data_fetcher.py       316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factor_engine.py     290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backtester.py           257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app.py                      155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单文件承担多职责，无模块化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9" name="Google Shape;959;p35"/>
          <p:cNvSpPr/>
          <p:nvPr/>
        </p:nvSpPr>
        <p:spPr>
          <a:xfrm>
            <a:off x="397763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0" name="Google Shape;960;p35"/>
          <p:cNvSpPr txBox="1"/>
          <p:nvPr/>
        </p:nvSpPr>
        <p:spPr>
          <a:xfrm>
            <a:off x="416052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2,824 行 · 32 文件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512 行  数据管道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423 行  回测引擎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314 行  因子引擎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207 行  风控体系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570 行测试)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1" name="Google Shape;961;p35"/>
          <p:cNvSpPr/>
          <p:nvPr/>
        </p:nvSpPr>
        <p:spPr>
          <a:xfrm>
            <a:off x="749807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2" name="Google Shape;962;p35"/>
          <p:cNvSpPr txBox="1"/>
          <p:nvPr/>
        </p:nvSpPr>
        <p:spPr>
          <a:xfrm>
            <a:off x="7680959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5,015 行 · 31 文件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813 行  多源管道+验证器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775 行  4 子模块引擎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607 行  16 因子+标准化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501 行  4 层+聚合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779 行测试 + 114 行 notebook)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3" name="Google Shape;963;p35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任务分解对比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4" name="Google Shape;964;p35"/>
          <p:cNvSpPr/>
          <p:nvPr/>
        </p:nvSpPr>
        <p:spPr>
          <a:xfrm>
            <a:off x="457200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5" name="Google Shape;965;p35"/>
          <p:cNvSpPr txBox="1"/>
          <p:nvPr/>
        </p:nvSpPr>
        <p:spPr>
          <a:xfrm>
            <a:off x="64008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0 个任务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无任何前置规划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凭自身判断决定架构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结果：6 个文件一气呵成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6" name="Google Shape;966;p35"/>
          <p:cNvSpPr/>
          <p:nvPr/>
        </p:nvSpPr>
        <p:spPr>
          <a:xfrm>
            <a:off x="397763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7" name="Google Shape;967;p35"/>
          <p:cNvSpPr txBox="1"/>
          <p:nvPr/>
        </p:nvSpPr>
        <p:spPr>
          <a:xfrm>
            <a:off x="416052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44 个任务 · 10 模块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6 | 股票池 4 | 因子 7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4 | 风控 5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5 | 报告 4 | CLI 2 | 基建 3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8" name="Google Shape;968;p35"/>
          <p:cNvSpPr/>
          <p:nvPr/>
        </p:nvSpPr>
        <p:spPr>
          <a:xfrm>
            <a:off x="749807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9" name="Google Shape;969;p35"/>
          <p:cNvSpPr txBox="1"/>
          <p:nvPr/>
        </p:nvSpPr>
        <p:spPr>
          <a:xfrm>
            <a:off x="7680959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65 个任务 · 10 模块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8 | 股票池 6 | 因子 9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7 | 风控 6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7 | 报告 8 | 集成 5 | 基建 5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0" name="Google Shape;970;p35"/>
          <p:cNvSpPr/>
          <p:nvPr/>
        </p:nvSpPr>
        <p:spPr>
          <a:xfrm>
            <a:off x="457200" y="43434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1" name="Google Shape;971;p35"/>
          <p:cNvSpPr/>
          <p:nvPr/>
        </p:nvSpPr>
        <p:spPr>
          <a:xfrm>
            <a:off x="457200" y="4434840"/>
            <a:ext cx="10332720" cy="15544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2" name="Google Shape;972;p35"/>
          <p:cNvSpPr txBox="1"/>
          <p:nvPr/>
        </p:nvSpPr>
        <p:spPr>
          <a:xfrm>
            <a:off x="640080" y="4480560"/>
            <a:ext cx="9966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步骤的增量影响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任务粒度更细：HW2 比 Native 多 21 个任务（65 vs 44，+48%），增量在数据验证器、存活偏差防护、因子 IC 跟踪等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代码量增长显著：HW2 源码 4,236 行 vs Native 2,254 行（+88%），增量集中在 strategy（+248%）、risk（+142%）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模块功能密度提升：HW2 data 模块增加 DataSource Protocol + 验证器；backtest 拆分为 engine/broker/portfolio/metrics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工程化产物：HW2 独有 conftest.py 共享 fixtures、demo_workflow.py 演示流程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3" name="Google Shape;973;p35"/>
          <p:cNvSpPr txBox="1"/>
          <p:nvPr/>
        </p:nvSpPr>
        <p:spPr>
          <a:xfrm>
            <a:off x="457200" y="6035040"/>
            <a:ext cx="1033272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让 AI 在编码前充分理解业务场景 → 更细的任务分解 → 更完整的模块实现 → 更高的代码量和测试质量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4" name="Google Shape;974;p35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33/41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8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9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0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1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19846</Words>
  <Application>WPS Presentation</Application>
  <PresentationFormat/>
  <Paragraphs>1591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9" baseType="lpstr">
      <vt:lpstr>Arial</vt:lpstr>
      <vt:lpstr>SimSun</vt:lpstr>
      <vt:lpstr>Wingdings</vt:lpstr>
      <vt:lpstr>Arial</vt:lpstr>
      <vt:lpstr>Calibri</vt:lpstr>
      <vt:lpstr>Microsoft YaHei</vt:lpstr>
      <vt:lpstr>Consolas</vt:lpstr>
      <vt:lpstr>Arial Unicode MS</vt:lpstr>
      <vt:lpstr>Office Theme</vt:lpstr>
      <vt:lpstr>Compact Ver.</vt:lpstr>
      <vt:lpstr>PowerPoint 演示文稿</vt:lpstr>
      <vt:lpstr>PowerPoint 演示文稿</vt:lpstr>
      <vt:lpstr>PowerPoint 演示文稿</vt:lpstr>
      <vt:lpstr>PowerPoint 演示文稿</vt:lpstr>
      <vt:lpstr>Archive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Zhifei Dou</cp:lastModifiedBy>
  <cp:revision>63</cp:revision>
  <dcterms:created xsi:type="dcterms:W3CDTF">2026-02-26T00:15:00Z</dcterms:created>
  <dcterms:modified xsi:type="dcterms:W3CDTF">2026-02-26T03:23:27Z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1033-12.2.0.23196</vt:lpwstr>
  </property>
</Properties>
</file>