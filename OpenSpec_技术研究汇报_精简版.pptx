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6"/>
  </p:notesMasterIdLst>
  <p:sldIdLst>
    <p:sldId id="302" r:id="rId3"/>
    <p:sldId id="309" r:id="rId4"/>
    <p:sldId id="306" r:id="rId5"/>
    <p:sldId id="307" r:id="rId7"/>
    <p:sldId id="310" r:id="rId8"/>
    <p:sldId id="308" r:id="rId9"/>
    <p:sldId id="301" r:id="rId10"/>
    <p:sldId id="256" r:id="rId11"/>
    <p:sldId id="257" r:id="rId12"/>
    <p:sldId id="258" r:id="rId13"/>
    <p:sldId id="294" r:id="rId14"/>
    <p:sldId id="293" r:id="rId15"/>
    <p:sldId id="292" r:id="rId16"/>
    <p:sldId id="268" r:id="rId17"/>
    <p:sldId id="297" r:id="rId18"/>
    <p:sldId id="296" r:id="rId19"/>
    <p:sldId id="295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0" userDrawn="1">
          <p15:clr>
            <a:srgbClr val="A4A3A4"/>
          </p15:clr>
        </p15:guide>
        <p15:guide id="2" pos="30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10"/>
        <p:guide pos="3004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/>
          <p:nvPr>
            <p:ph type="ctrTitle"/>
          </p:nvPr>
        </p:nvSpPr>
        <p:spPr/>
        <p:txBody>
          <a:bodyPr/>
          <a:p>
            <a:r>
              <a:rPr lang="en-US"/>
              <a:t>Compact Ver.</a:t>
            </a:r>
            <a:endParaRPr lang="en-US"/>
          </a:p>
        </p:txBody>
      </p:sp>
      <p:sp>
        <p:nvSpPr>
          <p:cNvPr id="7" name="Subtitle 6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Rounded Rectangle 14"/>
          <p:cNvSpPr/>
          <p:nvPr/>
        </p:nvSpPr>
        <p:spPr>
          <a:xfrm>
            <a:off x="687070" y="1488440"/>
            <a:ext cx="3363595" cy="4591050"/>
          </a:xfrm>
          <a:prstGeom prst="roundRect">
            <a:avLst>
              <a:gd name="adj" fmla="val 4000"/>
            </a:avLst>
          </a:prstGeom>
          <a:solidFill>
            <a:srgbClr val="F0FAFA"/>
          </a:solidFill>
          <a:ln w="19050">
            <a:solidFill>
              <a:srgbClr val="008B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7540" y="409321"/>
            <a:ext cx="91440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1A2E"/>
                </a:solidFill>
              </a:rPr>
              <a:t>背景与框架：Agentic Coding 与 OpenSpec</a:t>
            </a:r>
            <a:endParaRPr sz="2200" b="1">
              <a:solidFill>
                <a:srgbClr val="1A1A2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290695" y="1313815"/>
            <a:ext cx="3528060" cy="4806315"/>
          </a:xfrm>
          <a:prstGeom prst="roundRect">
            <a:avLst>
              <a:gd name="adj" fmla="val 4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0695" y="1313815"/>
            <a:ext cx="3528060" cy="270510"/>
          </a:xfrm>
          <a:prstGeom prst="roundRect">
            <a:avLst>
              <a:gd name="adj" fmla="val 4000"/>
            </a:avLst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3720" y="1302385"/>
            <a:ext cx="2301240" cy="2959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FFFFFF"/>
                </a:solidFill>
              </a:rPr>
              <a:t>为什么需要 OpenSpec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45305" y="1578610"/>
            <a:ext cx="2410460" cy="450342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Agentic Coding 现状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Claude Code 等 AI 编程工具已能自主完成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复杂的软件开发任务。但在企业环境中，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能写代码只是第一步。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需求失控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 容易自作主张添加/遗漏功能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需求只存在于聊天记录中，无法追溯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质量不稳定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同样需求，不同对话产出差异大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缺乏验证标准，靠人肉 review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协作困难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 对话上下文无法共享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多人并行修改容易冲突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知识流失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决策过程随对话消失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新人接手困难，重复踩坑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0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⚠ 解决了"怎么写"</a:t>
            </a:r>
            <a:endParaRPr sz="10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0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但没解决"写什么"和"写得对不对"</a:t>
            </a:r>
            <a:endParaRPr sz="10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04175" y="1302385"/>
            <a:ext cx="3470275" cy="481457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04175" y="1302385"/>
            <a:ext cx="3469640" cy="237490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77200" y="1290955"/>
            <a:ext cx="2572385" cy="260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FFFFFF"/>
                </a:solidFill>
              </a:rPr>
              <a:t>OpenSpec：规格驱动的人机协同框架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58785" y="1567180"/>
            <a:ext cx="2869565" cy="455041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定位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轻量级规格驱动框架，让人和 AI 在写代码之前先达成共识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，确保工程标准水平的</a:t>
            </a:r>
            <a:r>
              <a:rPr lang="en-US" alt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code</a:t>
            </a:r>
            <a:r>
              <a:rPr lang="zh-CN" alt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产出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四大设计原则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流动而非僵化 — 没有阶段门控，按需推进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迭代而非瀑布 — 边做边学，持续优化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增量而非全量 — 用 Delta 记录变更，不重写整体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存量优先 — 为已有项目设计，不只给新项目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项目结构（两个核心目录）</a:t>
            </a:r>
            <a:endParaRPr sz="9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openspec/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├── specs/           ← 当前行为的真相源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│   └── &lt;domain&gt;/spec.md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└── changes/         ← 提议的变更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proposal.md  （为什么改）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usecases.md  （用户场景）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specs/       （Delta: 增/改/删）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design.md    （怎么改）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└── tasks.md     （实现清单）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核心创新：Delta Spec（增量规格）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不是重写整个规格，而是只描述变化：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ADDED Requirements      ← 新增需求</a:t>
            </a:r>
            <a:endParaRPr sz="900" b="0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MODIFIED Requirements  ← 修改需求</a:t>
            </a:r>
            <a:endParaRPr sz="900" b="0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REMOVED Requirements   ← 删除需求</a:t>
            </a:r>
            <a:endParaRPr sz="900" b="0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每个需求附带 Given/When/Then 验证场景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归档时自动合并到主规格 → 活文档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7540" y="1329055"/>
            <a:ext cx="3452495" cy="273685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550" y="1374140"/>
            <a:ext cx="3363595" cy="1587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人</a:t>
            </a:r>
            <a:r>
              <a:rPr lang="en-US" alt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 +AI</a:t>
            </a:r>
            <a:r>
              <a:rPr lang="zh-CN" altLang="en-US" sz="1100" b="1">
                <a:solidFill>
                  <a:srgbClr val="FFFFFF"/>
                </a:solidFill>
                <a:ea typeface="SimSun" panose="02010600030101010101" pitchFamily="2" charset="-122"/>
              </a:rPr>
              <a:t>开发智能体</a:t>
            </a:r>
            <a:r>
              <a:rPr lang="en-US" alt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 </a:t>
            </a:r>
            <a:r>
              <a:rPr lang="zh-CN" altLang="en-US" sz="1100" b="1">
                <a:solidFill>
                  <a:srgbClr val="FFFFFF"/>
                </a:solidFill>
                <a:ea typeface="SimSun" panose="02010600030101010101" pitchFamily="2" charset="-122"/>
              </a:rPr>
              <a:t>的工程能力建设</a:t>
            </a:r>
            <a:endParaRPr lang="zh-CN" altLang="en-US" sz="1100" b="1">
              <a:solidFill>
                <a:srgbClr val="FFFFFF"/>
              </a:solidFill>
              <a:ea typeface="SimSun" panose="0201060003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4385" y="3056890"/>
            <a:ext cx="3206115" cy="22961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人与 AI 智能体</a:t>
            </a:r>
            <a:r>
              <a:rPr lang="zh-CN"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：</a:t>
            </a:r>
            <a:endParaRPr lang="zh-CN"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altLang="zh-CN" sz="9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s 3"/>
          <p:cNvSpPr/>
          <p:nvPr/>
        </p:nvSpPr>
        <p:spPr>
          <a:xfrm>
            <a:off x="249555" y="4348480"/>
            <a:ext cx="11357610" cy="23228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Rectangles 6"/>
          <p:cNvSpPr/>
          <p:nvPr/>
        </p:nvSpPr>
        <p:spPr>
          <a:xfrm>
            <a:off x="249555" y="1463040"/>
            <a:ext cx="10483215" cy="15379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31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 工作流对比：vs 原生 OpenSpec 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0095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80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71770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71770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23878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48510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725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98165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569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95650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133090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905760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79700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91360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62675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45485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4187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12635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6490000"/>
            <a:ext cx="11500000" cy="3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6505000"/>
            <a:ext cx="112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核心结论：四组独立实验一致证明，OpenSpec-HW 在所有 SE 维度系统性领先</a:t>
            </a:r>
            <a:r>
              <a:rPr lang="en-US" sz="9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8" name="Rectangle 207"/>
          <p:cNvSpPr/>
          <p:nvPr/>
        </p:nvSpPr>
        <p:spPr>
          <a:xfrm>
            <a:off x="230000" y="4401810"/>
            <a:ext cx="11500000" cy="2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230000" y="4406810"/>
            <a:ext cx="11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实验4：Dashboard — 规格驱动测试</a:t>
            </a:r>
            <a:r>
              <a:rPr sz="900" b="0">
                <a:solidFill>
                  <a:srgbClr val="BBBBBB"/>
                </a:solidFill>
                <a:latin typeface="Microsoft YaHei" panose="020B0503020204020204" charset="-122"/>
              </a:rPr>
              <a:t>  (OS-HW Testing Workflow: gen-tests → run-tests)</a:t>
            </a:r>
            <a:endParaRPr sz="900" b="0">
              <a:solidFill>
                <a:srgbClr val="BBBBBB"/>
              </a:solidFill>
              <a:latin typeface="Microsoft YaHei" panose="020B0503020204020204" charset="-122"/>
            </a:endParaRPr>
          </a:p>
        </p:txBody>
      </p:sp>
      <p:sp>
        <p:nvSpPr>
          <p:cNvPr id="210" name="Rectangle 209"/>
          <p:cNvSpPr/>
          <p:nvPr/>
        </p:nvSpPr>
        <p:spPr>
          <a:xfrm>
            <a:off x="230000" y="4681810"/>
            <a:ext cx="11500000" cy="18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80000" y="4691810"/>
            <a:ext cx="114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实验内容：使用 OS-HW 测试工作流从 Use Case 规格自动生成测试用例（gen-tests），执行测试并追踪 Happy / Alt / Exception 三类路径覆盖率（run-tests），全流程自动化验证规格一致性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12" name="Rectangle 211"/>
          <p:cNvSpPr/>
          <p:nvPr/>
        </p:nvSpPr>
        <p:spPr>
          <a:xfrm>
            <a:off x="230000" y="4876810"/>
            <a:ext cx="18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230000" y="4881810"/>
            <a:ext cx="1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用例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20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0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Happy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6" name="Rectangle 215"/>
          <p:cNvSpPr/>
          <p:nvPr/>
        </p:nvSpPr>
        <p:spPr>
          <a:xfrm>
            <a:off x="27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7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Alt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8" name="Rectangle 217"/>
          <p:cNvSpPr/>
          <p:nvPr/>
        </p:nvSpPr>
        <p:spPr>
          <a:xfrm>
            <a:off x="3430000" y="4876810"/>
            <a:ext cx="8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3430000" y="4881810"/>
            <a:ext cx="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Exception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0" name="Rectangle 219"/>
          <p:cNvSpPr/>
          <p:nvPr/>
        </p:nvSpPr>
        <p:spPr>
          <a:xfrm>
            <a:off x="42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42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覆盖率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2" name="Rectangle 221"/>
          <p:cNvSpPr/>
          <p:nvPr/>
        </p:nvSpPr>
        <p:spPr>
          <a:xfrm>
            <a:off x="230000" y="511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260000" y="511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UC-01: Drag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24" name="Rectangle 223"/>
          <p:cNvSpPr/>
          <p:nvPr/>
        </p:nvSpPr>
        <p:spPr>
          <a:xfrm>
            <a:off x="20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20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6" name="Rectangle 225"/>
          <p:cNvSpPr/>
          <p:nvPr/>
        </p:nvSpPr>
        <p:spPr>
          <a:xfrm>
            <a:off x="27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7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2/2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8" name="Rectangle 227"/>
          <p:cNvSpPr/>
          <p:nvPr/>
        </p:nvSpPr>
        <p:spPr>
          <a:xfrm>
            <a:off x="3430000" y="511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30000" y="511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62828"/>
                </a:solidFill>
                <a:latin typeface="Microsoft YaHei" panose="020B0503020204020204" charset="-122"/>
              </a:rPr>
              <a:t>❌ 0/1</a:t>
            </a:r>
            <a:endParaRPr sz="75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42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2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E86C00"/>
                </a:solidFill>
                <a:latin typeface="Microsoft YaHei" panose="020B0503020204020204" charset="-122"/>
              </a:rPr>
              <a:t>75%</a:t>
            </a:r>
            <a:endParaRPr sz="75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230000" y="5336810"/>
            <a:ext cx="1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260000" y="533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UC-02: Snap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34" name="Rectangle 233"/>
          <p:cNvSpPr/>
          <p:nvPr/>
        </p:nvSpPr>
        <p:spPr>
          <a:xfrm>
            <a:off x="20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20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36" name="Rectangle 235"/>
          <p:cNvSpPr/>
          <p:nvPr/>
        </p:nvSpPr>
        <p:spPr>
          <a:xfrm>
            <a:off x="27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7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38" name="Rectangle 237"/>
          <p:cNvSpPr/>
          <p:nvPr/>
        </p:nvSpPr>
        <p:spPr>
          <a:xfrm>
            <a:off x="3430000" y="5336810"/>
            <a:ext cx="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3430000" y="533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0" name="Rectangle 239"/>
          <p:cNvSpPr/>
          <p:nvPr/>
        </p:nvSpPr>
        <p:spPr>
          <a:xfrm>
            <a:off x="42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42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2" name="Rectangle 241"/>
          <p:cNvSpPr/>
          <p:nvPr/>
        </p:nvSpPr>
        <p:spPr>
          <a:xfrm>
            <a:off x="230000" y="555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60000" y="555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UC-03: Resize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44" name="Rectangle 243"/>
          <p:cNvSpPr/>
          <p:nvPr/>
        </p:nvSpPr>
        <p:spPr>
          <a:xfrm>
            <a:off x="20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0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6" name="Rectangle 245"/>
          <p:cNvSpPr/>
          <p:nvPr/>
        </p:nvSpPr>
        <p:spPr>
          <a:xfrm>
            <a:off x="27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7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8" name="Rectangle 247"/>
          <p:cNvSpPr/>
          <p:nvPr/>
        </p:nvSpPr>
        <p:spPr>
          <a:xfrm>
            <a:off x="3430000" y="555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430000" y="555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0" name="Rectangle 249"/>
          <p:cNvSpPr/>
          <p:nvPr/>
        </p:nvSpPr>
        <p:spPr>
          <a:xfrm>
            <a:off x="42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42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2" name="Rectangle 251"/>
          <p:cNvSpPr/>
          <p:nvPr/>
        </p:nvSpPr>
        <p:spPr>
          <a:xfrm>
            <a:off x="230000" y="5776810"/>
            <a:ext cx="1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260000" y="577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UC-04: Add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54" name="Rectangle 253"/>
          <p:cNvSpPr/>
          <p:nvPr/>
        </p:nvSpPr>
        <p:spPr>
          <a:xfrm>
            <a:off x="20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20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27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27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8" name="Rectangle 257"/>
          <p:cNvSpPr/>
          <p:nvPr/>
        </p:nvSpPr>
        <p:spPr>
          <a:xfrm>
            <a:off x="3430000" y="5776810"/>
            <a:ext cx="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430000" y="577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0" name="Rectangle 259"/>
          <p:cNvSpPr/>
          <p:nvPr/>
        </p:nvSpPr>
        <p:spPr>
          <a:xfrm>
            <a:off x="42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42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2" name="Rectangle 261"/>
          <p:cNvSpPr/>
          <p:nvPr/>
        </p:nvSpPr>
        <p:spPr>
          <a:xfrm>
            <a:off x="230000" y="599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260000" y="599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UC-05: Remove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4" name="Rectangle 263"/>
          <p:cNvSpPr/>
          <p:nvPr/>
        </p:nvSpPr>
        <p:spPr>
          <a:xfrm>
            <a:off x="20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0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6" name="Rectangle 265"/>
          <p:cNvSpPr/>
          <p:nvPr/>
        </p:nvSpPr>
        <p:spPr>
          <a:xfrm>
            <a:off x="27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27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8" name="Rectangle 267"/>
          <p:cNvSpPr/>
          <p:nvPr/>
        </p:nvSpPr>
        <p:spPr>
          <a:xfrm>
            <a:off x="3430000" y="599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3430000" y="599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0" name="Rectangle 269"/>
          <p:cNvSpPr/>
          <p:nvPr/>
        </p:nvSpPr>
        <p:spPr>
          <a:xfrm>
            <a:off x="42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42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2" name="Rectangle 271"/>
          <p:cNvSpPr/>
          <p:nvPr/>
        </p:nvSpPr>
        <p:spPr>
          <a:xfrm>
            <a:off x="230000" y="6216810"/>
            <a:ext cx="18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260000" y="6221810"/>
            <a:ext cx="177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2E"/>
                </a:solidFill>
                <a:latin typeface="Microsoft YaHei" panose="020B0503020204020204" charset="-122"/>
              </a:rPr>
              <a:t>总计 (15/17)</a:t>
            </a:r>
            <a:endParaRPr sz="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4" name="Rectangle 273"/>
          <p:cNvSpPr/>
          <p:nvPr/>
        </p:nvSpPr>
        <p:spPr>
          <a:xfrm>
            <a:off x="20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0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✅ 5/5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27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27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✅ 6/6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8" name="Rectangle 277"/>
          <p:cNvSpPr/>
          <p:nvPr/>
        </p:nvSpPr>
        <p:spPr>
          <a:xfrm>
            <a:off x="3430000" y="6216810"/>
            <a:ext cx="8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430000" y="6221810"/>
            <a:ext cx="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86C00"/>
                </a:solidFill>
                <a:latin typeface="Microsoft YaHei" panose="020B0503020204020204" charset="-122"/>
              </a:rPr>
              <a:t>4/5</a:t>
            </a:r>
            <a:endParaRPr sz="8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80" name="Rectangle 279"/>
          <p:cNvSpPr/>
          <p:nvPr/>
        </p:nvSpPr>
        <p:spPr>
          <a:xfrm>
            <a:off x="42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2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88%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2" name="Rounded Rectangle 281"/>
          <p:cNvSpPr/>
          <p:nvPr/>
        </p:nvSpPr>
        <p:spPr>
          <a:xfrm>
            <a:off x="5130000" y="4876810"/>
            <a:ext cx="6600000" cy="158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30000" y="4906810"/>
            <a:ext cx="6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7D32"/>
                </a:solidFill>
                <a:latin typeface="Microsoft YaHei" panose="020B0503020204020204" charset="-122"/>
              </a:rPr>
              <a:t>88%</a:t>
            </a:r>
            <a:endParaRPr sz="36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163145" y="5006150"/>
            <a:ext cx="66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规格路径覆盖率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5" name="TextBox 284"/>
          <p:cNvSpPr txBox="1"/>
          <p:nvPr/>
        </p:nvSpPr>
        <p:spPr>
          <a:xfrm>
            <a:off x="6232360" y="5234575"/>
            <a:ext cx="66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4444"/>
                </a:solidFill>
                <a:latin typeface="Microsoft YaHei" panose="020B0503020204020204" charset="-122"/>
              </a:rPr>
              <a:t>(15 / 17 paths covered)</a:t>
            </a:r>
            <a:endParaRPr sz="8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86" name="Rectangle 285"/>
          <p:cNvSpPr/>
          <p:nvPr/>
        </p:nvSpPr>
        <p:spPr>
          <a:xfrm>
            <a:off x="5330000" y="5557140"/>
            <a:ext cx="6200000" cy="15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5130000" y="5496810"/>
            <a:ext cx="3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44/44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5130000" y="5857150"/>
            <a:ext cx="33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测试全部通过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9" name="TextBox 288"/>
          <p:cNvSpPr txBox="1"/>
          <p:nvPr/>
        </p:nvSpPr>
        <p:spPr>
          <a:xfrm>
            <a:off x="8428095" y="5465060"/>
            <a:ext cx="3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Microsoft YaHei" panose="020B0503020204020204" charset="-122"/>
              </a:rPr>
              <a:t>20</a:t>
            </a:r>
            <a:endParaRPr sz="20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90" name="TextBox 289"/>
          <p:cNvSpPr txBox="1"/>
          <p:nvPr/>
        </p:nvSpPr>
        <p:spPr>
          <a:xfrm>
            <a:off x="8428730" y="5857150"/>
            <a:ext cx="33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需求追踪映射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91" name="TextBox 290"/>
          <p:cNvSpPr txBox="1"/>
          <p:nvPr/>
        </p:nvSpPr>
        <p:spPr>
          <a:xfrm>
            <a:off x="5130000" y="6141615"/>
            <a:ext cx="66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4444"/>
                </a:solidFill>
                <a:latin typeface="Microsoft YaHei" panose="020B0503020204020204" charset="-122"/>
              </a:rPr>
              <a:t>7 test files  ·  vitest v2.1.9  ·  3.16s runtime</a:t>
            </a:r>
            <a:endParaRPr sz="7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5129365" y="6021590"/>
            <a:ext cx="66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Microsoft YaHei" panose="020B0503020204020204" charset="-122"/>
              </a:rPr>
              <a:t>spec-tests.md: 14 ✅ 完整  ·  4 ⚠️ 部分  ·  2 ❌ 待补</a:t>
            </a:r>
            <a:endParaRPr sz="7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440181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694960" y="4433875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760365" y="4933715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4159635" y="443324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199005" y="493308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536181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5386810"/>
            <a:ext cx="11200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</a:t>
            </a:r>
            <a:r>
              <a:rPr lang="en-US" sz="11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5059045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潜在研究方向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201930" y="658495"/>
            <a:ext cx="5856605" cy="260096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20193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7508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56540" y="895985"/>
            <a:ext cx="5746750" cy="2362835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可与方向 3 Self-Evolving 形成审查学习闭环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68390" y="658495"/>
            <a:ext cx="5856605" cy="2600325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6839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4154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23000" y="923290"/>
            <a:ext cx="5746750" cy="2193925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自动生成 property-based tests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201930" y="3450590"/>
            <a:ext cx="5856605" cy="2468880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201930" y="345084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75082" y="3408743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56540" y="3716020"/>
            <a:ext cx="5746750" cy="220345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蒸馏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华为</a:t>
            </a:r>
            <a:r>
              <a:rPr lang="zh-CN"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业务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级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Spec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最佳实践原则</a:t>
            </a:r>
            <a:r>
              <a:rPr 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更进一步蒸馏华为</a:t>
            </a:r>
            <a:r>
              <a:rPr 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个人级</a:t>
            </a:r>
            <a:r>
              <a:rPr lang="en-US" alt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Spec</a:t>
            </a:r>
            <a:r>
              <a:rPr lang="zh-CN" altLang="en-US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最佳实践原则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经验沉淀为可复用的组织知识资产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与 Domain Packs 差异化互补：Pack = 行业通识，Self-Evolving = 项目经验</a:t>
            </a:r>
            <a:r>
              <a:rPr lang="zh-CN"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，互相补充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68390" y="3451225"/>
            <a:ext cx="5856605" cy="2468245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68390" y="3451479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41542" y="340937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23000" y="3716655"/>
            <a:ext cx="5746750" cy="235077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通用大模型不懂行业：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比如</a:t>
            </a: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电信须符合 3GPP、汽车须通过 ISO 26262、能源须满足 IEC 62109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Schema 约束 + 验证规则（Validators）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差异化价值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行业落地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ICT：3GPP 协议合规 + 网络功能 spec 模板 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汽车：ASIL 等级模板 + AUTOSAR 约束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4209415" y="2316480"/>
            <a:ext cx="2013585" cy="902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endParaRPr lang="en-US"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173355" y="6011545"/>
            <a:ext cx="11851640" cy="6502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研究潜在为华为不同领域的业务提供需求，设计，测评等支持</a:t>
            </a:r>
            <a:r>
              <a:rPr lang="en-US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 </a:t>
            </a:r>
            <a:r>
              <a:rPr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未来更进一步为生产线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人员提供个性化的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Agentic Codeing Assistant</a:t>
            </a:r>
            <a:endParaRPr lang="en-US" altLang="zh-CN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/>
        <p:txBody>
          <a:bodyPr/>
          <a:p>
            <a:r>
              <a:rPr lang="en-US"/>
              <a:t>Archive</a:t>
            </a:r>
            <a:endParaRPr lang="en-US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317740" y="2476500"/>
            <a:ext cx="6096000" cy="889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1</a:t>
            </a:r>
            <a:endParaRPr sz="5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Du et al. (ICML'24) Multi-Agent Debate 提升推理准确性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Chan et al. (ICLR'24) ChatEval 多智能体辩论评估有效性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Oriol et al. (RE@Next!'25) MAD 在需求工程的初步探索</a:t>
            </a:r>
            <a:endParaRPr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2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Meyer (1988/1992) Design by Contract 理论基础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Kiro (AWS, GA 2025) EARS→test 验证 | Tessl、spec-kit 也在探索此方向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3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EvolveR (Wu et al., arXiv:2510.16079) LLM Agent 经验蒸馏自进化框架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自进化 Agent 综述 (Gao et al., arXiv:2507.21046; Tao et al., arXiv:2508.07407)</a:t>
            </a:r>
            <a:endParaRPr lang="en-US"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8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9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0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1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21267</Words>
  <Application>WPS Presentation</Application>
  <PresentationFormat/>
  <Paragraphs>1862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0" baseType="lpstr">
      <vt:lpstr>Arial</vt:lpstr>
      <vt:lpstr>SimSun</vt:lpstr>
      <vt:lpstr>Wingdings</vt:lpstr>
      <vt:lpstr>Arial</vt:lpstr>
      <vt:lpstr>Calibri</vt:lpstr>
      <vt:lpstr>Microsoft YaHei</vt:lpstr>
      <vt:lpstr>Consolas</vt:lpstr>
      <vt:lpstr>Arial Unicode MS</vt:lpstr>
      <vt:lpstr>Office Theme</vt:lpstr>
      <vt:lpstr>Compact Ver.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Archive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66</cp:revision>
  <dcterms:created xsi:type="dcterms:W3CDTF">2026-02-26T00:15:00Z</dcterms:created>
  <dcterms:modified xsi:type="dcterms:W3CDTF">2026-02-26T18:39:14Z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1033-12.9.0.21549</vt:lpwstr>
  </property>
</Properties>
</file>