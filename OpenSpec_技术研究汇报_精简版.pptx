
<file path=[Content_Types].xml><?xml version="1.0" encoding="utf-8"?>
<Types xmlns="http://schemas.openxmlformats.org/package/2006/content-types">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y="6858000" cx="121913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88">
          <p15:clr>
            <a:srgbClr val="A4A3A4"/>
          </p15:clr>
        </p15:guide>
        <p15:guide id="2" pos="2995">
          <p15:clr>
            <a:srgbClr val="A4A3A4"/>
          </p15:clr>
        </p15:guide>
      </p15:sldGuideLst>
    </p:ext>
    <p:ext uri="GoogleSlidesCustomDataVersion2">
      <go:slidesCustomData xmlns:go="http://customooxmlschemas.google.com/" r:id="rId43" roundtripDataSignature="AMtx7mhciGMJGdX1pj9KC8ub2Y5NfyTy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919ADCB-30F0-46B4-BD1B-849308643872}">
  <a:tblStyle styleId="{1919ADCB-30F0-46B4-BD1B-849308643872}"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88" orient="horz"/>
        <p:guide pos="2995"/>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5-6页数量是没问题的，</a:t>
            </a:r>
            <a:endParaRPr/>
          </a:p>
          <a:p>
            <a:pPr indent="0" lvl="0" marL="0" rtl="0" algn="l">
              <a:spcBef>
                <a:spcPts val="0"/>
              </a:spcBef>
              <a:spcAft>
                <a:spcPts val="0"/>
              </a:spcAft>
              <a:buNone/>
            </a:pPr>
            <a:r>
              <a:rPr lang="en-US"/>
              <a:t>面向人 +CodeAgent协同的可信系统工程方法与框架</a:t>
            </a:r>
            <a:endParaRPr/>
          </a:p>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2: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3: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提一下这个OpenSpec不支持我们华为的特定要求</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4: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添加一下原生OpenSpec的流程是什么，把Khaled的方式页加进去</a:t>
            </a:r>
            <a:endParaRPr/>
          </a:p>
          <a:p>
            <a:pPr indent="0" lvl="0" marL="0" rtl="0" algn="l">
              <a:spcBef>
                <a:spcPts val="0"/>
              </a:spcBef>
              <a:spcAft>
                <a:spcPts val="0"/>
              </a:spcAft>
              <a:buNone/>
            </a:pPr>
            <a:r>
              <a:rPr lang="en-US"/>
              <a:t>OS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6" name="Google Shape;216;p5: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0" name="Google Shape;260;p6: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p7: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1" name="Google Shape;281;p8: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9: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6" name="Google Shape;316;p10: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9" name="Google Shape;339;p11: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5" name="Google Shape;355;p12: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0" name="Google Shape;370;p13: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3" name="Google Shape;393;p14: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7" name="Google Shape;467;p15: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4" name="Google Shape;514;p16: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9" name="Google Shape;519;p17: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5" name="Google Shape;565;p18: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1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0" name="Google Shape;580;p19: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p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8" name="Google Shape;628;p20: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0" name="Google Shape;660;p21: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0" name="Google Shape;700;p22: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4" name="Google Shape;764;p23: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6" name="Google Shape;776;p24: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6" name="Shape 786"/>
        <p:cNvGrpSpPr/>
        <p:nvPr/>
      </p:nvGrpSpPr>
      <p:grpSpPr>
        <a:xfrm>
          <a:off x="0" y="0"/>
          <a:ext cx="0" cy="0"/>
          <a:chOff x="0" y="0"/>
          <a:chExt cx="0" cy="0"/>
        </a:xfrm>
      </p:grpSpPr>
      <p:sp>
        <p:nvSpPr>
          <p:cNvPr id="787" name="Google Shape;787;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8" name="Google Shape;788;p25: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2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0" name="Google Shape;820;p26: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2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3" name="Google Shape;833;p27: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2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8" name="Google Shape;848;p28: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6" name="Shape 856"/>
        <p:cNvGrpSpPr/>
        <p:nvPr/>
      </p:nvGrpSpPr>
      <p:grpSpPr>
        <a:xfrm>
          <a:off x="0" y="0"/>
          <a:ext cx="0" cy="0"/>
          <a:chOff x="0" y="0"/>
          <a:chExt cx="0" cy="0"/>
        </a:xfrm>
      </p:grpSpPr>
      <p:sp>
        <p:nvSpPr>
          <p:cNvPr id="857" name="Google Shape;857;p2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8" name="Google Shape;858;p29: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p3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6" name="Google Shape;866;p30: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3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9" name="Google Shape;879;p31: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3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5" name="Google Shape;895;p32: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3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8" name="Google Shape;908;p33: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2" name="Shape 932"/>
        <p:cNvGrpSpPr/>
        <p:nvPr/>
      </p:nvGrpSpPr>
      <p:grpSpPr>
        <a:xfrm>
          <a:off x="0" y="0"/>
          <a:ext cx="0" cy="0"/>
          <a:chOff x="0" y="0"/>
          <a:chExt cx="0" cy="0"/>
        </a:xfrm>
      </p:grpSpPr>
      <p:sp>
        <p:nvSpPr>
          <p:cNvPr id="933" name="Google Shape;933;p3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4" name="Google Shape;934;p34: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p3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1" name="Google Shape;951;p35: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5" name="Shape 975"/>
        <p:cNvGrpSpPr/>
        <p:nvPr/>
      </p:nvGrpSpPr>
      <p:grpSpPr>
        <a:xfrm>
          <a:off x="0" y="0"/>
          <a:ext cx="0" cy="0"/>
          <a:chOff x="0" y="0"/>
          <a:chExt cx="0" cy="0"/>
        </a:xfrm>
      </p:grpSpPr>
      <p:sp>
        <p:nvSpPr>
          <p:cNvPr id="976" name="Google Shape;976;p3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7" name="Google Shape;977;p36:notes"/>
          <p:cNvSpPr/>
          <p:nvPr>
            <p:ph idx="2" type="sldImg"/>
          </p:nvPr>
        </p:nvSpPr>
        <p:spPr>
          <a:xfrm>
            <a:off x="685943" y="1143000"/>
            <a:ext cx="5486114"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9" name="Shape 19"/>
        <p:cNvGrpSpPr/>
        <p:nvPr/>
      </p:nvGrpSpPr>
      <p:grpSpPr>
        <a:xfrm>
          <a:off x="0" y="0"/>
          <a:ext cx="0" cy="0"/>
          <a:chOff x="0" y="0"/>
          <a:chExt cx="0" cy="0"/>
        </a:xfrm>
      </p:grpSpPr>
      <p:sp>
        <p:nvSpPr>
          <p:cNvPr id="20" name="Google Shape;20;p3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3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22" name="Google Shape;22;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4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4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1" name="Shape 31"/>
        <p:cNvGrpSpPr/>
        <p:nvPr/>
      </p:nvGrpSpPr>
      <p:grpSpPr>
        <a:xfrm>
          <a:off x="0" y="0"/>
          <a:ext cx="0" cy="0"/>
          <a:chOff x="0" y="0"/>
          <a:chExt cx="0" cy="0"/>
        </a:xfrm>
      </p:grpSpPr>
      <p:sp>
        <p:nvSpPr>
          <p:cNvPr id="32" name="Google Shape;32;p4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4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4" name="Google Shape;34;p4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7" name="Shape 37"/>
        <p:cNvGrpSpPr/>
        <p:nvPr/>
      </p:nvGrpSpPr>
      <p:grpSpPr>
        <a:xfrm>
          <a:off x="0" y="0"/>
          <a:ext cx="0" cy="0"/>
          <a:chOff x="0" y="0"/>
          <a:chExt cx="0" cy="0"/>
        </a:xfrm>
      </p:grpSpPr>
      <p:sp>
        <p:nvSpPr>
          <p:cNvPr id="38" name="Google Shape;38;p4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4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40" name="Google Shape;40;p4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41" name="Google Shape;41;p4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4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4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4" name="Shape 44"/>
        <p:cNvGrpSpPr/>
        <p:nvPr/>
      </p:nvGrpSpPr>
      <p:grpSpPr>
        <a:xfrm>
          <a:off x="0" y="0"/>
          <a:ext cx="0" cy="0"/>
          <a:chOff x="0" y="0"/>
          <a:chExt cx="0" cy="0"/>
        </a:xfrm>
      </p:grpSpPr>
      <p:sp>
        <p:nvSpPr>
          <p:cNvPr id="45" name="Google Shape;45;p4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 name="Google Shape;46;p4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7" name="Google Shape;47;p4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8" name="Google Shape;48;p4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9" name="Google Shape;49;p4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50" name="Google Shape;50;p4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4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4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3" name="Shape 53"/>
        <p:cNvGrpSpPr/>
        <p:nvPr/>
      </p:nvGrpSpPr>
      <p:grpSpPr>
        <a:xfrm>
          <a:off x="0" y="0"/>
          <a:ext cx="0" cy="0"/>
          <a:chOff x="0" y="0"/>
          <a:chExt cx="0" cy="0"/>
        </a:xfrm>
      </p:grpSpPr>
      <p:sp>
        <p:nvSpPr>
          <p:cNvPr id="54" name="Google Shape;54;p4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4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4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4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4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4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61" name="Google Shape;61;p4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2" name="Google Shape;62;p4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4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4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4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46"/>
          <p:cNvSpPr/>
          <p:nvPr>
            <p:ph idx="2" type="pic"/>
          </p:nvPr>
        </p:nvSpPr>
        <p:spPr>
          <a:xfrm>
            <a:off x="1792288" y="612775"/>
            <a:ext cx="5486400" cy="4114800"/>
          </a:xfrm>
          <a:prstGeom prst="rect">
            <a:avLst/>
          </a:prstGeom>
          <a:noFill/>
          <a:ln>
            <a:noFill/>
          </a:ln>
        </p:spPr>
      </p:sp>
      <p:sp>
        <p:nvSpPr>
          <p:cNvPr id="68" name="Google Shape;68;p4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9" name="Google Shape;69;p4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4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4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4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4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4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1" name="Google Shape;81;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3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13E"/>
        </a:solidFill>
      </p:bgPr>
    </p:bg>
    <p:spTree>
      <p:nvGrpSpPr>
        <p:cNvPr id="87" name="Shape 87"/>
        <p:cNvGrpSpPr/>
        <p:nvPr/>
      </p:nvGrpSpPr>
      <p:grpSpPr>
        <a:xfrm>
          <a:off x="0" y="0"/>
          <a:ext cx="0" cy="0"/>
          <a:chOff x="0" y="0"/>
          <a:chExt cx="0" cy="0"/>
        </a:xfrm>
      </p:grpSpPr>
      <p:sp>
        <p:nvSpPr>
          <p:cNvPr id="88" name="Google Shape;88;p1"/>
          <p:cNvSpPr/>
          <p:nvPr/>
        </p:nvSpPr>
        <p:spPr>
          <a:xfrm>
            <a:off x="0" y="0"/>
            <a:ext cx="12191695" cy="73152"/>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 name="Google Shape;89;p1"/>
          <p:cNvSpPr/>
          <p:nvPr/>
        </p:nvSpPr>
        <p:spPr>
          <a:xfrm>
            <a:off x="0" y="6784848"/>
            <a:ext cx="12191695" cy="73152"/>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1371600" y="1645920"/>
            <a:ext cx="9144000" cy="6451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800" u="none" cap="none" strike="noStrike">
                <a:solidFill>
                  <a:schemeClr val="lt1"/>
                </a:solidFill>
                <a:latin typeface="Microsoft YaHei"/>
                <a:ea typeface="Microsoft YaHei"/>
                <a:cs typeface="Microsoft YaHei"/>
                <a:sym typeface="Microsoft YaHei"/>
              </a:rPr>
              <a:t>规范化 Agentic Coding 的系统工程支持</a:t>
            </a:r>
            <a:endParaRPr b="1" i="0" sz="2800" u="none" cap="none" strike="noStrike">
              <a:solidFill>
                <a:schemeClr val="lt1"/>
              </a:solidFill>
              <a:latin typeface="Microsoft YaHei"/>
              <a:ea typeface="Microsoft YaHei"/>
              <a:cs typeface="Microsoft YaHei"/>
              <a:sym typeface="Microsoft YaHei"/>
            </a:endParaRPr>
          </a:p>
        </p:txBody>
      </p:sp>
      <p:sp>
        <p:nvSpPr>
          <p:cNvPr id="91" name="Google Shape;91;p1"/>
          <p:cNvSpPr txBox="1"/>
          <p:nvPr/>
        </p:nvSpPr>
        <p:spPr>
          <a:xfrm>
            <a:off x="1371600" y="2658110"/>
            <a:ext cx="9144000" cy="107632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chemeClr val="lt1"/>
                </a:solidFill>
                <a:latin typeface="Microsoft YaHei"/>
                <a:ea typeface="Microsoft YaHei"/>
                <a:cs typeface="Microsoft YaHei"/>
                <a:sym typeface="Microsoft YaHei"/>
              </a:rPr>
              <a:t>基于 Claude Code 的企业级 AI 辅助开发规范化研究</a:t>
            </a:r>
            <a:endParaRPr b="0" i="0" sz="1600" u="none" cap="none" strike="noStrike">
              <a:solidFill>
                <a:schemeClr val="lt1"/>
              </a:solidFill>
              <a:latin typeface="Microsoft YaHei"/>
              <a:ea typeface="Microsoft YaHei"/>
              <a:cs typeface="Microsoft YaHei"/>
              <a:sym typeface="Microsoft YaHei"/>
            </a:endParaRPr>
          </a:p>
          <a:p>
            <a:pPr indent="0" lvl="0" marL="0" marR="0" rtl="0" algn="ctr">
              <a:spcBef>
                <a:spcPts val="0"/>
              </a:spcBef>
              <a:spcAft>
                <a:spcPts val="0"/>
              </a:spcAft>
              <a:buNone/>
            </a:pPr>
            <a:r>
              <a:t/>
            </a:r>
            <a:endParaRPr b="0" i="0" sz="1600" u="none" cap="none" strike="noStrike">
              <a:solidFill>
                <a:schemeClr val="lt1"/>
              </a:solidFill>
              <a:latin typeface="Microsoft YaHei"/>
              <a:ea typeface="Microsoft YaHei"/>
              <a:cs typeface="Microsoft YaHei"/>
              <a:sym typeface="Microsoft YaHei"/>
            </a:endParaRPr>
          </a:p>
          <a:p>
            <a:pPr indent="0" lvl="0" marL="0" marR="0" rtl="0" algn="ctr">
              <a:spcBef>
                <a:spcPts val="0"/>
              </a:spcBef>
              <a:spcAft>
                <a:spcPts val="0"/>
              </a:spcAft>
              <a:buNone/>
            </a:pPr>
            <a:r>
              <a:rPr b="0" i="0" lang="en-US" sz="1600" u="none" cap="none" strike="noStrike">
                <a:solidFill>
                  <a:schemeClr val="lt1"/>
                </a:solidFill>
                <a:latin typeface="Microsoft YaHei"/>
                <a:ea typeface="Microsoft YaHei"/>
                <a:cs typeface="Microsoft YaHei"/>
                <a:sym typeface="Microsoft YaHei"/>
              </a:rPr>
              <a:t>Lead：Ou Wei </a:t>
            </a:r>
            <a:endParaRPr b="0" i="0" sz="1600" u="none" cap="none" strike="noStrike">
              <a:solidFill>
                <a:schemeClr val="lt1"/>
              </a:solidFill>
              <a:latin typeface="Microsoft YaHei"/>
              <a:ea typeface="Microsoft YaHei"/>
              <a:cs typeface="Microsoft YaHei"/>
              <a:sym typeface="Microsoft YaHei"/>
            </a:endParaRPr>
          </a:p>
          <a:p>
            <a:pPr indent="0" lvl="0" marL="0" marR="0" rtl="0" algn="ctr">
              <a:spcBef>
                <a:spcPts val="0"/>
              </a:spcBef>
              <a:spcAft>
                <a:spcPts val="0"/>
              </a:spcAft>
              <a:buNone/>
            </a:pPr>
            <a:r>
              <a:rPr b="0" i="0" lang="en-US" sz="1600" u="none" cap="none" strike="noStrike">
                <a:solidFill>
                  <a:schemeClr val="lt1"/>
                </a:solidFill>
                <a:latin typeface="Microsoft YaHei"/>
                <a:ea typeface="Microsoft YaHei"/>
                <a:cs typeface="Microsoft YaHei"/>
                <a:sym typeface="Microsoft YaHei"/>
              </a:rPr>
              <a:t>Member：Khaled, Zhifei</a:t>
            </a:r>
            <a:endParaRPr b="0" i="0" sz="1600" u="none" cap="none" strike="noStrike">
              <a:solidFill>
                <a:schemeClr val="lt1"/>
              </a:solidFill>
              <a:latin typeface="Microsoft YaHei"/>
              <a:ea typeface="Microsoft YaHei"/>
              <a:cs typeface="Microsoft YaHei"/>
              <a:sym typeface="Microsoft YaHei"/>
            </a:endParaRPr>
          </a:p>
        </p:txBody>
      </p:sp>
      <p:sp>
        <p:nvSpPr>
          <p:cNvPr id="92" name="Google Shape;92;p1"/>
          <p:cNvSpPr/>
          <p:nvPr/>
        </p:nvSpPr>
        <p:spPr>
          <a:xfrm>
            <a:off x="5029200" y="3840480"/>
            <a:ext cx="2103120" cy="36576"/>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1371600" y="4389120"/>
            <a:ext cx="9144000" cy="5486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400" u="none" cap="none" strike="noStrike">
                <a:solidFill>
                  <a:srgbClr val="666677"/>
                </a:solidFill>
                <a:latin typeface="Microsoft YaHei"/>
                <a:ea typeface="Microsoft YaHei"/>
                <a:cs typeface="Microsoft YaHei"/>
                <a:sym typeface="Microsoft YaHei"/>
              </a:rPr>
              <a:t>技术研究汇报  |  2026年2月</a:t>
            </a:r>
            <a:endParaRPr b="0" i="0" sz="1200" u="none" cap="none" strike="noStrike">
              <a:solidFill>
                <a:srgbClr val="333333"/>
              </a:solidFill>
              <a:latin typeface="Microsoft YaHei"/>
              <a:ea typeface="Microsoft YaHei"/>
              <a:cs typeface="Microsoft YaHei"/>
              <a:sym typeface="Microsoft YaHei"/>
            </a:endParaRPr>
          </a:p>
        </p:txBody>
      </p:sp>
      <p:sp>
        <p:nvSpPr>
          <p:cNvPr id="94" name="Google Shape;94;p1"/>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333333"/>
                </a:solidFill>
                <a:latin typeface="Microsoft YaHei"/>
                <a:ea typeface="Microsoft YaHei"/>
                <a:cs typeface="Microsoft YaHei"/>
                <a:sym typeface="Microsoft YaHei"/>
              </a:rPr>
              <a:t>1/41</a:t>
            </a:r>
            <a:endParaRPr b="0" i="0" sz="1000" u="none" cap="none" strike="noStrike">
              <a:solidFill>
                <a:srgbClr val="333333"/>
              </a:solidFill>
              <a:latin typeface="Microsoft YaHei"/>
              <a:ea typeface="Microsoft YaHei"/>
              <a:cs typeface="Microsoft YaHei"/>
              <a:sym typeface="Microsoft YaHe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 name="Google Shape;100;p2"/>
          <p:cNvSpPr txBox="1"/>
          <p:nvPr/>
        </p:nvSpPr>
        <p:spPr>
          <a:xfrm>
            <a:off x="731520" y="365760"/>
            <a:ext cx="91440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A1A2E"/>
                </a:solidFill>
                <a:latin typeface="Microsoft YaHei"/>
                <a:ea typeface="Microsoft YaHei"/>
                <a:cs typeface="Microsoft YaHei"/>
                <a:sym typeface="Microsoft YaHei"/>
              </a:rPr>
              <a:t>背景：Agentic Coding 正在改变软件开发</a:t>
            </a:r>
            <a:endParaRPr/>
          </a:p>
        </p:txBody>
      </p:sp>
      <p:sp>
        <p:nvSpPr>
          <p:cNvPr id="101" name="Google Shape;101;p2"/>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2"/>
          <p:cNvSpPr txBox="1"/>
          <p:nvPr/>
        </p:nvSpPr>
        <p:spPr>
          <a:xfrm>
            <a:off x="731520" y="1280160"/>
            <a:ext cx="10058400" cy="70675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600" u="none" cap="none" strike="noStrike">
                <a:solidFill>
                  <a:srgbClr val="444444"/>
                </a:solidFill>
                <a:latin typeface="Microsoft YaHei"/>
                <a:ea typeface="Microsoft YaHei"/>
                <a:cs typeface="Microsoft YaHei"/>
                <a:sym typeface="Microsoft YaHei"/>
              </a:rPr>
              <a:t>Claude Code 等 AI 编程工具已经能够自主完成复杂的软件开发任务。</a:t>
            </a:r>
            <a:endParaRPr/>
          </a:p>
          <a:p>
            <a:pPr indent="0" lvl="0" marL="0" marR="0" rtl="0" algn="l">
              <a:spcBef>
                <a:spcPts val="960"/>
              </a:spcBef>
              <a:spcAft>
                <a:spcPts val="0"/>
              </a:spcAft>
              <a:buNone/>
            </a:pPr>
            <a:r>
              <a:rPr b="0" i="0" lang="en-US" sz="1600" u="none" cap="none" strike="noStrike">
                <a:solidFill>
                  <a:srgbClr val="444444"/>
                </a:solidFill>
                <a:latin typeface="Microsoft YaHei"/>
                <a:ea typeface="Microsoft YaHei"/>
                <a:cs typeface="Microsoft YaHei"/>
                <a:sym typeface="Microsoft YaHei"/>
              </a:rPr>
              <a:t>但在企业环境中，能写代码只是第一步 但是更关键的是写对的代码</a:t>
            </a:r>
            <a:endParaRPr/>
          </a:p>
        </p:txBody>
      </p:sp>
      <p:sp>
        <p:nvSpPr>
          <p:cNvPr id="103" name="Google Shape;103;p2"/>
          <p:cNvSpPr/>
          <p:nvPr/>
        </p:nvSpPr>
        <p:spPr>
          <a:xfrm>
            <a:off x="731520" y="2743200"/>
            <a:ext cx="2560320" cy="3200400"/>
          </a:xfrm>
          <a:prstGeom prst="rect">
            <a:avLst/>
          </a:prstGeom>
          <a:solidFill>
            <a:srgbClr val="FDE8E8"/>
          </a:solidFill>
          <a:ln cap="flat" cmpd="sng" w="19050">
            <a:solidFill>
              <a:srgbClr val="D1343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 name="Google Shape;104;p2"/>
          <p:cNvSpPr txBox="1"/>
          <p:nvPr/>
        </p:nvSpPr>
        <p:spPr>
          <a:xfrm>
            <a:off x="914400" y="3017520"/>
            <a:ext cx="21945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D13438"/>
                </a:solidFill>
                <a:latin typeface="Microsoft YaHei"/>
                <a:ea typeface="Microsoft YaHei"/>
                <a:cs typeface="Microsoft YaHei"/>
                <a:sym typeface="Microsoft YaHei"/>
              </a:rPr>
              <a:t>需求失控</a:t>
            </a:r>
            <a:endParaRPr/>
          </a:p>
        </p:txBody>
      </p:sp>
      <p:sp>
        <p:nvSpPr>
          <p:cNvPr id="105" name="Google Shape;105;p2"/>
          <p:cNvSpPr txBox="1"/>
          <p:nvPr/>
        </p:nvSpPr>
        <p:spPr>
          <a:xfrm>
            <a:off x="914400" y="3657600"/>
            <a:ext cx="2194560" cy="20116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AI 容易自作主张添加/遗漏功能</a:t>
            </a:r>
            <a:endParaRPr/>
          </a:p>
          <a:p>
            <a:pPr indent="0" lvl="0" marL="0" marR="0" rtl="0" algn="ctr">
              <a:spcBef>
                <a:spcPts val="780"/>
              </a:spcBef>
              <a:spcAft>
                <a:spcPts val="0"/>
              </a:spcAft>
              <a:buNone/>
            </a:pPr>
            <a:r>
              <a:rPr b="0" i="0" lang="en-US" sz="1300" u="none" cap="none" strike="noStrike">
                <a:solidFill>
                  <a:srgbClr val="444444"/>
                </a:solidFill>
                <a:latin typeface="Microsoft YaHei"/>
                <a:ea typeface="Microsoft YaHei"/>
                <a:cs typeface="Microsoft YaHei"/>
                <a:sym typeface="Microsoft YaHei"/>
              </a:rPr>
              <a:t>需求只存在于聊天记录中，无法追溯</a:t>
            </a:r>
            <a:endParaRPr/>
          </a:p>
        </p:txBody>
      </p:sp>
      <p:sp>
        <p:nvSpPr>
          <p:cNvPr id="106" name="Google Shape;106;p2"/>
          <p:cNvSpPr/>
          <p:nvPr/>
        </p:nvSpPr>
        <p:spPr>
          <a:xfrm>
            <a:off x="3474720" y="2743200"/>
            <a:ext cx="2560320" cy="3200400"/>
          </a:xfrm>
          <a:prstGeom prst="rect">
            <a:avLst/>
          </a:prstGeom>
          <a:solidFill>
            <a:srgbClr val="FFF3E0"/>
          </a:solidFill>
          <a:ln cap="flat" cmpd="sng" w="19050">
            <a:solidFill>
              <a:srgbClr val="E86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2"/>
          <p:cNvSpPr txBox="1"/>
          <p:nvPr/>
        </p:nvSpPr>
        <p:spPr>
          <a:xfrm>
            <a:off x="3657600" y="3017520"/>
            <a:ext cx="21945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E86C00"/>
                </a:solidFill>
                <a:latin typeface="Microsoft YaHei"/>
                <a:ea typeface="Microsoft YaHei"/>
                <a:cs typeface="Microsoft YaHei"/>
                <a:sym typeface="Microsoft YaHei"/>
              </a:rPr>
              <a:t>质量不稳定</a:t>
            </a:r>
            <a:endParaRPr/>
          </a:p>
        </p:txBody>
      </p:sp>
      <p:sp>
        <p:nvSpPr>
          <p:cNvPr id="108" name="Google Shape;108;p2"/>
          <p:cNvSpPr txBox="1"/>
          <p:nvPr/>
        </p:nvSpPr>
        <p:spPr>
          <a:xfrm>
            <a:off x="3657600" y="3657600"/>
            <a:ext cx="2194560" cy="20116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同样的需求，不同对话产出差异大</a:t>
            </a:r>
            <a:endParaRPr/>
          </a:p>
          <a:p>
            <a:pPr indent="0" lvl="0" marL="0" marR="0" rtl="0" algn="ctr">
              <a:spcBef>
                <a:spcPts val="780"/>
              </a:spcBef>
              <a:spcAft>
                <a:spcPts val="0"/>
              </a:spcAft>
              <a:buNone/>
            </a:pPr>
            <a:r>
              <a:rPr b="0" i="0" lang="en-US" sz="1300" u="none" cap="none" strike="noStrike">
                <a:solidFill>
                  <a:srgbClr val="444444"/>
                </a:solidFill>
                <a:latin typeface="Microsoft YaHei"/>
                <a:ea typeface="Microsoft YaHei"/>
                <a:cs typeface="Microsoft YaHei"/>
                <a:sym typeface="Microsoft YaHei"/>
              </a:rPr>
              <a:t>缺乏验证标准，靠人肉 review</a:t>
            </a:r>
            <a:endParaRPr/>
          </a:p>
        </p:txBody>
      </p:sp>
      <p:sp>
        <p:nvSpPr>
          <p:cNvPr id="109" name="Google Shape;109;p2"/>
          <p:cNvSpPr/>
          <p:nvPr/>
        </p:nvSpPr>
        <p:spPr>
          <a:xfrm>
            <a:off x="6217920" y="2743200"/>
            <a:ext cx="2560320" cy="3200400"/>
          </a:xfrm>
          <a:prstGeom prst="rect">
            <a:avLst/>
          </a:prstGeom>
          <a:solidFill>
            <a:srgbClr val="E8F4FD"/>
          </a:solidFill>
          <a:ln cap="flat" cmpd="sng" w="1905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2"/>
          <p:cNvSpPr txBox="1"/>
          <p:nvPr/>
        </p:nvSpPr>
        <p:spPr>
          <a:xfrm>
            <a:off x="6400800" y="3017520"/>
            <a:ext cx="21945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0078D4"/>
                </a:solidFill>
                <a:latin typeface="Microsoft YaHei"/>
                <a:ea typeface="Microsoft YaHei"/>
                <a:cs typeface="Microsoft YaHei"/>
                <a:sym typeface="Microsoft YaHei"/>
              </a:rPr>
              <a:t>协作困难</a:t>
            </a:r>
            <a:endParaRPr/>
          </a:p>
        </p:txBody>
      </p:sp>
      <p:sp>
        <p:nvSpPr>
          <p:cNvPr id="111" name="Google Shape;111;p2"/>
          <p:cNvSpPr txBox="1"/>
          <p:nvPr/>
        </p:nvSpPr>
        <p:spPr>
          <a:xfrm>
            <a:off x="6400800" y="3657600"/>
            <a:ext cx="2194560" cy="20116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一个人的 AI 对话上下文无法共享</a:t>
            </a:r>
            <a:endParaRPr/>
          </a:p>
          <a:p>
            <a:pPr indent="0" lvl="0" marL="0" marR="0" rtl="0" algn="ctr">
              <a:spcBef>
                <a:spcPts val="780"/>
              </a:spcBef>
              <a:spcAft>
                <a:spcPts val="0"/>
              </a:spcAft>
              <a:buNone/>
            </a:pPr>
            <a:r>
              <a:rPr b="0" i="0" lang="en-US" sz="1300" u="none" cap="none" strike="noStrike">
                <a:solidFill>
                  <a:srgbClr val="444444"/>
                </a:solidFill>
                <a:latin typeface="Microsoft YaHei"/>
                <a:ea typeface="Microsoft YaHei"/>
                <a:cs typeface="Microsoft YaHei"/>
                <a:sym typeface="Microsoft YaHei"/>
              </a:rPr>
              <a:t>多人并行修改容易冲突</a:t>
            </a:r>
            <a:endParaRPr/>
          </a:p>
        </p:txBody>
      </p:sp>
      <p:sp>
        <p:nvSpPr>
          <p:cNvPr id="112" name="Google Shape;112;p2"/>
          <p:cNvSpPr/>
          <p:nvPr/>
        </p:nvSpPr>
        <p:spPr>
          <a:xfrm>
            <a:off x="8961120" y="2743200"/>
            <a:ext cx="2560320" cy="3200400"/>
          </a:xfrm>
          <a:prstGeom prst="rect">
            <a:avLst/>
          </a:prstGeom>
          <a:solidFill>
            <a:srgbClr val="F5F5F5"/>
          </a:solidFill>
          <a:ln cap="flat" cmpd="sng" w="19050">
            <a:solidFill>
              <a:srgbClr val="44444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2"/>
          <p:cNvSpPr txBox="1"/>
          <p:nvPr/>
        </p:nvSpPr>
        <p:spPr>
          <a:xfrm>
            <a:off x="9144000" y="3017520"/>
            <a:ext cx="21945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444444"/>
                </a:solidFill>
                <a:latin typeface="Microsoft YaHei"/>
                <a:ea typeface="Microsoft YaHei"/>
                <a:cs typeface="Microsoft YaHei"/>
                <a:sym typeface="Microsoft YaHei"/>
              </a:rPr>
              <a:t>知识流失</a:t>
            </a:r>
            <a:endParaRPr/>
          </a:p>
        </p:txBody>
      </p:sp>
      <p:sp>
        <p:nvSpPr>
          <p:cNvPr id="114" name="Google Shape;114;p2"/>
          <p:cNvSpPr txBox="1"/>
          <p:nvPr/>
        </p:nvSpPr>
        <p:spPr>
          <a:xfrm>
            <a:off x="9144000" y="3657600"/>
            <a:ext cx="2194560" cy="20116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为什么做、怎么做的决策过程随对话消失</a:t>
            </a:r>
            <a:endParaRPr/>
          </a:p>
          <a:p>
            <a:pPr indent="0" lvl="0" marL="0" marR="0" rtl="0" algn="ctr">
              <a:spcBef>
                <a:spcPts val="780"/>
              </a:spcBef>
              <a:spcAft>
                <a:spcPts val="0"/>
              </a:spcAft>
              <a:buNone/>
            </a:pPr>
            <a:r>
              <a:rPr b="0" i="0" lang="en-US" sz="1300" u="none" cap="none" strike="noStrike">
                <a:solidFill>
                  <a:srgbClr val="444444"/>
                </a:solidFill>
                <a:latin typeface="Microsoft YaHei"/>
                <a:ea typeface="Microsoft YaHei"/>
                <a:cs typeface="Microsoft YaHei"/>
                <a:sym typeface="Microsoft YaHei"/>
              </a:rPr>
              <a:t>新人接手困难，重复踩坑</a:t>
            </a:r>
            <a:endParaRPr/>
          </a:p>
        </p:txBody>
      </p:sp>
      <p:sp>
        <p:nvSpPr>
          <p:cNvPr id="115" name="Google Shape;115;p2"/>
          <p:cNvSpPr txBox="1"/>
          <p:nvPr/>
        </p:nvSpPr>
        <p:spPr>
          <a:xfrm>
            <a:off x="731520" y="6217920"/>
            <a:ext cx="10058400" cy="3219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D13438"/>
                </a:solidFill>
                <a:latin typeface="Microsoft YaHei"/>
                <a:ea typeface="Microsoft YaHei"/>
                <a:cs typeface="Microsoft YaHei"/>
                <a:sym typeface="Microsoft YaHei"/>
              </a:rPr>
              <a:t>Claude Code 解决了怎么写，但没有解决写什么和写得对不对</a:t>
            </a:r>
            <a:endParaRPr/>
          </a:p>
        </p:txBody>
      </p:sp>
      <p:sp>
        <p:nvSpPr>
          <p:cNvPr id="116" name="Google Shape;116;p2"/>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888888"/>
                </a:solidFill>
                <a:latin typeface="Microsoft YaHei"/>
                <a:ea typeface="Microsoft YaHei"/>
                <a:cs typeface="Microsoft YaHei"/>
                <a:sym typeface="Microsoft YaHei"/>
              </a:rPr>
              <a:t>3/49</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3"/>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 name="Google Shape;122;p3"/>
          <p:cNvSpPr txBox="1"/>
          <p:nvPr/>
        </p:nvSpPr>
        <p:spPr>
          <a:xfrm>
            <a:off x="731520" y="365760"/>
            <a:ext cx="1124585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A1A2E"/>
                </a:solidFill>
                <a:latin typeface="Microsoft YaHei"/>
                <a:ea typeface="Microsoft YaHei"/>
                <a:cs typeface="Microsoft YaHei"/>
                <a:sym typeface="Microsoft YaHei"/>
              </a:rPr>
              <a:t>OpenSpec 人机协同开发的系统开发框架</a:t>
            </a:r>
            <a:endParaRPr/>
          </a:p>
        </p:txBody>
      </p:sp>
      <p:sp>
        <p:nvSpPr>
          <p:cNvPr id="123" name="Google Shape;123;p3"/>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 name="Google Shape;124;p3"/>
          <p:cNvSpPr txBox="1"/>
          <p:nvPr/>
        </p:nvSpPr>
        <p:spPr>
          <a:xfrm>
            <a:off x="731520" y="1280160"/>
            <a:ext cx="100584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600" u="none" cap="none" strike="noStrike">
                <a:solidFill>
                  <a:srgbClr val="444444"/>
                </a:solidFill>
                <a:latin typeface="Microsoft YaHei"/>
                <a:ea typeface="Microsoft YaHei"/>
                <a:cs typeface="Microsoft YaHei"/>
                <a:sym typeface="Microsoft YaHei"/>
              </a:rPr>
              <a:t>OpenSpec 是一个轻量级的规格驱动框架，让人和 AI 在写代码之前先达成共识。</a:t>
            </a:r>
            <a:endParaRPr/>
          </a:p>
        </p:txBody>
      </p:sp>
      <p:sp>
        <p:nvSpPr>
          <p:cNvPr id="125" name="Google Shape;125;p3"/>
          <p:cNvSpPr/>
          <p:nvPr/>
        </p:nvSpPr>
        <p:spPr>
          <a:xfrm>
            <a:off x="731520" y="2103120"/>
            <a:ext cx="2560320" cy="1097280"/>
          </a:xfrm>
          <a:prstGeom prst="rect">
            <a:avLst/>
          </a:prstGeom>
          <a:solidFill>
            <a:srgbClr val="E8F4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 name="Google Shape;126;p3"/>
          <p:cNvSpPr txBox="1"/>
          <p:nvPr/>
        </p:nvSpPr>
        <p:spPr>
          <a:xfrm>
            <a:off x="868680" y="224028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500" u="none" cap="none" strike="noStrike">
                <a:solidFill>
                  <a:srgbClr val="0078D4"/>
                </a:solidFill>
                <a:latin typeface="Microsoft YaHei"/>
                <a:ea typeface="Microsoft YaHei"/>
                <a:cs typeface="Microsoft YaHei"/>
                <a:sym typeface="Microsoft YaHei"/>
              </a:rPr>
              <a:t>流动而非僵化</a:t>
            </a:r>
            <a:endParaRPr/>
          </a:p>
        </p:txBody>
      </p:sp>
      <p:sp>
        <p:nvSpPr>
          <p:cNvPr id="127" name="Google Shape;127;p3"/>
          <p:cNvSpPr txBox="1"/>
          <p:nvPr/>
        </p:nvSpPr>
        <p:spPr>
          <a:xfrm>
            <a:off x="868680" y="265176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没有阶段门控，按需推进</a:t>
            </a:r>
            <a:endParaRPr/>
          </a:p>
        </p:txBody>
      </p:sp>
      <p:sp>
        <p:nvSpPr>
          <p:cNvPr id="128" name="Google Shape;128;p3"/>
          <p:cNvSpPr/>
          <p:nvPr/>
        </p:nvSpPr>
        <p:spPr>
          <a:xfrm>
            <a:off x="3474720" y="2103120"/>
            <a:ext cx="2560320" cy="1097280"/>
          </a:xfrm>
          <a:prstGeom prst="rect">
            <a:avLst/>
          </a:prstGeom>
          <a:solidFill>
            <a:srgbClr val="E8F4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3"/>
          <p:cNvSpPr txBox="1"/>
          <p:nvPr/>
        </p:nvSpPr>
        <p:spPr>
          <a:xfrm>
            <a:off x="3611880" y="224028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500" u="none" cap="none" strike="noStrike">
                <a:solidFill>
                  <a:srgbClr val="0078D4"/>
                </a:solidFill>
                <a:latin typeface="Microsoft YaHei"/>
                <a:ea typeface="Microsoft YaHei"/>
                <a:cs typeface="Microsoft YaHei"/>
                <a:sym typeface="Microsoft YaHei"/>
              </a:rPr>
              <a:t>迭代而非瀑布</a:t>
            </a:r>
            <a:endParaRPr/>
          </a:p>
        </p:txBody>
      </p:sp>
      <p:sp>
        <p:nvSpPr>
          <p:cNvPr id="130" name="Google Shape;130;p3"/>
          <p:cNvSpPr txBox="1"/>
          <p:nvPr/>
        </p:nvSpPr>
        <p:spPr>
          <a:xfrm>
            <a:off x="3611880" y="265176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边做边学，持续优化</a:t>
            </a:r>
            <a:endParaRPr/>
          </a:p>
        </p:txBody>
      </p:sp>
      <p:sp>
        <p:nvSpPr>
          <p:cNvPr id="131" name="Google Shape;131;p3"/>
          <p:cNvSpPr/>
          <p:nvPr/>
        </p:nvSpPr>
        <p:spPr>
          <a:xfrm>
            <a:off x="6217920" y="2103120"/>
            <a:ext cx="2560320" cy="1097280"/>
          </a:xfrm>
          <a:prstGeom prst="rect">
            <a:avLst/>
          </a:prstGeom>
          <a:solidFill>
            <a:srgbClr val="E8F4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 name="Google Shape;132;p3"/>
          <p:cNvSpPr txBox="1"/>
          <p:nvPr/>
        </p:nvSpPr>
        <p:spPr>
          <a:xfrm>
            <a:off x="6355080" y="224028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500" u="none" cap="none" strike="noStrike">
                <a:solidFill>
                  <a:srgbClr val="0078D4"/>
                </a:solidFill>
                <a:latin typeface="Microsoft YaHei"/>
                <a:ea typeface="Microsoft YaHei"/>
                <a:cs typeface="Microsoft YaHei"/>
                <a:sym typeface="Microsoft YaHei"/>
              </a:rPr>
              <a:t>增量而非全量</a:t>
            </a:r>
            <a:endParaRPr/>
          </a:p>
        </p:txBody>
      </p:sp>
      <p:sp>
        <p:nvSpPr>
          <p:cNvPr id="133" name="Google Shape;133;p3"/>
          <p:cNvSpPr txBox="1"/>
          <p:nvPr/>
        </p:nvSpPr>
        <p:spPr>
          <a:xfrm>
            <a:off x="6355080" y="265176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用 Delta 记录变更，不重写整体</a:t>
            </a:r>
            <a:endParaRPr/>
          </a:p>
        </p:txBody>
      </p:sp>
      <p:sp>
        <p:nvSpPr>
          <p:cNvPr id="134" name="Google Shape;134;p3"/>
          <p:cNvSpPr/>
          <p:nvPr/>
        </p:nvSpPr>
        <p:spPr>
          <a:xfrm>
            <a:off x="8961120" y="2103120"/>
            <a:ext cx="2560320" cy="1097280"/>
          </a:xfrm>
          <a:prstGeom prst="rect">
            <a:avLst/>
          </a:prstGeom>
          <a:solidFill>
            <a:srgbClr val="E8F4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3"/>
          <p:cNvSpPr txBox="1"/>
          <p:nvPr/>
        </p:nvSpPr>
        <p:spPr>
          <a:xfrm>
            <a:off x="9098280" y="224028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500" u="none" cap="none" strike="noStrike">
                <a:solidFill>
                  <a:srgbClr val="0078D4"/>
                </a:solidFill>
                <a:latin typeface="Microsoft YaHei"/>
                <a:ea typeface="Microsoft YaHei"/>
                <a:cs typeface="Microsoft YaHei"/>
                <a:sym typeface="Microsoft YaHei"/>
              </a:rPr>
              <a:t>存量优先</a:t>
            </a:r>
            <a:endParaRPr/>
          </a:p>
        </p:txBody>
      </p:sp>
      <p:sp>
        <p:nvSpPr>
          <p:cNvPr id="136" name="Google Shape;136;p3"/>
          <p:cNvSpPr txBox="1"/>
          <p:nvPr/>
        </p:nvSpPr>
        <p:spPr>
          <a:xfrm>
            <a:off x="9098280" y="2651760"/>
            <a:ext cx="2286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为已有项目设计，不是只给新项目</a:t>
            </a:r>
            <a:endParaRPr/>
          </a:p>
        </p:txBody>
      </p:sp>
      <p:sp>
        <p:nvSpPr>
          <p:cNvPr id="137" name="Google Shape;137;p3"/>
          <p:cNvSpPr txBox="1"/>
          <p:nvPr/>
        </p:nvSpPr>
        <p:spPr>
          <a:xfrm>
            <a:off x="731520" y="3566160"/>
            <a:ext cx="45720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1A1A2E"/>
                </a:solidFill>
                <a:latin typeface="Microsoft YaHei"/>
                <a:ea typeface="Microsoft YaHei"/>
                <a:cs typeface="Microsoft YaHei"/>
                <a:sym typeface="Microsoft YaHei"/>
              </a:rPr>
              <a:t>项目结构（两个核心目录）</a:t>
            </a:r>
            <a:endParaRPr/>
          </a:p>
        </p:txBody>
      </p:sp>
      <p:sp>
        <p:nvSpPr>
          <p:cNvPr id="138" name="Google Shape;138;p3"/>
          <p:cNvSpPr txBox="1"/>
          <p:nvPr/>
        </p:nvSpPr>
        <p:spPr>
          <a:xfrm>
            <a:off x="731520" y="4023360"/>
            <a:ext cx="5029200" cy="274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444444"/>
                </a:solidFill>
                <a:latin typeface="Consolas"/>
                <a:ea typeface="Consolas"/>
                <a:cs typeface="Consolas"/>
                <a:sym typeface="Consolas"/>
              </a:rPr>
              <a:t>openspec/</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specs/              ← 当前行为的真相源</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&lt;domain&gt;/spec.md    （按领域组织的需求）</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changes/            ← 提议的变更</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&lt;change-name&gt;/</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 proposal.md     （为什么改）</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 usecases.md     （用户场景）</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 specs/          （Delta: 增/改/删）</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 design.md       （怎么改）</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 tasks.md        （实现清单）</a:t>
            </a:r>
            <a:br>
              <a:rPr b="0" i="0" lang="en-US" sz="1100" u="none" cap="none" strike="noStrike">
                <a:solidFill>
                  <a:srgbClr val="444444"/>
                </a:solidFill>
                <a:latin typeface="Consolas"/>
                <a:ea typeface="Consolas"/>
                <a:cs typeface="Consolas"/>
                <a:sym typeface="Consolas"/>
              </a:rPr>
            </a:br>
            <a:r>
              <a:rPr b="0" i="0" lang="en-US" sz="1100" u="none" cap="none" strike="noStrike">
                <a:solidFill>
                  <a:srgbClr val="444444"/>
                </a:solidFill>
                <a:latin typeface="Consolas"/>
                <a:ea typeface="Consolas"/>
                <a:cs typeface="Consolas"/>
                <a:sym typeface="Consolas"/>
              </a:rPr>
              <a:t>    └── archive/            （已完成变更的归档）</a:t>
            </a:r>
            <a:endParaRPr/>
          </a:p>
        </p:txBody>
      </p:sp>
      <p:sp>
        <p:nvSpPr>
          <p:cNvPr id="139" name="Google Shape;139;p3"/>
          <p:cNvSpPr/>
          <p:nvPr/>
        </p:nvSpPr>
        <p:spPr>
          <a:xfrm>
            <a:off x="6400800" y="3566160"/>
            <a:ext cx="5029200" cy="27432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3"/>
          <p:cNvSpPr txBox="1"/>
          <p:nvPr/>
        </p:nvSpPr>
        <p:spPr>
          <a:xfrm>
            <a:off x="6583680" y="3749039"/>
            <a:ext cx="4663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07C10"/>
                </a:solidFill>
                <a:latin typeface="Microsoft YaHei"/>
                <a:ea typeface="Microsoft YaHei"/>
                <a:cs typeface="Microsoft YaHei"/>
                <a:sym typeface="Microsoft YaHei"/>
              </a:rPr>
              <a:t>核心创新：Delta Spec（增量规格）</a:t>
            </a:r>
            <a:endParaRPr/>
          </a:p>
        </p:txBody>
      </p:sp>
      <p:sp>
        <p:nvSpPr>
          <p:cNvPr id="141" name="Google Shape;141;p3"/>
          <p:cNvSpPr txBox="1"/>
          <p:nvPr/>
        </p:nvSpPr>
        <p:spPr>
          <a:xfrm>
            <a:off x="6583680" y="4206240"/>
            <a:ext cx="4663440" cy="2011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444444"/>
                </a:solidFill>
                <a:latin typeface="Microsoft YaHei"/>
                <a:ea typeface="Microsoft YaHei"/>
                <a:cs typeface="Microsoft YaHei"/>
                <a:sym typeface="Microsoft YaHei"/>
              </a:rPr>
              <a:t>不是重写整个规格，而是只描述变化：</a:t>
            </a:r>
            <a:endParaRPr/>
          </a:p>
          <a:p>
            <a:pPr indent="0" lvl="0" marL="0" marR="0" rtl="0" algn="l">
              <a:spcBef>
                <a:spcPts val="480"/>
              </a:spcBef>
              <a:spcAft>
                <a:spcPts val="0"/>
              </a:spcAft>
              <a:buNone/>
            </a:pPr>
            <a:r>
              <a:t/>
            </a:r>
            <a:endParaRPr b="0" i="0" sz="1300" u="none" cap="none" strike="noStrike">
              <a:solidFill>
                <a:srgbClr val="444444"/>
              </a:solidFill>
              <a:latin typeface="Microsoft YaHei"/>
              <a:ea typeface="Microsoft YaHei"/>
              <a:cs typeface="Microsoft YaHei"/>
              <a:sym typeface="Microsoft YaHei"/>
            </a:endParaRPr>
          </a:p>
          <a:p>
            <a:pPr indent="0" lvl="0" marL="0" marR="0" rtl="0" algn="l">
              <a:spcBef>
                <a:spcPts val="480"/>
              </a:spcBef>
              <a:spcAft>
                <a:spcPts val="0"/>
              </a:spcAft>
              <a:buNone/>
            </a:pPr>
            <a:r>
              <a:rPr b="0" i="0" lang="en-US" sz="1200" u="none" cap="none" strike="noStrike">
                <a:solidFill>
                  <a:srgbClr val="107C10"/>
                </a:solidFill>
                <a:latin typeface="Microsoft YaHei"/>
                <a:ea typeface="Microsoft YaHei"/>
                <a:cs typeface="Microsoft YaHei"/>
                <a:sym typeface="Microsoft YaHei"/>
              </a:rPr>
              <a:t>## ADDED Requirements      ← 新增需求</a:t>
            </a:r>
            <a:endParaRPr/>
          </a:p>
          <a:p>
            <a:pPr indent="0" lvl="0" marL="0" marR="0" rtl="0" algn="l">
              <a:spcBef>
                <a:spcPts val="480"/>
              </a:spcBef>
              <a:spcAft>
                <a:spcPts val="0"/>
              </a:spcAft>
              <a:buNone/>
            </a:pPr>
            <a:r>
              <a:rPr b="0" i="0" lang="en-US" sz="1200" u="none" cap="none" strike="noStrike">
                <a:solidFill>
                  <a:srgbClr val="E86C00"/>
                </a:solidFill>
                <a:latin typeface="Microsoft YaHei"/>
                <a:ea typeface="Microsoft YaHei"/>
                <a:cs typeface="Microsoft YaHei"/>
                <a:sym typeface="Microsoft YaHei"/>
              </a:rPr>
              <a:t>## MODIFIED Requirements  ← 修改需求</a:t>
            </a:r>
            <a:endParaRPr/>
          </a:p>
          <a:p>
            <a:pPr indent="0" lvl="0" marL="0" marR="0" rtl="0" algn="l">
              <a:spcBef>
                <a:spcPts val="480"/>
              </a:spcBef>
              <a:spcAft>
                <a:spcPts val="0"/>
              </a:spcAft>
              <a:buNone/>
            </a:pPr>
            <a:r>
              <a:rPr b="0" i="0" lang="en-US" sz="1200" u="none" cap="none" strike="noStrike">
                <a:solidFill>
                  <a:srgbClr val="D13438"/>
                </a:solidFill>
                <a:latin typeface="Microsoft YaHei"/>
                <a:ea typeface="Microsoft YaHei"/>
                <a:cs typeface="Microsoft YaHei"/>
                <a:sym typeface="Microsoft YaHei"/>
              </a:rPr>
              <a:t>## REMOVED Requirements   ← 删除需求</a:t>
            </a:r>
            <a:endParaRPr/>
          </a:p>
          <a:p>
            <a:pPr indent="0" lvl="0" marL="0" marR="0" rtl="0" algn="l">
              <a:spcBef>
                <a:spcPts val="480"/>
              </a:spcBef>
              <a:spcAft>
                <a:spcPts val="0"/>
              </a:spcAft>
              <a:buNone/>
            </a:pPr>
            <a:r>
              <a:t/>
            </a:r>
            <a:endParaRPr b="0" i="0" sz="1200" u="none" cap="none" strike="noStrike">
              <a:solidFill>
                <a:srgbClr val="D13438"/>
              </a:solidFill>
              <a:latin typeface="Microsoft YaHei"/>
              <a:ea typeface="Microsoft YaHei"/>
              <a:cs typeface="Microsoft YaHei"/>
              <a:sym typeface="Microsoft YaHei"/>
            </a:endParaRPr>
          </a:p>
          <a:p>
            <a:pPr indent="0" lvl="0" marL="0" marR="0" rtl="0" algn="l">
              <a:spcBef>
                <a:spcPts val="480"/>
              </a:spcBef>
              <a:spcAft>
                <a:spcPts val="0"/>
              </a:spcAft>
              <a:buNone/>
            </a:pPr>
            <a:r>
              <a:rPr b="0" i="0" lang="en-US" sz="1300" u="none" cap="none" strike="noStrike">
                <a:solidFill>
                  <a:srgbClr val="444444"/>
                </a:solidFill>
                <a:latin typeface="Microsoft YaHei"/>
                <a:ea typeface="Microsoft YaHei"/>
                <a:cs typeface="Microsoft YaHei"/>
                <a:sym typeface="Microsoft YaHei"/>
              </a:rPr>
              <a:t>每个需求附带 Given/When/Then 验证场景</a:t>
            </a:r>
            <a:endParaRPr/>
          </a:p>
          <a:p>
            <a:pPr indent="0" lvl="0" marL="0" marR="0" rtl="0" algn="l">
              <a:spcBef>
                <a:spcPts val="480"/>
              </a:spcBef>
              <a:spcAft>
                <a:spcPts val="0"/>
              </a:spcAft>
              <a:buNone/>
            </a:pPr>
            <a:r>
              <a:rPr b="0" i="0" lang="en-US" sz="1300" u="none" cap="none" strike="noStrike">
                <a:solidFill>
                  <a:srgbClr val="444444"/>
                </a:solidFill>
                <a:latin typeface="Microsoft YaHei"/>
                <a:ea typeface="Microsoft YaHei"/>
                <a:cs typeface="Microsoft YaHei"/>
                <a:sym typeface="Microsoft YaHei"/>
              </a:rPr>
              <a:t>归档时自动合并到主规格 → 活文档</a:t>
            </a:r>
            <a:endParaRPr/>
          </a:p>
        </p:txBody>
      </p:sp>
      <p:sp>
        <p:nvSpPr>
          <p:cNvPr id="142" name="Google Shape;142;p3"/>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888888"/>
                </a:solidFill>
                <a:latin typeface="Microsoft YaHei"/>
                <a:ea typeface="Microsoft YaHei"/>
                <a:cs typeface="Microsoft YaHei"/>
                <a:sym typeface="Microsoft YaHei"/>
              </a:rPr>
              <a:t>4/49</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4"/>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 name="Google Shape;148;p4"/>
          <p:cNvSpPr txBox="1"/>
          <p:nvPr/>
        </p:nvSpPr>
        <p:spPr>
          <a:xfrm>
            <a:off x="731520" y="365760"/>
            <a:ext cx="91440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A1A2E"/>
                </a:solidFill>
                <a:latin typeface="Microsoft YaHei"/>
                <a:ea typeface="Microsoft YaHei"/>
                <a:cs typeface="Microsoft YaHei"/>
                <a:sym typeface="Microsoft YaHei"/>
              </a:rPr>
              <a:t>工作流对比：原生 OpenSpec vs OpenSpec-HW2</a:t>
            </a:r>
            <a:endParaRPr b="0" i="0" sz="1800" u="none" cap="none" strike="noStrike">
              <a:solidFill>
                <a:srgbClr val="333333"/>
              </a:solidFill>
              <a:latin typeface="Microsoft YaHei"/>
              <a:ea typeface="Microsoft YaHei"/>
              <a:cs typeface="Microsoft YaHei"/>
              <a:sym typeface="Microsoft YaHei"/>
            </a:endParaRPr>
          </a:p>
        </p:txBody>
      </p:sp>
      <p:sp>
        <p:nvSpPr>
          <p:cNvPr id="149" name="Google Shape;149;p4"/>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 name="Google Shape;150;p4"/>
          <p:cNvSpPr txBox="1"/>
          <p:nvPr/>
        </p:nvSpPr>
        <p:spPr>
          <a:xfrm>
            <a:off x="731520" y="1080000"/>
            <a:ext cx="10058400" cy="30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95" u="none" cap="none" strike="noStrike">
                <a:solidFill>
                  <a:srgbClr val="1A1A2E"/>
                </a:solidFill>
                <a:latin typeface="Microsoft YaHei"/>
                <a:ea typeface="Microsoft YaHei"/>
                <a:cs typeface="Microsoft YaHei"/>
                <a:sym typeface="Microsoft YaHei"/>
              </a:rPr>
              <a:t>基于OpenSpec，根据Huawei实际情况客制化的fork</a:t>
            </a:r>
            <a:endParaRPr b="0" i="0" sz="1495" u="none" cap="none" strike="noStrike">
              <a:solidFill>
                <a:srgbClr val="1A1A2E"/>
              </a:solidFill>
              <a:latin typeface="Microsoft YaHei"/>
              <a:ea typeface="Microsoft YaHei"/>
              <a:cs typeface="Microsoft YaHei"/>
              <a:sym typeface="Microsoft YaHei"/>
            </a:endParaRPr>
          </a:p>
        </p:txBody>
      </p:sp>
      <p:sp>
        <p:nvSpPr>
          <p:cNvPr id="151" name="TextBox 150"/>
          <p:cNvSpPr txBox="1"/>
          <p:nvPr/>
        </p:nvSpPr>
        <p:spPr>
          <a:xfrm>
            <a:off x="715675" y="1380000"/>
            <a:ext cx="5000000" cy="200000"/>
          </a:xfrm>
          <a:prstGeom prst="rect">
            <a:avLst/>
          </a:prstGeom>
          <a:noFill/>
        </p:spPr>
        <p:txBody>
          <a:bodyPr wrap="square">
            <a:spAutoFit/>
          </a:bodyPr>
          <a:lstStyle/>
          <a:p>
            <a:pPr algn="l"/>
            <a:r>
              <a:rPr sz="1141" b="1">
                <a:solidFill>
                  <a:srgbClr val="666666"/>
                </a:solidFill>
                <a:latin typeface="Microsoft YaHei"/>
              </a:rPr>
              <a:t>原生 OpenSpec</a:t>
            </a:r>
          </a:p>
        </p:txBody>
      </p:sp>
      <p:sp>
        <p:nvSpPr>
          <p:cNvPr id="152" name="Rectangle 151"/>
          <p:cNvSpPr/>
          <p:nvPr/>
        </p:nvSpPr>
        <p:spPr>
          <a:xfrm>
            <a:off x="715675" y="1580000"/>
            <a:ext cx="950000" cy="800000"/>
          </a:xfrm>
          <a:prstGeom prst="rect">
            <a:avLst/>
          </a:prstGeom>
          <a:solidFill>
            <a:srgbClr val="5BA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715675" y="1635000"/>
            <a:ext cx="950000" cy="220000"/>
          </a:xfrm>
          <a:prstGeom prst="rect">
            <a:avLst/>
          </a:prstGeom>
          <a:noFill/>
        </p:spPr>
        <p:txBody>
          <a:bodyPr wrap="square">
            <a:spAutoFit/>
          </a:bodyPr>
          <a:lstStyle/>
          <a:p>
            <a:pPr algn="ctr"/>
            <a:r>
              <a:rPr sz="984">
                <a:solidFill>
                  <a:srgbClr val="FFFFFF"/>
                </a:solidFill>
                <a:latin typeface="Microsoft YaHei"/>
              </a:rPr>
              <a:t>Proposal</a:t>
            </a:r>
          </a:p>
        </p:txBody>
      </p:sp>
      <p:sp>
        <p:nvSpPr>
          <p:cNvPr id="154" name="TextBox 153"/>
          <p:cNvSpPr txBox="1"/>
          <p:nvPr/>
        </p:nvSpPr>
        <p:spPr>
          <a:xfrm>
            <a:off x="755675" y="1840000"/>
            <a:ext cx="870000" cy="400000"/>
          </a:xfrm>
          <a:prstGeom prst="rect">
            <a:avLst/>
          </a:prstGeom>
          <a:noFill/>
        </p:spPr>
        <p:txBody>
          <a:bodyPr wrap="square">
            <a:spAutoFit/>
          </a:bodyPr>
          <a:lstStyle/>
          <a:p>
            <a:pPr algn="ctr"/>
            <a:r>
              <a:rPr sz="850">
                <a:solidFill>
                  <a:srgbClr val="FFFFFF"/>
                </a:solidFill>
                <a:latin typeface="Microsoft YaHei"/>
              </a:rPr>
              <a:t>为什么改</a:t>
            </a:r>
          </a:p>
          <a:p>
            <a:pPr algn="ctr"/>
            <a:r>
              <a:rPr sz="850">
                <a:solidFill>
                  <a:srgbClr val="FFFFFF"/>
                </a:solidFill>
                <a:latin typeface="Microsoft YaHei"/>
              </a:rPr>
              <a:t>改什么</a:t>
            </a:r>
          </a:p>
        </p:txBody>
      </p:sp>
      <p:sp>
        <p:nvSpPr>
          <p:cNvPr id="155" name="Rectangle 154"/>
          <p:cNvSpPr/>
          <p:nvPr/>
        </p:nvSpPr>
        <p:spPr>
          <a:xfrm>
            <a:off x="2895675" y="1580000"/>
            <a:ext cx="950000" cy="800000"/>
          </a:xfrm>
          <a:prstGeom prst="rect">
            <a:avLst/>
          </a:prstGeom>
          <a:solidFill>
            <a:srgbClr val="509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2895675" y="1635000"/>
            <a:ext cx="950000" cy="220000"/>
          </a:xfrm>
          <a:prstGeom prst="rect">
            <a:avLst/>
          </a:prstGeom>
          <a:noFill/>
        </p:spPr>
        <p:txBody>
          <a:bodyPr wrap="square">
            <a:spAutoFit/>
          </a:bodyPr>
          <a:lstStyle/>
          <a:p>
            <a:pPr algn="ctr"/>
            <a:r>
              <a:rPr sz="984">
                <a:solidFill>
                  <a:srgbClr val="FFFFFF"/>
                </a:solidFill>
                <a:latin typeface="Microsoft YaHei"/>
              </a:rPr>
              <a:t>Specs</a:t>
            </a:r>
          </a:p>
        </p:txBody>
      </p:sp>
      <p:sp>
        <p:nvSpPr>
          <p:cNvPr id="157" name="TextBox 156"/>
          <p:cNvSpPr txBox="1"/>
          <p:nvPr/>
        </p:nvSpPr>
        <p:spPr>
          <a:xfrm>
            <a:off x="2935675" y="1840000"/>
            <a:ext cx="870000" cy="400000"/>
          </a:xfrm>
          <a:prstGeom prst="rect">
            <a:avLst/>
          </a:prstGeom>
          <a:noFill/>
        </p:spPr>
        <p:txBody>
          <a:bodyPr wrap="square">
            <a:spAutoFit/>
          </a:bodyPr>
          <a:lstStyle/>
          <a:p>
            <a:pPr algn="ctr"/>
            <a:r>
              <a:rPr sz="850">
                <a:solidFill>
                  <a:srgbClr val="FFFFFF"/>
                </a:solidFill>
                <a:latin typeface="Microsoft YaHei"/>
              </a:rPr>
              <a:t>规格定义</a:t>
            </a:r>
          </a:p>
          <a:p>
            <a:pPr algn="ctr"/>
            <a:r>
              <a:rPr sz="850">
                <a:solidFill>
                  <a:srgbClr val="FFFFFF"/>
                </a:solidFill>
                <a:latin typeface="Microsoft YaHei"/>
              </a:rPr>
              <a:t>Given/When/Then</a:t>
            </a:r>
          </a:p>
        </p:txBody>
      </p:sp>
      <p:sp>
        <p:nvSpPr>
          <p:cNvPr id="158" name="Rectangle 157"/>
          <p:cNvSpPr/>
          <p:nvPr/>
        </p:nvSpPr>
        <p:spPr>
          <a:xfrm>
            <a:off x="3985675" y="1580000"/>
            <a:ext cx="950000" cy="800000"/>
          </a:xfrm>
          <a:prstGeom prst="rect">
            <a:avLst/>
          </a:prstGeom>
          <a:solidFill>
            <a:srgbClr val="509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3985675" y="1635000"/>
            <a:ext cx="950000" cy="220000"/>
          </a:xfrm>
          <a:prstGeom prst="rect">
            <a:avLst/>
          </a:prstGeom>
          <a:noFill/>
        </p:spPr>
        <p:txBody>
          <a:bodyPr wrap="square">
            <a:spAutoFit/>
          </a:bodyPr>
          <a:lstStyle/>
          <a:p>
            <a:pPr algn="ctr"/>
            <a:r>
              <a:rPr sz="984">
                <a:solidFill>
                  <a:srgbClr val="FFFFFF"/>
                </a:solidFill>
                <a:latin typeface="Microsoft YaHei"/>
              </a:rPr>
              <a:t>Design</a:t>
            </a:r>
          </a:p>
        </p:txBody>
      </p:sp>
      <p:sp>
        <p:nvSpPr>
          <p:cNvPr id="160" name="TextBox 159"/>
          <p:cNvSpPr txBox="1"/>
          <p:nvPr/>
        </p:nvSpPr>
        <p:spPr>
          <a:xfrm>
            <a:off x="4025675" y="1840000"/>
            <a:ext cx="870000" cy="400000"/>
          </a:xfrm>
          <a:prstGeom prst="rect">
            <a:avLst/>
          </a:prstGeom>
          <a:noFill/>
        </p:spPr>
        <p:txBody>
          <a:bodyPr wrap="square">
            <a:spAutoFit/>
          </a:bodyPr>
          <a:lstStyle/>
          <a:p>
            <a:pPr algn="ctr"/>
            <a:r>
              <a:rPr sz="850">
                <a:solidFill>
                  <a:srgbClr val="FFFFFF"/>
                </a:solidFill>
                <a:latin typeface="Microsoft YaHei"/>
              </a:rPr>
              <a:t>技术方案</a:t>
            </a:r>
          </a:p>
          <a:p>
            <a:pPr algn="ctr"/>
            <a:r>
              <a:rPr sz="850">
                <a:solidFill>
                  <a:srgbClr val="FFFFFF"/>
                </a:solidFill>
                <a:latin typeface="Microsoft YaHei"/>
              </a:rPr>
              <a:t>架构决策</a:t>
            </a:r>
          </a:p>
        </p:txBody>
      </p:sp>
      <p:sp>
        <p:nvSpPr>
          <p:cNvPr id="161" name="Rectangle 160"/>
          <p:cNvSpPr/>
          <p:nvPr/>
        </p:nvSpPr>
        <p:spPr>
          <a:xfrm>
            <a:off x="5075675" y="1580000"/>
            <a:ext cx="950000" cy="800000"/>
          </a:xfrm>
          <a:prstGeom prst="rect">
            <a:avLst/>
          </a:prstGeom>
          <a:solidFill>
            <a:srgbClr val="CC9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5075675" y="1635000"/>
            <a:ext cx="950000" cy="220000"/>
          </a:xfrm>
          <a:prstGeom prst="rect">
            <a:avLst/>
          </a:prstGeom>
          <a:noFill/>
        </p:spPr>
        <p:txBody>
          <a:bodyPr wrap="square">
            <a:spAutoFit/>
          </a:bodyPr>
          <a:lstStyle/>
          <a:p>
            <a:pPr algn="ctr"/>
            <a:r>
              <a:rPr sz="984">
                <a:solidFill>
                  <a:srgbClr val="FFFFFF"/>
                </a:solidFill>
                <a:latin typeface="Microsoft YaHei"/>
              </a:rPr>
              <a:t>Tasks</a:t>
            </a:r>
          </a:p>
        </p:txBody>
      </p:sp>
      <p:sp>
        <p:nvSpPr>
          <p:cNvPr id="163" name="TextBox 162"/>
          <p:cNvSpPr txBox="1"/>
          <p:nvPr/>
        </p:nvSpPr>
        <p:spPr>
          <a:xfrm>
            <a:off x="5115675" y="1840000"/>
            <a:ext cx="870000" cy="400000"/>
          </a:xfrm>
          <a:prstGeom prst="rect">
            <a:avLst/>
          </a:prstGeom>
          <a:noFill/>
        </p:spPr>
        <p:txBody>
          <a:bodyPr wrap="square">
            <a:spAutoFit/>
          </a:bodyPr>
          <a:lstStyle/>
          <a:p>
            <a:pPr algn="ctr"/>
            <a:r>
              <a:rPr sz="850">
                <a:solidFill>
                  <a:srgbClr val="FFFFFF"/>
                </a:solidFill>
                <a:latin typeface="Microsoft YaHei"/>
              </a:rPr>
              <a:t>实现清单</a:t>
            </a:r>
          </a:p>
          <a:p>
            <a:pPr algn="ctr"/>
            <a:r>
              <a:rPr sz="850">
                <a:solidFill>
                  <a:srgbClr val="FFFFFF"/>
                </a:solidFill>
                <a:latin typeface="Microsoft YaHei"/>
              </a:rPr>
              <a:t>可追踪进度</a:t>
            </a:r>
          </a:p>
        </p:txBody>
      </p:sp>
      <p:sp>
        <p:nvSpPr>
          <p:cNvPr id="164" name="Rectangle 163"/>
          <p:cNvSpPr/>
          <p:nvPr/>
        </p:nvSpPr>
        <p:spPr>
          <a:xfrm>
            <a:off x="6165675" y="1580000"/>
            <a:ext cx="950000" cy="800000"/>
          </a:xfrm>
          <a:prstGeom prst="rect">
            <a:avLst/>
          </a:prstGeom>
          <a:solidFill>
            <a:srgbClr val="CC9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165675" y="1635000"/>
            <a:ext cx="950000" cy="220000"/>
          </a:xfrm>
          <a:prstGeom prst="rect">
            <a:avLst/>
          </a:prstGeom>
          <a:noFill/>
        </p:spPr>
        <p:txBody>
          <a:bodyPr wrap="square">
            <a:spAutoFit/>
          </a:bodyPr>
          <a:lstStyle/>
          <a:p>
            <a:pPr algn="ctr"/>
            <a:r>
              <a:rPr sz="984">
                <a:solidFill>
                  <a:srgbClr val="FFFFFF"/>
                </a:solidFill>
                <a:latin typeface="Microsoft YaHei"/>
              </a:rPr>
              <a:t>Apply</a:t>
            </a:r>
          </a:p>
        </p:txBody>
      </p:sp>
      <p:sp>
        <p:nvSpPr>
          <p:cNvPr id="166" name="TextBox 165"/>
          <p:cNvSpPr txBox="1"/>
          <p:nvPr/>
        </p:nvSpPr>
        <p:spPr>
          <a:xfrm>
            <a:off x="6205675" y="1840000"/>
            <a:ext cx="870000" cy="400000"/>
          </a:xfrm>
          <a:prstGeom prst="rect">
            <a:avLst/>
          </a:prstGeom>
          <a:noFill/>
        </p:spPr>
        <p:txBody>
          <a:bodyPr wrap="square">
            <a:spAutoFit/>
          </a:bodyPr>
          <a:lstStyle/>
          <a:p>
            <a:pPr algn="ctr"/>
            <a:r>
              <a:rPr sz="850">
                <a:solidFill>
                  <a:srgbClr val="FFFFFF"/>
                </a:solidFill>
                <a:latin typeface="Microsoft YaHei"/>
              </a:rPr>
              <a:t>AI 按清单</a:t>
            </a:r>
          </a:p>
          <a:p>
            <a:pPr algn="ctr"/>
            <a:r>
              <a:rPr sz="850">
                <a:solidFill>
                  <a:srgbClr val="FFFFFF"/>
                </a:solidFill>
                <a:latin typeface="Microsoft YaHei"/>
              </a:rPr>
              <a:t>写代码</a:t>
            </a:r>
          </a:p>
        </p:txBody>
      </p:sp>
      <p:sp>
        <p:nvSpPr>
          <p:cNvPr id="167" name="Rectangle 166"/>
          <p:cNvSpPr/>
          <p:nvPr/>
        </p:nvSpPr>
        <p:spPr>
          <a:xfrm>
            <a:off x="7255675" y="1580000"/>
            <a:ext cx="950000" cy="800000"/>
          </a:xfrm>
          <a:prstGeom prst="rect">
            <a:avLst/>
          </a:prstGeom>
          <a:solidFill>
            <a:srgbClr val="C06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7255675" y="1635000"/>
            <a:ext cx="950000" cy="220000"/>
          </a:xfrm>
          <a:prstGeom prst="rect">
            <a:avLst/>
          </a:prstGeom>
          <a:noFill/>
        </p:spPr>
        <p:txBody>
          <a:bodyPr wrap="square">
            <a:spAutoFit/>
          </a:bodyPr>
          <a:lstStyle/>
          <a:p>
            <a:pPr algn="ctr"/>
            <a:r>
              <a:rPr sz="984">
                <a:solidFill>
                  <a:srgbClr val="FFFFFF"/>
                </a:solidFill>
                <a:latin typeface="Microsoft YaHei"/>
              </a:rPr>
              <a:t>Verify</a:t>
            </a:r>
          </a:p>
        </p:txBody>
      </p:sp>
      <p:sp>
        <p:nvSpPr>
          <p:cNvPr id="169" name="TextBox 168"/>
          <p:cNvSpPr txBox="1"/>
          <p:nvPr/>
        </p:nvSpPr>
        <p:spPr>
          <a:xfrm>
            <a:off x="7295675" y="1840000"/>
            <a:ext cx="870000" cy="400000"/>
          </a:xfrm>
          <a:prstGeom prst="rect">
            <a:avLst/>
          </a:prstGeom>
          <a:noFill/>
        </p:spPr>
        <p:txBody>
          <a:bodyPr wrap="square">
            <a:spAutoFit/>
          </a:bodyPr>
          <a:lstStyle/>
          <a:p>
            <a:pPr algn="ctr"/>
            <a:r>
              <a:rPr sz="850">
                <a:solidFill>
                  <a:srgbClr val="FFFFFF"/>
                </a:solidFill>
                <a:latin typeface="Microsoft YaHei"/>
              </a:rPr>
              <a:t>验证实现</a:t>
            </a:r>
          </a:p>
          <a:p>
            <a:pPr algn="ctr"/>
            <a:r>
              <a:rPr sz="850">
                <a:solidFill>
                  <a:srgbClr val="FFFFFF"/>
                </a:solidFill>
                <a:latin typeface="Microsoft YaHei"/>
              </a:rPr>
              <a:t>匹配规格</a:t>
            </a:r>
          </a:p>
        </p:txBody>
      </p:sp>
      <p:sp>
        <p:nvSpPr>
          <p:cNvPr id="170" name="Rectangle 169"/>
          <p:cNvSpPr/>
          <p:nvPr/>
        </p:nvSpPr>
        <p:spPr>
          <a:xfrm>
            <a:off x="8345675" y="1580000"/>
            <a:ext cx="950000" cy="800000"/>
          </a:xfrm>
          <a:prstGeom prst="rect">
            <a:avLst/>
          </a:prstGeom>
          <a:solidFill>
            <a:srgbClr val="C06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8345675" y="1635000"/>
            <a:ext cx="950000" cy="220000"/>
          </a:xfrm>
          <a:prstGeom prst="rect">
            <a:avLst/>
          </a:prstGeom>
          <a:noFill/>
        </p:spPr>
        <p:txBody>
          <a:bodyPr wrap="square">
            <a:spAutoFit/>
          </a:bodyPr>
          <a:lstStyle/>
          <a:p>
            <a:pPr algn="ctr"/>
            <a:r>
              <a:rPr sz="984">
                <a:solidFill>
                  <a:srgbClr val="FFFFFF"/>
                </a:solidFill>
                <a:latin typeface="Microsoft YaHei"/>
              </a:rPr>
              <a:t>Archive</a:t>
            </a:r>
          </a:p>
        </p:txBody>
      </p:sp>
      <p:sp>
        <p:nvSpPr>
          <p:cNvPr id="172" name="TextBox 171"/>
          <p:cNvSpPr txBox="1"/>
          <p:nvPr/>
        </p:nvSpPr>
        <p:spPr>
          <a:xfrm>
            <a:off x="8385675" y="1840000"/>
            <a:ext cx="870000" cy="400000"/>
          </a:xfrm>
          <a:prstGeom prst="rect">
            <a:avLst/>
          </a:prstGeom>
          <a:noFill/>
        </p:spPr>
        <p:txBody>
          <a:bodyPr wrap="square">
            <a:spAutoFit/>
          </a:bodyPr>
          <a:lstStyle/>
          <a:p>
            <a:pPr algn="ctr"/>
            <a:r>
              <a:rPr sz="850">
                <a:solidFill>
                  <a:srgbClr val="FFFFFF"/>
                </a:solidFill>
                <a:latin typeface="Microsoft YaHei"/>
              </a:rPr>
              <a:t>合并规格</a:t>
            </a:r>
          </a:p>
          <a:p>
            <a:pPr algn="ctr"/>
            <a:r>
              <a:rPr sz="850">
                <a:solidFill>
                  <a:srgbClr val="FFFFFF"/>
                </a:solidFill>
                <a:latin typeface="Microsoft YaHei"/>
              </a:rPr>
              <a:t>归档变更</a:t>
            </a:r>
          </a:p>
        </p:txBody>
      </p:sp>
      <p:sp>
        <p:nvSpPr>
          <p:cNvPr id="173" name="Rectangle 172"/>
          <p:cNvSpPr/>
          <p:nvPr/>
        </p:nvSpPr>
        <p:spPr>
          <a:xfrm>
            <a:off x="9435675" y="1580000"/>
            <a:ext cx="950000" cy="800000"/>
          </a:xfrm>
          <a:prstGeom prst="rect">
            <a:avLst/>
          </a:prstGeom>
          <a:solidFill>
            <a:srgbClr val="8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35675" y="1635000"/>
            <a:ext cx="950000" cy="220000"/>
          </a:xfrm>
          <a:prstGeom prst="rect">
            <a:avLst/>
          </a:prstGeom>
          <a:noFill/>
        </p:spPr>
        <p:txBody>
          <a:bodyPr wrap="square">
            <a:spAutoFit/>
          </a:bodyPr>
          <a:lstStyle/>
          <a:p>
            <a:pPr algn="ctr"/>
            <a:r>
              <a:rPr sz="984">
                <a:solidFill>
                  <a:srgbClr val="FFFFFF"/>
                </a:solidFill>
                <a:latin typeface="Microsoft YaHei"/>
              </a:rPr>
              <a:t>Test</a:t>
            </a:r>
          </a:p>
        </p:txBody>
      </p:sp>
      <p:sp>
        <p:nvSpPr>
          <p:cNvPr id="175" name="TextBox 174"/>
          <p:cNvSpPr txBox="1"/>
          <p:nvPr/>
        </p:nvSpPr>
        <p:spPr>
          <a:xfrm>
            <a:off x="9475675" y="1840000"/>
            <a:ext cx="870000" cy="400000"/>
          </a:xfrm>
          <a:prstGeom prst="rect">
            <a:avLst/>
          </a:prstGeom>
          <a:noFill/>
        </p:spPr>
        <p:txBody>
          <a:bodyPr wrap="square">
            <a:spAutoFit/>
          </a:bodyPr>
          <a:lstStyle/>
          <a:p>
            <a:pPr algn="ctr"/>
            <a:r>
              <a:rPr sz="850">
                <a:solidFill>
                  <a:srgbClr val="FFFFFF"/>
                </a:solidFill>
                <a:latin typeface="Microsoft YaHei"/>
              </a:rPr>
              <a:t>运行测试</a:t>
            </a:r>
          </a:p>
          <a:p>
            <a:pPr algn="ctr"/>
            <a:r>
              <a:rPr sz="850">
                <a:solidFill>
                  <a:srgbClr val="FFFFFF"/>
                </a:solidFill>
                <a:latin typeface="Microsoft YaHei"/>
              </a:rPr>
              <a:t>验证功能</a:t>
            </a:r>
          </a:p>
        </p:txBody>
      </p:sp>
      <p:sp>
        <p:nvSpPr>
          <p:cNvPr id="176" name="TextBox 175"/>
          <p:cNvSpPr txBox="1"/>
          <p:nvPr/>
        </p:nvSpPr>
        <p:spPr>
          <a:xfrm>
            <a:off x="715675" y="2530000"/>
            <a:ext cx="5000000" cy="200000"/>
          </a:xfrm>
          <a:prstGeom prst="rect">
            <a:avLst/>
          </a:prstGeom>
          <a:noFill/>
        </p:spPr>
        <p:txBody>
          <a:bodyPr wrap="square">
            <a:spAutoFit/>
          </a:bodyPr>
          <a:lstStyle/>
          <a:p>
            <a:pPr algn="l"/>
            <a:r>
              <a:rPr sz="1141" b="1">
                <a:solidFill>
                  <a:srgbClr val="0078D4"/>
                </a:solidFill>
                <a:latin typeface="Microsoft YaHei"/>
              </a:rPr>
              <a:t>OpenSpec-HW2</a:t>
            </a:r>
          </a:p>
        </p:txBody>
      </p:sp>
      <p:sp>
        <p:nvSpPr>
          <p:cNvPr id="177" name="Rectangle 176"/>
          <p:cNvSpPr/>
          <p:nvPr/>
        </p:nvSpPr>
        <p:spPr>
          <a:xfrm>
            <a:off x="715675" y="2730000"/>
            <a:ext cx="950000" cy="800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15675" y="2785000"/>
            <a:ext cx="950000" cy="220000"/>
          </a:xfrm>
          <a:prstGeom prst="rect">
            <a:avLst/>
          </a:prstGeom>
          <a:noFill/>
        </p:spPr>
        <p:txBody>
          <a:bodyPr wrap="square">
            <a:spAutoFit/>
          </a:bodyPr>
          <a:lstStyle/>
          <a:p>
            <a:pPr algn="ctr"/>
            <a:r>
              <a:rPr sz="984">
                <a:solidFill>
                  <a:srgbClr val="FFFFFF"/>
                </a:solidFill>
                <a:latin typeface="Microsoft YaHei"/>
              </a:rPr>
              <a:t>Proposal</a:t>
            </a:r>
          </a:p>
        </p:txBody>
      </p:sp>
      <p:sp>
        <p:nvSpPr>
          <p:cNvPr id="179" name="TextBox 178"/>
          <p:cNvSpPr txBox="1"/>
          <p:nvPr/>
        </p:nvSpPr>
        <p:spPr>
          <a:xfrm>
            <a:off x="755675" y="2990000"/>
            <a:ext cx="870000" cy="400000"/>
          </a:xfrm>
          <a:prstGeom prst="rect">
            <a:avLst/>
          </a:prstGeom>
          <a:noFill/>
        </p:spPr>
        <p:txBody>
          <a:bodyPr wrap="square">
            <a:spAutoFit/>
          </a:bodyPr>
          <a:lstStyle/>
          <a:p>
            <a:pPr algn="ctr"/>
            <a:r>
              <a:rPr sz="850">
                <a:solidFill>
                  <a:srgbClr val="FFFFFF"/>
                </a:solidFill>
                <a:latin typeface="Microsoft YaHei"/>
              </a:rPr>
              <a:t>为什么改</a:t>
            </a:r>
          </a:p>
          <a:p>
            <a:pPr algn="ctr"/>
            <a:r>
              <a:rPr sz="850">
                <a:solidFill>
                  <a:srgbClr val="FFFFFF"/>
                </a:solidFill>
                <a:latin typeface="Microsoft YaHei"/>
              </a:rPr>
              <a:t>改什么</a:t>
            </a:r>
          </a:p>
        </p:txBody>
      </p:sp>
      <p:sp>
        <p:nvSpPr>
          <p:cNvPr id="180" name="Rectangle 179"/>
          <p:cNvSpPr/>
          <p:nvPr/>
        </p:nvSpPr>
        <p:spPr>
          <a:xfrm>
            <a:off x="1805675" y="2730000"/>
            <a:ext cx="950000" cy="800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805675" y="2785000"/>
            <a:ext cx="950000" cy="220000"/>
          </a:xfrm>
          <a:prstGeom prst="rect">
            <a:avLst/>
          </a:prstGeom>
          <a:noFill/>
        </p:spPr>
        <p:txBody>
          <a:bodyPr wrap="square">
            <a:spAutoFit/>
          </a:bodyPr>
          <a:lstStyle/>
          <a:p>
            <a:pPr algn="ctr"/>
            <a:r>
              <a:rPr sz="984">
                <a:solidFill>
                  <a:srgbClr val="FFFFFF"/>
                </a:solidFill>
                <a:latin typeface="Microsoft YaHei"/>
              </a:rPr>
              <a:t>Use Cases</a:t>
            </a:r>
          </a:p>
        </p:txBody>
      </p:sp>
      <p:sp>
        <p:nvSpPr>
          <p:cNvPr id="182" name="TextBox 181"/>
          <p:cNvSpPr txBox="1"/>
          <p:nvPr/>
        </p:nvSpPr>
        <p:spPr>
          <a:xfrm>
            <a:off x="1845675" y="2990000"/>
            <a:ext cx="870000" cy="400000"/>
          </a:xfrm>
          <a:prstGeom prst="rect">
            <a:avLst/>
          </a:prstGeom>
          <a:noFill/>
        </p:spPr>
        <p:txBody>
          <a:bodyPr wrap="square">
            <a:spAutoFit/>
          </a:bodyPr>
          <a:lstStyle/>
          <a:p>
            <a:pPr algn="ctr"/>
            <a:r>
              <a:rPr sz="850">
                <a:solidFill>
                  <a:srgbClr val="FFFFFF"/>
                </a:solidFill>
                <a:latin typeface="Microsoft YaHei"/>
              </a:rPr>
              <a:t>用户场景</a:t>
            </a:r>
          </a:p>
          <a:p>
            <a:pPr algn="ctr"/>
            <a:r>
              <a:rPr sz="850">
                <a:solidFill>
                  <a:srgbClr val="FFFFFF"/>
                </a:solidFill>
                <a:latin typeface="Microsoft YaHei"/>
              </a:rPr>
              <a:t>主流程+异常</a:t>
            </a:r>
          </a:p>
        </p:txBody>
      </p:sp>
      <p:sp>
        <p:nvSpPr>
          <p:cNvPr id="183" name="Rectangle 182"/>
          <p:cNvSpPr/>
          <p:nvPr/>
        </p:nvSpPr>
        <p:spPr>
          <a:xfrm>
            <a:off x="2895675" y="2730000"/>
            <a:ext cx="950000" cy="800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2895675" y="2785000"/>
            <a:ext cx="950000" cy="220000"/>
          </a:xfrm>
          <a:prstGeom prst="rect">
            <a:avLst/>
          </a:prstGeom>
          <a:noFill/>
        </p:spPr>
        <p:txBody>
          <a:bodyPr wrap="square">
            <a:spAutoFit/>
          </a:bodyPr>
          <a:lstStyle/>
          <a:p>
            <a:pPr algn="ctr"/>
            <a:r>
              <a:rPr sz="984">
                <a:solidFill>
                  <a:srgbClr val="FFFFFF"/>
                </a:solidFill>
                <a:latin typeface="Microsoft YaHei"/>
              </a:rPr>
              <a:t>Specs</a:t>
            </a:r>
          </a:p>
        </p:txBody>
      </p:sp>
      <p:sp>
        <p:nvSpPr>
          <p:cNvPr id="185" name="TextBox 184"/>
          <p:cNvSpPr txBox="1"/>
          <p:nvPr/>
        </p:nvSpPr>
        <p:spPr>
          <a:xfrm>
            <a:off x="2935675" y="2990000"/>
            <a:ext cx="870000" cy="400000"/>
          </a:xfrm>
          <a:prstGeom prst="rect">
            <a:avLst/>
          </a:prstGeom>
          <a:noFill/>
        </p:spPr>
        <p:txBody>
          <a:bodyPr wrap="square">
            <a:spAutoFit/>
          </a:bodyPr>
          <a:lstStyle/>
          <a:p>
            <a:pPr algn="ctr"/>
            <a:r>
              <a:rPr sz="850">
                <a:solidFill>
                  <a:srgbClr val="FFFFFF"/>
                </a:solidFill>
                <a:latin typeface="Microsoft YaHei"/>
              </a:rPr>
              <a:t>Delta 规格</a:t>
            </a:r>
          </a:p>
          <a:p>
            <a:pPr algn="ctr"/>
            <a:r>
              <a:rPr sz="850">
                <a:solidFill>
                  <a:srgbClr val="FFFFFF"/>
                </a:solidFill>
                <a:latin typeface="Microsoft YaHei"/>
              </a:rPr>
              <a:t>Given/When/Then</a:t>
            </a:r>
          </a:p>
        </p:txBody>
      </p:sp>
      <p:sp>
        <p:nvSpPr>
          <p:cNvPr id="186" name="Rectangle 185"/>
          <p:cNvSpPr/>
          <p:nvPr/>
        </p:nvSpPr>
        <p:spPr>
          <a:xfrm>
            <a:off x="3985675" y="2730000"/>
            <a:ext cx="950000" cy="800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3985675" y="2785000"/>
            <a:ext cx="950000" cy="220000"/>
          </a:xfrm>
          <a:prstGeom prst="rect">
            <a:avLst/>
          </a:prstGeom>
          <a:noFill/>
        </p:spPr>
        <p:txBody>
          <a:bodyPr wrap="square">
            <a:spAutoFit/>
          </a:bodyPr>
          <a:lstStyle/>
          <a:p>
            <a:pPr algn="ctr"/>
            <a:r>
              <a:rPr sz="984">
                <a:solidFill>
                  <a:srgbClr val="FFFFFF"/>
                </a:solidFill>
                <a:latin typeface="Microsoft YaHei"/>
              </a:rPr>
              <a:t>Design</a:t>
            </a:r>
          </a:p>
        </p:txBody>
      </p:sp>
      <p:sp>
        <p:nvSpPr>
          <p:cNvPr id="188" name="TextBox 187"/>
          <p:cNvSpPr txBox="1"/>
          <p:nvPr/>
        </p:nvSpPr>
        <p:spPr>
          <a:xfrm>
            <a:off x="4025675" y="2990000"/>
            <a:ext cx="870000" cy="400000"/>
          </a:xfrm>
          <a:prstGeom prst="rect">
            <a:avLst/>
          </a:prstGeom>
          <a:noFill/>
        </p:spPr>
        <p:txBody>
          <a:bodyPr wrap="square">
            <a:spAutoFit/>
          </a:bodyPr>
          <a:lstStyle/>
          <a:p>
            <a:pPr algn="ctr"/>
            <a:r>
              <a:rPr sz="850">
                <a:solidFill>
                  <a:srgbClr val="FFFFFF"/>
                </a:solidFill>
                <a:latin typeface="Microsoft YaHei"/>
              </a:rPr>
              <a:t>技术方案</a:t>
            </a:r>
          </a:p>
          <a:p>
            <a:pPr algn="ctr"/>
            <a:r>
              <a:rPr sz="850">
                <a:solidFill>
                  <a:srgbClr val="FFFFFF"/>
                </a:solidFill>
                <a:latin typeface="Microsoft YaHei"/>
              </a:rPr>
              <a:t>架构决策</a:t>
            </a:r>
          </a:p>
        </p:txBody>
      </p:sp>
      <p:sp>
        <p:nvSpPr>
          <p:cNvPr id="189" name="TextBox 188"/>
          <p:cNvSpPr txBox="1"/>
          <p:nvPr/>
        </p:nvSpPr>
        <p:spPr>
          <a:xfrm>
            <a:off x="3985675" y="3380000"/>
            <a:ext cx="950000" cy="130000"/>
          </a:xfrm>
          <a:prstGeom prst="rect">
            <a:avLst/>
          </a:prstGeom>
          <a:noFill/>
        </p:spPr>
        <p:txBody>
          <a:bodyPr wrap="square">
            <a:spAutoFit/>
          </a:bodyPr>
          <a:lstStyle/>
          <a:p>
            <a:pPr algn="ctr"/>
            <a:r>
              <a:rPr sz="748">
                <a:solidFill>
                  <a:srgbClr val="FFFFFF"/>
                </a:solidFill>
                <a:latin typeface="Microsoft YaHei"/>
              </a:rPr>
              <a:t>可选</a:t>
            </a:r>
          </a:p>
        </p:txBody>
      </p:sp>
      <p:sp>
        <p:nvSpPr>
          <p:cNvPr id="190" name="Rectangle 189"/>
          <p:cNvSpPr/>
          <p:nvPr/>
        </p:nvSpPr>
        <p:spPr>
          <a:xfrm>
            <a:off x="5075675" y="2730000"/>
            <a:ext cx="950000" cy="800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5075675" y="2785000"/>
            <a:ext cx="950000" cy="220000"/>
          </a:xfrm>
          <a:prstGeom prst="rect">
            <a:avLst/>
          </a:prstGeom>
          <a:noFill/>
        </p:spPr>
        <p:txBody>
          <a:bodyPr wrap="square">
            <a:spAutoFit/>
          </a:bodyPr>
          <a:lstStyle/>
          <a:p>
            <a:pPr algn="ctr"/>
            <a:r>
              <a:rPr sz="984">
                <a:solidFill>
                  <a:srgbClr val="FFFFFF"/>
                </a:solidFill>
                <a:latin typeface="Microsoft YaHei"/>
              </a:rPr>
              <a:t>Tasks</a:t>
            </a:r>
          </a:p>
        </p:txBody>
      </p:sp>
      <p:sp>
        <p:nvSpPr>
          <p:cNvPr id="192" name="TextBox 191"/>
          <p:cNvSpPr txBox="1"/>
          <p:nvPr/>
        </p:nvSpPr>
        <p:spPr>
          <a:xfrm>
            <a:off x="5115675" y="2990000"/>
            <a:ext cx="870000" cy="400000"/>
          </a:xfrm>
          <a:prstGeom prst="rect">
            <a:avLst/>
          </a:prstGeom>
          <a:noFill/>
        </p:spPr>
        <p:txBody>
          <a:bodyPr wrap="square">
            <a:spAutoFit/>
          </a:bodyPr>
          <a:lstStyle/>
          <a:p>
            <a:pPr algn="ctr"/>
            <a:r>
              <a:rPr sz="850">
                <a:solidFill>
                  <a:srgbClr val="FFFFFF"/>
                </a:solidFill>
                <a:latin typeface="Microsoft YaHei"/>
              </a:rPr>
              <a:t>实现清单</a:t>
            </a:r>
          </a:p>
          <a:p>
            <a:pPr algn="ctr"/>
            <a:r>
              <a:rPr sz="850">
                <a:solidFill>
                  <a:srgbClr val="FFFFFF"/>
                </a:solidFill>
                <a:latin typeface="Microsoft YaHei"/>
              </a:rPr>
              <a:t>可追踪进度</a:t>
            </a:r>
          </a:p>
        </p:txBody>
      </p:sp>
      <p:sp>
        <p:nvSpPr>
          <p:cNvPr id="193" name="Rectangle 192"/>
          <p:cNvSpPr/>
          <p:nvPr/>
        </p:nvSpPr>
        <p:spPr>
          <a:xfrm>
            <a:off x="6165675" y="2730000"/>
            <a:ext cx="950000" cy="800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6165675" y="2785000"/>
            <a:ext cx="950000" cy="220000"/>
          </a:xfrm>
          <a:prstGeom prst="rect">
            <a:avLst/>
          </a:prstGeom>
          <a:noFill/>
        </p:spPr>
        <p:txBody>
          <a:bodyPr wrap="square">
            <a:spAutoFit/>
          </a:bodyPr>
          <a:lstStyle/>
          <a:p>
            <a:pPr algn="ctr"/>
            <a:r>
              <a:rPr sz="984">
                <a:solidFill>
                  <a:srgbClr val="FFFFFF"/>
                </a:solidFill>
                <a:latin typeface="Microsoft YaHei"/>
              </a:rPr>
              <a:t>Apply</a:t>
            </a:r>
          </a:p>
        </p:txBody>
      </p:sp>
      <p:sp>
        <p:nvSpPr>
          <p:cNvPr id="195" name="TextBox 194"/>
          <p:cNvSpPr txBox="1"/>
          <p:nvPr/>
        </p:nvSpPr>
        <p:spPr>
          <a:xfrm>
            <a:off x="6205675" y="2990000"/>
            <a:ext cx="870000" cy="400000"/>
          </a:xfrm>
          <a:prstGeom prst="rect">
            <a:avLst/>
          </a:prstGeom>
          <a:noFill/>
        </p:spPr>
        <p:txBody>
          <a:bodyPr wrap="square">
            <a:spAutoFit/>
          </a:bodyPr>
          <a:lstStyle/>
          <a:p>
            <a:pPr algn="ctr"/>
            <a:r>
              <a:rPr sz="850">
                <a:solidFill>
                  <a:srgbClr val="FFFFFF"/>
                </a:solidFill>
                <a:latin typeface="Microsoft YaHei"/>
              </a:rPr>
              <a:t>AI 按清单</a:t>
            </a:r>
          </a:p>
          <a:p>
            <a:pPr algn="ctr"/>
            <a:r>
              <a:rPr sz="850">
                <a:solidFill>
                  <a:srgbClr val="FFFFFF"/>
                </a:solidFill>
                <a:latin typeface="Microsoft YaHei"/>
              </a:rPr>
              <a:t>写代码</a:t>
            </a:r>
          </a:p>
        </p:txBody>
      </p:sp>
      <p:sp>
        <p:nvSpPr>
          <p:cNvPr id="196" name="Rectangle 195"/>
          <p:cNvSpPr/>
          <p:nvPr/>
        </p:nvSpPr>
        <p:spPr>
          <a:xfrm>
            <a:off x="7255675" y="2730000"/>
            <a:ext cx="950000" cy="80000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7255675" y="2785000"/>
            <a:ext cx="950000" cy="220000"/>
          </a:xfrm>
          <a:prstGeom prst="rect">
            <a:avLst/>
          </a:prstGeom>
          <a:noFill/>
        </p:spPr>
        <p:txBody>
          <a:bodyPr wrap="square">
            <a:spAutoFit/>
          </a:bodyPr>
          <a:lstStyle/>
          <a:p>
            <a:pPr algn="ctr"/>
            <a:r>
              <a:rPr sz="984">
                <a:solidFill>
                  <a:srgbClr val="FFFFFF"/>
                </a:solidFill>
                <a:latin typeface="Microsoft YaHei"/>
              </a:rPr>
              <a:t>Verify</a:t>
            </a:r>
          </a:p>
        </p:txBody>
      </p:sp>
      <p:sp>
        <p:nvSpPr>
          <p:cNvPr id="198" name="TextBox 197"/>
          <p:cNvSpPr txBox="1"/>
          <p:nvPr/>
        </p:nvSpPr>
        <p:spPr>
          <a:xfrm>
            <a:off x="7295675" y="2990000"/>
            <a:ext cx="870000" cy="400000"/>
          </a:xfrm>
          <a:prstGeom prst="rect">
            <a:avLst/>
          </a:prstGeom>
          <a:noFill/>
        </p:spPr>
        <p:txBody>
          <a:bodyPr wrap="square">
            <a:spAutoFit/>
          </a:bodyPr>
          <a:lstStyle/>
          <a:p>
            <a:pPr algn="ctr"/>
            <a:r>
              <a:rPr sz="850">
                <a:solidFill>
                  <a:srgbClr val="FFFFFF"/>
                </a:solidFill>
                <a:latin typeface="Microsoft YaHei"/>
              </a:rPr>
              <a:t>验证实现</a:t>
            </a:r>
          </a:p>
          <a:p>
            <a:pPr algn="ctr"/>
            <a:r>
              <a:rPr sz="850">
                <a:solidFill>
                  <a:srgbClr val="FFFFFF"/>
                </a:solidFill>
                <a:latin typeface="Microsoft YaHei"/>
              </a:rPr>
              <a:t>匹配规格</a:t>
            </a:r>
          </a:p>
        </p:txBody>
      </p:sp>
      <p:sp>
        <p:nvSpPr>
          <p:cNvPr id="199" name="Rectangle 198"/>
          <p:cNvSpPr/>
          <p:nvPr/>
        </p:nvSpPr>
        <p:spPr>
          <a:xfrm>
            <a:off x="8345675" y="2730000"/>
            <a:ext cx="950000" cy="80000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8345675" y="2785000"/>
            <a:ext cx="950000" cy="220000"/>
          </a:xfrm>
          <a:prstGeom prst="rect">
            <a:avLst/>
          </a:prstGeom>
          <a:noFill/>
        </p:spPr>
        <p:txBody>
          <a:bodyPr wrap="square">
            <a:spAutoFit/>
          </a:bodyPr>
          <a:lstStyle/>
          <a:p>
            <a:pPr algn="ctr"/>
            <a:r>
              <a:rPr sz="984">
                <a:solidFill>
                  <a:srgbClr val="FFFFFF"/>
                </a:solidFill>
                <a:latin typeface="Microsoft YaHei"/>
              </a:rPr>
              <a:t>Archive</a:t>
            </a:r>
          </a:p>
        </p:txBody>
      </p:sp>
      <p:sp>
        <p:nvSpPr>
          <p:cNvPr id="201" name="TextBox 200"/>
          <p:cNvSpPr txBox="1"/>
          <p:nvPr/>
        </p:nvSpPr>
        <p:spPr>
          <a:xfrm>
            <a:off x="8385675" y="2990000"/>
            <a:ext cx="870000" cy="400000"/>
          </a:xfrm>
          <a:prstGeom prst="rect">
            <a:avLst/>
          </a:prstGeom>
          <a:noFill/>
        </p:spPr>
        <p:txBody>
          <a:bodyPr wrap="square">
            <a:spAutoFit/>
          </a:bodyPr>
          <a:lstStyle/>
          <a:p>
            <a:pPr algn="ctr"/>
            <a:r>
              <a:rPr sz="850">
                <a:solidFill>
                  <a:srgbClr val="FFFFFF"/>
                </a:solidFill>
                <a:latin typeface="Microsoft YaHei"/>
              </a:rPr>
              <a:t>合并规格</a:t>
            </a:r>
          </a:p>
          <a:p>
            <a:pPr algn="ctr"/>
            <a:r>
              <a:rPr sz="850">
                <a:solidFill>
                  <a:srgbClr val="FFFFFF"/>
                </a:solidFill>
                <a:latin typeface="Microsoft YaHei"/>
              </a:rPr>
              <a:t>归档变更</a:t>
            </a:r>
          </a:p>
        </p:txBody>
      </p:sp>
      <p:sp>
        <p:nvSpPr>
          <p:cNvPr id="202" name="Rectangle 201"/>
          <p:cNvSpPr/>
          <p:nvPr/>
        </p:nvSpPr>
        <p:spPr>
          <a:xfrm>
            <a:off x="9435675" y="2730000"/>
            <a:ext cx="950000" cy="8000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9435675" y="2785000"/>
            <a:ext cx="950000" cy="220000"/>
          </a:xfrm>
          <a:prstGeom prst="rect">
            <a:avLst/>
          </a:prstGeom>
          <a:noFill/>
        </p:spPr>
        <p:txBody>
          <a:bodyPr wrap="square">
            <a:spAutoFit/>
          </a:bodyPr>
          <a:lstStyle/>
          <a:p>
            <a:pPr algn="ctr"/>
            <a:r>
              <a:rPr sz="984">
                <a:solidFill>
                  <a:srgbClr val="FFFFFF"/>
                </a:solidFill>
                <a:latin typeface="Microsoft YaHei"/>
              </a:rPr>
              <a:t>Test Case</a:t>
            </a:r>
          </a:p>
        </p:txBody>
      </p:sp>
      <p:sp>
        <p:nvSpPr>
          <p:cNvPr id="204" name="TextBox 203"/>
          <p:cNvSpPr txBox="1"/>
          <p:nvPr/>
        </p:nvSpPr>
        <p:spPr>
          <a:xfrm>
            <a:off x="9475675" y="2990000"/>
            <a:ext cx="870000" cy="400000"/>
          </a:xfrm>
          <a:prstGeom prst="rect">
            <a:avLst/>
          </a:prstGeom>
          <a:noFill/>
        </p:spPr>
        <p:txBody>
          <a:bodyPr wrap="square">
            <a:spAutoFit/>
          </a:bodyPr>
          <a:lstStyle/>
          <a:p>
            <a:pPr algn="ctr"/>
            <a:r>
              <a:rPr sz="850">
                <a:solidFill>
                  <a:srgbClr val="FFFFFF"/>
                </a:solidFill>
                <a:latin typeface="Microsoft YaHei"/>
              </a:rPr>
              <a:t>用例生成</a:t>
            </a:r>
          </a:p>
          <a:p>
            <a:pPr algn="ctr"/>
            <a:r>
              <a:rPr sz="850">
                <a:solidFill>
                  <a:srgbClr val="FFFFFF"/>
                </a:solidFill>
                <a:latin typeface="Microsoft YaHei"/>
              </a:rPr>
              <a:t>基于Spec</a:t>
            </a:r>
          </a:p>
        </p:txBody>
      </p:sp>
      <p:sp>
        <p:nvSpPr>
          <p:cNvPr id="205" name="Rectangle 204"/>
          <p:cNvSpPr/>
          <p:nvPr/>
        </p:nvSpPr>
        <p:spPr>
          <a:xfrm>
            <a:off x="10525675" y="2730000"/>
            <a:ext cx="950000" cy="8000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0525675" y="2785000"/>
            <a:ext cx="950000" cy="220000"/>
          </a:xfrm>
          <a:prstGeom prst="rect">
            <a:avLst/>
          </a:prstGeom>
          <a:noFill/>
        </p:spPr>
        <p:txBody>
          <a:bodyPr wrap="square">
            <a:spAutoFit/>
          </a:bodyPr>
          <a:lstStyle/>
          <a:p>
            <a:pPr algn="ctr"/>
            <a:r>
              <a:rPr sz="984">
                <a:solidFill>
                  <a:srgbClr val="FFFFFF"/>
                </a:solidFill>
                <a:latin typeface="Microsoft YaHei"/>
              </a:rPr>
              <a:t>Test Exec</a:t>
            </a:r>
          </a:p>
        </p:txBody>
      </p:sp>
      <p:sp>
        <p:nvSpPr>
          <p:cNvPr id="207" name="TextBox 206"/>
          <p:cNvSpPr txBox="1"/>
          <p:nvPr/>
        </p:nvSpPr>
        <p:spPr>
          <a:xfrm>
            <a:off x="10565675" y="2990000"/>
            <a:ext cx="870000" cy="400000"/>
          </a:xfrm>
          <a:prstGeom prst="rect">
            <a:avLst/>
          </a:prstGeom>
          <a:noFill/>
        </p:spPr>
        <p:txBody>
          <a:bodyPr wrap="square">
            <a:spAutoFit/>
          </a:bodyPr>
          <a:lstStyle/>
          <a:p>
            <a:pPr algn="ctr"/>
            <a:r>
              <a:rPr sz="850">
                <a:solidFill>
                  <a:srgbClr val="FFFFFF"/>
                </a:solidFill>
                <a:latin typeface="Microsoft YaHei"/>
              </a:rPr>
              <a:t>执行测试</a:t>
            </a:r>
          </a:p>
          <a:p>
            <a:pPr algn="ctr"/>
            <a:r>
              <a:rPr sz="850">
                <a:solidFill>
                  <a:srgbClr val="FFFFFF"/>
                </a:solidFill>
                <a:latin typeface="Microsoft YaHei"/>
              </a:rPr>
              <a:t>自动化验证</a:t>
            </a:r>
          </a:p>
        </p:txBody>
      </p:sp>
      <p:sp>
        <p:nvSpPr>
          <p:cNvPr id="208" name="TextBox 207"/>
          <p:cNvSpPr txBox="1"/>
          <p:nvPr/>
        </p:nvSpPr>
        <p:spPr>
          <a:xfrm>
            <a:off x="2155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09" name="TextBox 208"/>
          <p:cNvSpPr txBox="1"/>
          <p:nvPr/>
        </p:nvSpPr>
        <p:spPr>
          <a:xfrm>
            <a:off x="379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0" name="TextBox 209"/>
          <p:cNvSpPr txBox="1"/>
          <p:nvPr/>
        </p:nvSpPr>
        <p:spPr>
          <a:xfrm>
            <a:off x="488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1" name="TextBox 210"/>
          <p:cNvSpPr txBox="1"/>
          <p:nvPr/>
        </p:nvSpPr>
        <p:spPr>
          <a:xfrm>
            <a:off x="597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2" name="TextBox 211"/>
          <p:cNvSpPr txBox="1"/>
          <p:nvPr/>
        </p:nvSpPr>
        <p:spPr>
          <a:xfrm>
            <a:off x="706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3" name="TextBox 212"/>
          <p:cNvSpPr txBox="1"/>
          <p:nvPr/>
        </p:nvSpPr>
        <p:spPr>
          <a:xfrm>
            <a:off x="815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4" name="TextBox 213"/>
          <p:cNvSpPr txBox="1"/>
          <p:nvPr/>
        </p:nvSpPr>
        <p:spPr>
          <a:xfrm>
            <a:off x="9240675" y="1840000"/>
            <a:ext cx="250000" cy="280000"/>
          </a:xfrm>
          <a:prstGeom prst="rect">
            <a:avLst/>
          </a:prstGeom>
          <a:noFill/>
        </p:spPr>
        <p:txBody>
          <a:bodyPr wrap="square">
            <a:spAutoFit/>
          </a:bodyPr>
          <a:lstStyle/>
          <a:p>
            <a:pPr algn="ctr"/>
            <a:r>
              <a:rPr sz="1102">
                <a:solidFill>
                  <a:srgbClr val="888888"/>
                </a:solidFill>
                <a:latin typeface="Microsoft YaHei"/>
              </a:rPr>
              <a:t>→</a:t>
            </a:r>
          </a:p>
        </p:txBody>
      </p:sp>
      <p:sp>
        <p:nvSpPr>
          <p:cNvPr id="215" name="TextBox 214"/>
          <p:cNvSpPr txBox="1"/>
          <p:nvPr/>
        </p:nvSpPr>
        <p:spPr>
          <a:xfrm>
            <a:off x="161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16" name="TextBox 215"/>
          <p:cNvSpPr txBox="1"/>
          <p:nvPr/>
        </p:nvSpPr>
        <p:spPr>
          <a:xfrm>
            <a:off x="270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17" name="TextBox 216"/>
          <p:cNvSpPr txBox="1"/>
          <p:nvPr/>
        </p:nvSpPr>
        <p:spPr>
          <a:xfrm>
            <a:off x="379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18" name="TextBox 217"/>
          <p:cNvSpPr txBox="1"/>
          <p:nvPr/>
        </p:nvSpPr>
        <p:spPr>
          <a:xfrm>
            <a:off x="488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19" name="TextBox 218"/>
          <p:cNvSpPr txBox="1"/>
          <p:nvPr/>
        </p:nvSpPr>
        <p:spPr>
          <a:xfrm>
            <a:off x="597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20" name="TextBox 219"/>
          <p:cNvSpPr txBox="1"/>
          <p:nvPr/>
        </p:nvSpPr>
        <p:spPr>
          <a:xfrm>
            <a:off x="706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21" name="TextBox 220"/>
          <p:cNvSpPr txBox="1"/>
          <p:nvPr/>
        </p:nvSpPr>
        <p:spPr>
          <a:xfrm>
            <a:off x="815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22" name="TextBox 221"/>
          <p:cNvSpPr txBox="1"/>
          <p:nvPr/>
        </p:nvSpPr>
        <p:spPr>
          <a:xfrm>
            <a:off x="924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23" name="TextBox 222"/>
          <p:cNvSpPr txBox="1"/>
          <p:nvPr/>
        </p:nvSpPr>
        <p:spPr>
          <a:xfrm>
            <a:off x="10330675" y="2990000"/>
            <a:ext cx="250000" cy="280000"/>
          </a:xfrm>
          <a:prstGeom prst="rect">
            <a:avLst/>
          </a:prstGeom>
          <a:noFill/>
        </p:spPr>
        <p:txBody>
          <a:bodyPr wrap="square">
            <a:spAutoFit/>
          </a:bodyPr>
          <a:lstStyle/>
          <a:p>
            <a:pPr algn="ctr"/>
            <a:r>
              <a:rPr sz="1102">
                <a:solidFill>
                  <a:srgbClr val="333333"/>
                </a:solidFill>
                <a:latin typeface="Microsoft YaHei"/>
              </a:rPr>
              <a:t>→</a:t>
            </a:r>
          </a:p>
        </p:txBody>
      </p:sp>
      <p:sp>
        <p:nvSpPr>
          <p:cNvPr id="224" name="TextBox 223"/>
          <p:cNvSpPr txBox="1"/>
          <p:nvPr/>
        </p:nvSpPr>
        <p:spPr>
          <a:xfrm>
            <a:off x="1805675" y="3580000"/>
            <a:ext cx="950000" cy="200000"/>
          </a:xfrm>
          <a:prstGeom prst="rect">
            <a:avLst/>
          </a:prstGeom>
          <a:noFill/>
        </p:spPr>
        <p:txBody>
          <a:bodyPr wrap="none">
            <a:spAutoFit/>
          </a:bodyPr>
          <a:lstStyle/>
          <a:p>
            <a:pPr algn="ctr"/>
            <a:r>
              <a:rPr sz="787" b="1">
                <a:solidFill>
                  <a:srgbClr val="FF8C00"/>
                </a:solidFill>
                <a:latin typeface="Microsoft YaHei"/>
              </a:rPr>
              <a:t>▲ 新增</a:t>
            </a:r>
          </a:p>
        </p:txBody>
      </p:sp>
      <p:sp>
        <p:nvSpPr>
          <p:cNvPr id="225" name="TextBox 224"/>
          <p:cNvSpPr txBox="1"/>
          <p:nvPr/>
        </p:nvSpPr>
        <p:spPr>
          <a:xfrm>
            <a:off x="2895675" y="3580000"/>
            <a:ext cx="950000" cy="200000"/>
          </a:xfrm>
          <a:prstGeom prst="rect">
            <a:avLst/>
          </a:prstGeom>
          <a:noFill/>
        </p:spPr>
        <p:txBody>
          <a:bodyPr wrap="none">
            <a:spAutoFit/>
          </a:bodyPr>
          <a:lstStyle/>
          <a:p>
            <a:pPr algn="ctr"/>
            <a:r>
              <a:rPr sz="787" b="1">
                <a:solidFill>
                  <a:srgbClr val="FF8C00"/>
                </a:solidFill>
                <a:latin typeface="Microsoft YaHei"/>
              </a:rPr>
              <a:t>▲ 改动</a:t>
            </a:r>
          </a:p>
        </p:txBody>
      </p:sp>
      <p:sp>
        <p:nvSpPr>
          <p:cNvPr id="226" name="TextBox 225"/>
          <p:cNvSpPr txBox="1"/>
          <p:nvPr/>
        </p:nvSpPr>
        <p:spPr>
          <a:xfrm>
            <a:off x="9435675" y="3580000"/>
            <a:ext cx="950000" cy="200000"/>
          </a:xfrm>
          <a:prstGeom prst="rect">
            <a:avLst/>
          </a:prstGeom>
          <a:noFill/>
        </p:spPr>
        <p:txBody>
          <a:bodyPr wrap="none">
            <a:spAutoFit/>
          </a:bodyPr>
          <a:lstStyle/>
          <a:p>
            <a:pPr algn="ctr"/>
            <a:r>
              <a:rPr sz="787" b="1">
                <a:solidFill>
                  <a:srgbClr val="FF8C00"/>
                </a:solidFill>
                <a:latin typeface="Microsoft YaHei"/>
              </a:rPr>
              <a:t>▲ 新增</a:t>
            </a:r>
          </a:p>
        </p:txBody>
      </p:sp>
      <p:sp>
        <p:nvSpPr>
          <p:cNvPr id="227" name="TextBox 226"/>
          <p:cNvSpPr txBox="1"/>
          <p:nvPr/>
        </p:nvSpPr>
        <p:spPr>
          <a:xfrm>
            <a:off x="10525675" y="3580000"/>
            <a:ext cx="950000" cy="200000"/>
          </a:xfrm>
          <a:prstGeom prst="rect">
            <a:avLst/>
          </a:prstGeom>
          <a:noFill/>
        </p:spPr>
        <p:txBody>
          <a:bodyPr wrap="none">
            <a:spAutoFit/>
          </a:bodyPr>
          <a:lstStyle/>
          <a:p>
            <a:pPr algn="ctr"/>
            <a:r>
              <a:rPr sz="787" b="1">
                <a:solidFill>
                  <a:srgbClr val="FF8C00"/>
                </a:solidFill>
                <a:latin typeface="Microsoft YaHei"/>
              </a:rPr>
              <a:t>▲ 新增</a:t>
            </a:r>
          </a:p>
        </p:txBody>
      </p:sp>
      <p:sp>
        <p:nvSpPr>
          <p:cNvPr id="228" name="TextBox 227"/>
          <p:cNvSpPr txBox="1"/>
          <p:nvPr/>
        </p:nvSpPr>
        <p:spPr>
          <a:xfrm>
            <a:off x="11094415" y="6400800"/>
            <a:ext cx="914400" cy="365760"/>
          </a:xfrm>
          <a:prstGeom prst="rect">
            <a:avLst/>
          </a:prstGeom>
          <a:noFill/>
        </p:spPr>
        <p:txBody>
          <a:bodyPr wrap="square">
            <a:spAutoFit/>
          </a:bodyPr>
          <a:lstStyle/>
          <a:p>
            <a:pPr algn="r"/>
            <a:r>
              <a:rPr sz="1000">
                <a:solidFill>
                  <a:srgbClr val="333333"/>
                </a:solidFill>
                <a:latin typeface="Microsoft YaHei"/>
              </a:rPr>
              <a:t>2/41</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5"/>
          <p:cNvSpPr/>
          <p:nvPr/>
        </p:nvSpPr>
        <p:spPr>
          <a:xfrm>
            <a:off x="0" y="0"/>
            <a:ext cx="12191365" cy="54864"/>
          </a:xfrm>
          <a:prstGeom prst="rect">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5"/>
          <p:cNvSpPr txBox="1"/>
          <p:nvPr/>
        </p:nvSpPr>
        <p:spPr>
          <a:xfrm>
            <a:off x="457200" y="228600"/>
            <a:ext cx="100584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cap="none" strike="noStrike">
                <a:solidFill>
                  <a:srgbClr val="1A1A2E"/>
                </a:solidFill>
                <a:latin typeface="Microsoft YaHei"/>
                <a:ea typeface="Microsoft YaHei"/>
                <a:cs typeface="Microsoft YaHei"/>
                <a:sym typeface="Microsoft YaHei"/>
              </a:rPr>
              <a:t>OpenSpec-HW2：Use Cases 阶段详解</a:t>
            </a:r>
            <a:endParaRPr b="1" i="0" sz="3000" u="none" cap="none" strike="noStrike">
              <a:solidFill>
                <a:srgbClr val="1A1A2E"/>
              </a:solidFill>
              <a:latin typeface="Microsoft YaHei"/>
              <a:ea typeface="Microsoft YaHei"/>
              <a:cs typeface="Microsoft YaHei"/>
              <a:sym typeface="Microsoft YaHei"/>
            </a:endParaRPr>
          </a:p>
        </p:txBody>
      </p:sp>
      <p:sp>
        <p:nvSpPr>
          <p:cNvPr id="220" name="Google Shape;220;p5"/>
          <p:cNvSpPr/>
          <p:nvPr/>
        </p:nvSpPr>
        <p:spPr>
          <a:xfrm>
            <a:off x="457200" y="1005840"/>
            <a:ext cx="1463040" cy="411480"/>
          </a:xfrm>
          <a:prstGeom prst="chevron">
            <a:avLst>
              <a:gd fmla="val 50000" name="adj"/>
            </a:avLst>
          </a:prstGeom>
          <a:solidFill>
            <a:srgbClr val="AAAAA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5"/>
          <p:cNvSpPr txBox="1"/>
          <p:nvPr/>
        </p:nvSpPr>
        <p:spPr>
          <a:xfrm>
            <a:off x="640080"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Explore</a:t>
            </a:r>
            <a:endParaRPr b="0" i="0" sz="1000" u="none" cap="none" strike="noStrike">
              <a:solidFill>
                <a:srgbClr val="FFFFFF"/>
              </a:solidFill>
              <a:latin typeface="Microsoft YaHei"/>
              <a:ea typeface="Microsoft YaHei"/>
              <a:cs typeface="Microsoft YaHei"/>
              <a:sym typeface="Microsoft YaHei"/>
            </a:endParaRPr>
          </a:p>
        </p:txBody>
      </p:sp>
      <p:sp>
        <p:nvSpPr>
          <p:cNvPr id="222" name="Google Shape;222;p5"/>
          <p:cNvSpPr/>
          <p:nvPr/>
        </p:nvSpPr>
        <p:spPr>
          <a:xfrm>
            <a:off x="1947672" y="1005840"/>
            <a:ext cx="1463040" cy="411480"/>
          </a:xfrm>
          <a:prstGeom prst="chevron">
            <a:avLst>
              <a:gd fmla="val 50000" name="adj"/>
            </a:avLst>
          </a:prstGeom>
          <a:solidFill>
            <a:srgbClr val="BE6B2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5"/>
          <p:cNvSpPr txBox="1"/>
          <p:nvPr/>
        </p:nvSpPr>
        <p:spPr>
          <a:xfrm>
            <a:off x="2130552"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Proposal</a:t>
            </a:r>
            <a:endParaRPr b="0" i="0" sz="1000" u="none" cap="none" strike="noStrike">
              <a:solidFill>
                <a:srgbClr val="FFFFFF"/>
              </a:solidFill>
              <a:latin typeface="Microsoft YaHei"/>
              <a:ea typeface="Microsoft YaHei"/>
              <a:cs typeface="Microsoft YaHei"/>
              <a:sym typeface="Microsoft YaHei"/>
            </a:endParaRPr>
          </a:p>
        </p:txBody>
      </p:sp>
      <p:sp>
        <p:nvSpPr>
          <p:cNvPr id="224" name="Google Shape;224;p5"/>
          <p:cNvSpPr/>
          <p:nvPr/>
        </p:nvSpPr>
        <p:spPr>
          <a:xfrm>
            <a:off x="3438144" y="1005840"/>
            <a:ext cx="1463040" cy="411480"/>
          </a:xfrm>
          <a:prstGeom prst="chevron">
            <a:avLst>
              <a:gd fmla="val 50000" name="adj"/>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 name="Google Shape;225;p5"/>
          <p:cNvSpPr txBox="1"/>
          <p:nvPr/>
        </p:nvSpPr>
        <p:spPr>
          <a:xfrm>
            <a:off x="3621024"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FFFFFF"/>
                </a:solidFill>
                <a:latin typeface="Microsoft YaHei"/>
                <a:ea typeface="Microsoft YaHei"/>
                <a:cs typeface="Microsoft YaHei"/>
                <a:sym typeface="Microsoft YaHei"/>
              </a:rPr>
              <a:t>Use Cases</a:t>
            </a:r>
            <a:endParaRPr b="1" i="0" sz="1200" u="none" cap="none" strike="noStrike">
              <a:solidFill>
                <a:srgbClr val="FFFFFF"/>
              </a:solidFill>
              <a:latin typeface="Microsoft YaHei"/>
              <a:ea typeface="Microsoft YaHei"/>
              <a:cs typeface="Microsoft YaHei"/>
              <a:sym typeface="Microsoft YaHei"/>
            </a:endParaRPr>
          </a:p>
        </p:txBody>
      </p:sp>
      <p:sp>
        <p:nvSpPr>
          <p:cNvPr id="226" name="Google Shape;226;p5"/>
          <p:cNvSpPr/>
          <p:nvPr/>
        </p:nvSpPr>
        <p:spPr>
          <a:xfrm>
            <a:off x="4928616" y="1005840"/>
            <a:ext cx="1463040" cy="411480"/>
          </a:xfrm>
          <a:prstGeom prst="chevron">
            <a:avLst>
              <a:gd fmla="val 50000" name="adj"/>
            </a:avLst>
          </a:prstGeom>
          <a:solidFill>
            <a:srgbClr val="C0392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5"/>
          <p:cNvSpPr txBox="1"/>
          <p:nvPr/>
        </p:nvSpPr>
        <p:spPr>
          <a:xfrm>
            <a:off x="5111496"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Specs</a:t>
            </a:r>
            <a:endParaRPr b="0" i="0" sz="1000" u="none" cap="none" strike="noStrike">
              <a:solidFill>
                <a:srgbClr val="FFFFFF"/>
              </a:solidFill>
              <a:latin typeface="Microsoft YaHei"/>
              <a:ea typeface="Microsoft YaHei"/>
              <a:cs typeface="Microsoft YaHei"/>
              <a:sym typeface="Microsoft YaHei"/>
            </a:endParaRPr>
          </a:p>
        </p:txBody>
      </p:sp>
      <p:sp>
        <p:nvSpPr>
          <p:cNvPr id="228" name="Google Shape;228;p5"/>
          <p:cNvSpPr/>
          <p:nvPr/>
        </p:nvSpPr>
        <p:spPr>
          <a:xfrm>
            <a:off x="6419088" y="1005840"/>
            <a:ext cx="1463040" cy="411480"/>
          </a:xfrm>
          <a:prstGeom prst="chevron">
            <a:avLst>
              <a:gd fmla="val 50000" name="adj"/>
            </a:avLst>
          </a:prstGeom>
          <a:solidFill>
            <a:srgbClr val="00808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p5"/>
          <p:cNvSpPr txBox="1"/>
          <p:nvPr/>
        </p:nvSpPr>
        <p:spPr>
          <a:xfrm>
            <a:off x="6601968"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Design</a:t>
            </a:r>
            <a:endParaRPr b="0" i="0" sz="1000" u="none" cap="none" strike="noStrike">
              <a:solidFill>
                <a:srgbClr val="FFFFFF"/>
              </a:solidFill>
              <a:latin typeface="Microsoft YaHei"/>
              <a:ea typeface="Microsoft YaHei"/>
              <a:cs typeface="Microsoft YaHei"/>
              <a:sym typeface="Microsoft YaHei"/>
            </a:endParaRPr>
          </a:p>
        </p:txBody>
      </p:sp>
      <p:sp>
        <p:nvSpPr>
          <p:cNvPr id="230" name="Google Shape;230;p5"/>
          <p:cNvSpPr/>
          <p:nvPr/>
        </p:nvSpPr>
        <p:spPr>
          <a:xfrm>
            <a:off x="7909560" y="1005840"/>
            <a:ext cx="1463040" cy="411480"/>
          </a:xfrm>
          <a:prstGeom prst="chevron">
            <a:avLst>
              <a:gd fmla="val 50000" name="adj"/>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 name="Google Shape;231;p5"/>
          <p:cNvSpPr txBox="1"/>
          <p:nvPr/>
        </p:nvSpPr>
        <p:spPr>
          <a:xfrm>
            <a:off x="8092440"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Tasks</a:t>
            </a:r>
            <a:endParaRPr b="0" i="0" sz="1000" u="none" cap="none" strike="noStrike">
              <a:solidFill>
                <a:srgbClr val="FFFFFF"/>
              </a:solidFill>
              <a:latin typeface="Microsoft YaHei"/>
              <a:ea typeface="Microsoft YaHei"/>
              <a:cs typeface="Microsoft YaHei"/>
              <a:sym typeface="Microsoft YaHei"/>
            </a:endParaRPr>
          </a:p>
        </p:txBody>
      </p:sp>
      <p:sp>
        <p:nvSpPr>
          <p:cNvPr id="232" name="Google Shape;232;p5"/>
          <p:cNvSpPr/>
          <p:nvPr/>
        </p:nvSpPr>
        <p:spPr>
          <a:xfrm>
            <a:off x="9400032" y="1005840"/>
            <a:ext cx="1463040" cy="411480"/>
          </a:xfrm>
          <a:prstGeom prst="chevron">
            <a:avLst>
              <a:gd fmla="val 50000" name="adj"/>
            </a:avLst>
          </a:prstGeom>
          <a:solidFill>
            <a:srgbClr val="AAAAA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5"/>
          <p:cNvSpPr txBox="1"/>
          <p:nvPr/>
        </p:nvSpPr>
        <p:spPr>
          <a:xfrm>
            <a:off x="9582912" y="1005840"/>
            <a:ext cx="123444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FFFFFF"/>
                </a:solidFill>
                <a:latin typeface="Microsoft YaHei"/>
                <a:ea typeface="Microsoft YaHei"/>
                <a:cs typeface="Microsoft YaHei"/>
                <a:sym typeface="Microsoft YaHei"/>
              </a:rPr>
              <a:t>...</a:t>
            </a:r>
            <a:endParaRPr b="0" i="0" sz="1000" u="none" cap="none" strike="noStrike">
              <a:solidFill>
                <a:srgbClr val="FFFFFF"/>
              </a:solidFill>
              <a:latin typeface="Microsoft YaHei"/>
              <a:ea typeface="Microsoft YaHei"/>
              <a:cs typeface="Microsoft YaHei"/>
              <a:sym typeface="Microsoft YaHei"/>
            </a:endParaRPr>
          </a:p>
        </p:txBody>
      </p:sp>
      <p:sp>
        <p:nvSpPr>
          <p:cNvPr id="234" name="Google Shape;234;p5"/>
          <p:cNvSpPr txBox="1"/>
          <p:nvPr/>
        </p:nvSpPr>
        <p:spPr>
          <a:xfrm>
            <a:off x="3438144" y="1435608"/>
            <a:ext cx="1463040" cy="245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8C00"/>
                </a:solidFill>
                <a:latin typeface="Microsoft YaHei"/>
                <a:ea typeface="Microsoft YaHei"/>
                <a:cs typeface="Microsoft YaHei"/>
                <a:sym typeface="Microsoft YaHei"/>
              </a:rPr>
              <a:t>▲ 本工作新增</a:t>
            </a:r>
            <a:endParaRPr b="1" i="0" sz="1000" u="none" cap="none" strike="noStrike">
              <a:solidFill>
                <a:srgbClr val="FF8C00"/>
              </a:solidFill>
              <a:latin typeface="Microsoft YaHei"/>
              <a:ea typeface="Microsoft YaHei"/>
              <a:cs typeface="Microsoft YaHei"/>
              <a:sym typeface="Microsoft YaHei"/>
            </a:endParaRPr>
          </a:p>
        </p:txBody>
      </p:sp>
      <p:sp>
        <p:nvSpPr>
          <p:cNvPr id="235" name="Google Shape;235;p5"/>
          <p:cNvSpPr/>
          <p:nvPr/>
        </p:nvSpPr>
        <p:spPr>
          <a:xfrm>
            <a:off x="457200" y="1828800"/>
            <a:ext cx="10241280" cy="1270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 name="Google Shape;236;p5"/>
          <p:cNvSpPr txBox="1"/>
          <p:nvPr/>
        </p:nvSpPr>
        <p:spPr>
          <a:xfrm>
            <a:off x="457200" y="2011680"/>
            <a:ext cx="5943600" cy="47542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FF8C00"/>
                </a:solidFill>
                <a:latin typeface="Microsoft YaHei"/>
                <a:ea typeface="Microsoft YaHei"/>
                <a:cs typeface="Microsoft YaHei"/>
                <a:sym typeface="Microsoft YaHei"/>
              </a:rPr>
              <a:t>这一步做什么</a:t>
            </a:r>
            <a:endParaRPr b="1" i="0" sz="1800" u="none" cap="none" strike="noStrike">
              <a:solidFill>
                <a:srgbClr val="FF8C00"/>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400" u="none" cap="none" strike="noStrike">
                <a:solidFill>
                  <a:srgbClr val="555555"/>
                </a:solidFill>
                <a:latin typeface="Microsoft YaHei"/>
                <a:ea typeface="Microsoft YaHei"/>
                <a:cs typeface="Microsoft YaHei"/>
                <a:sym typeface="Microsoft YaHei"/>
              </a:rPr>
              <a:t>在 Proposal（提案）和 Specs（规格）之间，插入一个结构化的用户场景建模环节。先系统地梳理Usecase用例：谁在用这个系统、他想达成什么目标、正常流程是什么、出错了怎么办</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1600"/>
              </a:spcBef>
              <a:spcAft>
                <a:spcPts val="0"/>
              </a:spcAft>
              <a:buNone/>
            </a:pPr>
            <a:r>
              <a:rPr b="1" i="0" lang="en-US" sz="1800" u="none" cap="none" strike="noStrike">
                <a:solidFill>
                  <a:srgbClr val="FF8C00"/>
                </a:solidFill>
                <a:latin typeface="Microsoft YaHei"/>
                <a:ea typeface="Microsoft YaHei"/>
                <a:cs typeface="Microsoft YaHei"/>
                <a:sym typeface="Microsoft YaHei"/>
              </a:rPr>
              <a:t>基于什么方法论</a:t>
            </a:r>
            <a:endParaRPr b="1" i="0" sz="1800" u="none" cap="none" strike="noStrike">
              <a:solidFill>
                <a:srgbClr val="FF8C00"/>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400" u="none" cap="none" strike="noStrike">
                <a:solidFill>
                  <a:srgbClr val="555555"/>
                </a:solidFill>
                <a:latin typeface="Microsoft YaHei"/>
                <a:ea typeface="Microsoft YaHei"/>
                <a:cs typeface="Microsoft YaHei"/>
                <a:sym typeface="Microsoft YaHei"/>
              </a:rPr>
              <a:t>采用 Alistair Cockburn 的《Writing Effective Use Cases》方法论，核心是"渐进式揭示"流程：</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600"/>
              </a:spcBef>
              <a:spcAft>
                <a:spcPts val="0"/>
              </a:spcAft>
              <a:buNone/>
            </a:pPr>
            <a:r>
              <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600"/>
              </a:spcBef>
              <a:spcAft>
                <a:spcPts val="0"/>
              </a:spcAft>
              <a:buNone/>
            </a:pPr>
            <a:r>
              <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600"/>
              </a:spcBef>
              <a:spcAft>
                <a:spcPts val="0"/>
              </a:spcAft>
              <a:buNone/>
            </a:pPr>
            <a:r>
              <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600"/>
              </a:spcBef>
              <a:spcAft>
                <a:spcPts val="0"/>
              </a:spcAft>
              <a:buNone/>
            </a:pPr>
            <a:r>
              <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600"/>
              </a:spcBef>
              <a:spcAft>
                <a:spcPts val="0"/>
              </a:spcAft>
              <a:buNone/>
            </a:pPr>
            <a:r>
              <a:rPr b="1" i="0" lang="en-US" sz="2000" u="none" cap="none" strike="noStrike">
                <a:solidFill>
                  <a:srgbClr val="FF8C00"/>
                </a:solidFill>
                <a:latin typeface="Microsoft YaHei"/>
                <a:ea typeface="Microsoft YaHei"/>
                <a:cs typeface="Microsoft YaHei"/>
                <a:sym typeface="Microsoft YaHei"/>
              </a:rPr>
              <a:t>为什么适合我们：</a:t>
            </a:r>
            <a:endParaRPr b="1" i="0" sz="2000" u="none" cap="none" strike="noStrike">
              <a:solidFill>
                <a:srgbClr val="FF8C00"/>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400" u="none" cap="none" strike="noStrike">
                <a:solidFill>
                  <a:srgbClr val="555555"/>
                </a:solidFill>
                <a:latin typeface="Microsoft YaHei"/>
                <a:ea typeface="Microsoft YaHei"/>
                <a:cs typeface="Microsoft YaHei"/>
                <a:sym typeface="Microsoft YaHei"/>
              </a:rPr>
              <a:t>我们观察到生产线（光，GTS等）的规格说明书中大量的IR SR需求规格是从用例推导出来的，所以在生成Spec规格之前商定Usecase用例这种做法也符合我们的实际情况</a:t>
            </a:r>
            <a:endParaRPr b="1" i="0" sz="1800" u="none" cap="none" strike="noStrike">
              <a:solidFill>
                <a:srgbClr val="FF8C00"/>
              </a:solidFill>
              <a:latin typeface="Microsoft YaHei"/>
              <a:ea typeface="Microsoft YaHei"/>
              <a:cs typeface="Microsoft YaHei"/>
              <a:sym typeface="Microsoft YaHei"/>
            </a:endParaRPr>
          </a:p>
          <a:p>
            <a:pPr indent="0" lvl="0" marL="0" marR="0" rtl="0" algn="l">
              <a:spcBef>
                <a:spcPts val="800"/>
              </a:spcBef>
              <a:spcAft>
                <a:spcPts val="0"/>
              </a:spcAft>
              <a:buNone/>
            </a:pPr>
            <a:r>
              <a:t/>
            </a:r>
            <a:endParaRPr b="0" i="0" sz="1400" u="none" cap="none" strike="noStrike">
              <a:solidFill>
                <a:srgbClr val="555555"/>
              </a:solidFill>
              <a:latin typeface="Microsoft YaHei"/>
              <a:ea typeface="Microsoft YaHei"/>
              <a:cs typeface="Microsoft YaHei"/>
              <a:sym typeface="Microsoft YaHei"/>
            </a:endParaRPr>
          </a:p>
        </p:txBody>
      </p:sp>
      <p:sp>
        <p:nvSpPr>
          <p:cNvPr id="237" name="Google Shape;237;p5"/>
          <p:cNvSpPr/>
          <p:nvPr/>
        </p:nvSpPr>
        <p:spPr>
          <a:xfrm>
            <a:off x="539115" y="4160520"/>
            <a:ext cx="1325880" cy="777240"/>
          </a:xfrm>
          <a:prstGeom prst="roundRect">
            <a:avLst>
              <a:gd fmla="val 16667" name="adj"/>
            </a:avLst>
          </a:prstGeom>
          <a:solidFill>
            <a:srgbClr val="FFF3E0"/>
          </a:solidFill>
          <a:ln cap="flat" cmpd="sng" w="19050">
            <a:solidFill>
              <a:srgbClr val="FF8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5"/>
          <p:cNvSpPr txBox="1"/>
          <p:nvPr/>
        </p:nvSpPr>
        <p:spPr>
          <a:xfrm>
            <a:off x="539115" y="4160520"/>
            <a:ext cx="1325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u="none" cap="none" strike="noStrike">
                <a:solidFill>
                  <a:srgbClr val="FF8C00"/>
                </a:solidFill>
                <a:latin typeface="Microsoft YaHei"/>
                <a:ea typeface="Microsoft YaHei"/>
                <a:cs typeface="Microsoft YaHei"/>
                <a:sym typeface="Microsoft YaHei"/>
              </a:rPr>
              <a:t>Step 1</a:t>
            </a:r>
            <a:endParaRPr b="1" i="0" sz="1100" u="none" cap="none" strike="noStrike">
              <a:solidFill>
                <a:srgbClr val="FF8C00"/>
              </a:solidFill>
              <a:latin typeface="Microsoft YaHei"/>
              <a:ea typeface="Microsoft YaHei"/>
              <a:cs typeface="Microsoft YaHei"/>
              <a:sym typeface="Microsoft YaHei"/>
            </a:endParaRPr>
          </a:p>
        </p:txBody>
      </p:sp>
      <p:sp>
        <p:nvSpPr>
          <p:cNvPr id="239" name="Google Shape;239;p5"/>
          <p:cNvSpPr txBox="1"/>
          <p:nvPr/>
        </p:nvSpPr>
        <p:spPr>
          <a:xfrm>
            <a:off x="584835" y="4434840"/>
            <a:ext cx="1234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555555"/>
                </a:solidFill>
                <a:latin typeface="Microsoft YaHei"/>
                <a:ea typeface="Microsoft YaHei"/>
                <a:cs typeface="Microsoft YaHei"/>
                <a:sym typeface="Microsoft YaHei"/>
              </a:rPr>
              <a:t>识别参与者</a:t>
            </a:r>
            <a:br>
              <a:rPr b="0" i="0" lang="en-US" sz="1100" u="none" cap="none" strike="noStrike">
                <a:solidFill>
                  <a:srgbClr val="555555"/>
                </a:solidFill>
                <a:latin typeface="Microsoft YaHei"/>
                <a:ea typeface="Microsoft YaHei"/>
                <a:cs typeface="Microsoft YaHei"/>
                <a:sym typeface="Microsoft YaHei"/>
              </a:rPr>
            </a:br>
            <a:r>
              <a:rPr b="0" i="0" lang="en-US" sz="1100" u="none" cap="none" strike="noStrike">
                <a:solidFill>
                  <a:srgbClr val="555555"/>
                </a:solidFill>
                <a:latin typeface="Microsoft YaHei"/>
                <a:ea typeface="Microsoft YaHei"/>
                <a:cs typeface="Microsoft YaHei"/>
                <a:sym typeface="Microsoft YaHei"/>
              </a:rPr>
              <a:t>与用户目标</a:t>
            </a:r>
            <a:endParaRPr b="0" i="0" sz="1100" u="none" cap="none" strike="noStrike">
              <a:solidFill>
                <a:srgbClr val="555555"/>
              </a:solidFill>
              <a:latin typeface="Microsoft YaHei"/>
              <a:ea typeface="Microsoft YaHei"/>
              <a:cs typeface="Microsoft YaHei"/>
              <a:sym typeface="Microsoft YaHei"/>
            </a:endParaRPr>
          </a:p>
        </p:txBody>
      </p:sp>
      <p:sp>
        <p:nvSpPr>
          <p:cNvPr id="240" name="Google Shape;240;p5"/>
          <p:cNvSpPr txBox="1"/>
          <p:nvPr/>
        </p:nvSpPr>
        <p:spPr>
          <a:xfrm>
            <a:off x="1864995" y="4160520"/>
            <a:ext cx="109728" cy="7772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rgbClr val="FF8C00"/>
                </a:solidFill>
                <a:latin typeface="Microsoft YaHei"/>
                <a:ea typeface="Microsoft YaHei"/>
                <a:cs typeface="Microsoft YaHei"/>
                <a:sym typeface="Microsoft YaHei"/>
              </a:rPr>
              <a:t>→</a:t>
            </a:r>
            <a:endParaRPr b="0" i="0" sz="1600" u="none" cap="none" strike="noStrike">
              <a:solidFill>
                <a:srgbClr val="FF8C00"/>
              </a:solidFill>
              <a:latin typeface="Microsoft YaHei"/>
              <a:ea typeface="Microsoft YaHei"/>
              <a:cs typeface="Microsoft YaHei"/>
              <a:sym typeface="Microsoft YaHei"/>
            </a:endParaRPr>
          </a:p>
        </p:txBody>
      </p:sp>
      <p:sp>
        <p:nvSpPr>
          <p:cNvPr id="241" name="Google Shape;241;p5"/>
          <p:cNvSpPr/>
          <p:nvPr/>
        </p:nvSpPr>
        <p:spPr>
          <a:xfrm>
            <a:off x="1974723" y="4160520"/>
            <a:ext cx="1325880" cy="777240"/>
          </a:xfrm>
          <a:prstGeom prst="roundRect">
            <a:avLst>
              <a:gd fmla="val 16667" name="adj"/>
            </a:avLst>
          </a:prstGeom>
          <a:solidFill>
            <a:srgbClr val="FFF3E0"/>
          </a:solidFill>
          <a:ln cap="flat" cmpd="sng" w="19050">
            <a:solidFill>
              <a:srgbClr val="FF8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 name="Google Shape;242;p5"/>
          <p:cNvSpPr txBox="1"/>
          <p:nvPr/>
        </p:nvSpPr>
        <p:spPr>
          <a:xfrm>
            <a:off x="1974723" y="4160520"/>
            <a:ext cx="1325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u="none" cap="none" strike="noStrike">
                <a:solidFill>
                  <a:srgbClr val="FF8C00"/>
                </a:solidFill>
                <a:latin typeface="Microsoft YaHei"/>
                <a:ea typeface="Microsoft YaHei"/>
                <a:cs typeface="Microsoft YaHei"/>
                <a:sym typeface="Microsoft YaHei"/>
              </a:rPr>
              <a:t>Step 2</a:t>
            </a:r>
            <a:endParaRPr b="1" i="0" sz="1100" u="none" cap="none" strike="noStrike">
              <a:solidFill>
                <a:srgbClr val="FF8C00"/>
              </a:solidFill>
              <a:latin typeface="Microsoft YaHei"/>
              <a:ea typeface="Microsoft YaHei"/>
              <a:cs typeface="Microsoft YaHei"/>
              <a:sym typeface="Microsoft YaHei"/>
            </a:endParaRPr>
          </a:p>
        </p:txBody>
      </p:sp>
      <p:sp>
        <p:nvSpPr>
          <p:cNvPr id="243" name="Google Shape;243;p5"/>
          <p:cNvSpPr txBox="1"/>
          <p:nvPr/>
        </p:nvSpPr>
        <p:spPr>
          <a:xfrm>
            <a:off x="2020443" y="4434840"/>
            <a:ext cx="1234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555555"/>
                </a:solidFill>
                <a:latin typeface="Microsoft YaHei"/>
                <a:ea typeface="Microsoft YaHei"/>
                <a:cs typeface="Microsoft YaHei"/>
                <a:sym typeface="Microsoft YaHei"/>
              </a:rPr>
              <a:t>编写主成功</a:t>
            </a:r>
            <a:br>
              <a:rPr b="0" i="0" lang="en-US" sz="1100" u="none" cap="none" strike="noStrike">
                <a:solidFill>
                  <a:srgbClr val="555555"/>
                </a:solidFill>
                <a:latin typeface="Microsoft YaHei"/>
                <a:ea typeface="Microsoft YaHei"/>
                <a:cs typeface="Microsoft YaHei"/>
                <a:sym typeface="Microsoft YaHei"/>
              </a:rPr>
            </a:br>
            <a:r>
              <a:rPr b="0" i="0" lang="en-US" sz="1100" u="none" cap="none" strike="noStrike">
                <a:solidFill>
                  <a:srgbClr val="555555"/>
                </a:solidFill>
                <a:latin typeface="Microsoft YaHei"/>
                <a:ea typeface="Microsoft YaHei"/>
                <a:cs typeface="Microsoft YaHei"/>
                <a:sym typeface="Microsoft YaHei"/>
              </a:rPr>
              <a:t>场景</a:t>
            </a:r>
            <a:endParaRPr b="0" i="0" sz="1100" u="none" cap="none" strike="noStrike">
              <a:solidFill>
                <a:srgbClr val="555555"/>
              </a:solidFill>
              <a:latin typeface="Microsoft YaHei"/>
              <a:ea typeface="Microsoft YaHei"/>
              <a:cs typeface="Microsoft YaHei"/>
              <a:sym typeface="Microsoft YaHei"/>
            </a:endParaRPr>
          </a:p>
        </p:txBody>
      </p:sp>
      <p:sp>
        <p:nvSpPr>
          <p:cNvPr id="244" name="Google Shape;244;p5"/>
          <p:cNvSpPr txBox="1"/>
          <p:nvPr/>
        </p:nvSpPr>
        <p:spPr>
          <a:xfrm>
            <a:off x="3300603" y="4160520"/>
            <a:ext cx="109728" cy="7772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rgbClr val="FF8C00"/>
                </a:solidFill>
                <a:latin typeface="Microsoft YaHei"/>
                <a:ea typeface="Microsoft YaHei"/>
                <a:cs typeface="Microsoft YaHei"/>
                <a:sym typeface="Microsoft YaHei"/>
              </a:rPr>
              <a:t>→</a:t>
            </a:r>
            <a:endParaRPr b="0" i="0" sz="1600" u="none" cap="none" strike="noStrike">
              <a:solidFill>
                <a:srgbClr val="FF8C00"/>
              </a:solidFill>
              <a:latin typeface="Microsoft YaHei"/>
              <a:ea typeface="Microsoft YaHei"/>
              <a:cs typeface="Microsoft YaHei"/>
              <a:sym typeface="Microsoft YaHei"/>
            </a:endParaRPr>
          </a:p>
        </p:txBody>
      </p:sp>
      <p:sp>
        <p:nvSpPr>
          <p:cNvPr id="245" name="Google Shape;245;p5"/>
          <p:cNvSpPr/>
          <p:nvPr/>
        </p:nvSpPr>
        <p:spPr>
          <a:xfrm>
            <a:off x="3410331" y="4160520"/>
            <a:ext cx="1325880" cy="777240"/>
          </a:xfrm>
          <a:prstGeom prst="roundRect">
            <a:avLst>
              <a:gd fmla="val 16667" name="adj"/>
            </a:avLst>
          </a:prstGeom>
          <a:solidFill>
            <a:srgbClr val="FFF3E0"/>
          </a:solidFill>
          <a:ln cap="flat" cmpd="sng" w="19050">
            <a:solidFill>
              <a:srgbClr val="FF8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6" name="Google Shape;246;p5"/>
          <p:cNvSpPr txBox="1"/>
          <p:nvPr/>
        </p:nvSpPr>
        <p:spPr>
          <a:xfrm>
            <a:off x="3410331" y="4160520"/>
            <a:ext cx="1325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u="none" cap="none" strike="noStrike">
                <a:solidFill>
                  <a:srgbClr val="FF8C00"/>
                </a:solidFill>
                <a:latin typeface="Microsoft YaHei"/>
                <a:ea typeface="Microsoft YaHei"/>
                <a:cs typeface="Microsoft YaHei"/>
                <a:sym typeface="Microsoft YaHei"/>
              </a:rPr>
              <a:t>Step 3</a:t>
            </a:r>
            <a:endParaRPr b="1" i="0" sz="1100" u="none" cap="none" strike="noStrike">
              <a:solidFill>
                <a:srgbClr val="FF8C00"/>
              </a:solidFill>
              <a:latin typeface="Microsoft YaHei"/>
              <a:ea typeface="Microsoft YaHei"/>
              <a:cs typeface="Microsoft YaHei"/>
              <a:sym typeface="Microsoft YaHei"/>
            </a:endParaRPr>
          </a:p>
        </p:txBody>
      </p:sp>
      <p:sp>
        <p:nvSpPr>
          <p:cNvPr id="247" name="Google Shape;247;p5"/>
          <p:cNvSpPr txBox="1"/>
          <p:nvPr/>
        </p:nvSpPr>
        <p:spPr>
          <a:xfrm>
            <a:off x="3456051" y="4434840"/>
            <a:ext cx="1234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555555"/>
                </a:solidFill>
                <a:latin typeface="Microsoft YaHei"/>
                <a:ea typeface="Microsoft YaHei"/>
                <a:cs typeface="Microsoft YaHei"/>
                <a:sym typeface="Microsoft YaHei"/>
              </a:rPr>
              <a:t>头脑风暴扩展</a:t>
            </a:r>
            <a:br>
              <a:rPr b="0" i="0" lang="en-US" sz="1100" u="none" cap="none" strike="noStrike">
                <a:solidFill>
                  <a:srgbClr val="555555"/>
                </a:solidFill>
                <a:latin typeface="Microsoft YaHei"/>
                <a:ea typeface="Microsoft YaHei"/>
                <a:cs typeface="Microsoft YaHei"/>
                <a:sym typeface="Microsoft YaHei"/>
              </a:rPr>
            </a:br>
            <a:r>
              <a:rPr b="0" i="0" lang="en-US" sz="1100" u="none" cap="none" strike="noStrike">
                <a:solidFill>
                  <a:srgbClr val="555555"/>
                </a:solidFill>
                <a:latin typeface="Microsoft YaHei"/>
                <a:ea typeface="Microsoft YaHei"/>
                <a:cs typeface="Microsoft YaHei"/>
                <a:sym typeface="Microsoft YaHei"/>
              </a:rPr>
              <a:t>异常与边界</a:t>
            </a:r>
            <a:endParaRPr b="0" i="0" sz="1100" u="none" cap="none" strike="noStrike">
              <a:solidFill>
                <a:srgbClr val="555555"/>
              </a:solidFill>
              <a:latin typeface="Microsoft YaHei"/>
              <a:ea typeface="Microsoft YaHei"/>
              <a:cs typeface="Microsoft YaHei"/>
              <a:sym typeface="Microsoft YaHei"/>
            </a:endParaRPr>
          </a:p>
        </p:txBody>
      </p:sp>
      <p:sp>
        <p:nvSpPr>
          <p:cNvPr id="248" name="Google Shape;248;p5"/>
          <p:cNvSpPr txBox="1"/>
          <p:nvPr/>
        </p:nvSpPr>
        <p:spPr>
          <a:xfrm>
            <a:off x="4736211" y="4160520"/>
            <a:ext cx="109728" cy="7772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rgbClr val="FF8C00"/>
                </a:solidFill>
                <a:latin typeface="Microsoft YaHei"/>
                <a:ea typeface="Microsoft YaHei"/>
                <a:cs typeface="Microsoft YaHei"/>
                <a:sym typeface="Microsoft YaHei"/>
              </a:rPr>
              <a:t>→</a:t>
            </a:r>
            <a:endParaRPr b="0" i="0" sz="1600" u="none" cap="none" strike="noStrike">
              <a:solidFill>
                <a:srgbClr val="FF8C00"/>
              </a:solidFill>
              <a:latin typeface="Microsoft YaHei"/>
              <a:ea typeface="Microsoft YaHei"/>
              <a:cs typeface="Microsoft YaHei"/>
              <a:sym typeface="Microsoft YaHei"/>
            </a:endParaRPr>
          </a:p>
        </p:txBody>
      </p:sp>
      <p:sp>
        <p:nvSpPr>
          <p:cNvPr id="249" name="Google Shape;249;p5"/>
          <p:cNvSpPr/>
          <p:nvPr/>
        </p:nvSpPr>
        <p:spPr>
          <a:xfrm>
            <a:off x="4845939" y="4160520"/>
            <a:ext cx="1325880" cy="777240"/>
          </a:xfrm>
          <a:prstGeom prst="roundRect">
            <a:avLst>
              <a:gd fmla="val 16667" name="adj"/>
            </a:avLst>
          </a:prstGeom>
          <a:solidFill>
            <a:srgbClr val="FFF3E0"/>
          </a:solidFill>
          <a:ln cap="flat" cmpd="sng" w="19050">
            <a:solidFill>
              <a:srgbClr val="FF8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0" name="Google Shape;250;p5"/>
          <p:cNvSpPr txBox="1"/>
          <p:nvPr/>
        </p:nvSpPr>
        <p:spPr>
          <a:xfrm>
            <a:off x="4845939" y="4160520"/>
            <a:ext cx="1325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u="none" cap="none" strike="noStrike">
                <a:solidFill>
                  <a:srgbClr val="FF8C00"/>
                </a:solidFill>
                <a:latin typeface="Microsoft YaHei"/>
                <a:ea typeface="Microsoft YaHei"/>
                <a:cs typeface="Microsoft YaHei"/>
                <a:sym typeface="Microsoft YaHei"/>
              </a:rPr>
              <a:t>Step 4</a:t>
            </a:r>
            <a:endParaRPr b="1" i="0" sz="1100" u="none" cap="none" strike="noStrike">
              <a:solidFill>
                <a:srgbClr val="FF8C00"/>
              </a:solidFill>
              <a:latin typeface="Microsoft YaHei"/>
              <a:ea typeface="Microsoft YaHei"/>
              <a:cs typeface="Microsoft YaHei"/>
              <a:sym typeface="Microsoft YaHei"/>
            </a:endParaRPr>
          </a:p>
        </p:txBody>
      </p:sp>
      <p:sp>
        <p:nvSpPr>
          <p:cNvPr id="251" name="Google Shape;251;p5"/>
          <p:cNvSpPr txBox="1"/>
          <p:nvPr/>
        </p:nvSpPr>
        <p:spPr>
          <a:xfrm>
            <a:off x="4891659" y="4434840"/>
            <a:ext cx="1234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555555"/>
                </a:solidFill>
                <a:latin typeface="Microsoft YaHei"/>
                <a:ea typeface="Microsoft YaHei"/>
                <a:cs typeface="Microsoft YaHei"/>
                <a:sym typeface="Microsoft YaHei"/>
              </a:rPr>
              <a:t>添加契约要素</a:t>
            </a:r>
            <a:br>
              <a:rPr b="0" i="0" lang="en-US" sz="1100" u="none" cap="none" strike="noStrike">
                <a:solidFill>
                  <a:srgbClr val="555555"/>
                </a:solidFill>
                <a:latin typeface="Microsoft YaHei"/>
                <a:ea typeface="Microsoft YaHei"/>
                <a:cs typeface="Microsoft YaHei"/>
                <a:sym typeface="Microsoft YaHei"/>
              </a:rPr>
            </a:br>
            <a:r>
              <a:rPr b="0" i="0" lang="en-US" sz="1100" u="none" cap="none" strike="noStrike">
                <a:solidFill>
                  <a:srgbClr val="555555"/>
                </a:solidFill>
                <a:latin typeface="Microsoft YaHei"/>
                <a:ea typeface="Microsoft YaHei"/>
                <a:cs typeface="Microsoft YaHei"/>
                <a:sym typeface="Microsoft YaHei"/>
              </a:rPr>
              <a:t>前置/后置条件</a:t>
            </a:r>
            <a:endParaRPr b="0" i="0" sz="1100" u="none" cap="none" strike="noStrike">
              <a:solidFill>
                <a:srgbClr val="555555"/>
              </a:solidFill>
              <a:latin typeface="Microsoft YaHei"/>
              <a:ea typeface="Microsoft YaHei"/>
              <a:cs typeface="Microsoft YaHei"/>
              <a:sym typeface="Microsoft YaHei"/>
            </a:endParaRPr>
          </a:p>
        </p:txBody>
      </p:sp>
      <p:sp>
        <p:nvSpPr>
          <p:cNvPr id="252" name="Google Shape;252;p5"/>
          <p:cNvSpPr/>
          <p:nvPr/>
        </p:nvSpPr>
        <p:spPr>
          <a:xfrm>
            <a:off x="6675120" y="2011680"/>
            <a:ext cx="4114800" cy="1828800"/>
          </a:xfrm>
          <a:prstGeom prst="roundRect">
            <a:avLst>
              <a:gd fmla="val 16667" name="adj"/>
            </a:avLst>
          </a:prstGeom>
          <a:solidFill>
            <a:srgbClr val="FDF0F0"/>
          </a:solidFill>
          <a:ln cap="flat" cmpd="sng" w="19050">
            <a:solidFill>
              <a:srgbClr val="C0392B"/>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5"/>
          <p:cNvSpPr txBox="1"/>
          <p:nvPr/>
        </p:nvSpPr>
        <p:spPr>
          <a:xfrm>
            <a:off x="6858000" y="2148840"/>
            <a:ext cx="3749040" cy="15684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C0392B"/>
                </a:solidFill>
                <a:latin typeface="Microsoft YaHei"/>
                <a:ea typeface="Microsoft YaHei"/>
                <a:cs typeface="Microsoft YaHei"/>
                <a:sym typeface="Microsoft YaHei"/>
              </a:rPr>
              <a:t>没有这一步会怎样？</a:t>
            </a:r>
            <a:endParaRPr b="1" i="0" sz="1600" u="none" cap="none" strike="noStrike">
              <a:solidFill>
                <a:srgbClr val="C0392B"/>
              </a:solidFill>
              <a:latin typeface="Microsoft YaHei"/>
              <a:ea typeface="Microsoft YaHei"/>
              <a:cs typeface="Microsoft YaHei"/>
              <a:sym typeface="Microsoft YaHei"/>
            </a:endParaRPr>
          </a:p>
          <a:p>
            <a:pPr indent="0" lvl="0" marL="0" marR="0" rtl="0" algn="l">
              <a:spcBef>
                <a:spcPts val="600"/>
              </a:spcBef>
              <a:spcAft>
                <a:spcPts val="0"/>
              </a:spcAft>
              <a:buNone/>
            </a:pPr>
            <a:r>
              <a:rPr b="1" i="0" lang="en-US" sz="1300" u="none" cap="none" strike="noStrike">
                <a:solidFill>
                  <a:srgbClr val="C0392B"/>
                </a:solidFill>
                <a:latin typeface="Microsoft YaHei"/>
                <a:ea typeface="Microsoft YaHei"/>
                <a:cs typeface="Microsoft YaHei"/>
                <a:sym typeface="Microsoft YaHei"/>
              </a:rPr>
              <a:t>• </a:t>
            </a:r>
            <a:r>
              <a:rPr b="0" i="0" lang="en-US" sz="1300" u="none" cap="none" strike="noStrike">
                <a:solidFill>
                  <a:srgbClr val="663333"/>
                </a:solidFill>
                <a:latin typeface="Microsoft YaHei"/>
                <a:ea typeface="Microsoft YaHei"/>
                <a:cs typeface="Microsoft YaHei"/>
                <a:sym typeface="Microsoft YaHei"/>
              </a:rPr>
              <a:t>AI 只实现 Happy Path，出现异常场景遗漏</a:t>
            </a:r>
            <a:endParaRPr b="0" i="0" sz="1300" u="none" cap="none" strike="noStrike">
              <a:solidFill>
                <a:srgbClr val="66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i="0" sz="1300" u="none" cap="none" strike="noStrike">
              <a:solidFill>
                <a:srgbClr val="663333"/>
              </a:solidFill>
              <a:latin typeface="Microsoft YaHei"/>
              <a:ea typeface="Microsoft YaHei"/>
              <a:cs typeface="Microsoft YaHei"/>
              <a:sym typeface="Microsoft YaHei"/>
            </a:endParaRPr>
          </a:p>
          <a:p>
            <a:pPr indent="0" lvl="0" marL="0" marR="0" rtl="0" algn="l">
              <a:spcBef>
                <a:spcPts val="400"/>
              </a:spcBef>
              <a:spcAft>
                <a:spcPts val="0"/>
              </a:spcAft>
              <a:buNone/>
            </a:pPr>
            <a:r>
              <a:rPr b="1" i="0" lang="en-US" sz="1300" u="none" cap="none" strike="noStrike">
                <a:solidFill>
                  <a:srgbClr val="C0392B"/>
                </a:solidFill>
                <a:latin typeface="Microsoft YaHei"/>
                <a:ea typeface="Microsoft YaHei"/>
                <a:cs typeface="Microsoft YaHei"/>
                <a:sym typeface="Microsoft YaHei"/>
              </a:rPr>
              <a:t>• </a:t>
            </a:r>
            <a:r>
              <a:rPr b="0" i="0" lang="en-US" sz="1300" u="none" cap="none" strike="noStrike">
                <a:solidFill>
                  <a:srgbClr val="663333"/>
                </a:solidFill>
                <a:latin typeface="Microsoft YaHei"/>
                <a:ea typeface="Microsoft YaHei"/>
                <a:cs typeface="Microsoft YaHei"/>
                <a:sym typeface="Microsoft YaHei"/>
              </a:rPr>
              <a:t>Specs 缺乏用户真实用例支撑，需求验收无据可依</a:t>
            </a:r>
            <a:endParaRPr b="0" i="0" sz="1300" u="none" cap="none" strike="noStrike">
              <a:solidFill>
                <a:srgbClr val="66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i="0" sz="1300" u="none" cap="none" strike="noStrike">
              <a:solidFill>
                <a:srgbClr val="663333"/>
              </a:solidFill>
              <a:latin typeface="Microsoft YaHei"/>
              <a:ea typeface="Microsoft YaHei"/>
              <a:cs typeface="Microsoft YaHei"/>
              <a:sym typeface="Microsoft YaHei"/>
            </a:endParaRPr>
          </a:p>
        </p:txBody>
      </p:sp>
      <p:sp>
        <p:nvSpPr>
          <p:cNvPr id="254" name="Google Shape;254;p5"/>
          <p:cNvSpPr/>
          <p:nvPr/>
        </p:nvSpPr>
        <p:spPr>
          <a:xfrm>
            <a:off x="6675120" y="4023360"/>
            <a:ext cx="4114800" cy="2331720"/>
          </a:xfrm>
          <a:prstGeom prst="roundRect">
            <a:avLst>
              <a:gd fmla="val 16667" name="adj"/>
            </a:avLst>
          </a:prstGeom>
          <a:solidFill>
            <a:srgbClr val="F0F8F0"/>
          </a:solidFill>
          <a:ln cap="flat" cmpd="sng" w="19050">
            <a:solidFill>
              <a:srgbClr val="2E7D32"/>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5" name="Google Shape;255;p5"/>
          <p:cNvSpPr txBox="1"/>
          <p:nvPr/>
        </p:nvSpPr>
        <p:spPr>
          <a:xfrm>
            <a:off x="6858000" y="3970655"/>
            <a:ext cx="4114165" cy="22510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E7D32"/>
                </a:solidFill>
                <a:latin typeface="Microsoft YaHei"/>
                <a:ea typeface="Microsoft YaHei"/>
                <a:cs typeface="Microsoft YaHei"/>
                <a:sym typeface="Microsoft YaHei"/>
              </a:rPr>
              <a:t>实测效果：具体见后文</a:t>
            </a:r>
            <a:endParaRPr b="1" i="0" sz="1400" u="none" cap="none" strike="noStrike">
              <a:solidFill>
                <a:srgbClr val="2E7D32"/>
              </a:solidFill>
              <a:latin typeface="Microsoft YaHei"/>
              <a:ea typeface="Microsoft YaHei"/>
              <a:cs typeface="Microsoft YaHei"/>
              <a:sym typeface="Microsoft YaHei"/>
            </a:endParaRPr>
          </a:p>
          <a:p>
            <a:pPr indent="0" lvl="0" marL="0" marR="0" rtl="0" algn="l">
              <a:spcBef>
                <a:spcPts val="800"/>
              </a:spcBef>
              <a:spcAft>
                <a:spcPts val="0"/>
              </a:spcAft>
              <a:buNone/>
            </a:pPr>
            <a:r>
              <a:rPr b="1" i="0" lang="en-US" sz="1400" u="none" cap="none" strike="noStrike">
                <a:solidFill>
                  <a:srgbClr val="2E7D32"/>
                </a:solidFill>
                <a:latin typeface="Microsoft YaHei"/>
                <a:ea typeface="Microsoft YaHei"/>
                <a:cs typeface="Microsoft YaHei"/>
                <a:sym typeface="Microsoft YaHei"/>
              </a:rPr>
              <a:t>更完整的4层体系</a:t>
            </a:r>
            <a:endParaRPr b="1" i="0" sz="1400" u="none" cap="none" strike="noStrike">
              <a:solidFill>
                <a:srgbClr val="2E7D32"/>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400" u="none" cap="none" strike="noStrike">
                <a:solidFill>
                  <a:srgbClr val="555555"/>
                </a:solidFill>
                <a:latin typeface="Microsoft YaHei"/>
                <a:ea typeface="Microsoft YaHei"/>
                <a:cs typeface="Microsoft YaHei"/>
                <a:sym typeface="Microsoft YaHei"/>
              </a:rPr>
              <a:t>止损、持仓限制、异常检测、合规检查</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1000"/>
              </a:spcBef>
              <a:spcAft>
                <a:spcPts val="0"/>
              </a:spcAft>
              <a:buNone/>
            </a:pPr>
            <a:r>
              <a:rPr b="1" i="0" lang="en-US" sz="1400" u="none" cap="none" strike="noStrike">
                <a:solidFill>
                  <a:srgbClr val="2E7D32"/>
                </a:solidFill>
                <a:latin typeface="Microsoft YaHei"/>
                <a:ea typeface="Microsoft YaHei"/>
                <a:cs typeface="Microsoft YaHei"/>
                <a:sym typeface="Microsoft YaHei"/>
              </a:rPr>
              <a:t>更多测试用例</a:t>
            </a:r>
            <a:endParaRPr b="1" i="0" sz="1400" u="none" cap="none" strike="noStrike">
              <a:solidFill>
                <a:srgbClr val="2E7D32"/>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400" u="none" cap="none" strike="noStrike">
                <a:solidFill>
                  <a:srgbClr val="555555"/>
                </a:solidFill>
                <a:latin typeface="Microsoft YaHei"/>
                <a:ea typeface="Microsoft YaHei"/>
                <a:cs typeface="Microsoft YaHei"/>
                <a:sym typeface="Microsoft YaHei"/>
              </a:rPr>
              <a:t>覆盖主流程、异常分支、边界条件</a:t>
            </a:r>
            <a:endParaRPr b="0" i="0" sz="1400" u="none" cap="none" strike="noStrike">
              <a:solidFill>
                <a:srgbClr val="555555"/>
              </a:solidFill>
              <a:latin typeface="Microsoft YaHei"/>
              <a:ea typeface="Microsoft YaHei"/>
              <a:cs typeface="Microsoft YaHei"/>
              <a:sym typeface="Microsoft YaHei"/>
            </a:endParaRPr>
          </a:p>
          <a:p>
            <a:pPr indent="0" lvl="0" marL="0" marR="0" rtl="0" algn="l">
              <a:spcBef>
                <a:spcPts val="1000"/>
              </a:spcBef>
              <a:spcAft>
                <a:spcPts val="0"/>
              </a:spcAft>
              <a:buNone/>
            </a:pPr>
            <a:r>
              <a:rPr b="1" i="0" lang="en-US" sz="1400" u="none" cap="none" strike="noStrike">
                <a:solidFill>
                  <a:srgbClr val="2E7D32"/>
                </a:solidFill>
                <a:latin typeface="Microsoft YaHei"/>
                <a:ea typeface="Microsoft YaHei"/>
                <a:cs typeface="Microsoft YaHei"/>
                <a:sym typeface="Microsoft YaHei"/>
              </a:rPr>
              <a:t>更完整规则模拟</a:t>
            </a:r>
            <a:endParaRPr b="1" i="0" sz="1400" u="none" cap="none" strike="noStrike">
              <a:solidFill>
                <a:srgbClr val="2E7D32"/>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400" u="none" cap="none" strike="noStrike">
                <a:solidFill>
                  <a:srgbClr val="555555"/>
                </a:solidFill>
                <a:latin typeface="Microsoft YaHei"/>
                <a:ea typeface="Microsoft YaHei"/>
                <a:cs typeface="Microsoft YaHei"/>
                <a:sym typeface="Microsoft YaHei"/>
              </a:rPr>
              <a:t>均源于 OpenSpec-HW2 的 Use Cases 阶段对异常场景的系统梳理</a:t>
            </a:r>
            <a:endParaRPr b="0" i="0" sz="1400" u="none" cap="none" strike="noStrike">
              <a:solidFill>
                <a:srgbClr val="555555"/>
              </a:solidFill>
              <a:latin typeface="Microsoft YaHei"/>
              <a:ea typeface="Microsoft YaHei"/>
              <a:cs typeface="Microsoft YaHei"/>
              <a:sym typeface="Microsoft YaHei"/>
            </a:endParaRPr>
          </a:p>
        </p:txBody>
      </p:sp>
      <p:sp>
        <p:nvSpPr>
          <p:cNvPr id="256" name="Google Shape;256;p5"/>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999999"/>
                </a:solidFill>
                <a:latin typeface="Microsoft YaHei"/>
                <a:ea typeface="Microsoft YaHei"/>
                <a:cs typeface="Microsoft YaHei"/>
                <a:sym typeface="Microsoft YaHei"/>
              </a:rPr>
              <a:t>3/41</a:t>
            </a:r>
            <a:endParaRPr b="0" i="0" sz="1000" u="none" cap="none" strike="noStrike">
              <a:solidFill>
                <a:srgbClr val="999999"/>
              </a:solidFill>
              <a:latin typeface="Microsoft YaHei"/>
              <a:ea typeface="Microsoft YaHei"/>
              <a:cs typeface="Microsoft YaHei"/>
              <a:sym typeface="Microsoft YaHei"/>
            </a:endParaRPr>
          </a:p>
        </p:txBody>
      </p:sp>
      <p:sp>
        <p:nvSpPr>
          <p:cNvPr id="257" name="Google Shape;257;p5"/>
          <p:cNvSpPr txBox="1"/>
          <p:nvPr/>
        </p:nvSpPr>
        <p:spPr>
          <a:xfrm>
            <a:off x="5639689" y="1435608"/>
            <a:ext cx="1463040" cy="245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8C00"/>
                </a:solidFill>
                <a:latin typeface="Microsoft YaHei"/>
                <a:ea typeface="Microsoft YaHei"/>
                <a:cs typeface="Microsoft YaHei"/>
                <a:sym typeface="Microsoft YaHei"/>
              </a:rPr>
              <a:t>▲ 本工作改动</a:t>
            </a:r>
            <a:endParaRPr b="1" i="0" sz="1000" u="none" cap="none" strike="noStrike">
              <a:solidFill>
                <a:srgbClr val="FF8C00"/>
              </a:solidFill>
              <a:latin typeface="Microsoft YaHei"/>
              <a:ea typeface="Microsoft YaHei"/>
              <a:cs typeface="Microsoft YaHei"/>
              <a:sym typeface="Microsoft YaHe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lang="en-US"/>
              <a:t>OpenSpec-HW2 实验</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7"/>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33"/>
                </a:solidFill>
                <a:latin typeface="Microsoft YaHei"/>
                <a:ea typeface="Microsoft YaHei"/>
                <a:cs typeface="Microsoft YaHei"/>
                <a:sym typeface="Microsoft YaHei"/>
              </a:rPr>
              <a:t>实验1-实测对比：同一需求，三种方法的量化差异</a:t>
            </a:r>
            <a:endParaRPr b="1" i="0" sz="2400" u="none" cap="none" strike="noStrike">
              <a:solidFill>
                <a:srgbClr val="333333"/>
              </a:solidFill>
              <a:latin typeface="Microsoft YaHei"/>
              <a:ea typeface="Microsoft YaHei"/>
              <a:cs typeface="Microsoft YaHei"/>
              <a:sym typeface="Microsoft YaHei"/>
            </a:endParaRPr>
          </a:p>
        </p:txBody>
      </p:sp>
      <p:sp>
        <p:nvSpPr>
          <p:cNvPr id="268" name="Google Shape;268;p7"/>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7"/>
          <p:cNvSpPr txBox="1"/>
          <p:nvPr/>
        </p:nvSpPr>
        <p:spPr>
          <a:xfrm>
            <a:off x="457200" y="777240"/>
            <a:ext cx="100584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cap="none" strike="noStrike">
                <a:solidFill>
                  <a:schemeClr val="dk1"/>
                </a:solidFill>
                <a:latin typeface="Microsoft YaHei"/>
                <a:ea typeface="Microsoft YaHei"/>
                <a:cs typeface="Microsoft YaHei"/>
                <a:sym typeface="Microsoft YaHei"/>
              </a:rPr>
              <a:t>测试项目：金融领域A股有色金属量化交易系统（Spec Critical） | 相同需求描述，分别用三种方式让 Claude Code 实现 </a:t>
            </a:r>
            <a:endParaRPr b="0" i="0" sz="1400" u="none" cap="none" strike="noStrike">
              <a:solidFill>
                <a:schemeClr val="dk1"/>
              </a:solidFill>
              <a:latin typeface="Microsoft YaHei"/>
              <a:ea typeface="Microsoft YaHei"/>
              <a:cs typeface="Microsoft YaHei"/>
              <a:sym typeface="Microsoft YaHei"/>
            </a:endParaRPr>
          </a:p>
          <a:p>
            <a:pPr indent="0" lvl="0" marL="0" marR="0" rtl="0" algn="l">
              <a:spcBef>
                <a:spcPts val="0"/>
              </a:spcBef>
              <a:spcAft>
                <a:spcPts val="0"/>
              </a:spcAft>
              <a:buNone/>
            </a:pPr>
            <a:r>
              <a:rPr b="1" i="0" lang="en-US" sz="1400" u="none" cap="none" strike="noStrike">
                <a:solidFill>
                  <a:schemeClr val="dk1"/>
                </a:solidFill>
                <a:latin typeface="Microsoft YaHei"/>
                <a:ea typeface="Microsoft YaHei"/>
                <a:cs typeface="Microsoft YaHei"/>
                <a:sym typeface="Microsoft YaHei"/>
              </a:rPr>
              <a:t>详见视频Demo</a:t>
            </a:r>
            <a:endParaRPr b="1" i="0" sz="1400" u="none" cap="none" strike="noStrike">
              <a:solidFill>
                <a:schemeClr val="dk1"/>
              </a:solidFill>
              <a:latin typeface="Microsoft YaHei"/>
              <a:ea typeface="Microsoft YaHei"/>
              <a:cs typeface="Microsoft YaHei"/>
              <a:sym typeface="Microsoft YaHei"/>
            </a:endParaRPr>
          </a:p>
        </p:txBody>
      </p:sp>
      <p:sp>
        <p:nvSpPr>
          <p:cNvPr id="270" name="Google Shape;270;p7"/>
          <p:cNvSpPr/>
          <p:nvPr/>
        </p:nvSpPr>
        <p:spPr>
          <a:xfrm>
            <a:off x="457200" y="1371600"/>
            <a:ext cx="3291840" cy="393192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7"/>
          <p:cNvSpPr txBox="1"/>
          <p:nvPr/>
        </p:nvSpPr>
        <p:spPr>
          <a:xfrm>
            <a:off x="640080" y="1508760"/>
            <a:ext cx="2926080" cy="24225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787878"/>
                </a:solidFill>
                <a:latin typeface="Microsoft YaHei"/>
                <a:ea typeface="Microsoft YaHei"/>
                <a:cs typeface="Microsoft YaHei"/>
                <a:sym typeface="Microsoft YaHei"/>
              </a:rPr>
              <a:t>Vanilla Claude Code</a:t>
            </a:r>
            <a:endParaRPr b="1" i="0" sz="1600" u="none" cap="none" strike="noStrike">
              <a:solidFill>
                <a:srgbClr val="787878"/>
              </a:solidFill>
              <a:latin typeface="Microsoft YaHei"/>
              <a:ea typeface="Microsoft YaHei"/>
              <a:cs typeface="Microsoft YaHei"/>
              <a:sym typeface="Microsoft YaHei"/>
            </a:endParaRPr>
          </a:p>
          <a:p>
            <a:pPr indent="0" lvl="0" marL="0" marR="0" rtl="0" algn="l">
              <a:spcBef>
                <a:spcPts val="800"/>
              </a:spcBef>
              <a:spcAft>
                <a:spcPts val="0"/>
              </a:spcAft>
              <a:buNone/>
            </a:pPr>
            <a:r>
              <a:rPr b="1" i="0" lang="en-US" sz="1300" u="none" cap="none" strike="noStrike">
                <a:solidFill>
                  <a:srgbClr val="333333"/>
                </a:solidFill>
                <a:latin typeface="Microsoft YaHei"/>
                <a:ea typeface="Microsoft YaHei"/>
                <a:cs typeface="Microsoft YaHei"/>
                <a:sym typeface="Microsoft YaHei"/>
              </a:rPr>
              <a:t>工作流</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1" i="0" lang="en-US" sz="1200" u="none" cap="none" strike="noStrike">
                <a:solidFill>
                  <a:srgbClr val="787878"/>
                </a:solidFill>
                <a:latin typeface="Microsoft YaHei"/>
                <a:ea typeface="Microsoft YaHei"/>
                <a:cs typeface="Microsoft YaHei"/>
                <a:sym typeface="Microsoft YaHei"/>
              </a:rPr>
              <a:t>需求描述 → AI 直接编码 → 代码</a:t>
            </a:r>
            <a:endParaRPr b="1" i="0" sz="1200" u="none" cap="none" strike="noStrike">
              <a:solidFill>
                <a:srgbClr val="787878"/>
              </a:solidFill>
              <a:latin typeface="Microsoft YaHei"/>
              <a:ea typeface="Microsoft YaHei"/>
              <a:cs typeface="Microsoft YaHei"/>
              <a:sym typeface="Microsoft YaHei"/>
            </a:endParaRPr>
          </a:p>
          <a:p>
            <a:pPr indent="0" lvl="0" marL="0" marR="0" rtl="0" algn="l">
              <a:spcBef>
                <a:spcPts val="1200"/>
              </a:spcBef>
              <a:spcAft>
                <a:spcPts val="0"/>
              </a:spcAft>
              <a:buNone/>
            </a:pPr>
            <a:r>
              <a:rPr b="1" i="0" lang="en-US" sz="1300" u="none" cap="none" strike="noStrike">
                <a:solidFill>
                  <a:srgbClr val="333333"/>
                </a:solidFill>
                <a:latin typeface="Microsoft YaHei"/>
                <a:ea typeface="Microsoft YaHei"/>
                <a:cs typeface="Microsoft YaHei"/>
                <a:sym typeface="Microsoft YaHei"/>
              </a:rPr>
              <a:t>特征总结</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0" lang="en-US" sz="1200" u="none" cap="none" strike="noStrike">
                <a:solidFill>
                  <a:srgbClr val="333333"/>
                </a:solidFill>
                <a:latin typeface="Microsoft YaHei"/>
                <a:ea typeface="Microsoft YaHei"/>
                <a:cs typeface="Microsoft YaHei"/>
                <a:sym typeface="Microsoft YaHei"/>
              </a:rPr>
              <a:t>• 无前置规划步骤</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AI 凭自身判断决定架构</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无 spec / design / task 产出</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最快交付，但无质量保障</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200" u="none" cap="none" strike="noStrike">
                <a:solidFill>
                  <a:srgbClr val="999999"/>
                </a:solidFill>
                <a:latin typeface="Microsoft YaHei"/>
                <a:ea typeface="Microsoft YaHei"/>
                <a:cs typeface="Microsoft YaHei"/>
                <a:sym typeface="Microsoft YaHei"/>
              </a:rPr>
              <a:t>Artifact 数量：0</a:t>
            </a:r>
            <a:endParaRPr b="0" i="0" sz="1200" u="none" cap="none" strike="noStrike">
              <a:solidFill>
                <a:srgbClr val="999999"/>
              </a:solidFill>
              <a:latin typeface="Microsoft YaHei"/>
              <a:ea typeface="Microsoft YaHei"/>
              <a:cs typeface="Microsoft YaHei"/>
              <a:sym typeface="Microsoft YaHei"/>
            </a:endParaRPr>
          </a:p>
        </p:txBody>
      </p:sp>
      <p:sp>
        <p:nvSpPr>
          <p:cNvPr id="272" name="Google Shape;272;p7"/>
          <p:cNvSpPr/>
          <p:nvPr/>
        </p:nvSpPr>
        <p:spPr>
          <a:xfrm>
            <a:off x="3977640" y="1371600"/>
            <a:ext cx="3291840" cy="393192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7"/>
          <p:cNvSpPr txBox="1"/>
          <p:nvPr/>
        </p:nvSpPr>
        <p:spPr>
          <a:xfrm>
            <a:off x="4160520" y="1508760"/>
            <a:ext cx="2926080" cy="26073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0078D4"/>
                </a:solidFill>
                <a:latin typeface="Microsoft YaHei"/>
                <a:ea typeface="Microsoft YaHei"/>
                <a:cs typeface="Microsoft YaHei"/>
                <a:sym typeface="Microsoft YaHei"/>
              </a:rPr>
              <a:t>原生 OpenSpec</a:t>
            </a:r>
            <a:endParaRPr b="1" i="0" sz="1600" u="none" cap="none" strike="noStrike">
              <a:solidFill>
                <a:srgbClr val="0078D4"/>
              </a:solidFill>
              <a:latin typeface="Microsoft YaHei"/>
              <a:ea typeface="Microsoft YaHei"/>
              <a:cs typeface="Microsoft YaHei"/>
              <a:sym typeface="Microsoft YaHei"/>
            </a:endParaRPr>
          </a:p>
          <a:p>
            <a:pPr indent="0" lvl="0" marL="0" marR="0" rtl="0" algn="l">
              <a:spcBef>
                <a:spcPts val="800"/>
              </a:spcBef>
              <a:spcAft>
                <a:spcPts val="0"/>
              </a:spcAft>
              <a:buNone/>
            </a:pPr>
            <a:r>
              <a:rPr b="1" i="0" lang="en-US" sz="1300" u="none" cap="none" strike="noStrike">
                <a:solidFill>
                  <a:srgbClr val="333333"/>
                </a:solidFill>
                <a:latin typeface="Microsoft YaHei"/>
                <a:ea typeface="Microsoft YaHei"/>
                <a:cs typeface="Microsoft YaHei"/>
                <a:sym typeface="Microsoft YaHei"/>
              </a:rPr>
              <a:t>工作流</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1" i="0" lang="en-US" sz="1200" u="none" cap="none" strike="noStrike">
                <a:solidFill>
                  <a:srgbClr val="0078D4"/>
                </a:solidFill>
                <a:latin typeface="Microsoft YaHei"/>
                <a:ea typeface="Microsoft YaHei"/>
                <a:cs typeface="Microsoft YaHei"/>
                <a:sym typeface="Microsoft YaHei"/>
              </a:rPr>
              <a:t>Proposal → Specs + Design → Tasks → 代码</a:t>
            </a:r>
            <a:endParaRPr b="1" i="0" sz="1200" u="none" cap="none" strike="noStrike">
              <a:solidFill>
                <a:srgbClr val="0078D4"/>
              </a:solidFill>
              <a:latin typeface="Microsoft YaHei"/>
              <a:ea typeface="Microsoft YaHei"/>
              <a:cs typeface="Microsoft YaHei"/>
              <a:sym typeface="Microsoft YaHei"/>
            </a:endParaRPr>
          </a:p>
          <a:p>
            <a:pPr indent="0" lvl="0" marL="0" marR="0" rtl="0" algn="l">
              <a:spcBef>
                <a:spcPts val="1200"/>
              </a:spcBef>
              <a:spcAft>
                <a:spcPts val="0"/>
              </a:spcAft>
              <a:buNone/>
            </a:pPr>
            <a:r>
              <a:rPr b="1" i="0" lang="en-US" sz="1300" u="none" cap="none" strike="noStrike">
                <a:solidFill>
                  <a:srgbClr val="333333"/>
                </a:solidFill>
                <a:latin typeface="Microsoft YaHei"/>
                <a:ea typeface="Microsoft YaHei"/>
                <a:cs typeface="Microsoft YaHei"/>
                <a:sym typeface="Microsoft YaHei"/>
              </a:rPr>
              <a:t>特征总结</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0" lang="en-US" sz="1200" u="none" cap="none" strike="noStrike">
                <a:solidFill>
                  <a:srgbClr val="333333"/>
                </a:solidFill>
                <a:latin typeface="Microsoft YaHei"/>
                <a:ea typeface="Microsoft YaHei"/>
                <a:cs typeface="Microsoft YaHei"/>
                <a:sym typeface="Microsoft YaHei"/>
              </a:rPr>
              <a:t>• 标准 4-artifact 工作流</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Specs 与 Design 并行生成</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基本规格约束</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质量显著优于无规格</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200" u="none" cap="none" strike="noStrike">
                <a:solidFill>
                  <a:srgbClr val="999999"/>
                </a:solidFill>
                <a:latin typeface="Microsoft YaHei"/>
                <a:ea typeface="Microsoft YaHei"/>
                <a:cs typeface="Microsoft YaHei"/>
                <a:sym typeface="Microsoft YaHei"/>
              </a:rPr>
              <a:t>Artifact 数量：4</a:t>
            </a:r>
            <a:endParaRPr b="0" i="0" sz="1200" u="none" cap="none" strike="noStrike">
              <a:solidFill>
                <a:srgbClr val="999999"/>
              </a:solidFill>
              <a:latin typeface="Microsoft YaHei"/>
              <a:ea typeface="Microsoft YaHei"/>
              <a:cs typeface="Microsoft YaHei"/>
              <a:sym typeface="Microsoft YaHei"/>
            </a:endParaRPr>
          </a:p>
        </p:txBody>
      </p:sp>
      <p:sp>
        <p:nvSpPr>
          <p:cNvPr id="274" name="Google Shape;274;p7"/>
          <p:cNvSpPr/>
          <p:nvPr/>
        </p:nvSpPr>
        <p:spPr>
          <a:xfrm>
            <a:off x="7498080" y="1371600"/>
            <a:ext cx="3291840" cy="393192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7"/>
          <p:cNvSpPr txBox="1"/>
          <p:nvPr/>
        </p:nvSpPr>
        <p:spPr>
          <a:xfrm>
            <a:off x="7680960" y="1508760"/>
            <a:ext cx="2926080" cy="26073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107C10"/>
                </a:solidFill>
                <a:latin typeface="Microsoft YaHei"/>
                <a:ea typeface="Microsoft YaHei"/>
                <a:cs typeface="Microsoft YaHei"/>
                <a:sym typeface="Microsoft YaHei"/>
              </a:rPr>
              <a:t>OpenSpec-HW2</a:t>
            </a:r>
            <a:endParaRPr b="1" i="0" sz="1600" u="none" cap="none" strike="noStrike">
              <a:solidFill>
                <a:srgbClr val="107C10"/>
              </a:solidFill>
              <a:latin typeface="Microsoft YaHei"/>
              <a:ea typeface="Microsoft YaHei"/>
              <a:cs typeface="Microsoft YaHei"/>
              <a:sym typeface="Microsoft YaHei"/>
            </a:endParaRPr>
          </a:p>
          <a:p>
            <a:pPr indent="0" lvl="0" marL="0" marR="0" rtl="0" algn="l">
              <a:spcBef>
                <a:spcPts val="800"/>
              </a:spcBef>
              <a:spcAft>
                <a:spcPts val="0"/>
              </a:spcAft>
              <a:buNone/>
            </a:pPr>
            <a:r>
              <a:rPr b="1" i="0" lang="en-US" sz="1300" u="none" cap="none" strike="noStrike">
                <a:solidFill>
                  <a:srgbClr val="333333"/>
                </a:solidFill>
                <a:latin typeface="Microsoft YaHei"/>
                <a:ea typeface="Microsoft YaHei"/>
                <a:cs typeface="Microsoft YaHei"/>
                <a:sym typeface="Microsoft YaHei"/>
              </a:rPr>
              <a:t>工作流</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1" i="0" lang="en-US" sz="1200" u="none" cap="none" strike="noStrike">
                <a:solidFill>
                  <a:srgbClr val="107C10"/>
                </a:solidFill>
                <a:latin typeface="Microsoft YaHei"/>
                <a:ea typeface="Microsoft YaHei"/>
                <a:cs typeface="Microsoft YaHei"/>
                <a:sym typeface="Microsoft YaHei"/>
              </a:rPr>
              <a:t>Proposal → Usecases → Specs → Design → Tasks → 代码</a:t>
            </a:r>
            <a:endParaRPr b="1" i="0" sz="1200" u="none" cap="none" strike="noStrike">
              <a:solidFill>
                <a:srgbClr val="107C10"/>
              </a:solidFill>
              <a:latin typeface="Microsoft YaHei"/>
              <a:ea typeface="Microsoft YaHei"/>
              <a:cs typeface="Microsoft YaHei"/>
              <a:sym typeface="Microsoft YaHei"/>
            </a:endParaRPr>
          </a:p>
          <a:p>
            <a:pPr indent="0" lvl="0" marL="0" marR="0" rtl="0" algn="l">
              <a:spcBef>
                <a:spcPts val="1200"/>
              </a:spcBef>
              <a:spcAft>
                <a:spcPts val="0"/>
              </a:spcAft>
              <a:buNone/>
            </a:pPr>
            <a:r>
              <a:rPr b="1" i="0" lang="en-US" sz="1300" u="none" cap="none" strike="noStrike">
                <a:solidFill>
                  <a:srgbClr val="333333"/>
                </a:solidFill>
                <a:latin typeface="Microsoft YaHei"/>
                <a:ea typeface="Microsoft YaHei"/>
                <a:cs typeface="Microsoft YaHei"/>
                <a:sym typeface="Microsoft YaHei"/>
              </a:rPr>
              <a:t>特征总结</a:t>
            </a:r>
            <a:endParaRPr b="1" i="0" sz="13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0" lang="en-US" sz="1200" u="none" cap="none" strike="noStrike">
                <a:solidFill>
                  <a:srgbClr val="333333"/>
                </a:solidFill>
                <a:latin typeface="Microsoft YaHei"/>
                <a:ea typeface="Microsoft YaHei"/>
                <a:cs typeface="Microsoft YaHei"/>
                <a:sym typeface="Microsoft YaHei"/>
              </a:rPr>
              <a:t>• 新增 Usecases 场景建模步骤</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8 个用例驱动规格细化</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逐步提升效果</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200" u="none" cap="none" strike="noStrike">
                <a:solidFill>
                  <a:srgbClr val="333333"/>
                </a:solidFill>
                <a:latin typeface="Microsoft YaHei"/>
                <a:ea typeface="Microsoft YaHei"/>
                <a:cs typeface="Microsoft YaHei"/>
                <a:sym typeface="Microsoft YaHei"/>
              </a:rPr>
              <a:t>• 较高质量产出</a:t>
            </a:r>
            <a:endParaRPr b="0" i="0" sz="1200" u="none" cap="none" strike="noStrike">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0" i="0" lang="en-US" sz="1200" u="none" cap="none" strike="noStrike">
                <a:solidFill>
                  <a:srgbClr val="999999"/>
                </a:solidFill>
                <a:latin typeface="Microsoft YaHei"/>
                <a:ea typeface="Microsoft YaHei"/>
                <a:cs typeface="Microsoft YaHei"/>
                <a:sym typeface="Microsoft YaHei"/>
              </a:rPr>
              <a:t>Artifact 数量：5</a:t>
            </a:r>
            <a:endParaRPr b="0" i="0" sz="1200" u="none" cap="none" strike="noStrike">
              <a:solidFill>
                <a:srgbClr val="999999"/>
              </a:solidFill>
              <a:latin typeface="Microsoft YaHei"/>
              <a:ea typeface="Microsoft YaHei"/>
              <a:cs typeface="Microsoft YaHei"/>
              <a:sym typeface="Microsoft YaHei"/>
            </a:endParaRPr>
          </a:p>
        </p:txBody>
      </p:sp>
      <p:sp>
        <p:nvSpPr>
          <p:cNvPr id="276" name="Google Shape;276;p7"/>
          <p:cNvSpPr/>
          <p:nvPr/>
        </p:nvSpPr>
        <p:spPr>
          <a:xfrm>
            <a:off x="457200" y="5532120"/>
            <a:ext cx="10332720" cy="50800"/>
          </a:xfrm>
          <a:prstGeom prst="rect">
            <a:avLst/>
          </a:prstGeom>
          <a:solidFill>
            <a:srgbClr val="333333"/>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7" name="Google Shape;277;p7"/>
          <p:cNvSpPr txBox="1"/>
          <p:nvPr/>
        </p:nvSpPr>
        <p:spPr>
          <a:xfrm>
            <a:off x="457200" y="5623560"/>
            <a:ext cx="10332720" cy="2603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chemeClr val="dk1"/>
                </a:solidFill>
                <a:latin typeface="Microsoft YaHei"/>
                <a:ea typeface="Microsoft YaHei"/>
                <a:cs typeface="Microsoft YaHei"/>
                <a:sym typeface="Microsoft YaHei"/>
              </a:rPr>
              <a:t>控制变量：完全相同的需求描述  |  同一 AI 模型 (Claude Opus4.6)  |  独立执行  |  无人工干预</a:t>
            </a:r>
            <a:endParaRPr b="0" i="0" sz="1100" u="none" cap="none" strike="noStrike">
              <a:solidFill>
                <a:schemeClr val="dk1"/>
              </a:solidFill>
              <a:latin typeface="Microsoft YaHei"/>
              <a:ea typeface="Microsoft YaHei"/>
              <a:cs typeface="Microsoft YaHei"/>
              <a:sym typeface="Microsoft YaHei"/>
            </a:endParaRPr>
          </a:p>
        </p:txBody>
      </p:sp>
      <p:sp>
        <p:nvSpPr>
          <p:cNvPr id="278" name="Google Shape;278;p7"/>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999999"/>
                </a:solidFill>
                <a:latin typeface="Microsoft YaHei"/>
                <a:ea typeface="Microsoft YaHei"/>
                <a:cs typeface="Microsoft YaHei"/>
                <a:sym typeface="Microsoft YaHei"/>
              </a:rPr>
              <a:t>5/41</a:t>
            </a:r>
            <a:endParaRPr b="0" i="0" sz="1100" u="none" cap="none" strike="noStrike">
              <a:solidFill>
                <a:srgbClr val="999999"/>
              </a:solidFill>
              <a:latin typeface="Microsoft YaHei"/>
              <a:ea typeface="Microsoft YaHei"/>
              <a:cs typeface="Microsoft YaHei"/>
              <a:sym typeface="Microsoft YaHe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8"/>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33"/>
                </a:solidFill>
                <a:latin typeface="Microsoft YaHei"/>
                <a:ea typeface="Microsoft YaHei"/>
                <a:cs typeface="Microsoft YaHei"/>
                <a:sym typeface="Microsoft YaHei"/>
              </a:rPr>
              <a:t>实验1-核心指标对比：规格层级决定代码质量</a:t>
            </a:r>
            <a:endParaRPr b="1" i="0" sz="2400" u="none" cap="none" strike="noStrike">
              <a:solidFill>
                <a:srgbClr val="333333"/>
              </a:solidFill>
              <a:latin typeface="Microsoft YaHei"/>
              <a:ea typeface="Microsoft YaHei"/>
              <a:cs typeface="Microsoft YaHei"/>
              <a:sym typeface="Microsoft YaHei"/>
            </a:endParaRPr>
          </a:p>
        </p:txBody>
      </p:sp>
      <p:sp>
        <p:nvSpPr>
          <p:cNvPr id="284" name="Google Shape;284;p8"/>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85" name="Google Shape;285;p8"/>
          <p:cNvGraphicFramePr/>
          <p:nvPr/>
        </p:nvGraphicFramePr>
        <p:xfrm>
          <a:off x="457200" y="914400"/>
          <a:ext cx="3000000" cy="3000000"/>
        </p:xfrm>
        <a:graphic>
          <a:graphicData uri="http://schemas.openxmlformats.org/drawingml/2006/table">
            <a:tbl>
              <a:tblPr bandRow="1" firstRow="1">
                <a:noFill/>
                <a:tableStyleId>{1919ADCB-30F0-46B4-BD1B-849308643872}</a:tableStyleId>
              </a:tblPr>
              <a:tblGrid>
                <a:gridCol w="2011675"/>
                <a:gridCol w="2743200"/>
                <a:gridCol w="2743200"/>
                <a:gridCol w="2834650"/>
              </a:tblGrid>
              <a:tr h="382375">
                <a:tc>
                  <a:txBody>
                    <a:bodyPr/>
                    <a:lstStyle/>
                    <a:p>
                      <a:pPr indent="0" lvl="0" marL="0" marR="0" rtl="0" algn="l">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对比维度</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44444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Vanilla Claude Code</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787878"/>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原生 OpenSpec</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0078D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OpenSpec-HW2</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107C10"/>
                    </a:solidFill>
                  </a:tcP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代码总量</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~1,200 行</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~2,824 行</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~5,015 行</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文件数</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5-6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39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43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架构层级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扁平结构</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分层 / 简单类</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 层 Protocol 架构</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设计模式</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无（直接实现）</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简单类 / 函数</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Protocol + 装饰器注册表</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测试文件</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0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风控层级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固定止损</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 层</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 层</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需求Artifact 数</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0</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2375">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Design 深度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0</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92 行 / 6个决策</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254 行 / 8个决策</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240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Task任务分解</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0</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44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75 个</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bl>
          </a:graphicData>
        </a:graphic>
      </p:graphicFrame>
      <p:sp>
        <p:nvSpPr>
          <p:cNvPr id="286" name="Google Shape;286;p8"/>
          <p:cNvSpPr/>
          <p:nvPr/>
        </p:nvSpPr>
        <p:spPr>
          <a:xfrm>
            <a:off x="457200" y="5349240"/>
            <a:ext cx="10332720" cy="508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8"/>
          <p:cNvSpPr txBox="1"/>
          <p:nvPr/>
        </p:nvSpPr>
        <p:spPr>
          <a:xfrm>
            <a:off x="457200" y="5440680"/>
            <a:ext cx="1033272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07C10"/>
                </a:solidFill>
                <a:latin typeface="Microsoft YaHei"/>
                <a:ea typeface="Microsoft YaHei"/>
                <a:cs typeface="Microsoft YaHei"/>
                <a:sym typeface="Microsoft YaHei"/>
              </a:rPr>
              <a:t>→ 规格化程度与代码质量强正相关：</a:t>
            </a:r>
            <a:endParaRPr b="1" i="0" sz="1200" u="none" cap="none" strike="noStrike">
              <a:solidFill>
                <a:srgbClr val="107C10"/>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200" u="none" cap="none" strike="noStrike">
                <a:solidFill>
                  <a:srgbClr val="555555"/>
                </a:solidFill>
                <a:latin typeface="Microsoft YaHei"/>
                <a:ea typeface="Microsoft YaHei"/>
                <a:cs typeface="Microsoft YaHei"/>
                <a:sym typeface="Microsoft YaHei"/>
              </a:rPr>
              <a:t>Artifact 数量 0→4→5 | 代码量 1,200→2,824→5,015 | 测试 0→67→88 | 任务分解 0→44→75</a:t>
            </a:r>
            <a:endParaRPr b="0" i="0" sz="1200" u="none" cap="none" strike="noStrike">
              <a:solidFill>
                <a:srgbClr val="555555"/>
              </a:solidFill>
              <a:latin typeface="Microsoft YaHei"/>
              <a:ea typeface="Microsoft YaHei"/>
              <a:cs typeface="Microsoft YaHei"/>
              <a:sym typeface="Microsoft YaHei"/>
            </a:endParaRPr>
          </a:p>
        </p:txBody>
      </p:sp>
      <p:sp>
        <p:nvSpPr>
          <p:cNvPr id="288" name="Google Shape;288;p8"/>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999999"/>
                </a:solidFill>
                <a:latin typeface="Microsoft YaHei"/>
                <a:ea typeface="Microsoft YaHei"/>
                <a:cs typeface="Microsoft YaHei"/>
                <a:sym typeface="Microsoft YaHei"/>
              </a:rPr>
              <a:t>6/41</a:t>
            </a:r>
            <a:endParaRPr b="0" i="0" sz="1100" u="none" cap="none" strike="noStrike">
              <a:solidFill>
                <a:srgbClr val="999999"/>
              </a:solidFill>
              <a:latin typeface="Microsoft YaHei"/>
              <a:ea typeface="Microsoft YaHei"/>
              <a:cs typeface="Microsoft YaHei"/>
              <a:sym typeface="Microsoft YaHe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9"/>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33"/>
                </a:solidFill>
                <a:latin typeface="Microsoft YaHei"/>
                <a:ea typeface="Microsoft YaHei"/>
                <a:cs typeface="Microsoft YaHei"/>
                <a:sym typeface="Microsoft YaHei"/>
              </a:rPr>
              <a:t>实验1 - 架构与风控：从扁平实现到分层</a:t>
            </a:r>
            <a:endParaRPr b="1" i="0" sz="2400" u="none" cap="none" strike="noStrike">
              <a:solidFill>
                <a:srgbClr val="333333"/>
              </a:solidFill>
              <a:latin typeface="Microsoft YaHei"/>
              <a:ea typeface="Microsoft YaHei"/>
              <a:cs typeface="Microsoft YaHei"/>
              <a:sym typeface="Microsoft YaHei"/>
            </a:endParaRPr>
          </a:p>
        </p:txBody>
      </p:sp>
      <p:sp>
        <p:nvSpPr>
          <p:cNvPr id="294" name="Google Shape;294;p9"/>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9"/>
          <p:cNvSpPr txBox="1"/>
          <p:nvPr/>
        </p:nvSpPr>
        <p:spPr>
          <a:xfrm>
            <a:off x="457200" y="868680"/>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0078D4"/>
                </a:solidFill>
                <a:latin typeface="Microsoft YaHei"/>
                <a:ea typeface="Microsoft YaHei"/>
                <a:cs typeface="Microsoft YaHei"/>
                <a:sym typeface="Microsoft YaHei"/>
              </a:rPr>
              <a:t>架构对比</a:t>
            </a:r>
            <a:endParaRPr b="1" i="0" sz="1500" u="none" cap="none" strike="noStrike">
              <a:solidFill>
                <a:srgbClr val="0078D4"/>
              </a:solidFill>
              <a:latin typeface="Microsoft YaHei"/>
              <a:ea typeface="Microsoft YaHei"/>
              <a:cs typeface="Microsoft YaHei"/>
              <a:sym typeface="Microsoft YaHei"/>
            </a:endParaRPr>
          </a:p>
        </p:txBody>
      </p:sp>
      <p:sp>
        <p:nvSpPr>
          <p:cNvPr id="296" name="Google Shape;296;p9"/>
          <p:cNvSpPr/>
          <p:nvPr/>
        </p:nvSpPr>
        <p:spPr>
          <a:xfrm>
            <a:off x="457200" y="1234440"/>
            <a:ext cx="5029200" cy="132588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7" name="Google Shape;297;p9"/>
          <p:cNvSpPr txBox="1"/>
          <p:nvPr/>
        </p:nvSpPr>
        <p:spPr>
          <a:xfrm>
            <a:off x="640080" y="1325880"/>
            <a:ext cx="4663440" cy="10788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787878"/>
                </a:solidFill>
                <a:latin typeface="Microsoft YaHei"/>
                <a:ea typeface="Microsoft YaHei"/>
                <a:cs typeface="Microsoft YaHei"/>
                <a:sym typeface="Microsoft YaHei"/>
              </a:rPr>
              <a:t>Vanilla Claude Code — 扁平架构</a:t>
            </a:r>
            <a:endParaRPr b="1" i="0" sz="1300" u="none" cap="none" strike="noStrike">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5-6 个文件，所有逻辑堆在一起</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无接口抽象，直接调用</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无数据验证层</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SE：基本上 高耦合 / 无关注点分离 / 修改一处影响全局</a:t>
            </a:r>
            <a:endParaRPr b="0" i="1" sz="900" u="none" cap="none" strike="noStrike">
              <a:solidFill>
                <a:srgbClr val="95591E"/>
              </a:solidFill>
              <a:latin typeface="Calibri"/>
              <a:ea typeface="Calibri"/>
              <a:cs typeface="Calibri"/>
              <a:sym typeface="Calibri"/>
            </a:endParaRPr>
          </a:p>
        </p:txBody>
      </p:sp>
      <p:sp>
        <p:nvSpPr>
          <p:cNvPr id="298" name="Google Shape;298;p9"/>
          <p:cNvSpPr/>
          <p:nvPr/>
        </p:nvSpPr>
        <p:spPr>
          <a:xfrm>
            <a:off x="457200" y="2651760"/>
            <a:ext cx="5029200" cy="13258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9" name="Google Shape;299;p9"/>
          <p:cNvSpPr txBox="1"/>
          <p:nvPr/>
        </p:nvSpPr>
        <p:spPr>
          <a:xfrm>
            <a:off x="640080" y="2743200"/>
            <a:ext cx="4663440" cy="88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0078D4"/>
                </a:solidFill>
                <a:latin typeface="Microsoft YaHei"/>
                <a:ea typeface="Microsoft YaHei"/>
                <a:cs typeface="Microsoft YaHei"/>
                <a:sym typeface="Microsoft YaHei"/>
              </a:rPr>
              <a:t>原生 OpenSpec — 分层架构</a:t>
            </a:r>
            <a:endParaRPr b="1" i="0" sz="1300" u="none" cap="none" strike="noStrike">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32 个文件，数据/因子/策略/风控分层</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简单类和函数组织</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基本模块化</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SE：基本关注点分离，模块职责初步划清</a:t>
            </a:r>
            <a:endParaRPr b="0" i="1" sz="900" u="none" cap="none" strike="noStrike">
              <a:solidFill>
                <a:srgbClr val="95591E"/>
              </a:solidFill>
              <a:latin typeface="Calibri"/>
              <a:ea typeface="Calibri"/>
              <a:cs typeface="Calibri"/>
              <a:sym typeface="Calibri"/>
            </a:endParaRPr>
          </a:p>
        </p:txBody>
      </p:sp>
      <p:sp>
        <p:nvSpPr>
          <p:cNvPr id="300" name="Google Shape;300;p9"/>
          <p:cNvSpPr/>
          <p:nvPr/>
        </p:nvSpPr>
        <p:spPr>
          <a:xfrm>
            <a:off x="457200" y="4069080"/>
            <a:ext cx="5029200" cy="13258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9"/>
          <p:cNvSpPr txBox="1"/>
          <p:nvPr/>
        </p:nvSpPr>
        <p:spPr>
          <a:xfrm>
            <a:off x="640080" y="4160520"/>
            <a:ext cx="4663440" cy="69405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7C10"/>
                </a:solidFill>
                <a:latin typeface="Microsoft YaHei"/>
                <a:ea typeface="Microsoft YaHei"/>
                <a:cs typeface="Microsoft YaHei"/>
                <a:sym typeface="Microsoft YaHei"/>
              </a:rPr>
              <a:t>OpenSpec-HW2 — 6 层 Protocol 架构</a:t>
            </a:r>
            <a:endParaRPr b="1" i="0" sz="1300" u="none" cap="none" strike="noStrike">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38 个文件，6 层清晰分离</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Protocol 接口* + 装饰器注册</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SE：依赖倒置 + 开闭原则（新增因子/数据源无需改已有代码）</a:t>
            </a:r>
            <a:endParaRPr b="0" i="1" sz="900" u="none" cap="none" strike="noStrike">
              <a:solidFill>
                <a:srgbClr val="95591E"/>
              </a:solidFill>
              <a:latin typeface="Calibri"/>
              <a:ea typeface="Calibri"/>
              <a:cs typeface="Calibri"/>
              <a:sym typeface="Calibri"/>
            </a:endParaRPr>
          </a:p>
        </p:txBody>
      </p:sp>
      <p:sp>
        <p:nvSpPr>
          <p:cNvPr id="302" name="Google Shape;302;p9"/>
          <p:cNvSpPr txBox="1"/>
          <p:nvPr/>
        </p:nvSpPr>
        <p:spPr>
          <a:xfrm>
            <a:off x="5760720" y="868680"/>
            <a:ext cx="5029200" cy="3219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E86C00"/>
                </a:solidFill>
                <a:latin typeface="Microsoft YaHei"/>
                <a:ea typeface="Microsoft YaHei"/>
                <a:cs typeface="Microsoft YaHei"/>
                <a:sym typeface="Microsoft YaHei"/>
              </a:rPr>
              <a:t>风控能力对比 （量化行业领域能力，间接反映软工能力）</a:t>
            </a:r>
            <a:endParaRPr b="1" i="0" sz="1500" u="none" cap="none" strike="noStrike">
              <a:solidFill>
                <a:srgbClr val="E86C00"/>
              </a:solidFill>
              <a:latin typeface="Microsoft YaHei"/>
              <a:ea typeface="Microsoft YaHei"/>
              <a:cs typeface="Microsoft YaHei"/>
              <a:sym typeface="Microsoft YaHei"/>
            </a:endParaRPr>
          </a:p>
        </p:txBody>
      </p:sp>
      <p:sp>
        <p:nvSpPr>
          <p:cNvPr id="303" name="Google Shape;303;p9"/>
          <p:cNvSpPr/>
          <p:nvPr/>
        </p:nvSpPr>
        <p:spPr>
          <a:xfrm>
            <a:off x="5760720" y="1234440"/>
            <a:ext cx="5029200" cy="132588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9"/>
          <p:cNvSpPr txBox="1"/>
          <p:nvPr/>
        </p:nvSpPr>
        <p:spPr>
          <a:xfrm>
            <a:off x="5943600" y="1325880"/>
            <a:ext cx="4663440" cy="88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787878"/>
                </a:solidFill>
                <a:latin typeface="Microsoft YaHei"/>
                <a:ea typeface="Microsoft YaHei"/>
                <a:cs typeface="Microsoft YaHei"/>
                <a:sym typeface="Microsoft YaHei"/>
              </a:rPr>
              <a:t>Vanilla — 固定止损</a:t>
            </a:r>
            <a:endParaRPr b="1" i="0" sz="1300" u="none" cap="none" strike="noStrike">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硬编码止损阈值（如固定 8%）</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无动态调整 / 持仓限制 / 异常检测</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D13438"/>
                </a:solidFill>
                <a:latin typeface="Microsoft YaHei"/>
                <a:ea typeface="Microsoft YaHei"/>
                <a:cs typeface="Microsoft YaHei"/>
                <a:sym typeface="Microsoft YaHei"/>
              </a:rPr>
              <a:t>• 真实交易风险高</a:t>
            </a:r>
            <a:endParaRPr b="0" i="0" sz="1100" u="none" cap="none" strike="noStrike">
              <a:solidFill>
                <a:srgbClr val="D13438"/>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SE：配置与逻辑耦合 / 无防御性编程</a:t>
            </a:r>
            <a:endParaRPr b="0" i="1" sz="900" u="none" cap="none" strike="noStrike">
              <a:solidFill>
                <a:srgbClr val="95591E"/>
              </a:solidFill>
              <a:latin typeface="Calibri"/>
              <a:ea typeface="Calibri"/>
              <a:cs typeface="Calibri"/>
              <a:sym typeface="Calibri"/>
            </a:endParaRPr>
          </a:p>
        </p:txBody>
      </p:sp>
      <p:sp>
        <p:nvSpPr>
          <p:cNvPr id="305" name="Google Shape;305;p9"/>
          <p:cNvSpPr/>
          <p:nvPr/>
        </p:nvSpPr>
        <p:spPr>
          <a:xfrm>
            <a:off x="5760720" y="2651760"/>
            <a:ext cx="5029200" cy="13258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6" name="Google Shape;306;p9"/>
          <p:cNvSpPr txBox="1"/>
          <p:nvPr/>
        </p:nvSpPr>
        <p:spPr>
          <a:xfrm>
            <a:off x="5943600" y="2743200"/>
            <a:ext cx="4663440" cy="88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0078D4"/>
                </a:solidFill>
                <a:latin typeface="Microsoft YaHei"/>
                <a:ea typeface="Microsoft YaHei"/>
                <a:cs typeface="Microsoft YaHei"/>
                <a:sym typeface="Microsoft YaHei"/>
              </a:rPr>
              <a:t>原生 — 4 层完整风控</a:t>
            </a:r>
            <a:endParaRPr b="1" i="0" sz="1300" u="none" cap="none" strike="noStrike">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L1 ATR动态止损 / L2 持仓限制</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L3 行业集中度 / L4 异常波动检测</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0078D4"/>
                </a:solidFill>
                <a:latin typeface="Microsoft YaHei"/>
                <a:ea typeface="Microsoft YaHei"/>
                <a:cs typeface="Microsoft YaHei"/>
                <a:sym typeface="Microsoft YaHei"/>
              </a:rPr>
              <a:t>• 基本风控体系</a:t>
            </a:r>
            <a:endParaRPr b="0" i="0" sz="1100" u="none" cap="none" strike="noStrike">
              <a:solidFill>
                <a:srgbClr val="0078D4"/>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SE：关注点分离（止损/仓位/集中度/异常各自独立）</a:t>
            </a:r>
            <a:endParaRPr b="0" i="1" sz="900" u="none" cap="none" strike="noStrike">
              <a:solidFill>
                <a:srgbClr val="95591E"/>
              </a:solidFill>
              <a:latin typeface="Calibri"/>
              <a:ea typeface="Calibri"/>
              <a:cs typeface="Calibri"/>
              <a:sym typeface="Calibri"/>
            </a:endParaRPr>
          </a:p>
        </p:txBody>
      </p:sp>
      <p:sp>
        <p:nvSpPr>
          <p:cNvPr id="307" name="Google Shape;307;p9"/>
          <p:cNvSpPr/>
          <p:nvPr/>
        </p:nvSpPr>
        <p:spPr>
          <a:xfrm>
            <a:off x="5760720" y="4069080"/>
            <a:ext cx="5029200" cy="13258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9"/>
          <p:cNvSpPr txBox="1"/>
          <p:nvPr/>
        </p:nvSpPr>
        <p:spPr>
          <a:xfrm>
            <a:off x="5943600" y="4160520"/>
            <a:ext cx="4663440" cy="10788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7C10"/>
                </a:solidFill>
                <a:latin typeface="Microsoft YaHei"/>
                <a:ea typeface="Microsoft YaHei"/>
                <a:cs typeface="Microsoft YaHei"/>
                <a:sym typeface="Microsoft YaHei"/>
              </a:rPr>
              <a:t>OpenSpec-HW2 — 4 层 + 聚合入口</a:t>
            </a:r>
            <a:endParaRPr b="1" i="0" sz="1300" u="none" cap="none" strike="noStrike">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i="0" lang="en-US" sz="1100" u="none" cap="none" strike="noStrike">
                <a:solidFill>
                  <a:srgbClr val="333333"/>
                </a:solidFill>
                <a:latin typeface="Microsoft YaHei"/>
                <a:ea typeface="Microsoft YaHei"/>
                <a:cs typeface="Microsoft YaHei"/>
                <a:sym typeface="Microsoft YaHei"/>
              </a:rPr>
              <a:t>• 上述 4 层 + RiskAggregator 统一调度</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333333"/>
                </a:solidFill>
                <a:latin typeface="Microsoft YaHei"/>
                <a:ea typeface="Microsoft YaHei"/>
                <a:cs typeface="Microsoft YaHei"/>
                <a:sym typeface="Microsoft YaHei"/>
              </a:rPr>
              <a:t>• 风控规则可配置 + 完整日志</a:t>
            </a:r>
            <a:endParaRPr b="0" i="0" sz="1100" u="none" cap="none" strike="noStrike">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i="0" lang="en-US" sz="1100" u="none" cap="none" strike="noStrike">
                <a:solidFill>
                  <a:srgbClr val="107C10"/>
                </a:solidFill>
                <a:latin typeface="Microsoft YaHei"/>
                <a:ea typeface="Microsoft YaHei"/>
                <a:cs typeface="Microsoft YaHei"/>
                <a:sym typeface="Microsoft YaHei"/>
              </a:rPr>
              <a:t>• 较完整风控架构</a:t>
            </a:r>
            <a:endParaRPr b="0" i="0" sz="1100" u="none" cap="none" strike="noStrike">
              <a:solidFill>
                <a:srgbClr val="107C10"/>
              </a:solidFill>
              <a:latin typeface="Microsoft YaHei"/>
              <a:ea typeface="Microsoft YaHei"/>
              <a:cs typeface="Microsoft YaHei"/>
              <a:sym typeface="Microsoft YaHei"/>
            </a:endParaRPr>
          </a:p>
          <a:p>
            <a:pPr indent="0" lvl="0" marL="0" marR="0" rtl="0" algn="l">
              <a:spcBef>
                <a:spcPts val="400"/>
              </a:spcBef>
              <a:spcAft>
                <a:spcPts val="0"/>
              </a:spcAft>
              <a:buNone/>
            </a:pPr>
            <a:r>
              <a:rPr b="0" i="1" lang="en-US" sz="900" u="none" cap="none" strike="noStrike">
                <a:solidFill>
                  <a:srgbClr val="95591E"/>
                </a:solidFill>
                <a:latin typeface="Calibri"/>
                <a:ea typeface="Calibri"/>
                <a:cs typeface="Calibri"/>
                <a:sym typeface="Calibri"/>
              </a:rPr>
              <a:t>→ SE：配置外部化 + 可观测性（日志） + 单一入口可独立测试</a:t>
            </a:r>
            <a:endParaRPr b="0" i="1" sz="900" u="none" cap="none" strike="noStrike">
              <a:solidFill>
                <a:srgbClr val="95591E"/>
              </a:solidFill>
              <a:latin typeface="Calibri"/>
              <a:ea typeface="Calibri"/>
              <a:cs typeface="Calibri"/>
              <a:sym typeface="Calibri"/>
            </a:endParaRPr>
          </a:p>
        </p:txBody>
      </p:sp>
      <p:sp>
        <p:nvSpPr>
          <p:cNvPr id="309" name="Google Shape;309;p9"/>
          <p:cNvSpPr/>
          <p:nvPr/>
        </p:nvSpPr>
        <p:spPr>
          <a:xfrm>
            <a:off x="457200" y="553212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0" name="Google Shape;310;p9"/>
          <p:cNvSpPr txBox="1"/>
          <p:nvPr/>
        </p:nvSpPr>
        <p:spPr>
          <a:xfrm>
            <a:off x="457200" y="5638800"/>
            <a:ext cx="1033272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u="none" cap="none" strike="noStrike">
                <a:solidFill>
                  <a:srgbClr val="1A1A2E"/>
                </a:solidFill>
                <a:latin typeface="Calibri"/>
                <a:ea typeface="Calibri"/>
                <a:cs typeface="Calibri"/>
                <a:sym typeface="Calibri"/>
              </a:rPr>
              <a:t>领域能力是软件工程能力的外在表现：</a:t>
            </a:r>
            <a:r>
              <a:rPr b="0" i="0" lang="en-US" sz="1100" u="none" cap="none" strike="noStrike">
                <a:solidFill>
                  <a:srgbClr val="444444"/>
                </a:solidFill>
                <a:latin typeface="Calibri"/>
                <a:ea typeface="Calibri"/>
                <a:cs typeface="Calibri"/>
                <a:sym typeface="Calibri"/>
              </a:rPr>
              <a:t>架构分层 = 关注点分离 + 依赖倒置 ｜ 风控完善 = 需求完整度 + 防御性编程 ｜ 可配置 = 配置外部化</a:t>
            </a:r>
            <a:endParaRPr b="0" i="0" sz="1100" u="none" cap="none" strike="noStrike">
              <a:solidFill>
                <a:srgbClr val="999999"/>
              </a:solidFill>
              <a:latin typeface="Microsoft YaHei"/>
              <a:ea typeface="Microsoft YaHei"/>
              <a:cs typeface="Microsoft YaHei"/>
              <a:sym typeface="Microsoft YaHei"/>
            </a:endParaRPr>
          </a:p>
        </p:txBody>
      </p:sp>
      <p:sp>
        <p:nvSpPr>
          <p:cNvPr id="311" name="Google Shape;311;p9"/>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999999"/>
                </a:solidFill>
                <a:latin typeface="Microsoft YaHei"/>
                <a:ea typeface="Microsoft YaHei"/>
                <a:cs typeface="Microsoft YaHei"/>
                <a:sym typeface="Microsoft YaHei"/>
              </a:rPr>
              <a:t>7/41</a:t>
            </a:r>
            <a:endParaRPr b="0" i="0" sz="1100" u="none" cap="none" strike="noStrike">
              <a:solidFill>
                <a:srgbClr val="999999"/>
              </a:solidFill>
              <a:latin typeface="Microsoft YaHei"/>
              <a:ea typeface="Microsoft YaHei"/>
              <a:cs typeface="Microsoft YaHei"/>
              <a:sym typeface="Microsoft YaHei"/>
            </a:endParaRPr>
          </a:p>
        </p:txBody>
      </p:sp>
      <p:sp>
        <p:nvSpPr>
          <p:cNvPr id="312" name="Google Shape;312;p9"/>
          <p:cNvSpPr txBox="1"/>
          <p:nvPr/>
        </p:nvSpPr>
        <p:spPr>
          <a:xfrm>
            <a:off x="457200" y="5349240"/>
            <a:ext cx="103327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888888"/>
                </a:solidFill>
                <a:latin typeface="Microsoft YaHei"/>
                <a:ea typeface="Microsoft YaHei"/>
                <a:cs typeface="Microsoft YaHei"/>
                <a:sym typeface="Microsoft YaHei"/>
              </a:rPr>
              <a:t>* Protocol 接口：模块间通过抽象接口通信，实现可插拔替换，类似 Java 的 Interface</a:t>
            </a:r>
            <a:endParaRPr sz="900">
              <a:solidFill>
                <a:srgbClr val="888888"/>
              </a:solidFill>
              <a:latin typeface="Microsoft YaHei"/>
              <a:ea typeface="Microsoft YaHei"/>
              <a:cs typeface="Microsoft YaHei"/>
              <a:sym typeface="Microsoft YaHei"/>
            </a:endParaRPr>
          </a:p>
        </p:txBody>
      </p:sp>
      <p:sp>
        <p:nvSpPr>
          <p:cNvPr id="313" name="Google Shape;313;p9"/>
          <p:cNvSpPr txBox="1"/>
          <p:nvPr/>
        </p:nvSpPr>
        <p:spPr>
          <a:xfrm>
            <a:off x="548640" y="589280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FF0000"/>
                </a:solidFill>
                <a:latin typeface="Microsoft YaHei"/>
                <a:ea typeface="Microsoft YaHei"/>
                <a:cs typeface="Microsoft YaHei"/>
                <a:sym typeface="Microsoft YaHei"/>
              </a:rPr>
              <a:t>在量化交易软件中，风控能力决定了系统能否在真实市场中存活。就像医疗行业这种为了保证患者生命安全重视软件安全性一样， 质量差，不完整的风险控制Spec和Code意味着量化机器人在金融市场出现罕见或较大波动的情况下必然出现爆仓的结果</a:t>
            </a:r>
            <a:endParaRPr b="0" sz="1200">
              <a:solidFill>
                <a:srgbClr val="FF0000"/>
              </a:solidFill>
              <a:latin typeface="Microsoft YaHei"/>
              <a:ea typeface="Microsoft YaHei"/>
              <a:cs typeface="Microsoft YaHei"/>
              <a:sym typeface="Microsoft YaHe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0"/>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1A1A2E"/>
                </a:solidFill>
                <a:latin typeface="Calibri"/>
                <a:ea typeface="Calibri"/>
                <a:cs typeface="Calibri"/>
                <a:sym typeface="Calibri"/>
              </a:rPr>
              <a:t>实验1 - 配置外部化与错误处理：</a:t>
            </a:r>
            <a:endParaRPr b="1" sz="2400">
              <a:solidFill>
                <a:srgbClr val="1A1A2E"/>
              </a:solidFill>
              <a:latin typeface="Calibri"/>
              <a:ea typeface="Calibri"/>
              <a:cs typeface="Calibri"/>
              <a:sym typeface="Calibri"/>
            </a:endParaRPr>
          </a:p>
        </p:txBody>
      </p:sp>
      <p:sp>
        <p:nvSpPr>
          <p:cNvPr id="319" name="Google Shape;319;p10"/>
          <p:cNvSpPr/>
          <p:nvPr/>
        </p:nvSpPr>
        <p:spPr>
          <a:xfrm>
            <a:off x="457200" y="685800"/>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10"/>
          <p:cNvSpPr txBox="1"/>
          <p:nvPr/>
        </p:nvSpPr>
        <p:spPr>
          <a:xfrm>
            <a:off x="457200" y="822960"/>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2C3E50"/>
                </a:solidFill>
                <a:latin typeface="Calibri"/>
                <a:ea typeface="Calibri"/>
                <a:cs typeface="Calibri"/>
                <a:sym typeface="Calibri"/>
              </a:rPr>
              <a:t>配置外部化程度</a:t>
            </a:r>
            <a:endParaRPr b="1" sz="1500">
              <a:solidFill>
                <a:srgbClr val="2C3E50"/>
              </a:solidFill>
              <a:latin typeface="Calibri"/>
              <a:ea typeface="Calibri"/>
              <a:cs typeface="Calibri"/>
              <a:sym typeface="Calibri"/>
            </a:endParaRPr>
          </a:p>
        </p:txBody>
      </p:sp>
      <p:sp>
        <p:nvSpPr>
          <p:cNvPr id="321" name="Google Shape;321;p10"/>
          <p:cNvSpPr txBox="1"/>
          <p:nvPr/>
        </p:nvSpPr>
        <p:spPr>
          <a:xfrm>
            <a:off x="5760720" y="822960"/>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2C3E50"/>
                </a:solidFill>
                <a:latin typeface="Calibri"/>
                <a:ea typeface="Calibri"/>
                <a:cs typeface="Calibri"/>
                <a:sym typeface="Calibri"/>
              </a:rPr>
              <a:t>容错与错误处理设计</a:t>
            </a:r>
            <a:endParaRPr b="1" sz="1500">
              <a:solidFill>
                <a:srgbClr val="2C3E50"/>
              </a:solidFill>
              <a:latin typeface="Calibri"/>
              <a:ea typeface="Calibri"/>
              <a:cs typeface="Calibri"/>
              <a:sym typeface="Calibri"/>
            </a:endParaRPr>
          </a:p>
        </p:txBody>
      </p:sp>
      <p:sp>
        <p:nvSpPr>
          <p:cNvPr id="322" name="Google Shape;322;p10"/>
          <p:cNvSpPr/>
          <p:nvPr/>
        </p:nvSpPr>
        <p:spPr>
          <a:xfrm>
            <a:off x="457200" y="1188720"/>
            <a:ext cx="5029200" cy="132588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23" name="Google Shape;323;p10"/>
          <p:cNvSpPr txBox="1"/>
          <p:nvPr/>
        </p:nvSpPr>
        <p:spPr>
          <a:xfrm>
            <a:off x="640080" y="128016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787878"/>
                </a:solidFill>
                <a:latin typeface="Calibri"/>
                <a:ea typeface="Calibri"/>
                <a:cs typeface="Calibri"/>
                <a:sym typeface="Calibri"/>
              </a:rPr>
              <a:t>Vanilla Claude Code — 硬编码为主</a:t>
            </a:r>
            <a:endParaRPr b="1" sz="1200">
              <a:solidFill>
                <a:srgbClr val="787878"/>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152+ 个参数散布在源码中（EMA 12/26、RSI 14 等）</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配置文件为 Python dict，改参数 = 改代码</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无 .get() 安全访问，缺少默认值保护</a:t>
            </a:r>
            <a:endParaRPr sz="1200">
              <a:solidFill>
                <a:srgbClr val="444444"/>
              </a:solidFill>
              <a:latin typeface="Calibri"/>
              <a:ea typeface="Calibri"/>
              <a:cs typeface="Calibri"/>
              <a:sym typeface="Calibri"/>
            </a:endParaRPr>
          </a:p>
        </p:txBody>
      </p:sp>
      <p:sp>
        <p:nvSpPr>
          <p:cNvPr id="324" name="Google Shape;324;p10"/>
          <p:cNvSpPr/>
          <p:nvPr/>
        </p:nvSpPr>
        <p:spPr>
          <a:xfrm>
            <a:off x="457200" y="2606040"/>
            <a:ext cx="5029200" cy="13258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25" name="Google Shape;325;p10"/>
          <p:cNvSpPr txBox="1"/>
          <p:nvPr/>
        </p:nvSpPr>
        <p:spPr>
          <a:xfrm>
            <a:off x="640080" y="269748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Calibri"/>
                <a:ea typeface="Calibri"/>
                <a:cs typeface="Calibri"/>
                <a:sym typeface="Calibri"/>
              </a:rPr>
              <a:t>原生 OpenSpec — YAML 配置（48 参数）</a:t>
            </a:r>
            <a:endParaRPr b="1" sz="1200">
              <a:solidFill>
                <a:srgbClr val="0078D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业务参数（因子权重、风控阈值、回测成本）全部外部化</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28 处 config.get() 安全访问 + 默认值</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基础设施常量仍部分硬编码（API 延迟、金属符号表）</a:t>
            </a:r>
            <a:endParaRPr sz="1200">
              <a:solidFill>
                <a:srgbClr val="444444"/>
              </a:solidFill>
              <a:latin typeface="Calibri"/>
              <a:ea typeface="Calibri"/>
              <a:cs typeface="Calibri"/>
              <a:sym typeface="Calibri"/>
            </a:endParaRPr>
          </a:p>
        </p:txBody>
      </p:sp>
      <p:sp>
        <p:nvSpPr>
          <p:cNvPr id="326" name="Google Shape;326;p10"/>
          <p:cNvSpPr/>
          <p:nvPr/>
        </p:nvSpPr>
        <p:spPr>
          <a:xfrm>
            <a:off x="457200" y="4023360"/>
            <a:ext cx="5029200" cy="13258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27" name="Google Shape;327;p10"/>
          <p:cNvSpPr txBox="1"/>
          <p:nvPr/>
        </p:nvSpPr>
        <p:spPr>
          <a:xfrm>
            <a:off x="640080" y="411480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07C10"/>
                </a:solidFill>
                <a:latin typeface="Calibri"/>
                <a:ea typeface="Calibri"/>
                <a:cs typeface="Calibri"/>
                <a:sym typeface="Calibri"/>
              </a:rPr>
              <a:t>OpenSpec - HW2 — YAML 配置（54 参数，8 个分区）</a:t>
            </a:r>
            <a:endParaRPr b="1" sz="1200">
              <a:solidFill>
                <a:srgbClr val="107C10"/>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覆盖 data/universe/factors/strategy/timing/risk/backtest/report</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风控规则完全可配置：止损、回撤阈值、仓位限制</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改策略参数无需动代码</a:t>
            </a:r>
            <a:endParaRPr sz="1200">
              <a:solidFill>
                <a:srgbClr val="444444"/>
              </a:solidFill>
              <a:latin typeface="Calibri"/>
              <a:ea typeface="Calibri"/>
              <a:cs typeface="Calibri"/>
              <a:sym typeface="Calibri"/>
            </a:endParaRPr>
          </a:p>
        </p:txBody>
      </p:sp>
      <p:sp>
        <p:nvSpPr>
          <p:cNvPr id="328" name="Google Shape;328;p10"/>
          <p:cNvSpPr/>
          <p:nvPr/>
        </p:nvSpPr>
        <p:spPr>
          <a:xfrm>
            <a:off x="5760720" y="1188720"/>
            <a:ext cx="5029200" cy="132588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29" name="Google Shape;329;p10"/>
          <p:cNvSpPr txBox="1"/>
          <p:nvPr/>
        </p:nvSpPr>
        <p:spPr>
          <a:xfrm>
            <a:off x="5943600" y="128016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787878"/>
                </a:solidFill>
                <a:latin typeface="Calibri"/>
                <a:ea typeface="Calibri"/>
                <a:cs typeface="Calibri"/>
                <a:sym typeface="Calibri"/>
              </a:rPr>
              <a:t>Vanilla Claude Code — 无结构化容错</a:t>
            </a:r>
            <a:endParaRPr b="1" sz="1200">
              <a:solidFill>
                <a:srgbClr val="787878"/>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重试机制：无（API 失败直接报错）</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日志：无框架（仅 print + traceback.print_exc）</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关键路径无保护：回测引擎 0 个 try/except</a:t>
            </a:r>
            <a:endParaRPr sz="1200">
              <a:solidFill>
                <a:srgbClr val="444444"/>
              </a:solidFill>
              <a:latin typeface="Calibri"/>
              <a:ea typeface="Calibri"/>
              <a:cs typeface="Calibri"/>
              <a:sym typeface="Calibri"/>
            </a:endParaRPr>
          </a:p>
        </p:txBody>
      </p:sp>
      <p:sp>
        <p:nvSpPr>
          <p:cNvPr id="330" name="Google Shape;330;p10"/>
          <p:cNvSpPr/>
          <p:nvPr/>
        </p:nvSpPr>
        <p:spPr>
          <a:xfrm>
            <a:off x="5760720" y="2606040"/>
            <a:ext cx="5029200" cy="13258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31" name="Google Shape;331;p10"/>
          <p:cNvSpPr txBox="1"/>
          <p:nvPr/>
        </p:nvSpPr>
        <p:spPr>
          <a:xfrm>
            <a:off x="5943600" y="269748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Calibri"/>
                <a:ea typeface="Calibri"/>
                <a:cs typeface="Calibri"/>
                <a:sym typeface="Calibri"/>
              </a:rPr>
              <a:t>原生 OpenSpec — 结构化容错</a:t>
            </a:r>
            <a:endParaRPr b="1" sz="1200">
              <a:solidFill>
                <a:srgbClr val="0078D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自定义 @_retry 装饰器（6 个数据方法，自动重试）</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logging 框架，47 处 logger 调用</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3 层降级：数据源回退 → NaN 替代 → 空 DataFrame</a:t>
            </a:r>
            <a:endParaRPr sz="1200">
              <a:solidFill>
                <a:srgbClr val="444444"/>
              </a:solidFill>
              <a:latin typeface="Calibri"/>
              <a:ea typeface="Calibri"/>
              <a:cs typeface="Calibri"/>
              <a:sym typeface="Calibri"/>
            </a:endParaRPr>
          </a:p>
        </p:txBody>
      </p:sp>
      <p:sp>
        <p:nvSpPr>
          <p:cNvPr id="332" name="Google Shape;332;p10"/>
          <p:cNvSpPr/>
          <p:nvPr/>
        </p:nvSpPr>
        <p:spPr>
          <a:xfrm>
            <a:off x="5760720" y="4023360"/>
            <a:ext cx="5029200" cy="13258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333" name="Google Shape;333;p10"/>
          <p:cNvSpPr txBox="1"/>
          <p:nvPr/>
        </p:nvSpPr>
        <p:spPr>
          <a:xfrm>
            <a:off x="5943600" y="4114800"/>
            <a:ext cx="4663440" cy="906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07C10"/>
                </a:solidFill>
                <a:latin typeface="Calibri"/>
                <a:ea typeface="Calibri"/>
                <a:cs typeface="Calibri"/>
                <a:sym typeface="Calibri"/>
              </a:rPr>
              <a:t>OpenSpec - HW2 — 进一步结构化容错</a:t>
            </a:r>
            <a:endParaRPr b="1" sz="1200">
              <a:solidFill>
                <a:srgbClr val="107C10"/>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@_retry 装饰器（7 个方法 + 可配置重试次数和延迟）</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logging 框架，结构化日志覆盖全链路</a:t>
            </a:r>
            <a:endParaRPr sz="1200">
              <a:solidFill>
                <a:srgbClr val="444444"/>
              </a:solidFill>
              <a:latin typeface="Calibri"/>
              <a:ea typeface="Calibri"/>
              <a:cs typeface="Calibri"/>
              <a:sym typeface="Calibri"/>
            </a:endParaRPr>
          </a:p>
          <a:p>
            <a:pPr indent="0" lvl="0" marL="0" marR="0" rtl="0" algn="l">
              <a:spcBef>
                <a:spcPts val="200"/>
              </a:spcBef>
              <a:spcAft>
                <a:spcPts val="0"/>
              </a:spcAft>
              <a:buNone/>
            </a:pPr>
            <a:r>
              <a:rPr lang="en-US" sz="1200">
                <a:solidFill>
                  <a:srgbClr val="444444"/>
                </a:solidFill>
                <a:latin typeface="Calibri"/>
                <a:ea typeface="Calibri"/>
                <a:cs typeface="Calibri"/>
                <a:sym typeface="Calibri"/>
              </a:rPr>
              <a:t>• 3 层降级 + 逐条错误计数 + 风控事件日志</a:t>
            </a:r>
            <a:endParaRPr sz="1200">
              <a:solidFill>
                <a:srgbClr val="444444"/>
              </a:solidFill>
              <a:latin typeface="Calibri"/>
              <a:ea typeface="Calibri"/>
              <a:cs typeface="Calibri"/>
              <a:sym typeface="Calibri"/>
            </a:endParaRPr>
          </a:p>
        </p:txBody>
      </p:sp>
      <p:sp>
        <p:nvSpPr>
          <p:cNvPr id="334" name="Google Shape;334;p10"/>
          <p:cNvSpPr/>
          <p:nvPr/>
        </p:nvSpPr>
        <p:spPr>
          <a:xfrm>
            <a:off x="457200" y="5486400"/>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10"/>
          <p:cNvSpPr txBox="1"/>
          <p:nvPr/>
        </p:nvSpPr>
        <p:spPr>
          <a:xfrm>
            <a:off x="457200" y="5577840"/>
            <a:ext cx="10332720" cy="260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chemeClr val="dk1"/>
                </a:solidFill>
                <a:latin typeface="Calibri"/>
                <a:ea typeface="Calibri"/>
                <a:cs typeface="Calibri"/>
                <a:sym typeface="Calibri"/>
              </a:rPr>
              <a:t>配置外部化（0→48→54）和容错设计成熟度与规格化程度正相关：规格越详细，AI 产出的工程实践越成熟</a:t>
            </a:r>
            <a:endParaRPr b="1" sz="1100">
              <a:solidFill>
                <a:schemeClr val="dk1"/>
              </a:solidFill>
              <a:latin typeface="Calibri"/>
              <a:ea typeface="Calibri"/>
              <a:cs typeface="Calibri"/>
              <a:sym typeface="Calibri"/>
            </a:endParaRPr>
          </a:p>
        </p:txBody>
      </p:sp>
      <p:sp>
        <p:nvSpPr>
          <p:cNvPr id="336" name="Google Shape;336;p10"/>
          <p:cNvSpPr txBox="1"/>
          <p:nvPr/>
        </p:nvSpPr>
        <p:spPr>
          <a:xfrm>
            <a:off x="11091672"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444444"/>
                </a:solidFill>
                <a:latin typeface="Calibri"/>
                <a:ea typeface="Calibri"/>
                <a:cs typeface="Calibri"/>
                <a:sym typeface="Calibri"/>
              </a:rPr>
              <a:t>8/41</a:t>
            </a:r>
            <a:endParaRPr sz="1100">
              <a:solidFill>
                <a:srgbClr val="444444"/>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11"/>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实验1 - 测试 × 回测 × 可维护性：三维质量对比</a:t>
            </a:r>
            <a:endParaRPr b="1" sz="2400">
              <a:solidFill>
                <a:srgbClr val="333333"/>
              </a:solidFill>
              <a:latin typeface="Microsoft YaHei"/>
              <a:ea typeface="Microsoft YaHei"/>
              <a:cs typeface="Microsoft YaHei"/>
              <a:sym typeface="Microsoft YaHei"/>
            </a:endParaRPr>
          </a:p>
        </p:txBody>
      </p:sp>
      <p:sp>
        <p:nvSpPr>
          <p:cNvPr id="342" name="Google Shape;342;p11"/>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3" name="Google Shape;343;p11"/>
          <p:cNvSpPr/>
          <p:nvPr/>
        </p:nvSpPr>
        <p:spPr>
          <a:xfrm>
            <a:off x="457200" y="1005840"/>
            <a:ext cx="3291840" cy="42976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4" name="Google Shape;344;p11"/>
          <p:cNvSpPr txBox="1"/>
          <p:nvPr/>
        </p:nvSpPr>
        <p:spPr>
          <a:xfrm>
            <a:off x="640080" y="1143000"/>
            <a:ext cx="2926080" cy="26612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0078D4"/>
                </a:solidFill>
                <a:latin typeface="Microsoft YaHei"/>
                <a:ea typeface="Microsoft YaHei"/>
                <a:cs typeface="Microsoft YaHei"/>
                <a:sym typeface="Microsoft YaHei"/>
              </a:rPr>
              <a:t>测试覆盖度</a:t>
            </a:r>
            <a:endParaRPr b="1" sz="1600">
              <a:solidFill>
                <a:srgbClr val="0078D4"/>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787878"/>
                </a:solidFill>
                <a:latin typeface="Microsoft YaHei"/>
                <a:ea typeface="Microsoft YaHei"/>
                <a:cs typeface="Microsoft YaHei"/>
                <a:sym typeface="Microsoft YaHei"/>
              </a:rPr>
              <a:t>Vanilla Claude Code</a:t>
            </a:r>
            <a:endParaRPr b="1" sz="13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0 测试文件，0 测试用例</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AI 完全跳过测试</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0078D4"/>
                </a:solidFill>
                <a:latin typeface="Microsoft YaHei"/>
                <a:ea typeface="Microsoft YaHei"/>
                <a:cs typeface="Microsoft YaHei"/>
                <a:sym typeface="Microsoft YaHei"/>
              </a:rPr>
              <a:t>原生 OpenSpec</a:t>
            </a:r>
            <a:endParaRPr b="1" sz="13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8 测试文件</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单元测试覆盖核心模块</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107C10"/>
                </a:solidFill>
                <a:latin typeface="Microsoft YaHei"/>
                <a:ea typeface="Microsoft YaHei"/>
                <a:cs typeface="Microsoft YaHei"/>
                <a:sym typeface="Microsoft YaHei"/>
              </a:rPr>
              <a:t>OpenSpec-HW2</a:t>
            </a:r>
            <a:endParaRPr b="1" sz="13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9 测试文件</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195 行集成测试</a:t>
            </a:r>
            <a:endParaRPr b="0" sz="1200">
              <a:solidFill>
                <a:srgbClr val="333333"/>
              </a:solidFill>
              <a:latin typeface="Microsoft YaHei"/>
              <a:ea typeface="Microsoft YaHei"/>
              <a:cs typeface="Microsoft YaHei"/>
              <a:sym typeface="Microsoft YaHei"/>
            </a:endParaRPr>
          </a:p>
        </p:txBody>
      </p:sp>
      <p:sp>
        <p:nvSpPr>
          <p:cNvPr id="345" name="Google Shape;345;p11"/>
          <p:cNvSpPr/>
          <p:nvPr/>
        </p:nvSpPr>
        <p:spPr>
          <a:xfrm>
            <a:off x="3977640" y="1005840"/>
            <a:ext cx="3291840" cy="4297680"/>
          </a:xfrm>
          <a:prstGeom prst="roundRect">
            <a:avLst>
              <a:gd fmla="val 16667" name="adj"/>
            </a:avLst>
          </a:prstGeom>
          <a:solidFill>
            <a:srgbClr val="FFF3E0"/>
          </a:solidFill>
          <a:ln cap="flat" cmpd="sng" w="12700">
            <a:solidFill>
              <a:srgbClr val="E86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6" name="Google Shape;346;p11"/>
          <p:cNvSpPr txBox="1"/>
          <p:nvPr/>
        </p:nvSpPr>
        <p:spPr>
          <a:xfrm>
            <a:off x="4160520" y="1143000"/>
            <a:ext cx="2926080" cy="33051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E86C00"/>
                </a:solidFill>
                <a:latin typeface="Microsoft YaHei"/>
                <a:ea typeface="Microsoft YaHei"/>
                <a:cs typeface="Microsoft YaHei"/>
                <a:sym typeface="Microsoft YaHei"/>
              </a:rPr>
              <a:t>回测真实性 （领域能力）</a:t>
            </a:r>
            <a:endParaRPr b="1" sz="1600">
              <a:solidFill>
                <a:srgbClr val="E86C00"/>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787878"/>
                </a:solidFill>
                <a:latin typeface="Microsoft YaHei"/>
                <a:ea typeface="Microsoft YaHei"/>
                <a:cs typeface="Microsoft YaHei"/>
                <a:sym typeface="Microsoft YaHei"/>
              </a:rPr>
              <a:t>Vanilla Claude Code</a:t>
            </a:r>
            <a:endParaRPr b="1" sz="13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无 A 股规则模拟</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回测结果不可信</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0078D4"/>
                </a:solidFill>
                <a:latin typeface="Microsoft YaHei"/>
                <a:ea typeface="Microsoft YaHei"/>
                <a:cs typeface="Microsoft YaHei"/>
                <a:sym typeface="Microsoft YaHei"/>
              </a:rPr>
              <a:t>原生 OpenSpec</a:t>
            </a:r>
            <a:endParaRPr b="1" sz="13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完整 A 股规则（T+1, 涨跌停, 印花税）</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7 个性能评估指标</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107C10"/>
                </a:solidFill>
                <a:latin typeface="Microsoft YaHei"/>
                <a:ea typeface="Microsoft YaHei"/>
                <a:cs typeface="Microsoft YaHei"/>
                <a:sym typeface="Microsoft YaHei"/>
              </a:rPr>
              <a:t>OpenSpec-HW2</a:t>
            </a:r>
            <a:endParaRPr b="1" sz="13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完整 A 股规则 + </a:t>
            </a:r>
            <a:r>
              <a:rPr b="1" lang="en-US" sz="1200">
                <a:solidFill>
                  <a:srgbClr val="FF0000"/>
                </a:solidFill>
                <a:latin typeface="Microsoft YaHei"/>
                <a:ea typeface="Microsoft YaHei"/>
                <a:cs typeface="Microsoft YaHei"/>
                <a:sym typeface="Microsoft YaHei"/>
              </a:rPr>
              <a:t>防前视偏差（得益于Usecase）</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13+ 个性能评估指标</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回测结果接近真实市场</a:t>
            </a:r>
            <a:endParaRPr b="0" sz="12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200">
              <a:solidFill>
                <a:srgbClr val="333333"/>
              </a:solidFill>
              <a:latin typeface="Microsoft YaHei"/>
              <a:ea typeface="Microsoft YaHei"/>
              <a:cs typeface="Microsoft YaHei"/>
              <a:sym typeface="Microsoft YaHei"/>
            </a:endParaRPr>
          </a:p>
        </p:txBody>
      </p:sp>
      <p:sp>
        <p:nvSpPr>
          <p:cNvPr id="347" name="Google Shape;347;p11"/>
          <p:cNvSpPr/>
          <p:nvPr/>
        </p:nvSpPr>
        <p:spPr>
          <a:xfrm>
            <a:off x="7498080" y="1005840"/>
            <a:ext cx="3291840" cy="42976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11"/>
          <p:cNvSpPr txBox="1"/>
          <p:nvPr/>
        </p:nvSpPr>
        <p:spPr>
          <a:xfrm>
            <a:off x="7680960" y="1143000"/>
            <a:ext cx="2926080" cy="31203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107C10"/>
                </a:solidFill>
                <a:latin typeface="Microsoft YaHei"/>
                <a:ea typeface="Microsoft YaHei"/>
                <a:cs typeface="Microsoft YaHei"/>
                <a:sym typeface="Microsoft YaHei"/>
              </a:rPr>
              <a:t>可维护性 &amp; 配置</a:t>
            </a:r>
            <a:endParaRPr b="1" sz="1600">
              <a:solidFill>
                <a:srgbClr val="107C10"/>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787878"/>
                </a:solidFill>
                <a:latin typeface="Microsoft YaHei"/>
                <a:ea typeface="Microsoft YaHei"/>
                <a:cs typeface="Microsoft YaHei"/>
                <a:sym typeface="Microsoft YaHei"/>
              </a:rPr>
              <a:t>Vanilla Claude Code</a:t>
            </a:r>
            <a:endParaRPr b="1" sz="13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硬编码常量，0 配置外部化</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修改参数需改源码</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0078D4"/>
                </a:solidFill>
                <a:latin typeface="Microsoft YaHei"/>
                <a:ea typeface="Microsoft YaHei"/>
                <a:cs typeface="Microsoft YaHei"/>
                <a:sym typeface="Microsoft YaHei"/>
              </a:rPr>
              <a:t>原生 OpenSpec</a:t>
            </a:r>
            <a:endParaRPr b="1" sz="13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基本模块化，代码分层</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部分参数仍内嵌</a:t>
            </a:r>
            <a:endParaRPr b="0" sz="12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107C10"/>
                </a:solidFill>
                <a:latin typeface="Microsoft YaHei"/>
                <a:ea typeface="Microsoft YaHei"/>
                <a:cs typeface="Microsoft YaHei"/>
                <a:sym typeface="Microsoft YaHei"/>
              </a:rPr>
              <a:t>OpenSpec-HW2</a:t>
            </a:r>
            <a:endParaRPr b="1" sz="13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外部 YAML 配置管理</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8类参数外部化</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改配置不改代码</a:t>
            </a:r>
            <a:endParaRPr b="0" sz="12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200">
              <a:solidFill>
                <a:srgbClr val="333333"/>
              </a:solidFill>
              <a:latin typeface="Microsoft YaHei"/>
              <a:ea typeface="Microsoft YaHei"/>
              <a:cs typeface="Microsoft YaHei"/>
              <a:sym typeface="Microsoft YaHei"/>
            </a:endParaRPr>
          </a:p>
        </p:txBody>
      </p:sp>
      <p:sp>
        <p:nvSpPr>
          <p:cNvPr id="349" name="Google Shape;349;p11"/>
          <p:cNvSpPr/>
          <p:nvPr/>
        </p:nvSpPr>
        <p:spPr>
          <a:xfrm>
            <a:off x="457200" y="5532120"/>
            <a:ext cx="10332720" cy="508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11"/>
          <p:cNvSpPr txBox="1"/>
          <p:nvPr/>
        </p:nvSpPr>
        <p:spPr>
          <a:xfrm>
            <a:off x="457200" y="5623560"/>
            <a:ext cx="10332720" cy="2603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chemeClr val="dk1"/>
                </a:solidFill>
                <a:latin typeface="Microsoft YaHei"/>
                <a:ea typeface="Microsoft YaHei"/>
                <a:cs typeface="Microsoft YaHei"/>
                <a:sym typeface="Microsoft YaHei"/>
              </a:rPr>
              <a:t>三个维度均呈现 Vanilla &lt; 原生OpenSpec &lt; OpenSpec-HW2 的阶梯式提升，OpenSpec-HW2 Usecases 步骤的增量价值在每个维度均可量化</a:t>
            </a:r>
            <a:endParaRPr b="1" sz="1100">
              <a:solidFill>
                <a:schemeClr val="dk1"/>
              </a:solidFill>
              <a:latin typeface="Microsoft YaHei"/>
              <a:ea typeface="Microsoft YaHei"/>
              <a:cs typeface="Microsoft YaHei"/>
              <a:sym typeface="Microsoft YaHei"/>
            </a:endParaRPr>
          </a:p>
        </p:txBody>
      </p:sp>
      <p:sp>
        <p:nvSpPr>
          <p:cNvPr id="351" name="Google Shape;351;p11"/>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9/41</a:t>
            </a:r>
            <a:endParaRPr b="0" sz="1100">
              <a:solidFill>
                <a:srgbClr val="999999"/>
              </a:solidFill>
              <a:latin typeface="Microsoft YaHei"/>
              <a:ea typeface="Microsoft YaHei"/>
              <a:cs typeface="Microsoft YaHei"/>
              <a:sym typeface="Microsoft YaHei"/>
            </a:endParaRPr>
          </a:p>
        </p:txBody>
      </p:sp>
      <p:sp>
        <p:nvSpPr>
          <p:cNvPr id="352" name="Google Shape;352;p11"/>
          <p:cNvSpPr txBox="1"/>
          <p:nvPr/>
        </p:nvSpPr>
        <p:spPr>
          <a:xfrm>
            <a:off x="548640" y="589280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FF0000"/>
                </a:solidFill>
                <a:latin typeface="Microsoft YaHei"/>
                <a:ea typeface="Microsoft YaHei"/>
                <a:cs typeface="Microsoft YaHei"/>
                <a:sym typeface="Microsoft YaHei"/>
              </a:rPr>
              <a:t>在量化交易软件中，和风控能力一样，回测（就是相当于ML思想中的Validation）如果Spec写的不好或者Code没有按Spec生成，就会出现回测环境不符合真实世界规则的情况，就会导致错误评估量化机器人赚钱的能力</a:t>
            </a:r>
            <a:endParaRPr b="0" sz="1200">
              <a:solidFill>
                <a:srgbClr val="FF0000"/>
              </a:solidFill>
              <a:latin typeface="Microsoft YaHei"/>
              <a:ea typeface="Microsoft YaHei"/>
              <a:cs typeface="Microsoft YaHei"/>
              <a:sym typeface="Microsoft YaHe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2"/>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实验1 - 综合评分与适用场景</a:t>
            </a:r>
            <a:endParaRPr b="1" sz="2400">
              <a:solidFill>
                <a:srgbClr val="333333"/>
              </a:solidFill>
              <a:latin typeface="Microsoft YaHei"/>
              <a:ea typeface="Microsoft YaHei"/>
              <a:cs typeface="Microsoft YaHei"/>
              <a:sym typeface="Microsoft YaHei"/>
            </a:endParaRPr>
          </a:p>
        </p:txBody>
      </p:sp>
      <p:sp>
        <p:nvSpPr>
          <p:cNvPr id="358" name="Google Shape;358;p12"/>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aphicFrame>
        <p:nvGraphicFramePr>
          <p:cNvPr id="359" name="Google Shape;359;p12"/>
          <p:cNvGraphicFramePr/>
          <p:nvPr/>
        </p:nvGraphicFramePr>
        <p:xfrm>
          <a:off x="457200" y="914400"/>
          <a:ext cx="3000000" cy="3000000"/>
        </p:xfrm>
        <a:graphic>
          <a:graphicData uri="http://schemas.openxmlformats.org/drawingml/2006/table">
            <a:tbl>
              <a:tblPr bandRow="1" firstRow="1">
                <a:noFill/>
                <a:tableStyleId>{1919ADCB-30F0-46B4-BD1B-849308643872}</a:tableStyleId>
              </a:tblPr>
              <a:tblGrid>
                <a:gridCol w="1828800"/>
                <a:gridCol w="1371600"/>
                <a:gridCol w="1554475"/>
                <a:gridCol w="1463050"/>
              </a:tblGrid>
              <a:tr h="384050">
                <a:tc>
                  <a:txBody>
                    <a:bodyPr/>
                    <a:lstStyle/>
                    <a:p>
                      <a:pPr indent="0" lvl="0" marL="0" marR="0" rtl="0" algn="l">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评分维度 (/10)</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44444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Vanilla</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787878"/>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原生 OpenSpec</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0078D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OpenSpec-HW2</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107C10"/>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架构清晰度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测试完备性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2</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需求完整度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边界条件处理</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需求可追溯性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可维护性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可扩展性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开发效率</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合计 (/80)</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44</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56</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67</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r>
            </a:tbl>
          </a:graphicData>
        </a:graphic>
      </p:graphicFrame>
      <p:sp>
        <p:nvSpPr>
          <p:cNvPr id="360" name="Google Shape;360;p12"/>
          <p:cNvSpPr txBox="1"/>
          <p:nvPr/>
        </p:nvSpPr>
        <p:spPr>
          <a:xfrm>
            <a:off x="6949440" y="914400"/>
            <a:ext cx="3840480" cy="3219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333333"/>
                </a:solidFill>
                <a:latin typeface="Microsoft YaHei"/>
                <a:ea typeface="Microsoft YaHei"/>
                <a:cs typeface="Microsoft YaHei"/>
                <a:sym typeface="Microsoft YaHei"/>
              </a:rPr>
              <a:t>潜在适用场景</a:t>
            </a:r>
            <a:endParaRPr b="1" sz="1500">
              <a:solidFill>
                <a:srgbClr val="333333"/>
              </a:solidFill>
              <a:latin typeface="Microsoft YaHei"/>
              <a:ea typeface="Microsoft YaHei"/>
              <a:cs typeface="Microsoft YaHei"/>
              <a:sym typeface="Microsoft YaHei"/>
            </a:endParaRPr>
          </a:p>
        </p:txBody>
      </p:sp>
      <p:sp>
        <p:nvSpPr>
          <p:cNvPr id="361" name="Google Shape;361;p12"/>
          <p:cNvSpPr/>
          <p:nvPr/>
        </p:nvSpPr>
        <p:spPr>
          <a:xfrm>
            <a:off x="6949440" y="1234440"/>
            <a:ext cx="3840480" cy="50800"/>
          </a:xfrm>
          <a:prstGeom prst="rect">
            <a:avLst/>
          </a:prstGeom>
          <a:solidFill>
            <a:srgbClr val="333333"/>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2" name="Google Shape;362;p12"/>
          <p:cNvSpPr txBox="1"/>
          <p:nvPr/>
        </p:nvSpPr>
        <p:spPr>
          <a:xfrm>
            <a:off x="6949440" y="1417320"/>
            <a:ext cx="3840480" cy="10966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Microsoft YaHei"/>
                <a:ea typeface="Microsoft YaHei"/>
                <a:cs typeface="Microsoft YaHei"/>
                <a:sym typeface="Microsoft YaHei"/>
              </a:rPr>
              <a:t>Vanilla Claude Code</a:t>
            </a:r>
            <a:endParaRPr b="1" sz="13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1" lang="en-US" sz="1100">
                <a:solidFill>
                  <a:srgbClr val="333333"/>
                </a:solidFill>
                <a:latin typeface="Microsoft YaHei"/>
                <a:ea typeface="Microsoft YaHei"/>
                <a:cs typeface="Microsoft YaHei"/>
                <a:sym typeface="Microsoft YaHei"/>
              </a:rPr>
              <a:t>44/80  潜在适用：</a:t>
            </a:r>
            <a:endParaRPr b="1"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内部工具脚本、PoC 验证</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Hackathon / 技术预研</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无跨团队协作需求</a:t>
            </a:r>
            <a:endParaRPr b="0" sz="1100">
              <a:solidFill>
                <a:srgbClr val="333333"/>
              </a:solidFill>
              <a:latin typeface="Microsoft YaHei"/>
              <a:ea typeface="Microsoft YaHei"/>
              <a:cs typeface="Microsoft YaHei"/>
              <a:sym typeface="Microsoft YaHei"/>
            </a:endParaRPr>
          </a:p>
        </p:txBody>
      </p:sp>
      <p:sp>
        <p:nvSpPr>
          <p:cNvPr id="363" name="Google Shape;363;p12"/>
          <p:cNvSpPr txBox="1"/>
          <p:nvPr/>
        </p:nvSpPr>
        <p:spPr>
          <a:xfrm>
            <a:off x="6949440" y="2697480"/>
            <a:ext cx="3840480" cy="90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78D4"/>
                </a:solidFill>
                <a:latin typeface="Microsoft YaHei"/>
                <a:ea typeface="Microsoft YaHei"/>
                <a:cs typeface="Microsoft YaHei"/>
                <a:sym typeface="Microsoft YaHei"/>
              </a:rPr>
              <a:t>原生 OpenSpec</a:t>
            </a:r>
            <a:endParaRPr b="1" sz="13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1" lang="en-US" sz="1100">
                <a:solidFill>
                  <a:srgbClr val="333333"/>
                </a:solidFill>
                <a:latin typeface="Microsoft YaHei"/>
                <a:ea typeface="Microsoft YaHei"/>
                <a:cs typeface="Microsoft YaHei"/>
                <a:sym typeface="Microsoft YaHei"/>
              </a:rPr>
              <a:t>56/80  潜在适用：</a:t>
            </a:r>
            <a:endParaRPr b="1"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中等规模功能生产级别模块开发</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迭代周期较短的版本需求</a:t>
            </a:r>
            <a:endParaRPr b="0" sz="1100">
              <a:solidFill>
                <a:srgbClr val="333333"/>
              </a:solidFill>
              <a:latin typeface="Microsoft YaHei"/>
              <a:ea typeface="Microsoft YaHei"/>
              <a:cs typeface="Microsoft YaHei"/>
              <a:sym typeface="Microsoft YaHei"/>
            </a:endParaRPr>
          </a:p>
        </p:txBody>
      </p:sp>
      <p:sp>
        <p:nvSpPr>
          <p:cNvPr id="364" name="Google Shape;364;p12"/>
          <p:cNvSpPr txBox="1"/>
          <p:nvPr/>
        </p:nvSpPr>
        <p:spPr>
          <a:xfrm>
            <a:off x="6949440" y="3977640"/>
            <a:ext cx="3840480" cy="90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OpenSpec-HW2</a:t>
            </a:r>
            <a:endParaRPr b="1" sz="13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1" lang="en-US" sz="1100">
                <a:solidFill>
                  <a:srgbClr val="333333"/>
                </a:solidFill>
                <a:latin typeface="Microsoft YaHei"/>
                <a:ea typeface="Microsoft YaHei"/>
                <a:cs typeface="Microsoft YaHei"/>
                <a:sym typeface="Microsoft YaHei"/>
              </a:rPr>
              <a:t>67/80  潜在适用：</a:t>
            </a:r>
            <a:endParaRPr b="1"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光/GTS/智驾等团队多人协作生产级别开发</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长期演进 / 跨团队交接</a:t>
            </a:r>
            <a:endParaRPr b="0" sz="1100">
              <a:solidFill>
                <a:srgbClr val="333333"/>
              </a:solidFill>
              <a:latin typeface="Microsoft YaHei"/>
              <a:ea typeface="Microsoft YaHei"/>
              <a:cs typeface="Microsoft YaHei"/>
              <a:sym typeface="Microsoft YaHei"/>
            </a:endParaRPr>
          </a:p>
        </p:txBody>
      </p:sp>
      <p:sp>
        <p:nvSpPr>
          <p:cNvPr id="365" name="Google Shape;365;p12"/>
          <p:cNvSpPr/>
          <p:nvPr/>
        </p:nvSpPr>
        <p:spPr>
          <a:xfrm>
            <a:off x="457200" y="5074920"/>
            <a:ext cx="10332720" cy="508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6" name="Google Shape;366;p12"/>
          <p:cNvSpPr txBox="1"/>
          <p:nvPr/>
        </p:nvSpPr>
        <p:spPr>
          <a:xfrm>
            <a:off x="457200" y="5166360"/>
            <a:ext cx="10332720" cy="69913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核心结论</a:t>
            </a:r>
            <a:endParaRPr b="1" sz="13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444444"/>
                </a:solidFill>
                <a:latin typeface="Microsoft YaHei"/>
                <a:ea typeface="Microsoft YaHei"/>
                <a:cs typeface="Microsoft YaHei"/>
                <a:sym typeface="Microsoft YaHei"/>
              </a:rPr>
              <a:t>规格化程度直接决定最终质量。Vanilla（无规格）→ 原生 OpenSpec（4 artifact）→ OpenSpec-HW2（5 artifact + Usecases），三者总分 44→56→67，呈阶梯式提升 OpenSpec-HW2 的 Usecases 步骤是符合华为实践并且带来实质性提升的</a:t>
            </a:r>
            <a:endParaRPr b="0" sz="1200">
              <a:solidFill>
                <a:srgbClr val="444444"/>
              </a:solidFill>
              <a:latin typeface="Microsoft YaHei"/>
              <a:ea typeface="Microsoft YaHei"/>
              <a:cs typeface="Microsoft YaHei"/>
              <a:sym typeface="Microsoft YaHei"/>
            </a:endParaRPr>
          </a:p>
        </p:txBody>
      </p:sp>
      <p:sp>
        <p:nvSpPr>
          <p:cNvPr id="367" name="Google Shape;367;p12"/>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10/41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13"/>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3"/>
          <p:cNvSpPr txBox="1"/>
          <p:nvPr/>
        </p:nvSpPr>
        <p:spPr>
          <a:xfrm>
            <a:off x="731520" y="365760"/>
            <a:ext cx="98298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1A1A2E"/>
                </a:solidFill>
                <a:latin typeface="Microsoft YaHei"/>
                <a:ea typeface="Microsoft YaHei"/>
                <a:cs typeface="Microsoft YaHei"/>
                <a:sym typeface="Microsoft YaHei"/>
              </a:rPr>
              <a:t>实验2- 需求变更实验：OpenSpec-HW2 的迭代维护优势</a:t>
            </a:r>
            <a:endParaRPr b="1" sz="2800">
              <a:solidFill>
                <a:srgbClr val="1A1A2E"/>
              </a:solidFill>
              <a:latin typeface="Microsoft YaHei"/>
              <a:ea typeface="Microsoft YaHei"/>
              <a:cs typeface="Microsoft YaHei"/>
              <a:sym typeface="Microsoft YaHei"/>
            </a:endParaRPr>
          </a:p>
        </p:txBody>
      </p:sp>
      <p:sp>
        <p:nvSpPr>
          <p:cNvPr id="374" name="Google Shape;374;p13"/>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3"/>
          <p:cNvSpPr txBox="1"/>
          <p:nvPr/>
        </p:nvSpPr>
        <p:spPr>
          <a:xfrm>
            <a:off x="731520" y="1062355"/>
            <a:ext cx="10058400" cy="5835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rgbClr val="1A1A2E"/>
                </a:solidFill>
                <a:latin typeface="Microsoft YaHei"/>
                <a:ea typeface="Microsoft YaHei"/>
                <a:cs typeface="Microsoft YaHei"/>
                <a:sym typeface="Microsoft YaHei"/>
              </a:rPr>
              <a:t>前面展示了初始构建的对比。但软件 80% 的成本在维护阶段需求变更时，Vanilla Claude Code和Openspec类SDD工具差距更大。故设计了以下实验，</a:t>
            </a:r>
            <a:r>
              <a:rPr b="1" lang="en-US" sz="1600">
                <a:solidFill>
                  <a:srgbClr val="1A1A2E"/>
                </a:solidFill>
                <a:latin typeface="Microsoft YaHei"/>
                <a:ea typeface="Microsoft YaHei"/>
                <a:cs typeface="Microsoft YaHei"/>
                <a:sym typeface="Microsoft YaHei"/>
              </a:rPr>
              <a:t>详见Demo</a:t>
            </a:r>
            <a:endParaRPr b="1" sz="1600">
              <a:solidFill>
                <a:srgbClr val="1A1A2E"/>
              </a:solidFill>
              <a:latin typeface="Microsoft YaHei"/>
              <a:ea typeface="Microsoft YaHei"/>
              <a:cs typeface="Microsoft YaHei"/>
              <a:sym typeface="Microsoft YaHei"/>
            </a:endParaRPr>
          </a:p>
        </p:txBody>
      </p:sp>
      <p:sp>
        <p:nvSpPr>
          <p:cNvPr id="376" name="Google Shape;376;p13"/>
          <p:cNvSpPr/>
          <p:nvPr/>
        </p:nvSpPr>
        <p:spPr>
          <a:xfrm>
            <a:off x="457200" y="1920240"/>
            <a:ext cx="5303520" cy="1920240"/>
          </a:xfrm>
          <a:prstGeom prst="rect">
            <a:avLst/>
          </a:prstGeom>
          <a:solidFill>
            <a:srgbClr val="FDF2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7" name="Google Shape;377;p13"/>
          <p:cNvSpPr txBox="1"/>
          <p:nvPr/>
        </p:nvSpPr>
        <p:spPr>
          <a:xfrm>
            <a:off x="594360" y="196596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E67E22"/>
                </a:solidFill>
                <a:latin typeface="Microsoft YaHei"/>
                <a:ea typeface="Microsoft YaHei"/>
                <a:cs typeface="Microsoft YaHei"/>
                <a:sym typeface="Microsoft YaHei"/>
              </a:rPr>
              <a:t>实验场景</a:t>
            </a:r>
            <a:endParaRPr b="1" sz="1800">
              <a:solidFill>
                <a:srgbClr val="E67E22"/>
              </a:solidFill>
              <a:latin typeface="Microsoft YaHei"/>
              <a:ea typeface="Microsoft YaHei"/>
              <a:cs typeface="Microsoft YaHei"/>
              <a:sym typeface="Microsoft YaHei"/>
            </a:endParaRPr>
          </a:p>
        </p:txBody>
      </p:sp>
      <p:sp>
        <p:nvSpPr>
          <p:cNvPr id="378" name="Google Shape;378;p13"/>
          <p:cNvSpPr txBox="1"/>
          <p:nvPr/>
        </p:nvSpPr>
        <p:spPr>
          <a:xfrm>
            <a:off x="594360" y="2377440"/>
            <a:ext cx="5029200" cy="137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400">
                <a:solidFill>
                  <a:srgbClr val="1A1A2E"/>
                </a:solidFill>
                <a:latin typeface="Microsoft YaHei"/>
                <a:ea typeface="Microsoft YaHei"/>
                <a:cs typeface="Microsoft YaHei"/>
                <a:sym typeface="Microsoft YaHei"/>
              </a:rPr>
              <a:t>2024 年有色金属市场剧烈波动，铜价暴涨暴跌。</a:t>
            </a:r>
            <a:endParaRPr b="0" sz="14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400">
                <a:solidFill>
                  <a:srgbClr val="1A1A2E"/>
                </a:solidFill>
                <a:latin typeface="Microsoft YaHei"/>
                <a:ea typeface="Microsoft YaHei"/>
                <a:cs typeface="Microsoft YaHei"/>
                <a:sym typeface="Microsoft YaHei"/>
              </a:rPr>
              <a:t>客户反馈：固定参数风控策略反应太迟钝，多次在大幅</a:t>
            </a:r>
            <a:endParaRPr b="0" sz="14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400">
                <a:solidFill>
                  <a:srgbClr val="1A1A2E"/>
                </a:solidFill>
                <a:latin typeface="Microsoft YaHei"/>
                <a:ea typeface="Microsoft YaHei"/>
                <a:cs typeface="Microsoft YaHei"/>
                <a:sym typeface="Microsoft YaHei"/>
              </a:rPr>
              <a:t>回撤后才触发止损。产品经理提出 3 项需求变更。</a:t>
            </a:r>
            <a:endParaRPr b="0" sz="1400">
              <a:solidFill>
                <a:srgbClr val="1A1A2E"/>
              </a:solidFill>
              <a:latin typeface="Microsoft YaHei"/>
              <a:ea typeface="Microsoft YaHei"/>
              <a:cs typeface="Microsoft YaHei"/>
              <a:sym typeface="Microsoft YaHei"/>
            </a:endParaRPr>
          </a:p>
        </p:txBody>
      </p:sp>
      <p:sp>
        <p:nvSpPr>
          <p:cNvPr id="379" name="Google Shape;379;p13"/>
          <p:cNvSpPr/>
          <p:nvPr/>
        </p:nvSpPr>
        <p:spPr>
          <a:xfrm>
            <a:off x="6035040" y="1920240"/>
            <a:ext cx="5486400" cy="1920240"/>
          </a:xfrm>
          <a:prstGeom prst="rect">
            <a:avLst/>
          </a:prstGeom>
          <a:solidFill>
            <a:srgbClr val="E8F0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0" name="Google Shape;380;p13"/>
          <p:cNvSpPr txBox="1"/>
          <p:nvPr/>
        </p:nvSpPr>
        <p:spPr>
          <a:xfrm>
            <a:off x="6217920" y="1965960"/>
            <a:ext cx="51206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0078D4"/>
                </a:solidFill>
                <a:latin typeface="Microsoft YaHei"/>
                <a:ea typeface="Microsoft YaHei"/>
                <a:cs typeface="Microsoft YaHei"/>
                <a:sym typeface="Microsoft YaHei"/>
              </a:rPr>
              <a:t>三项需求变更</a:t>
            </a:r>
            <a:endParaRPr b="1" sz="1800">
              <a:solidFill>
                <a:srgbClr val="0078D4"/>
              </a:solidFill>
              <a:latin typeface="Microsoft YaHei"/>
              <a:ea typeface="Microsoft YaHei"/>
              <a:cs typeface="Microsoft YaHei"/>
              <a:sym typeface="Microsoft YaHei"/>
            </a:endParaRPr>
          </a:p>
        </p:txBody>
      </p:sp>
      <p:sp>
        <p:nvSpPr>
          <p:cNvPr id="381" name="Google Shape;381;p13"/>
          <p:cNvSpPr txBox="1"/>
          <p:nvPr/>
        </p:nvSpPr>
        <p:spPr>
          <a:xfrm>
            <a:off x="6217920" y="2377440"/>
            <a:ext cx="5120640" cy="137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1. 波动率自适应止损</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   低波动收紧 → 高波动放宽，避免固定参数的迟钝</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2. 动态再平衡频率</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   正常月度 → 高波动双周 → 极端波动周度</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3. 极端行情熔断机制（全新功能）</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   单日跌3%减半仓 | 跌5%全清仓 | 恢复需连续回升</a:t>
            </a:r>
            <a:endParaRPr b="0" sz="1300">
              <a:solidFill>
                <a:srgbClr val="1A1A2E"/>
              </a:solidFill>
              <a:latin typeface="Microsoft YaHei"/>
              <a:ea typeface="Microsoft YaHei"/>
              <a:cs typeface="Microsoft YaHei"/>
              <a:sym typeface="Microsoft YaHei"/>
            </a:endParaRPr>
          </a:p>
        </p:txBody>
      </p:sp>
      <p:sp>
        <p:nvSpPr>
          <p:cNvPr id="382" name="Google Shape;382;p13"/>
          <p:cNvSpPr/>
          <p:nvPr/>
        </p:nvSpPr>
        <p:spPr>
          <a:xfrm>
            <a:off x="457200" y="4114800"/>
            <a:ext cx="5303520" cy="18288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3" name="Google Shape;383;p13"/>
          <p:cNvSpPr txBox="1"/>
          <p:nvPr/>
        </p:nvSpPr>
        <p:spPr>
          <a:xfrm>
            <a:off x="594360" y="4160520"/>
            <a:ext cx="5029200" cy="3371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2E7D32"/>
                </a:solidFill>
                <a:latin typeface="Microsoft YaHei"/>
                <a:ea typeface="Microsoft YaHei"/>
                <a:cs typeface="Microsoft YaHei"/>
                <a:sym typeface="Microsoft YaHei"/>
              </a:rPr>
              <a:t>OpenSpec-HW2 方法</a:t>
            </a:r>
            <a:endParaRPr b="1" sz="1600">
              <a:solidFill>
                <a:srgbClr val="2E7D32"/>
              </a:solidFill>
              <a:latin typeface="Microsoft YaHei"/>
              <a:ea typeface="Microsoft YaHei"/>
              <a:cs typeface="Microsoft YaHei"/>
              <a:sym typeface="Microsoft YaHei"/>
            </a:endParaRPr>
          </a:p>
        </p:txBody>
      </p:sp>
      <p:sp>
        <p:nvSpPr>
          <p:cNvPr id="384" name="Google Shape;384;p13"/>
          <p:cNvSpPr txBox="1"/>
          <p:nvPr/>
        </p:nvSpPr>
        <p:spPr>
          <a:xfrm>
            <a:off x="594360" y="4572000"/>
            <a:ext cx="5029200" cy="1168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proposal → usecases → delta specs</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 design → tasks → 逐项实现代码</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生成 6 个 artifact 文档（636行），确保编码前</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完成影响分析和边界场景识别</a:t>
            </a:r>
            <a:endParaRPr b="0" sz="1300">
              <a:solidFill>
                <a:srgbClr val="1A1A2E"/>
              </a:solidFill>
              <a:latin typeface="Microsoft YaHei"/>
              <a:ea typeface="Microsoft YaHei"/>
              <a:cs typeface="Microsoft YaHei"/>
              <a:sym typeface="Microsoft YaHei"/>
            </a:endParaRPr>
          </a:p>
        </p:txBody>
      </p:sp>
      <p:sp>
        <p:nvSpPr>
          <p:cNvPr id="385" name="Google Shape;385;p13"/>
          <p:cNvSpPr/>
          <p:nvPr/>
        </p:nvSpPr>
        <p:spPr>
          <a:xfrm>
            <a:off x="6035040" y="4114800"/>
            <a:ext cx="5486400" cy="1828800"/>
          </a:xfrm>
          <a:prstGeom prst="rect">
            <a:avLst/>
          </a:prstGeom>
          <a:solidFill>
            <a:srgbClr val="FFEB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6" name="Google Shape;386;p13"/>
          <p:cNvSpPr txBox="1"/>
          <p:nvPr/>
        </p:nvSpPr>
        <p:spPr>
          <a:xfrm>
            <a:off x="6217920" y="4160520"/>
            <a:ext cx="5120640" cy="3371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C62828"/>
                </a:solidFill>
                <a:latin typeface="Microsoft YaHei"/>
                <a:ea typeface="Microsoft YaHei"/>
                <a:cs typeface="Microsoft YaHei"/>
                <a:sym typeface="Microsoft YaHei"/>
              </a:rPr>
              <a:t>Vanilla Claude Code 方法</a:t>
            </a:r>
            <a:endParaRPr b="1" sz="1600">
              <a:solidFill>
                <a:srgbClr val="C62828"/>
              </a:solidFill>
              <a:latin typeface="Microsoft YaHei"/>
              <a:ea typeface="Microsoft YaHei"/>
              <a:cs typeface="Microsoft YaHei"/>
              <a:sym typeface="Microsoft YaHei"/>
            </a:endParaRPr>
          </a:p>
        </p:txBody>
      </p:sp>
      <p:sp>
        <p:nvSpPr>
          <p:cNvPr id="387" name="Google Shape;387;p13"/>
          <p:cNvSpPr txBox="1"/>
          <p:nvPr/>
        </p:nvSpPr>
        <p:spPr>
          <a:xfrm>
            <a:off x="6217920" y="4572000"/>
            <a:ext cx="5120640" cy="1168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直接拿到需求文档 → 让 AI 编码实现</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不使用任何规格框架</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模拟vibe coding最常见的 拿到需求直接写代码 方式</a:t>
            </a:r>
            <a:endParaRPr b="0" sz="1300">
              <a:solidFill>
                <a:srgbClr val="1A1A2E"/>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无 spec、无 design、无 task 分解</a:t>
            </a:r>
            <a:endParaRPr b="0" sz="1300">
              <a:solidFill>
                <a:srgbClr val="1A1A2E"/>
              </a:solidFill>
              <a:latin typeface="Microsoft YaHei"/>
              <a:ea typeface="Microsoft YaHei"/>
              <a:cs typeface="Microsoft YaHei"/>
              <a:sym typeface="Microsoft YaHei"/>
            </a:endParaRPr>
          </a:p>
        </p:txBody>
      </p:sp>
      <p:sp>
        <p:nvSpPr>
          <p:cNvPr id="388" name="Google Shape;388;p13"/>
          <p:cNvSpPr/>
          <p:nvPr/>
        </p:nvSpPr>
        <p:spPr>
          <a:xfrm>
            <a:off x="365760" y="6126480"/>
            <a:ext cx="11430000" cy="457200"/>
          </a:xfrm>
          <a:prstGeom prst="rect">
            <a:avLst/>
          </a:prstGeom>
          <a:solidFill>
            <a:srgbClr val="E8F0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9" name="Google Shape;389;p13"/>
          <p:cNvSpPr txBox="1"/>
          <p:nvPr/>
        </p:nvSpPr>
        <p:spPr>
          <a:xfrm>
            <a:off x="548640" y="6171480"/>
            <a:ext cx="110642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关键选题：跨风控/回测/策略/配置 4 个模块，同时涉及修改现有功能和新增全新功能，最能体现迭代维护的复杂性</a:t>
            </a:r>
            <a:endParaRPr b="0" sz="1300">
              <a:solidFill>
                <a:srgbClr val="1A1A2E"/>
              </a:solidFill>
              <a:latin typeface="Microsoft YaHei"/>
              <a:ea typeface="Microsoft YaHei"/>
              <a:cs typeface="Microsoft YaHei"/>
              <a:sym typeface="Microsoft YaHei"/>
            </a:endParaRPr>
          </a:p>
        </p:txBody>
      </p:sp>
      <p:sp>
        <p:nvSpPr>
          <p:cNvPr id="390" name="Google Shape;390;p13"/>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888888"/>
                </a:solidFill>
                <a:latin typeface="Microsoft YaHei"/>
                <a:ea typeface="Microsoft YaHei"/>
                <a:cs typeface="Microsoft YaHei"/>
                <a:sym typeface="Microsoft YaHei"/>
              </a:rPr>
              <a:t>11/41</a:t>
            </a:r>
            <a:endParaRPr b="0" sz="1100">
              <a:solidFill>
                <a:srgbClr val="888888"/>
              </a:solidFill>
              <a:latin typeface="Microsoft YaHei"/>
              <a:ea typeface="Microsoft YaHei"/>
              <a:cs typeface="Microsoft YaHei"/>
              <a:sym typeface="Microsoft YaHe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14"/>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14"/>
          <p:cNvSpPr txBox="1"/>
          <p:nvPr/>
        </p:nvSpPr>
        <p:spPr>
          <a:xfrm>
            <a:off x="731520" y="365760"/>
            <a:ext cx="91440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1A1A2E"/>
                </a:solidFill>
                <a:latin typeface="Microsoft YaHei"/>
                <a:ea typeface="Microsoft YaHei"/>
                <a:cs typeface="Microsoft YaHei"/>
                <a:sym typeface="Microsoft YaHei"/>
              </a:rPr>
              <a:t>实验2- 需求变更实验结果：软件工程维度对比</a:t>
            </a:r>
            <a:endParaRPr b="1" sz="2800">
              <a:solidFill>
                <a:srgbClr val="1A1A2E"/>
              </a:solidFill>
              <a:latin typeface="Microsoft YaHei"/>
              <a:ea typeface="Microsoft YaHei"/>
              <a:cs typeface="Microsoft YaHei"/>
              <a:sym typeface="Microsoft YaHei"/>
            </a:endParaRPr>
          </a:p>
        </p:txBody>
      </p:sp>
      <p:sp>
        <p:nvSpPr>
          <p:cNvPr id="397" name="Google Shape;397;p14"/>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8" name="Google Shape;398;p14"/>
          <p:cNvSpPr/>
          <p:nvPr/>
        </p:nvSpPr>
        <p:spPr>
          <a:xfrm>
            <a:off x="457200" y="1280160"/>
            <a:ext cx="2560320" cy="420000"/>
          </a:xfrm>
          <a:prstGeom prst="rect">
            <a:avLst/>
          </a:prstGeom>
          <a:solidFill>
            <a:srgbClr val="1A1A2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4"/>
          <p:cNvSpPr/>
          <p:nvPr/>
        </p:nvSpPr>
        <p:spPr>
          <a:xfrm>
            <a:off x="3017520" y="1280160"/>
            <a:ext cx="3840480" cy="420000"/>
          </a:xfrm>
          <a:prstGeom prst="rect">
            <a:avLst/>
          </a:prstGeom>
          <a:solidFill>
            <a:srgbClr val="2E7D32"/>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14"/>
          <p:cNvSpPr/>
          <p:nvPr/>
        </p:nvSpPr>
        <p:spPr>
          <a:xfrm>
            <a:off x="6858000" y="1280160"/>
            <a:ext cx="3840480" cy="420000"/>
          </a:xfrm>
          <a:prstGeom prst="rect">
            <a:avLst/>
          </a:prstGeom>
          <a:solidFill>
            <a:srgbClr val="C6282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4"/>
          <p:cNvSpPr/>
          <p:nvPr/>
        </p:nvSpPr>
        <p:spPr>
          <a:xfrm>
            <a:off x="10698480" y="1280160"/>
            <a:ext cx="1097280" cy="420000"/>
          </a:xfrm>
          <a:prstGeom prst="rect">
            <a:avLst/>
          </a:prstGeom>
          <a:solidFill>
            <a:srgbClr val="1A1A2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2" name="Google Shape;402;p14"/>
          <p:cNvSpPr txBox="1"/>
          <p:nvPr/>
        </p:nvSpPr>
        <p:spPr>
          <a:xfrm>
            <a:off x="537200" y="1340160"/>
            <a:ext cx="240032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FFFFFF"/>
                </a:solidFill>
                <a:latin typeface="Microsoft YaHei"/>
                <a:ea typeface="Microsoft YaHei"/>
                <a:cs typeface="Microsoft YaHei"/>
                <a:sym typeface="Microsoft YaHei"/>
              </a:rPr>
              <a:t>对比维度</a:t>
            </a:r>
            <a:endParaRPr b="1" sz="1400">
              <a:solidFill>
                <a:srgbClr val="FFFFFF"/>
              </a:solidFill>
              <a:latin typeface="Microsoft YaHei"/>
              <a:ea typeface="Microsoft YaHei"/>
              <a:cs typeface="Microsoft YaHei"/>
              <a:sym typeface="Microsoft YaHei"/>
            </a:endParaRPr>
          </a:p>
        </p:txBody>
      </p:sp>
      <p:sp>
        <p:nvSpPr>
          <p:cNvPr id="403" name="Google Shape;403;p14"/>
          <p:cNvSpPr txBox="1"/>
          <p:nvPr/>
        </p:nvSpPr>
        <p:spPr>
          <a:xfrm>
            <a:off x="3097520" y="1340160"/>
            <a:ext cx="36804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FFFFFF"/>
                </a:solidFill>
                <a:latin typeface="Microsoft YaHei"/>
                <a:ea typeface="Microsoft YaHei"/>
                <a:cs typeface="Microsoft YaHei"/>
                <a:sym typeface="Microsoft YaHei"/>
              </a:rPr>
              <a:t>OpenSpec-HW2 版</a:t>
            </a:r>
            <a:endParaRPr b="1" sz="1400">
              <a:solidFill>
                <a:srgbClr val="FFFFFF"/>
              </a:solidFill>
              <a:latin typeface="Microsoft YaHei"/>
              <a:ea typeface="Microsoft YaHei"/>
              <a:cs typeface="Microsoft YaHei"/>
              <a:sym typeface="Microsoft YaHei"/>
            </a:endParaRPr>
          </a:p>
        </p:txBody>
      </p:sp>
      <p:sp>
        <p:nvSpPr>
          <p:cNvPr id="404" name="Google Shape;404;p14"/>
          <p:cNvSpPr txBox="1"/>
          <p:nvPr/>
        </p:nvSpPr>
        <p:spPr>
          <a:xfrm>
            <a:off x="6938000" y="1340160"/>
            <a:ext cx="3680480" cy="30670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FFFFFF"/>
                </a:solidFill>
                <a:latin typeface="Microsoft YaHei"/>
                <a:ea typeface="Microsoft YaHei"/>
                <a:cs typeface="Microsoft YaHei"/>
                <a:sym typeface="Microsoft YaHei"/>
              </a:rPr>
              <a:t>Vanilla Claude Code 版</a:t>
            </a:r>
            <a:endParaRPr b="1" sz="1400">
              <a:solidFill>
                <a:srgbClr val="FFFFFF"/>
              </a:solidFill>
              <a:latin typeface="Microsoft YaHei"/>
              <a:ea typeface="Microsoft YaHei"/>
              <a:cs typeface="Microsoft YaHei"/>
              <a:sym typeface="Microsoft YaHei"/>
            </a:endParaRPr>
          </a:p>
        </p:txBody>
      </p:sp>
      <p:sp>
        <p:nvSpPr>
          <p:cNvPr id="405" name="Google Shape;405;p14"/>
          <p:cNvSpPr txBox="1"/>
          <p:nvPr/>
        </p:nvSpPr>
        <p:spPr>
          <a:xfrm>
            <a:off x="10778480" y="1340160"/>
            <a:ext cx="937280" cy="30670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FFFFFF"/>
                </a:solidFill>
                <a:latin typeface="Microsoft YaHei"/>
                <a:ea typeface="Microsoft YaHei"/>
                <a:cs typeface="Microsoft YaHei"/>
                <a:sym typeface="Microsoft YaHei"/>
              </a:rPr>
              <a:t>提升</a:t>
            </a:r>
            <a:endParaRPr b="1" sz="1400">
              <a:solidFill>
                <a:srgbClr val="FFFFFF"/>
              </a:solidFill>
              <a:latin typeface="Microsoft YaHei"/>
              <a:ea typeface="Microsoft YaHei"/>
              <a:cs typeface="Microsoft YaHei"/>
              <a:sym typeface="Microsoft YaHei"/>
            </a:endParaRPr>
          </a:p>
        </p:txBody>
      </p:sp>
      <p:sp>
        <p:nvSpPr>
          <p:cNvPr id="406" name="Google Shape;406;p14"/>
          <p:cNvSpPr/>
          <p:nvPr/>
        </p:nvSpPr>
        <p:spPr>
          <a:xfrm>
            <a:off x="457200" y="1700160"/>
            <a:ext cx="256032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7" name="Google Shape;407;p14"/>
          <p:cNvSpPr/>
          <p:nvPr/>
        </p:nvSpPr>
        <p:spPr>
          <a:xfrm>
            <a:off x="3017520" y="1700160"/>
            <a:ext cx="3840480" cy="4200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4"/>
          <p:cNvSpPr/>
          <p:nvPr/>
        </p:nvSpPr>
        <p:spPr>
          <a:xfrm>
            <a:off x="6858000" y="1700160"/>
            <a:ext cx="3840480" cy="420000"/>
          </a:xfrm>
          <a:prstGeom prst="rect">
            <a:avLst/>
          </a:prstGeom>
          <a:solidFill>
            <a:srgbClr val="FFEB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14"/>
          <p:cNvSpPr/>
          <p:nvPr/>
        </p:nvSpPr>
        <p:spPr>
          <a:xfrm>
            <a:off x="10698480" y="1700160"/>
            <a:ext cx="109728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4"/>
          <p:cNvSpPr txBox="1"/>
          <p:nvPr/>
        </p:nvSpPr>
        <p:spPr>
          <a:xfrm>
            <a:off x="537200" y="173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边界场景覆盖</a:t>
            </a:r>
            <a:endParaRPr b="1" sz="1100">
              <a:solidFill>
                <a:srgbClr val="1A1A2E"/>
              </a:solidFill>
              <a:latin typeface="Microsoft YaHei"/>
              <a:ea typeface="Microsoft YaHei"/>
              <a:cs typeface="Microsoft YaHei"/>
              <a:sym typeface="Microsoft YaHei"/>
            </a:endParaRPr>
          </a:p>
        </p:txBody>
      </p:sp>
      <p:sp>
        <p:nvSpPr>
          <p:cNvPr id="411" name="Google Shape;411;p14"/>
          <p:cNvSpPr txBox="1"/>
          <p:nvPr/>
        </p:nvSpPr>
        <p:spPr>
          <a:xfrm>
            <a:off x="3097520" y="172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10 个边界场景（含 T+1 冲突、</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熔断恢复中断、频率切换等）</a:t>
            </a:r>
            <a:endParaRPr b="0" sz="1000">
              <a:solidFill>
                <a:srgbClr val="2E7D32"/>
              </a:solidFill>
              <a:latin typeface="Microsoft YaHei"/>
              <a:ea typeface="Microsoft YaHei"/>
              <a:cs typeface="Microsoft YaHei"/>
              <a:sym typeface="Microsoft YaHei"/>
            </a:endParaRPr>
          </a:p>
        </p:txBody>
      </p:sp>
      <p:sp>
        <p:nvSpPr>
          <p:cNvPr id="412" name="Google Shape;412;p14"/>
          <p:cNvSpPr txBox="1"/>
          <p:nvPr/>
        </p:nvSpPr>
        <p:spPr>
          <a:xfrm>
            <a:off x="6938000" y="172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2 个边界场景</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（数据不足、熔断升级）</a:t>
            </a:r>
            <a:endParaRPr b="0" sz="1000">
              <a:solidFill>
                <a:srgbClr val="C62828"/>
              </a:solidFill>
              <a:latin typeface="Microsoft YaHei"/>
              <a:ea typeface="Microsoft YaHei"/>
              <a:cs typeface="Microsoft YaHei"/>
              <a:sym typeface="Microsoft YaHei"/>
            </a:endParaRPr>
          </a:p>
        </p:txBody>
      </p:sp>
      <p:sp>
        <p:nvSpPr>
          <p:cNvPr id="413" name="Google Shape;413;p14"/>
          <p:cNvSpPr txBox="1"/>
          <p:nvPr/>
        </p:nvSpPr>
        <p:spPr>
          <a:xfrm>
            <a:off x="10778480" y="176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5x</a:t>
            </a:r>
            <a:endParaRPr b="1" sz="1400">
              <a:solidFill>
                <a:srgbClr val="0078D4"/>
              </a:solidFill>
              <a:latin typeface="Microsoft YaHei"/>
              <a:ea typeface="Microsoft YaHei"/>
              <a:cs typeface="Microsoft YaHei"/>
              <a:sym typeface="Microsoft YaHei"/>
            </a:endParaRPr>
          </a:p>
        </p:txBody>
      </p:sp>
      <p:sp>
        <p:nvSpPr>
          <p:cNvPr id="414" name="Google Shape;414;p14"/>
          <p:cNvSpPr/>
          <p:nvPr/>
        </p:nvSpPr>
        <p:spPr>
          <a:xfrm>
            <a:off x="457200" y="2120160"/>
            <a:ext cx="256032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5" name="Google Shape;415;p14"/>
          <p:cNvSpPr/>
          <p:nvPr/>
        </p:nvSpPr>
        <p:spPr>
          <a:xfrm>
            <a:off x="3017520" y="2120160"/>
            <a:ext cx="3840480" cy="420000"/>
          </a:xfrm>
          <a:prstGeom prst="rect">
            <a:avLst/>
          </a:prstGeom>
          <a:solidFill>
            <a:srgbClr val="F1F8F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4"/>
          <p:cNvSpPr/>
          <p:nvPr/>
        </p:nvSpPr>
        <p:spPr>
          <a:xfrm>
            <a:off x="6858000" y="2120160"/>
            <a:ext cx="3840480" cy="420000"/>
          </a:xfrm>
          <a:prstGeom prst="rect">
            <a:avLst/>
          </a:prstGeom>
          <a:solidFill>
            <a:srgbClr val="FC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7" name="Google Shape;417;p14"/>
          <p:cNvSpPr/>
          <p:nvPr/>
        </p:nvSpPr>
        <p:spPr>
          <a:xfrm>
            <a:off x="10698480" y="2120160"/>
            <a:ext cx="109728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4"/>
          <p:cNvSpPr txBox="1"/>
          <p:nvPr/>
        </p:nvSpPr>
        <p:spPr>
          <a:xfrm>
            <a:off x="537200" y="215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测试用例</a:t>
            </a:r>
            <a:endParaRPr b="1" sz="1100">
              <a:solidFill>
                <a:srgbClr val="1A1A2E"/>
              </a:solidFill>
              <a:latin typeface="Microsoft YaHei"/>
              <a:ea typeface="Microsoft YaHei"/>
              <a:cs typeface="Microsoft YaHei"/>
              <a:sym typeface="Microsoft YaHei"/>
            </a:endParaRPr>
          </a:p>
        </p:txBody>
      </p:sp>
      <p:sp>
        <p:nvSpPr>
          <p:cNvPr id="419" name="Google Shape;419;p14"/>
          <p:cNvSpPr txBox="1"/>
          <p:nvPr/>
        </p:nvSpPr>
        <p:spPr>
          <a:xfrm>
            <a:off x="3097520" y="214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27 个新增测试</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（3 个测试文件，pytest 框架）</a:t>
            </a:r>
            <a:endParaRPr b="0" sz="1000">
              <a:solidFill>
                <a:srgbClr val="2E7D32"/>
              </a:solidFill>
              <a:latin typeface="Microsoft YaHei"/>
              <a:ea typeface="Microsoft YaHei"/>
              <a:cs typeface="Microsoft YaHei"/>
              <a:sym typeface="Microsoft YaHei"/>
            </a:endParaRPr>
          </a:p>
        </p:txBody>
      </p:sp>
      <p:sp>
        <p:nvSpPr>
          <p:cNvPr id="420" name="Google Shape;420;p14"/>
          <p:cNvSpPr txBox="1"/>
          <p:nvPr/>
        </p:nvSpPr>
        <p:spPr>
          <a:xfrm>
            <a:off x="6938000" y="214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0 个测试</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（无任何自动化测试）</a:t>
            </a:r>
            <a:endParaRPr b="0" sz="1000">
              <a:solidFill>
                <a:srgbClr val="C62828"/>
              </a:solidFill>
              <a:latin typeface="Microsoft YaHei"/>
              <a:ea typeface="Microsoft YaHei"/>
              <a:cs typeface="Microsoft YaHei"/>
              <a:sym typeface="Microsoft YaHei"/>
            </a:endParaRPr>
          </a:p>
        </p:txBody>
      </p:sp>
      <p:sp>
        <p:nvSpPr>
          <p:cNvPr id="421" name="Google Shape;421;p14"/>
          <p:cNvSpPr txBox="1"/>
          <p:nvPr/>
        </p:nvSpPr>
        <p:spPr>
          <a:xfrm>
            <a:off x="10778480" y="218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a:t>
            </a:r>
            <a:endParaRPr b="1" sz="1400">
              <a:solidFill>
                <a:srgbClr val="0078D4"/>
              </a:solidFill>
              <a:latin typeface="Microsoft YaHei"/>
              <a:ea typeface="Microsoft YaHei"/>
              <a:cs typeface="Microsoft YaHei"/>
              <a:sym typeface="Microsoft YaHei"/>
            </a:endParaRPr>
          </a:p>
        </p:txBody>
      </p:sp>
      <p:sp>
        <p:nvSpPr>
          <p:cNvPr id="422" name="Google Shape;422;p14"/>
          <p:cNvSpPr/>
          <p:nvPr/>
        </p:nvSpPr>
        <p:spPr>
          <a:xfrm>
            <a:off x="457200" y="2540160"/>
            <a:ext cx="256032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14"/>
          <p:cNvSpPr/>
          <p:nvPr/>
        </p:nvSpPr>
        <p:spPr>
          <a:xfrm>
            <a:off x="3017520" y="2540160"/>
            <a:ext cx="3840480" cy="4200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4" name="Google Shape;424;p14"/>
          <p:cNvSpPr/>
          <p:nvPr/>
        </p:nvSpPr>
        <p:spPr>
          <a:xfrm>
            <a:off x="6858000" y="2540160"/>
            <a:ext cx="3840480" cy="420000"/>
          </a:xfrm>
          <a:prstGeom prst="rect">
            <a:avLst/>
          </a:prstGeom>
          <a:solidFill>
            <a:srgbClr val="FFEB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5" name="Google Shape;425;p14"/>
          <p:cNvSpPr/>
          <p:nvPr/>
        </p:nvSpPr>
        <p:spPr>
          <a:xfrm>
            <a:off x="10698480" y="2540160"/>
            <a:ext cx="109728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14"/>
          <p:cNvSpPr txBox="1"/>
          <p:nvPr/>
        </p:nvSpPr>
        <p:spPr>
          <a:xfrm>
            <a:off x="537200" y="257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变更文档</a:t>
            </a:r>
            <a:endParaRPr b="1" sz="1100">
              <a:solidFill>
                <a:srgbClr val="1A1A2E"/>
              </a:solidFill>
              <a:latin typeface="Microsoft YaHei"/>
              <a:ea typeface="Microsoft YaHei"/>
              <a:cs typeface="Microsoft YaHei"/>
              <a:sym typeface="Microsoft YaHei"/>
            </a:endParaRPr>
          </a:p>
        </p:txBody>
      </p:sp>
      <p:sp>
        <p:nvSpPr>
          <p:cNvPr id="427" name="Google Shape;427;p14"/>
          <p:cNvSpPr txBox="1"/>
          <p:nvPr/>
        </p:nvSpPr>
        <p:spPr>
          <a:xfrm>
            <a:off x="3097520" y="256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636 行 artifact 文档</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（proposal→usecases→specs→design→tasks）</a:t>
            </a:r>
            <a:endParaRPr b="0" sz="1000">
              <a:solidFill>
                <a:srgbClr val="2E7D32"/>
              </a:solidFill>
              <a:latin typeface="Microsoft YaHei"/>
              <a:ea typeface="Microsoft YaHei"/>
              <a:cs typeface="Microsoft YaHei"/>
              <a:sym typeface="Microsoft YaHei"/>
            </a:endParaRPr>
          </a:p>
        </p:txBody>
      </p:sp>
      <p:sp>
        <p:nvSpPr>
          <p:cNvPr id="428" name="Google Shape;428;p14"/>
          <p:cNvSpPr txBox="1"/>
          <p:nvPr/>
        </p:nvSpPr>
        <p:spPr>
          <a:xfrm>
            <a:off x="6938000" y="256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0 行文档</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（无 proposal、无 design、无记录）</a:t>
            </a:r>
            <a:endParaRPr b="0" sz="1000">
              <a:solidFill>
                <a:srgbClr val="C62828"/>
              </a:solidFill>
              <a:latin typeface="Microsoft YaHei"/>
              <a:ea typeface="Microsoft YaHei"/>
              <a:cs typeface="Microsoft YaHei"/>
              <a:sym typeface="Microsoft YaHei"/>
            </a:endParaRPr>
          </a:p>
        </p:txBody>
      </p:sp>
      <p:sp>
        <p:nvSpPr>
          <p:cNvPr id="429" name="Google Shape;429;p14"/>
          <p:cNvSpPr txBox="1"/>
          <p:nvPr/>
        </p:nvSpPr>
        <p:spPr>
          <a:xfrm>
            <a:off x="10778480" y="260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a:t>
            </a:r>
            <a:endParaRPr b="1" sz="1400">
              <a:solidFill>
                <a:srgbClr val="0078D4"/>
              </a:solidFill>
              <a:latin typeface="Microsoft YaHei"/>
              <a:ea typeface="Microsoft YaHei"/>
              <a:cs typeface="Microsoft YaHei"/>
              <a:sym typeface="Microsoft YaHei"/>
            </a:endParaRPr>
          </a:p>
        </p:txBody>
      </p:sp>
      <p:sp>
        <p:nvSpPr>
          <p:cNvPr id="430" name="Google Shape;430;p14"/>
          <p:cNvSpPr/>
          <p:nvPr/>
        </p:nvSpPr>
        <p:spPr>
          <a:xfrm>
            <a:off x="457200" y="2960160"/>
            <a:ext cx="256032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4"/>
          <p:cNvSpPr/>
          <p:nvPr/>
        </p:nvSpPr>
        <p:spPr>
          <a:xfrm>
            <a:off x="3017520" y="2960160"/>
            <a:ext cx="3840480" cy="420000"/>
          </a:xfrm>
          <a:prstGeom prst="rect">
            <a:avLst/>
          </a:prstGeom>
          <a:solidFill>
            <a:srgbClr val="F1F8F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4"/>
          <p:cNvSpPr/>
          <p:nvPr/>
        </p:nvSpPr>
        <p:spPr>
          <a:xfrm>
            <a:off x="6858000" y="2960160"/>
            <a:ext cx="3840480" cy="420000"/>
          </a:xfrm>
          <a:prstGeom prst="rect">
            <a:avLst/>
          </a:prstGeom>
          <a:solidFill>
            <a:srgbClr val="FC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4"/>
          <p:cNvSpPr/>
          <p:nvPr/>
        </p:nvSpPr>
        <p:spPr>
          <a:xfrm>
            <a:off x="10698480" y="2960160"/>
            <a:ext cx="109728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4"/>
          <p:cNvSpPr txBox="1"/>
          <p:nvPr/>
        </p:nvSpPr>
        <p:spPr>
          <a:xfrm>
            <a:off x="537200" y="299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代码模块化</a:t>
            </a:r>
            <a:endParaRPr b="1" sz="1100">
              <a:solidFill>
                <a:srgbClr val="1A1A2E"/>
              </a:solidFill>
              <a:latin typeface="Microsoft YaHei"/>
              <a:ea typeface="Microsoft YaHei"/>
              <a:cs typeface="Microsoft YaHei"/>
              <a:sym typeface="Microsoft YaHei"/>
            </a:endParaRPr>
          </a:p>
        </p:txBody>
      </p:sp>
      <p:sp>
        <p:nvSpPr>
          <p:cNvPr id="435" name="Google Shape;435;p14"/>
          <p:cNvSpPr txBox="1"/>
          <p:nvPr/>
        </p:nvSpPr>
        <p:spPr>
          <a:xfrm>
            <a:off x="3097520" y="298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7 个文件（2 新模块 + 3 测试 +</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2 个修改），单一职责</a:t>
            </a:r>
            <a:endParaRPr b="0" sz="1000">
              <a:solidFill>
                <a:srgbClr val="2E7D32"/>
              </a:solidFill>
              <a:latin typeface="Microsoft YaHei"/>
              <a:ea typeface="Microsoft YaHei"/>
              <a:cs typeface="Microsoft YaHei"/>
              <a:sym typeface="Microsoft YaHei"/>
            </a:endParaRPr>
          </a:p>
        </p:txBody>
      </p:sp>
      <p:sp>
        <p:nvSpPr>
          <p:cNvPr id="436" name="Google Shape;436;p14"/>
          <p:cNvSpPr txBox="1"/>
          <p:nvPr/>
        </p:nvSpPr>
        <p:spPr>
          <a:xfrm>
            <a:off x="6938000" y="298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2 个文件，所有逻辑</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挤在 backtester.py</a:t>
            </a:r>
            <a:endParaRPr b="0" sz="1000">
              <a:solidFill>
                <a:srgbClr val="C62828"/>
              </a:solidFill>
              <a:latin typeface="Microsoft YaHei"/>
              <a:ea typeface="Microsoft YaHei"/>
              <a:cs typeface="Microsoft YaHei"/>
              <a:sym typeface="Microsoft YaHei"/>
            </a:endParaRPr>
          </a:p>
        </p:txBody>
      </p:sp>
      <p:sp>
        <p:nvSpPr>
          <p:cNvPr id="437" name="Google Shape;437;p14"/>
          <p:cNvSpPr txBox="1"/>
          <p:nvPr/>
        </p:nvSpPr>
        <p:spPr>
          <a:xfrm>
            <a:off x="10778480" y="302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3.5x</a:t>
            </a:r>
            <a:endParaRPr b="1" sz="1400">
              <a:solidFill>
                <a:srgbClr val="0078D4"/>
              </a:solidFill>
              <a:latin typeface="Microsoft YaHei"/>
              <a:ea typeface="Microsoft YaHei"/>
              <a:cs typeface="Microsoft YaHei"/>
              <a:sym typeface="Microsoft YaHei"/>
            </a:endParaRPr>
          </a:p>
        </p:txBody>
      </p:sp>
      <p:sp>
        <p:nvSpPr>
          <p:cNvPr id="438" name="Google Shape;438;p14"/>
          <p:cNvSpPr/>
          <p:nvPr/>
        </p:nvSpPr>
        <p:spPr>
          <a:xfrm>
            <a:off x="457200" y="3380160"/>
            <a:ext cx="256032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4"/>
          <p:cNvSpPr/>
          <p:nvPr/>
        </p:nvSpPr>
        <p:spPr>
          <a:xfrm>
            <a:off x="3017520" y="3380160"/>
            <a:ext cx="3840480" cy="4200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0" name="Google Shape;440;p14"/>
          <p:cNvSpPr/>
          <p:nvPr/>
        </p:nvSpPr>
        <p:spPr>
          <a:xfrm>
            <a:off x="6858000" y="3380160"/>
            <a:ext cx="3840480" cy="420000"/>
          </a:xfrm>
          <a:prstGeom prst="rect">
            <a:avLst/>
          </a:prstGeom>
          <a:solidFill>
            <a:srgbClr val="FFEB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14"/>
          <p:cNvSpPr/>
          <p:nvPr/>
        </p:nvSpPr>
        <p:spPr>
          <a:xfrm>
            <a:off x="10698480" y="3380160"/>
            <a:ext cx="109728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2" name="Google Shape;442;p14"/>
          <p:cNvSpPr txBox="1"/>
          <p:nvPr/>
        </p:nvSpPr>
        <p:spPr>
          <a:xfrm>
            <a:off x="537200" y="341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新增代码行</a:t>
            </a:r>
            <a:endParaRPr b="1" sz="1100">
              <a:solidFill>
                <a:srgbClr val="1A1A2E"/>
              </a:solidFill>
              <a:latin typeface="Microsoft YaHei"/>
              <a:ea typeface="Microsoft YaHei"/>
              <a:cs typeface="Microsoft YaHei"/>
              <a:sym typeface="Microsoft YaHei"/>
            </a:endParaRPr>
          </a:p>
        </p:txBody>
      </p:sp>
      <p:sp>
        <p:nvSpPr>
          <p:cNvPr id="443" name="Google Shape;443;p14"/>
          <p:cNvSpPr txBox="1"/>
          <p:nvPr/>
        </p:nvSpPr>
        <p:spPr>
          <a:xfrm>
            <a:off x="3097520" y="340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662 行（源码 303 + 测试 359）</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分布在独立模块</a:t>
            </a:r>
            <a:endParaRPr b="0" sz="1000">
              <a:solidFill>
                <a:srgbClr val="2E7D32"/>
              </a:solidFill>
              <a:latin typeface="Microsoft YaHei"/>
              <a:ea typeface="Microsoft YaHei"/>
              <a:cs typeface="Microsoft YaHei"/>
              <a:sym typeface="Microsoft YaHei"/>
            </a:endParaRPr>
          </a:p>
        </p:txBody>
      </p:sp>
      <p:sp>
        <p:nvSpPr>
          <p:cNvPr id="444" name="Google Shape;444;p14"/>
          <p:cNvSpPr txBox="1"/>
          <p:nvPr/>
        </p:nvSpPr>
        <p:spPr>
          <a:xfrm>
            <a:off x="6938000" y="340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163 行</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全部混在主函数</a:t>
            </a:r>
            <a:endParaRPr b="0" sz="1000">
              <a:solidFill>
                <a:srgbClr val="C62828"/>
              </a:solidFill>
              <a:latin typeface="Microsoft YaHei"/>
              <a:ea typeface="Microsoft YaHei"/>
              <a:cs typeface="Microsoft YaHei"/>
              <a:sym typeface="Microsoft YaHei"/>
            </a:endParaRPr>
          </a:p>
        </p:txBody>
      </p:sp>
      <p:sp>
        <p:nvSpPr>
          <p:cNvPr id="445" name="Google Shape;445;p14"/>
          <p:cNvSpPr txBox="1"/>
          <p:nvPr/>
        </p:nvSpPr>
        <p:spPr>
          <a:xfrm>
            <a:off x="10778480" y="344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4x</a:t>
            </a:r>
            <a:endParaRPr b="1" sz="1400">
              <a:solidFill>
                <a:srgbClr val="0078D4"/>
              </a:solidFill>
              <a:latin typeface="Microsoft YaHei"/>
              <a:ea typeface="Microsoft YaHei"/>
              <a:cs typeface="Microsoft YaHei"/>
              <a:sym typeface="Microsoft YaHei"/>
            </a:endParaRPr>
          </a:p>
        </p:txBody>
      </p:sp>
      <p:sp>
        <p:nvSpPr>
          <p:cNvPr id="446" name="Google Shape;446;p14"/>
          <p:cNvSpPr/>
          <p:nvPr/>
        </p:nvSpPr>
        <p:spPr>
          <a:xfrm>
            <a:off x="457200" y="3800160"/>
            <a:ext cx="256032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7" name="Google Shape;447;p14"/>
          <p:cNvSpPr/>
          <p:nvPr/>
        </p:nvSpPr>
        <p:spPr>
          <a:xfrm>
            <a:off x="3017520" y="3800160"/>
            <a:ext cx="3840480" cy="420000"/>
          </a:xfrm>
          <a:prstGeom prst="rect">
            <a:avLst/>
          </a:prstGeom>
          <a:solidFill>
            <a:srgbClr val="F1F8F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8" name="Google Shape;448;p14"/>
          <p:cNvSpPr/>
          <p:nvPr/>
        </p:nvSpPr>
        <p:spPr>
          <a:xfrm>
            <a:off x="6858000" y="3800160"/>
            <a:ext cx="3840480" cy="420000"/>
          </a:xfrm>
          <a:prstGeom prst="rect">
            <a:avLst/>
          </a:prstGeom>
          <a:solidFill>
            <a:srgbClr val="FC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9" name="Google Shape;449;p14"/>
          <p:cNvSpPr/>
          <p:nvPr/>
        </p:nvSpPr>
        <p:spPr>
          <a:xfrm>
            <a:off x="10698480" y="3800160"/>
            <a:ext cx="1097280" cy="4200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14"/>
          <p:cNvSpPr txBox="1"/>
          <p:nvPr/>
        </p:nvSpPr>
        <p:spPr>
          <a:xfrm>
            <a:off x="537200" y="383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遗漏的关键边界</a:t>
            </a:r>
            <a:endParaRPr b="1" sz="1100">
              <a:solidFill>
                <a:srgbClr val="1A1A2E"/>
              </a:solidFill>
              <a:latin typeface="Microsoft YaHei"/>
              <a:ea typeface="Microsoft YaHei"/>
              <a:cs typeface="Microsoft YaHei"/>
              <a:sym typeface="Microsoft YaHei"/>
            </a:endParaRPr>
          </a:p>
        </p:txBody>
      </p:sp>
      <p:sp>
        <p:nvSpPr>
          <p:cNvPr id="451" name="Google Shape;451;p14"/>
          <p:cNvSpPr txBox="1"/>
          <p:nvPr/>
        </p:nvSpPr>
        <p:spPr>
          <a:xfrm>
            <a:off x="3097520" y="3820160"/>
            <a:ext cx="3680480"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已知 0 个</a:t>
            </a:r>
            <a:endParaRPr b="0" sz="1000">
              <a:solidFill>
                <a:srgbClr val="2E7D32"/>
              </a:solidFill>
              <a:latin typeface="Microsoft YaHei"/>
              <a:ea typeface="Microsoft YaHei"/>
              <a:cs typeface="Microsoft YaHei"/>
              <a:sym typeface="Microsoft YaHei"/>
            </a:endParaRPr>
          </a:p>
        </p:txBody>
      </p:sp>
      <p:sp>
        <p:nvSpPr>
          <p:cNvPr id="452" name="Google Shape;452;p14"/>
          <p:cNvSpPr txBox="1"/>
          <p:nvPr/>
        </p:nvSpPr>
        <p:spPr>
          <a:xfrm>
            <a:off x="6938000" y="3820160"/>
            <a:ext cx="3680480"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和HW2相比 3 个（T+1冲突、渐进恢复、</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频率切换间隔）</a:t>
            </a:r>
            <a:endParaRPr b="0" sz="1000">
              <a:solidFill>
                <a:srgbClr val="C62828"/>
              </a:solidFill>
              <a:latin typeface="Microsoft YaHei"/>
              <a:ea typeface="Microsoft YaHei"/>
              <a:cs typeface="Microsoft YaHei"/>
              <a:sym typeface="Microsoft YaHei"/>
            </a:endParaRPr>
          </a:p>
        </p:txBody>
      </p:sp>
      <p:sp>
        <p:nvSpPr>
          <p:cNvPr id="453" name="Google Shape;453;p14"/>
          <p:cNvSpPr txBox="1"/>
          <p:nvPr/>
        </p:nvSpPr>
        <p:spPr>
          <a:xfrm>
            <a:off x="10778480" y="386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a:t>
            </a:r>
            <a:endParaRPr b="1" sz="1400">
              <a:solidFill>
                <a:srgbClr val="0078D4"/>
              </a:solidFill>
              <a:latin typeface="Microsoft YaHei"/>
              <a:ea typeface="Microsoft YaHei"/>
              <a:cs typeface="Microsoft YaHei"/>
              <a:sym typeface="Microsoft YaHei"/>
            </a:endParaRPr>
          </a:p>
        </p:txBody>
      </p:sp>
      <p:sp>
        <p:nvSpPr>
          <p:cNvPr id="454" name="Google Shape;454;p14"/>
          <p:cNvSpPr/>
          <p:nvPr/>
        </p:nvSpPr>
        <p:spPr>
          <a:xfrm>
            <a:off x="457200" y="4220160"/>
            <a:ext cx="256032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5" name="Google Shape;455;p14"/>
          <p:cNvSpPr/>
          <p:nvPr/>
        </p:nvSpPr>
        <p:spPr>
          <a:xfrm>
            <a:off x="3017520" y="4220160"/>
            <a:ext cx="3840480" cy="420000"/>
          </a:xfrm>
          <a:prstGeom prst="rect">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6" name="Google Shape;456;p14"/>
          <p:cNvSpPr/>
          <p:nvPr/>
        </p:nvSpPr>
        <p:spPr>
          <a:xfrm>
            <a:off x="6858000" y="4220160"/>
            <a:ext cx="3840480" cy="420000"/>
          </a:xfrm>
          <a:prstGeom prst="rect">
            <a:avLst/>
          </a:prstGeom>
          <a:solidFill>
            <a:srgbClr val="FFEB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14"/>
          <p:cNvSpPr/>
          <p:nvPr/>
        </p:nvSpPr>
        <p:spPr>
          <a:xfrm>
            <a:off x="10698480" y="4220160"/>
            <a:ext cx="1097280" cy="42000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8" name="Google Shape;458;p14"/>
          <p:cNvSpPr txBox="1"/>
          <p:nvPr/>
        </p:nvSpPr>
        <p:spPr>
          <a:xfrm>
            <a:off x="537200" y="4250160"/>
            <a:ext cx="240032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A1A2E"/>
                </a:solidFill>
                <a:latin typeface="Microsoft YaHei"/>
                <a:ea typeface="Microsoft YaHei"/>
                <a:cs typeface="Microsoft YaHei"/>
                <a:sym typeface="Microsoft YaHei"/>
              </a:rPr>
              <a:t>可追溯性</a:t>
            </a:r>
            <a:endParaRPr b="1" sz="1100">
              <a:solidFill>
                <a:srgbClr val="1A1A2E"/>
              </a:solidFill>
              <a:latin typeface="Microsoft YaHei"/>
              <a:ea typeface="Microsoft YaHei"/>
              <a:cs typeface="Microsoft YaHei"/>
              <a:sym typeface="Microsoft YaHei"/>
            </a:endParaRPr>
          </a:p>
        </p:txBody>
      </p:sp>
      <p:sp>
        <p:nvSpPr>
          <p:cNvPr id="459" name="Google Shape;459;p14"/>
          <p:cNvSpPr txBox="1"/>
          <p:nvPr/>
        </p:nvSpPr>
        <p:spPr>
          <a:xfrm>
            <a:off x="3097520" y="4240160"/>
            <a:ext cx="3680480" cy="38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完整链路：需求→场景→规格</a:t>
            </a:r>
            <a:endParaRPr b="0" sz="1000">
              <a:solidFill>
                <a:srgbClr val="2E7D32"/>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2E7D32"/>
                </a:solidFill>
                <a:latin typeface="Microsoft YaHei"/>
                <a:ea typeface="Microsoft YaHei"/>
                <a:cs typeface="Microsoft YaHei"/>
                <a:sym typeface="Microsoft YaHei"/>
              </a:rPr>
              <a:t>→设计→任务→代码</a:t>
            </a:r>
            <a:endParaRPr b="0" sz="1000">
              <a:solidFill>
                <a:srgbClr val="2E7D32"/>
              </a:solidFill>
              <a:latin typeface="Microsoft YaHei"/>
              <a:ea typeface="Microsoft YaHei"/>
              <a:cs typeface="Microsoft YaHei"/>
              <a:sym typeface="Microsoft YaHei"/>
            </a:endParaRPr>
          </a:p>
        </p:txBody>
      </p:sp>
      <p:sp>
        <p:nvSpPr>
          <p:cNvPr id="460" name="Google Shape;460;p14"/>
          <p:cNvSpPr txBox="1"/>
          <p:nvPr/>
        </p:nvSpPr>
        <p:spPr>
          <a:xfrm>
            <a:off x="6938000" y="4240160"/>
            <a:ext cx="3680480"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仅 git diff</a:t>
            </a:r>
            <a:endParaRPr b="0" sz="1000">
              <a:solidFill>
                <a:srgbClr val="C6282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000">
                <a:solidFill>
                  <a:srgbClr val="C62828"/>
                </a:solidFill>
                <a:latin typeface="Microsoft YaHei"/>
                <a:ea typeface="Microsoft YaHei"/>
                <a:cs typeface="Microsoft YaHei"/>
                <a:sym typeface="Microsoft YaHei"/>
              </a:rPr>
              <a:t>潜在一段时间后因文档缺失无法理解变更原因</a:t>
            </a:r>
            <a:endParaRPr b="0" sz="1000">
              <a:solidFill>
                <a:srgbClr val="C62828"/>
              </a:solidFill>
              <a:latin typeface="Microsoft YaHei"/>
              <a:ea typeface="Microsoft YaHei"/>
              <a:cs typeface="Microsoft YaHei"/>
              <a:sym typeface="Microsoft YaHei"/>
            </a:endParaRPr>
          </a:p>
        </p:txBody>
      </p:sp>
      <p:sp>
        <p:nvSpPr>
          <p:cNvPr id="461" name="Google Shape;461;p14"/>
          <p:cNvSpPr txBox="1"/>
          <p:nvPr/>
        </p:nvSpPr>
        <p:spPr>
          <a:xfrm>
            <a:off x="10778480" y="4280160"/>
            <a:ext cx="937280" cy="30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400">
                <a:solidFill>
                  <a:srgbClr val="0078D4"/>
                </a:solidFill>
                <a:latin typeface="Microsoft YaHei"/>
                <a:ea typeface="Microsoft YaHei"/>
                <a:cs typeface="Microsoft YaHei"/>
                <a:sym typeface="Microsoft YaHei"/>
              </a:rPr>
              <a:t>—</a:t>
            </a:r>
            <a:endParaRPr b="1" sz="1400">
              <a:solidFill>
                <a:srgbClr val="0078D4"/>
              </a:solidFill>
              <a:latin typeface="Microsoft YaHei"/>
              <a:ea typeface="Microsoft YaHei"/>
              <a:cs typeface="Microsoft YaHei"/>
              <a:sym typeface="Microsoft YaHei"/>
            </a:endParaRPr>
          </a:p>
        </p:txBody>
      </p:sp>
      <p:sp>
        <p:nvSpPr>
          <p:cNvPr id="462" name="Google Shape;462;p14"/>
          <p:cNvSpPr/>
          <p:nvPr/>
        </p:nvSpPr>
        <p:spPr>
          <a:xfrm>
            <a:off x="365760" y="4679950"/>
            <a:ext cx="11430000" cy="640080"/>
          </a:xfrm>
          <a:prstGeom prst="rect">
            <a:avLst/>
          </a:prstGeom>
          <a:solidFill>
            <a:srgbClr val="E8F0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14"/>
          <p:cNvSpPr txBox="1"/>
          <p:nvPr/>
        </p:nvSpPr>
        <p:spPr>
          <a:xfrm>
            <a:off x="548640" y="4725160"/>
            <a:ext cx="11064240" cy="4914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A1A2E"/>
                </a:solidFill>
                <a:latin typeface="Microsoft YaHei"/>
                <a:ea typeface="Microsoft YaHei"/>
                <a:cs typeface="Microsoft YaHei"/>
                <a:sym typeface="Microsoft YaHei"/>
              </a:rPr>
              <a:t>OpenSpec-HW2 的 usecases 强制思考边界场景而不单纯是Happy path</a:t>
            </a:r>
            <a:r>
              <a:rPr b="0" lang="en-US" sz="1300">
                <a:solidFill>
                  <a:srgbClr val="1A1A2E"/>
                </a:solidFill>
                <a:latin typeface="Microsoft YaHei"/>
                <a:ea typeface="Microsoft YaHei"/>
                <a:cs typeface="Microsoft YaHei"/>
                <a:sym typeface="Microsoft YaHei"/>
              </a:rPr>
              <a:t>，发现了Vanilla Claude Code遗漏的 3 个关键边界：T+1 冲突、渐进式恢复、频率切换时机</a:t>
            </a:r>
            <a:endParaRPr b="0" sz="1300">
              <a:solidFill>
                <a:srgbClr val="1A1A2E"/>
              </a:solidFill>
              <a:latin typeface="Microsoft YaHei"/>
              <a:ea typeface="Microsoft YaHei"/>
              <a:cs typeface="Microsoft YaHei"/>
              <a:sym typeface="Microsoft YaHei"/>
            </a:endParaRPr>
          </a:p>
        </p:txBody>
      </p:sp>
      <p:sp>
        <p:nvSpPr>
          <p:cNvPr id="464" name="Google Shape;464;p14"/>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888888"/>
                </a:solidFill>
                <a:latin typeface="Microsoft YaHei"/>
                <a:ea typeface="Microsoft YaHei"/>
                <a:cs typeface="Microsoft YaHei"/>
                <a:sym typeface="Microsoft YaHei"/>
              </a:rPr>
              <a:t>12/41</a:t>
            </a:r>
            <a:endParaRPr b="0" sz="1100">
              <a:solidFill>
                <a:srgbClr val="888888"/>
              </a:solidFill>
              <a:latin typeface="Microsoft YaHei"/>
              <a:ea typeface="Microsoft YaHei"/>
              <a:cs typeface="Microsoft YaHei"/>
              <a:sym typeface="Microsoft YaHe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p15"/>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5"/>
          <p:cNvSpPr txBox="1"/>
          <p:nvPr/>
        </p:nvSpPr>
        <p:spPr>
          <a:xfrm>
            <a:off x="731520" y="365760"/>
            <a:ext cx="91440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1A1A2E"/>
                </a:solidFill>
                <a:latin typeface="Microsoft YaHei"/>
                <a:ea typeface="Microsoft YaHei"/>
                <a:cs typeface="Microsoft YaHei"/>
                <a:sym typeface="Microsoft YaHei"/>
              </a:rPr>
              <a:t>实验2-需求变更实验：核心发现与评分</a:t>
            </a:r>
            <a:endParaRPr b="1" sz="2800">
              <a:solidFill>
                <a:srgbClr val="1A1A2E"/>
              </a:solidFill>
              <a:latin typeface="Microsoft YaHei"/>
              <a:ea typeface="Microsoft YaHei"/>
              <a:cs typeface="Microsoft YaHei"/>
              <a:sym typeface="Microsoft YaHei"/>
            </a:endParaRPr>
          </a:p>
        </p:txBody>
      </p:sp>
      <p:sp>
        <p:nvSpPr>
          <p:cNvPr id="471" name="Google Shape;471;p15"/>
          <p:cNvSpPr/>
          <p:nvPr/>
        </p:nvSpPr>
        <p:spPr>
          <a:xfrm>
            <a:off x="731520" y="96012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5"/>
          <p:cNvSpPr txBox="1"/>
          <p:nvPr/>
        </p:nvSpPr>
        <p:spPr>
          <a:xfrm>
            <a:off x="731520" y="1134110"/>
            <a:ext cx="10058400" cy="5835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rgbClr val="1A1A2E"/>
                </a:solidFill>
                <a:latin typeface="Microsoft YaHei"/>
                <a:ea typeface="Microsoft YaHei"/>
                <a:cs typeface="Microsoft YaHei"/>
                <a:sym typeface="Microsoft YaHei"/>
              </a:rPr>
              <a:t>OpenSpec-HW2 （以及类OpenSpec工具） 的核心价值不光在于初始构建，也在于持续迭代， 需求变更时差距更加显著</a:t>
            </a:r>
            <a:endParaRPr sz="1600">
              <a:solidFill>
                <a:srgbClr val="1A1A2E"/>
              </a:solidFill>
              <a:latin typeface="Microsoft YaHei"/>
              <a:ea typeface="Microsoft YaHei"/>
              <a:cs typeface="Microsoft YaHei"/>
              <a:sym typeface="Microsoft YaHei"/>
            </a:endParaRPr>
          </a:p>
        </p:txBody>
      </p:sp>
      <p:sp>
        <p:nvSpPr>
          <p:cNvPr id="473" name="Google Shape;473;p15"/>
          <p:cNvSpPr/>
          <p:nvPr/>
        </p:nvSpPr>
        <p:spPr>
          <a:xfrm>
            <a:off x="457200" y="1920240"/>
            <a:ext cx="5303520" cy="3566160"/>
          </a:xfrm>
          <a:prstGeom prst="rect">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15"/>
          <p:cNvSpPr txBox="1"/>
          <p:nvPr/>
        </p:nvSpPr>
        <p:spPr>
          <a:xfrm>
            <a:off x="594360" y="1965960"/>
            <a:ext cx="5029200" cy="368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1A1A2E"/>
                </a:solidFill>
                <a:latin typeface="Microsoft YaHei"/>
                <a:ea typeface="Microsoft YaHei"/>
                <a:cs typeface="Microsoft YaHei"/>
                <a:sym typeface="Microsoft YaHei"/>
              </a:rPr>
              <a:t>需求变更评分对比</a:t>
            </a:r>
            <a:endParaRPr b="1" sz="1800">
              <a:solidFill>
                <a:srgbClr val="1A1A2E"/>
              </a:solidFill>
              <a:latin typeface="Microsoft YaHei"/>
              <a:ea typeface="Microsoft YaHei"/>
              <a:cs typeface="Microsoft YaHei"/>
              <a:sym typeface="Microsoft YaHei"/>
            </a:endParaRPr>
          </a:p>
        </p:txBody>
      </p:sp>
      <p:sp>
        <p:nvSpPr>
          <p:cNvPr id="475" name="Google Shape;475;p15"/>
          <p:cNvSpPr txBox="1"/>
          <p:nvPr/>
        </p:nvSpPr>
        <p:spPr>
          <a:xfrm>
            <a:off x="640080" y="24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影响分析准确性</a:t>
            </a:r>
            <a:endParaRPr b="1" sz="1200">
              <a:solidFill>
                <a:srgbClr val="1A1A2E"/>
              </a:solidFill>
              <a:latin typeface="Microsoft YaHei"/>
              <a:ea typeface="Microsoft YaHei"/>
              <a:cs typeface="Microsoft YaHei"/>
              <a:sym typeface="Microsoft YaHei"/>
            </a:endParaRPr>
          </a:p>
        </p:txBody>
      </p:sp>
      <p:sp>
        <p:nvSpPr>
          <p:cNvPr id="476" name="Google Shape;476;p15"/>
          <p:cNvSpPr txBox="1"/>
          <p:nvPr/>
        </p:nvSpPr>
        <p:spPr>
          <a:xfrm>
            <a:off x="2400000" y="24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77" name="Google Shape;477;p15"/>
          <p:cNvSpPr txBox="1"/>
          <p:nvPr/>
        </p:nvSpPr>
        <p:spPr>
          <a:xfrm>
            <a:off x="3900000" y="24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78" name="Google Shape;478;p15"/>
          <p:cNvSpPr txBox="1"/>
          <p:nvPr/>
        </p:nvSpPr>
        <p:spPr>
          <a:xfrm>
            <a:off x="640080" y="28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需求覆盖完整性</a:t>
            </a:r>
            <a:endParaRPr b="1" sz="1200">
              <a:solidFill>
                <a:srgbClr val="1A1A2E"/>
              </a:solidFill>
              <a:latin typeface="Microsoft YaHei"/>
              <a:ea typeface="Microsoft YaHei"/>
              <a:cs typeface="Microsoft YaHei"/>
              <a:sym typeface="Microsoft YaHei"/>
            </a:endParaRPr>
          </a:p>
        </p:txBody>
      </p:sp>
      <p:sp>
        <p:nvSpPr>
          <p:cNvPr id="479" name="Google Shape;479;p15"/>
          <p:cNvSpPr txBox="1"/>
          <p:nvPr/>
        </p:nvSpPr>
        <p:spPr>
          <a:xfrm>
            <a:off x="2400000" y="28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80" name="Google Shape;480;p15"/>
          <p:cNvSpPr txBox="1"/>
          <p:nvPr/>
        </p:nvSpPr>
        <p:spPr>
          <a:xfrm>
            <a:off x="3900000" y="28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81" name="Google Shape;481;p15"/>
          <p:cNvSpPr txBox="1"/>
          <p:nvPr/>
        </p:nvSpPr>
        <p:spPr>
          <a:xfrm>
            <a:off x="640080" y="32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代码变更模块化</a:t>
            </a:r>
            <a:endParaRPr b="1" sz="1200">
              <a:solidFill>
                <a:srgbClr val="1A1A2E"/>
              </a:solidFill>
              <a:latin typeface="Microsoft YaHei"/>
              <a:ea typeface="Microsoft YaHei"/>
              <a:cs typeface="Microsoft YaHei"/>
              <a:sym typeface="Microsoft YaHei"/>
            </a:endParaRPr>
          </a:p>
        </p:txBody>
      </p:sp>
      <p:sp>
        <p:nvSpPr>
          <p:cNvPr id="482" name="Google Shape;482;p15"/>
          <p:cNvSpPr txBox="1"/>
          <p:nvPr/>
        </p:nvSpPr>
        <p:spPr>
          <a:xfrm>
            <a:off x="2400000" y="32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83" name="Google Shape;483;p15"/>
          <p:cNvSpPr txBox="1"/>
          <p:nvPr/>
        </p:nvSpPr>
        <p:spPr>
          <a:xfrm>
            <a:off x="3900000" y="32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84" name="Google Shape;484;p15"/>
          <p:cNvSpPr txBox="1"/>
          <p:nvPr/>
        </p:nvSpPr>
        <p:spPr>
          <a:xfrm>
            <a:off x="640080" y="36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测试覆盖</a:t>
            </a:r>
            <a:endParaRPr b="1" sz="1200">
              <a:solidFill>
                <a:srgbClr val="1A1A2E"/>
              </a:solidFill>
              <a:latin typeface="Microsoft YaHei"/>
              <a:ea typeface="Microsoft YaHei"/>
              <a:cs typeface="Microsoft YaHei"/>
              <a:sym typeface="Microsoft YaHei"/>
            </a:endParaRPr>
          </a:p>
        </p:txBody>
      </p:sp>
      <p:sp>
        <p:nvSpPr>
          <p:cNvPr id="485" name="Google Shape;485;p15"/>
          <p:cNvSpPr txBox="1"/>
          <p:nvPr/>
        </p:nvSpPr>
        <p:spPr>
          <a:xfrm>
            <a:off x="2400000" y="36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86" name="Google Shape;486;p15"/>
          <p:cNvSpPr txBox="1"/>
          <p:nvPr/>
        </p:nvSpPr>
        <p:spPr>
          <a:xfrm>
            <a:off x="3900000" y="36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87" name="Google Shape;487;p15"/>
          <p:cNvSpPr txBox="1"/>
          <p:nvPr/>
        </p:nvSpPr>
        <p:spPr>
          <a:xfrm>
            <a:off x="640080" y="40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文档/可追溯性</a:t>
            </a:r>
            <a:endParaRPr b="1" sz="1200">
              <a:solidFill>
                <a:srgbClr val="1A1A2E"/>
              </a:solidFill>
              <a:latin typeface="Microsoft YaHei"/>
              <a:ea typeface="Microsoft YaHei"/>
              <a:cs typeface="Microsoft YaHei"/>
              <a:sym typeface="Microsoft YaHei"/>
            </a:endParaRPr>
          </a:p>
        </p:txBody>
      </p:sp>
      <p:sp>
        <p:nvSpPr>
          <p:cNvPr id="488" name="Google Shape;488;p15"/>
          <p:cNvSpPr txBox="1"/>
          <p:nvPr/>
        </p:nvSpPr>
        <p:spPr>
          <a:xfrm>
            <a:off x="2400000" y="40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89" name="Google Shape;489;p15"/>
          <p:cNvSpPr txBox="1"/>
          <p:nvPr/>
        </p:nvSpPr>
        <p:spPr>
          <a:xfrm>
            <a:off x="3900000" y="40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90" name="Google Shape;490;p15"/>
          <p:cNvSpPr txBox="1"/>
          <p:nvPr/>
        </p:nvSpPr>
        <p:spPr>
          <a:xfrm>
            <a:off x="640080" y="44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回归风险</a:t>
            </a:r>
            <a:endParaRPr b="1" sz="1200">
              <a:solidFill>
                <a:srgbClr val="1A1A2E"/>
              </a:solidFill>
              <a:latin typeface="Microsoft YaHei"/>
              <a:ea typeface="Microsoft YaHei"/>
              <a:cs typeface="Microsoft YaHei"/>
              <a:sym typeface="Microsoft YaHei"/>
            </a:endParaRPr>
          </a:p>
        </p:txBody>
      </p:sp>
      <p:sp>
        <p:nvSpPr>
          <p:cNvPr id="491" name="Google Shape;491;p15"/>
          <p:cNvSpPr txBox="1"/>
          <p:nvPr/>
        </p:nvSpPr>
        <p:spPr>
          <a:xfrm>
            <a:off x="2400000" y="44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92" name="Google Shape;492;p15"/>
          <p:cNvSpPr txBox="1"/>
          <p:nvPr/>
        </p:nvSpPr>
        <p:spPr>
          <a:xfrm>
            <a:off x="3900000" y="44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93" name="Google Shape;493;p15"/>
          <p:cNvSpPr txBox="1"/>
          <p:nvPr/>
        </p:nvSpPr>
        <p:spPr>
          <a:xfrm>
            <a:off x="640080" y="4868880"/>
            <a:ext cx="17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可复现性</a:t>
            </a:r>
            <a:endParaRPr b="1" sz="1200">
              <a:solidFill>
                <a:srgbClr val="1A1A2E"/>
              </a:solidFill>
              <a:latin typeface="Microsoft YaHei"/>
              <a:ea typeface="Microsoft YaHei"/>
              <a:cs typeface="Microsoft YaHei"/>
              <a:sym typeface="Microsoft YaHei"/>
            </a:endParaRPr>
          </a:p>
        </p:txBody>
      </p:sp>
      <p:sp>
        <p:nvSpPr>
          <p:cNvPr id="494" name="Google Shape;494;p15"/>
          <p:cNvSpPr txBox="1"/>
          <p:nvPr/>
        </p:nvSpPr>
        <p:spPr>
          <a:xfrm>
            <a:off x="2400000" y="48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2E7D32"/>
                </a:solidFill>
                <a:latin typeface="Microsoft YaHei"/>
                <a:ea typeface="Microsoft YaHei"/>
                <a:cs typeface="Microsoft YaHei"/>
                <a:sym typeface="Microsoft YaHei"/>
              </a:rPr>
              <a:t>★★★★★</a:t>
            </a:r>
            <a:endParaRPr b="0" sz="1300">
              <a:solidFill>
                <a:srgbClr val="2E7D32"/>
              </a:solidFill>
              <a:latin typeface="Microsoft YaHei"/>
              <a:ea typeface="Microsoft YaHei"/>
              <a:cs typeface="Microsoft YaHei"/>
              <a:sym typeface="Microsoft YaHei"/>
            </a:endParaRPr>
          </a:p>
        </p:txBody>
      </p:sp>
      <p:sp>
        <p:nvSpPr>
          <p:cNvPr id="495" name="Google Shape;495;p15"/>
          <p:cNvSpPr txBox="1"/>
          <p:nvPr/>
        </p:nvSpPr>
        <p:spPr>
          <a:xfrm>
            <a:off x="3900000" y="4868880"/>
            <a:ext cx="1500000" cy="35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C62828"/>
                </a:solidFill>
                <a:latin typeface="Microsoft YaHei"/>
                <a:ea typeface="Microsoft YaHei"/>
                <a:cs typeface="Microsoft YaHei"/>
                <a:sym typeface="Microsoft YaHei"/>
              </a:rPr>
              <a:t>★★☆☆☆</a:t>
            </a:r>
            <a:endParaRPr b="0" sz="1300">
              <a:solidFill>
                <a:srgbClr val="C62828"/>
              </a:solidFill>
              <a:latin typeface="Microsoft YaHei"/>
              <a:ea typeface="Microsoft YaHei"/>
              <a:cs typeface="Microsoft YaHei"/>
              <a:sym typeface="Microsoft YaHei"/>
            </a:endParaRPr>
          </a:p>
        </p:txBody>
      </p:sp>
      <p:sp>
        <p:nvSpPr>
          <p:cNvPr id="496" name="Google Shape;496;p15"/>
          <p:cNvSpPr txBox="1"/>
          <p:nvPr/>
        </p:nvSpPr>
        <p:spPr>
          <a:xfrm>
            <a:off x="548640" y="5149215"/>
            <a:ext cx="2787650" cy="3371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2E7D32"/>
                </a:solidFill>
                <a:latin typeface="Microsoft YaHei"/>
                <a:ea typeface="Microsoft YaHei"/>
                <a:cs typeface="Microsoft YaHei"/>
                <a:sym typeface="Microsoft YaHei"/>
              </a:rPr>
              <a:t>总分：                     35/35</a:t>
            </a:r>
            <a:endParaRPr b="1" sz="1600">
              <a:solidFill>
                <a:srgbClr val="2E7D32"/>
              </a:solidFill>
              <a:latin typeface="Microsoft YaHei"/>
              <a:ea typeface="Microsoft YaHei"/>
              <a:cs typeface="Microsoft YaHei"/>
              <a:sym typeface="Microsoft YaHei"/>
            </a:endParaRPr>
          </a:p>
        </p:txBody>
      </p:sp>
      <p:sp>
        <p:nvSpPr>
          <p:cNvPr id="497" name="Google Shape;497;p15"/>
          <p:cNvSpPr txBox="1"/>
          <p:nvPr/>
        </p:nvSpPr>
        <p:spPr>
          <a:xfrm>
            <a:off x="3411810" y="5149215"/>
            <a:ext cx="1800000" cy="3371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C62828"/>
                </a:solidFill>
                <a:latin typeface="Microsoft YaHei"/>
                <a:ea typeface="Microsoft YaHei"/>
                <a:cs typeface="Microsoft YaHei"/>
                <a:sym typeface="Microsoft YaHei"/>
              </a:rPr>
              <a:t>vs     13/35</a:t>
            </a:r>
            <a:endParaRPr b="1" sz="1600">
              <a:solidFill>
                <a:srgbClr val="C62828"/>
              </a:solidFill>
              <a:latin typeface="Microsoft YaHei"/>
              <a:ea typeface="Microsoft YaHei"/>
              <a:cs typeface="Microsoft YaHei"/>
              <a:sym typeface="Microsoft YaHei"/>
            </a:endParaRPr>
          </a:p>
        </p:txBody>
      </p:sp>
      <p:sp>
        <p:nvSpPr>
          <p:cNvPr id="498" name="Google Shape;498;p15"/>
          <p:cNvSpPr/>
          <p:nvPr/>
        </p:nvSpPr>
        <p:spPr>
          <a:xfrm>
            <a:off x="6035040" y="1920240"/>
            <a:ext cx="5486400" cy="3566160"/>
          </a:xfrm>
          <a:prstGeom prst="rect">
            <a:avLst/>
          </a:prstGeom>
          <a:solidFill>
            <a:srgbClr val="E8F0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5"/>
          <p:cNvSpPr txBox="1"/>
          <p:nvPr/>
        </p:nvSpPr>
        <p:spPr>
          <a:xfrm>
            <a:off x="6217920" y="1965960"/>
            <a:ext cx="51206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0078D4"/>
                </a:solidFill>
                <a:latin typeface="Microsoft YaHei"/>
                <a:ea typeface="Microsoft YaHei"/>
                <a:cs typeface="Microsoft YaHei"/>
                <a:sym typeface="Microsoft YaHei"/>
              </a:rPr>
              <a:t>OpenSpec-HW2 在变更场景的三大核心优势</a:t>
            </a:r>
            <a:endParaRPr b="1" sz="1800">
              <a:solidFill>
                <a:srgbClr val="0078D4"/>
              </a:solidFill>
              <a:latin typeface="Microsoft YaHei"/>
              <a:ea typeface="Microsoft YaHei"/>
              <a:cs typeface="Microsoft YaHei"/>
              <a:sym typeface="Microsoft YaHei"/>
            </a:endParaRPr>
          </a:p>
        </p:txBody>
      </p:sp>
      <p:sp>
        <p:nvSpPr>
          <p:cNvPr id="500" name="Google Shape;500;p15"/>
          <p:cNvSpPr/>
          <p:nvPr/>
        </p:nvSpPr>
        <p:spPr>
          <a:xfrm>
            <a:off x="6217920" y="2468880"/>
            <a:ext cx="5120640" cy="9144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01" name="Google Shape;501;p15"/>
          <p:cNvSpPr txBox="1"/>
          <p:nvPr/>
        </p:nvSpPr>
        <p:spPr>
          <a:xfrm>
            <a:off x="6355080" y="2514600"/>
            <a:ext cx="48463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1A1A2E"/>
                </a:solidFill>
                <a:latin typeface="Microsoft YaHei"/>
                <a:ea typeface="Microsoft YaHei"/>
                <a:cs typeface="Microsoft YaHei"/>
                <a:sym typeface="Microsoft YaHei"/>
              </a:rPr>
              <a:t>前置思考 — 编码前完成需求分析</a:t>
            </a:r>
            <a:endParaRPr b="1" sz="1400">
              <a:solidFill>
                <a:srgbClr val="1A1A2E"/>
              </a:solidFill>
              <a:latin typeface="Microsoft YaHei"/>
              <a:ea typeface="Microsoft YaHei"/>
              <a:cs typeface="Microsoft YaHei"/>
              <a:sym typeface="Microsoft YaHei"/>
            </a:endParaRPr>
          </a:p>
        </p:txBody>
      </p:sp>
      <p:sp>
        <p:nvSpPr>
          <p:cNvPr id="502" name="Google Shape;502;p15"/>
          <p:cNvSpPr txBox="1"/>
          <p:nvPr/>
        </p:nvSpPr>
        <p:spPr>
          <a:xfrm>
            <a:off x="6309360" y="2738120"/>
            <a:ext cx="5029200" cy="6451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OpenSpec-HW2 的 proposal → usecases → specs 过程强制在写代码前</a:t>
            </a:r>
            <a:endParaRPr b="0" sz="1200">
              <a:solidFill>
                <a:srgbClr val="555555"/>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识别出 10 个边界场景，避免了 3 个关键遗漏</a:t>
            </a:r>
            <a:endParaRPr b="0" sz="1200">
              <a:solidFill>
                <a:srgbClr val="555555"/>
              </a:solidFill>
              <a:latin typeface="Microsoft YaHei"/>
              <a:ea typeface="Microsoft YaHei"/>
              <a:cs typeface="Microsoft YaHei"/>
              <a:sym typeface="Microsoft YaHei"/>
            </a:endParaRPr>
          </a:p>
        </p:txBody>
      </p:sp>
      <p:sp>
        <p:nvSpPr>
          <p:cNvPr id="503" name="Google Shape;503;p15"/>
          <p:cNvSpPr/>
          <p:nvPr/>
        </p:nvSpPr>
        <p:spPr>
          <a:xfrm>
            <a:off x="6217920" y="3474720"/>
            <a:ext cx="5120640" cy="9144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04" name="Google Shape;504;p15"/>
          <p:cNvSpPr txBox="1"/>
          <p:nvPr/>
        </p:nvSpPr>
        <p:spPr>
          <a:xfrm>
            <a:off x="6355080" y="3520440"/>
            <a:ext cx="48463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1A1A2E"/>
                </a:solidFill>
                <a:latin typeface="Microsoft YaHei"/>
                <a:ea typeface="Microsoft YaHei"/>
                <a:cs typeface="Microsoft YaHei"/>
                <a:sym typeface="Microsoft YaHei"/>
              </a:rPr>
              <a:t>知识沉淀 — 636 行文档是团队资产</a:t>
            </a:r>
            <a:endParaRPr b="1" sz="1400">
              <a:solidFill>
                <a:srgbClr val="1A1A2E"/>
              </a:solidFill>
              <a:latin typeface="Microsoft YaHei"/>
              <a:ea typeface="Microsoft YaHei"/>
              <a:cs typeface="Microsoft YaHei"/>
              <a:sym typeface="Microsoft YaHei"/>
            </a:endParaRPr>
          </a:p>
        </p:txBody>
      </p:sp>
      <p:sp>
        <p:nvSpPr>
          <p:cNvPr id="505" name="Google Shape;505;p15"/>
          <p:cNvSpPr txBox="1"/>
          <p:nvPr/>
        </p:nvSpPr>
        <p:spPr>
          <a:xfrm>
            <a:off x="6355080" y="3840480"/>
            <a:ext cx="484632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完整的 proposal→specs→design→tasks 链路</a:t>
            </a:r>
            <a:endParaRPr b="0" sz="1200">
              <a:solidFill>
                <a:srgbClr val="555555"/>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6个月后仍可追溯每个变更的动机和设计决策</a:t>
            </a:r>
            <a:endParaRPr b="0" sz="1200">
              <a:solidFill>
                <a:srgbClr val="555555"/>
              </a:solidFill>
              <a:latin typeface="Microsoft YaHei"/>
              <a:ea typeface="Microsoft YaHei"/>
              <a:cs typeface="Microsoft YaHei"/>
              <a:sym typeface="Microsoft YaHei"/>
            </a:endParaRPr>
          </a:p>
        </p:txBody>
      </p:sp>
      <p:sp>
        <p:nvSpPr>
          <p:cNvPr id="506" name="Google Shape;506;p15"/>
          <p:cNvSpPr/>
          <p:nvPr/>
        </p:nvSpPr>
        <p:spPr>
          <a:xfrm>
            <a:off x="6217920" y="4480560"/>
            <a:ext cx="5120640" cy="914400"/>
          </a:xfrm>
          <a:prstGeom prst="rect">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07" name="Google Shape;507;p15"/>
          <p:cNvSpPr txBox="1"/>
          <p:nvPr/>
        </p:nvSpPr>
        <p:spPr>
          <a:xfrm>
            <a:off x="6355080" y="4526280"/>
            <a:ext cx="48463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1A1A2E"/>
                </a:solidFill>
                <a:latin typeface="Microsoft YaHei"/>
                <a:ea typeface="Microsoft YaHei"/>
                <a:cs typeface="Microsoft YaHei"/>
                <a:sym typeface="Microsoft YaHei"/>
              </a:rPr>
              <a:t>质量保障 — tasks 确保测试不被遗忘</a:t>
            </a:r>
            <a:endParaRPr b="1" sz="1400">
              <a:solidFill>
                <a:srgbClr val="1A1A2E"/>
              </a:solidFill>
              <a:latin typeface="Microsoft YaHei"/>
              <a:ea typeface="Microsoft YaHei"/>
              <a:cs typeface="Microsoft YaHei"/>
              <a:sym typeface="Microsoft YaHei"/>
            </a:endParaRPr>
          </a:p>
        </p:txBody>
      </p:sp>
      <p:sp>
        <p:nvSpPr>
          <p:cNvPr id="508" name="Google Shape;508;p15"/>
          <p:cNvSpPr txBox="1"/>
          <p:nvPr/>
        </p:nvSpPr>
        <p:spPr>
          <a:xfrm>
            <a:off x="6355080" y="4846320"/>
            <a:ext cx="484632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tasks.md 显式列出 3 个测试文件 + 27 个测试用例</a:t>
            </a:r>
            <a:endParaRPr b="0" sz="1200">
              <a:solidFill>
                <a:srgbClr val="555555"/>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200">
                <a:solidFill>
                  <a:srgbClr val="555555"/>
                </a:solidFill>
                <a:latin typeface="Microsoft YaHei"/>
                <a:ea typeface="Microsoft YaHei"/>
                <a:cs typeface="Microsoft YaHei"/>
                <a:sym typeface="Microsoft YaHei"/>
              </a:rPr>
              <a:t>Vanilla Claude Code版：0 测试，无法验证任何逻辑正确性</a:t>
            </a:r>
            <a:endParaRPr b="0" sz="1200">
              <a:solidFill>
                <a:srgbClr val="555555"/>
              </a:solidFill>
              <a:latin typeface="Microsoft YaHei"/>
              <a:ea typeface="Microsoft YaHei"/>
              <a:cs typeface="Microsoft YaHei"/>
              <a:sym typeface="Microsoft YaHei"/>
            </a:endParaRPr>
          </a:p>
        </p:txBody>
      </p:sp>
      <p:sp>
        <p:nvSpPr>
          <p:cNvPr id="509" name="Google Shape;509;p15"/>
          <p:cNvSpPr/>
          <p:nvPr/>
        </p:nvSpPr>
        <p:spPr>
          <a:xfrm>
            <a:off x="365760" y="5867400"/>
            <a:ext cx="11430000" cy="457200"/>
          </a:xfrm>
          <a:prstGeom prst="rect">
            <a:avLst/>
          </a:prstGeom>
          <a:solidFill>
            <a:srgbClr val="E8F0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5"/>
          <p:cNvSpPr txBox="1"/>
          <p:nvPr/>
        </p:nvSpPr>
        <p:spPr>
          <a:xfrm>
            <a:off x="548640" y="5912400"/>
            <a:ext cx="110642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1A1A2E"/>
                </a:solidFill>
                <a:latin typeface="Microsoft YaHei"/>
                <a:ea typeface="Microsoft YaHei"/>
                <a:cs typeface="Microsoft YaHei"/>
                <a:sym typeface="Microsoft YaHei"/>
              </a:rPr>
              <a:t>实验完整数据见 testing_projct_quant_requirement_changing_experiment/comparison/result.md</a:t>
            </a:r>
            <a:endParaRPr b="0" sz="1300">
              <a:solidFill>
                <a:srgbClr val="1A1A2E"/>
              </a:solidFill>
              <a:latin typeface="Microsoft YaHei"/>
              <a:ea typeface="Microsoft YaHei"/>
              <a:cs typeface="Microsoft YaHei"/>
              <a:sym typeface="Microsoft YaHei"/>
            </a:endParaRPr>
          </a:p>
        </p:txBody>
      </p:sp>
      <p:sp>
        <p:nvSpPr>
          <p:cNvPr id="511" name="Google Shape;511;p15"/>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888888"/>
                </a:solidFill>
                <a:latin typeface="Microsoft YaHei"/>
                <a:ea typeface="Microsoft YaHei"/>
                <a:cs typeface="Microsoft YaHei"/>
                <a:sym typeface="Microsoft YaHei"/>
              </a:rPr>
              <a:t>13/41</a:t>
            </a:r>
            <a:endParaRPr b="0" sz="1100">
              <a:solidFill>
                <a:srgbClr val="888888"/>
              </a:solidFill>
              <a:latin typeface="Microsoft YaHei"/>
              <a:ea typeface="Microsoft YaHei"/>
              <a:cs typeface="Microsoft YaHei"/>
              <a:sym typeface="Microsoft YaHe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16"/>
          <p:cNvSpPr txBox="1"/>
          <p:nvPr>
            <p:ph type="ctrTitle"/>
          </p:nvPr>
        </p:nvSpPr>
        <p:spPr>
          <a:xfrm>
            <a:off x="685800" y="2130425"/>
            <a:ext cx="9423400" cy="1470025"/>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lang="en-US"/>
              <a:t>OpenSpec-HW2 （类OpenSpec工具）的价值和潜在研究方向</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17"/>
          <p:cNvSpPr/>
          <p:nvPr/>
        </p:nvSpPr>
        <p:spPr>
          <a:xfrm>
            <a:off x="0" y="0"/>
            <a:ext cx="12191365" cy="54864"/>
          </a:xfrm>
          <a:prstGeom prst="rect">
            <a:avLst/>
          </a:prstGeom>
          <a:solidFill>
            <a:srgbClr val="0070C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17"/>
          <p:cNvSpPr txBox="1"/>
          <p:nvPr/>
        </p:nvSpPr>
        <p:spPr>
          <a:xfrm>
            <a:off x="143510" y="228600"/>
            <a:ext cx="11887200" cy="52197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800">
                <a:solidFill>
                  <a:srgbClr val="1A1A2E"/>
                </a:solidFill>
                <a:latin typeface="Microsoft YaHei"/>
                <a:ea typeface="Microsoft YaHei"/>
                <a:cs typeface="Microsoft YaHei"/>
                <a:sym typeface="Microsoft YaHei"/>
              </a:rPr>
              <a:t>为什么公司需要 OpenSpec-HW2（OpenSpec类似工具平台）</a:t>
            </a:r>
            <a:endParaRPr b="1" sz="2800">
              <a:solidFill>
                <a:srgbClr val="1A1A2E"/>
              </a:solidFill>
              <a:latin typeface="Microsoft YaHei"/>
              <a:ea typeface="Microsoft YaHei"/>
              <a:cs typeface="Microsoft YaHei"/>
              <a:sym typeface="Microsoft YaHei"/>
            </a:endParaRPr>
          </a:p>
        </p:txBody>
      </p:sp>
      <p:sp>
        <p:nvSpPr>
          <p:cNvPr id="523" name="Google Shape;523;p17"/>
          <p:cNvSpPr txBox="1"/>
          <p:nvPr/>
        </p:nvSpPr>
        <p:spPr>
          <a:xfrm>
            <a:off x="457200" y="777240"/>
            <a:ext cx="10637520" cy="4914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444444"/>
                </a:solidFill>
                <a:latin typeface="Microsoft YaHei"/>
                <a:ea typeface="Microsoft YaHei"/>
                <a:cs typeface="Microsoft YaHei"/>
                <a:sym typeface="Microsoft YaHei"/>
              </a:rPr>
              <a:t>Agentic Coding工具（Claude Code、Cursor 等）快速普及但治理严重缺失。OpenSpec-HW2 填补从「写出代码」到「规范地写生产级可追溯代码」的空白。</a:t>
            </a:r>
            <a:endParaRPr b="0" sz="1400">
              <a:solidFill>
                <a:srgbClr val="555555"/>
              </a:solidFill>
              <a:latin typeface="Microsoft YaHei"/>
              <a:ea typeface="Microsoft YaHei"/>
              <a:cs typeface="Microsoft YaHei"/>
              <a:sym typeface="Microsoft YaHei"/>
            </a:endParaRPr>
          </a:p>
        </p:txBody>
      </p:sp>
      <p:sp>
        <p:nvSpPr>
          <p:cNvPr id="524" name="Google Shape;524;p17"/>
          <p:cNvSpPr/>
          <p:nvPr/>
        </p:nvSpPr>
        <p:spPr>
          <a:xfrm>
            <a:off x="457200" y="1371600"/>
            <a:ext cx="3246120" cy="640080"/>
          </a:xfrm>
          <a:prstGeom prst="roundRect">
            <a:avLst>
              <a:gd fmla="val 16667" name="adj"/>
            </a:avLst>
          </a:prstGeom>
          <a:solidFill>
            <a:srgbClr val="0070C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17"/>
          <p:cNvSpPr txBox="1"/>
          <p:nvPr/>
        </p:nvSpPr>
        <p:spPr>
          <a:xfrm>
            <a:off x="457200" y="1417320"/>
            <a:ext cx="324612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FFFFFF"/>
                </a:solidFill>
                <a:latin typeface="Microsoft YaHei"/>
                <a:ea typeface="Microsoft YaHei"/>
                <a:cs typeface="Microsoft YaHei"/>
                <a:sym typeface="Microsoft YaHei"/>
              </a:rPr>
              <a:t>规范化</a:t>
            </a:r>
            <a:endParaRPr b="1" sz="2000">
              <a:solidFill>
                <a:srgbClr val="FFFFFF"/>
              </a:solidFill>
              <a:latin typeface="Microsoft YaHei"/>
              <a:ea typeface="Microsoft YaHei"/>
              <a:cs typeface="Microsoft YaHei"/>
              <a:sym typeface="Microsoft YaHei"/>
            </a:endParaRPr>
          </a:p>
        </p:txBody>
      </p:sp>
      <p:sp>
        <p:nvSpPr>
          <p:cNvPr id="526" name="Google Shape;526;p17"/>
          <p:cNvSpPr txBox="1"/>
          <p:nvPr/>
        </p:nvSpPr>
        <p:spPr>
          <a:xfrm>
            <a:off x="457200" y="1691640"/>
            <a:ext cx="3246120" cy="2603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100">
                <a:solidFill>
                  <a:srgbClr val="DDEEFF"/>
                </a:solidFill>
                <a:latin typeface="Microsoft YaHei"/>
                <a:ea typeface="Microsoft YaHei"/>
                <a:cs typeface="Microsoft YaHei"/>
                <a:sym typeface="Microsoft YaHei"/>
              </a:rPr>
              <a:t>让 Agnetic Coding 有章可循</a:t>
            </a:r>
            <a:endParaRPr b="0" sz="1100">
              <a:solidFill>
                <a:srgbClr val="DDEEFF"/>
              </a:solidFill>
              <a:latin typeface="Microsoft YaHei"/>
              <a:ea typeface="Microsoft YaHei"/>
              <a:cs typeface="Microsoft YaHei"/>
              <a:sym typeface="Microsoft YaHei"/>
            </a:endParaRPr>
          </a:p>
        </p:txBody>
      </p:sp>
      <p:sp>
        <p:nvSpPr>
          <p:cNvPr id="527" name="Google Shape;527;p17"/>
          <p:cNvSpPr/>
          <p:nvPr/>
        </p:nvSpPr>
        <p:spPr>
          <a:xfrm>
            <a:off x="457200" y="2103120"/>
            <a:ext cx="3246120" cy="3657600"/>
          </a:xfrm>
          <a:prstGeom prst="roundRect">
            <a:avLst>
              <a:gd fmla="val 16667" name="adj"/>
            </a:avLst>
          </a:prstGeom>
          <a:solidFill>
            <a:srgbClr val="E8F4FD"/>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28" name="Google Shape;528;p17"/>
          <p:cNvSpPr/>
          <p:nvPr/>
        </p:nvSpPr>
        <p:spPr>
          <a:xfrm>
            <a:off x="566928" y="2240280"/>
            <a:ext cx="54864" cy="1143000"/>
          </a:xfrm>
          <a:prstGeom prst="rect">
            <a:avLst/>
          </a:prstGeom>
          <a:solidFill>
            <a:srgbClr val="0070C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29" name="Google Shape;529;p17"/>
          <p:cNvSpPr txBox="1"/>
          <p:nvPr/>
        </p:nvSpPr>
        <p:spPr>
          <a:xfrm>
            <a:off x="704088" y="2240280"/>
            <a:ext cx="2834640" cy="10655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0C0"/>
                </a:solidFill>
                <a:latin typeface="Microsoft YaHei"/>
                <a:ea typeface="Microsoft YaHei"/>
                <a:cs typeface="Microsoft YaHei"/>
                <a:sym typeface="Microsoft YaHei"/>
              </a:rPr>
              <a:t>统一工作流标准</a:t>
            </a:r>
            <a:endParaRPr b="1" sz="1200">
              <a:solidFill>
                <a:srgbClr val="0070C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Agentic Coding 遵循 proposal → usecase</a:t>
            </a:r>
            <a:r>
              <a:rPr lang="en-US" sz="1200">
                <a:solidFill>
                  <a:srgbClr val="555555"/>
                </a:solidFill>
                <a:latin typeface="Microsoft YaHei"/>
                <a:ea typeface="Microsoft YaHei"/>
                <a:cs typeface="Microsoft YaHei"/>
                <a:sym typeface="Microsoft YaHei"/>
              </a:rPr>
              <a:t>→ </a:t>
            </a:r>
            <a:r>
              <a:rPr b="0" lang="en-US" sz="1200">
                <a:solidFill>
                  <a:srgbClr val="555555"/>
                </a:solidFill>
                <a:latin typeface="Microsoft YaHei"/>
                <a:ea typeface="Microsoft YaHei"/>
                <a:cs typeface="Microsoft YaHei"/>
                <a:sym typeface="Microsoft YaHei"/>
              </a:rPr>
              <a:t>spec → design → task → implement 标准RE流程，AI 不再各行其是</a:t>
            </a:r>
            <a:endParaRPr b="0" sz="1200">
              <a:solidFill>
                <a:srgbClr val="555555"/>
              </a:solidFill>
              <a:latin typeface="Microsoft YaHei"/>
              <a:ea typeface="Microsoft YaHei"/>
              <a:cs typeface="Microsoft YaHei"/>
              <a:sym typeface="Microsoft YaHei"/>
            </a:endParaRPr>
          </a:p>
        </p:txBody>
      </p:sp>
      <p:sp>
        <p:nvSpPr>
          <p:cNvPr id="530" name="Google Shape;530;p17"/>
          <p:cNvSpPr/>
          <p:nvPr/>
        </p:nvSpPr>
        <p:spPr>
          <a:xfrm>
            <a:off x="566928" y="3456432"/>
            <a:ext cx="54864" cy="1143000"/>
          </a:xfrm>
          <a:prstGeom prst="rect">
            <a:avLst/>
          </a:prstGeom>
          <a:solidFill>
            <a:srgbClr val="0070C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31" name="Google Shape;531;p17"/>
          <p:cNvSpPr txBox="1"/>
          <p:nvPr/>
        </p:nvSpPr>
        <p:spPr>
          <a:xfrm>
            <a:off x="704088" y="3456432"/>
            <a:ext cx="2834640" cy="8813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0C0"/>
                </a:solidFill>
                <a:latin typeface="Microsoft YaHei"/>
                <a:ea typeface="Microsoft YaHei"/>
                <a:cs typeface="Microsoft YaHei"/>
                <a:sym typeface="Microsoft YaHei"/>
              </a:rPr>
              <a:t>需求有据可查</a:t>
            </a:r>
            <a:endParaRPr b="1" sz="1200">
              <a:solidFill>
                <a:srgbClr val="0070C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每个变更都有 proposal（为什么改）spec（改什么）design（怎么做）而不是和Claude Code的聊天记录</a:t>
            </a:r>
            <a:endParaRPr b="0" sz="1200">
              <a:solidFill>
                <a:srgbClr val="555555"/>
              </a:solidFill>
              <a:latin typeface="Microsoft YaHei"/>
              <a:ea typeface="Microsoft YaHei"/>
              <a:cs typeface="Microsoft YaHei"/>
              <a:sym typeface="Microsoft YaHei"/>
            </a:endParaRPr>
          </a:p>
        </p:txBody>
      </p:sp>
      <p:sp>
        <p:nvSpPr>
          <p:cNvPr id="532" name="Google Shape;532;p17"/>
          <p:cNvSpPr/>
          <p:nvPr/>
        </p:nvSpPr>
        <p:spPr>
          <a:xfrm>
            <a:off x="567055" y="4672330"/>
            <a:ext cx="76200" cy="777240"/>
          </a:xfrm>
          <a:prstGeom prst="rect">
            <a:avLst/>
          </a:prstGeom>
          <a:solidFill>
            <a:srgbClr val="0070C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33" name="Google Shape;533;p17"/>
          <p:cNvSpPr txBox="1"/>
          <p:nvPr/>
        </p:nvSpPr>
        <p:spPr>
          <a:xfrm>
            <a:off x="704088" y="4672584"/>
            <a:ext cx="2834640" cy="9118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0070C0"/>
                </a:solidFill>
                <a:latin typeface="Microsoft YaHei"/>
                <a:ea typeface="Microsoft YaHei"/>
                <a:cs typeface="Microsoft YaHei"/>
                <a:sym typeface="Microsoft YaHei"/>
              </a:rPr>
              <a:t>验收有标准可依</a:t>
            </a:r>
            <a:endParaRPr b="1" sz="1400">
              <a:solidFill>
                <a:srgbClr val="0070C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SDD 场景（Given/When/Then）提供明确的验收条件，代码好不好有客观依据</a:t>
            </a:r>
            <a:endParaRPr b="0" sz="1200">
              <a:solidFill>
                <a:srgbClr val="555555"/>
              </a:solidFill>
              <a:latin typeface="Microsoft YaHei"/>
              <a:ea typeface="Microsoft YaHei"/>
              <a:cs typeface="Microsoft YaHei"/>
              <a:sym typeface="Microsoft YaHei"/>
            </a:endParaRPr>
          </a:p>
        </p:txBody>
      </p:sp>
      <p:sp>
        <p:nvSpPr>
          <p:cNvPr id="534" name="Google Shape;534;p17"/>
          <p:cNvSpPr/>
          <p:nvPr/>
        </p:nvSpPr>
        <p:spPr>
          <a:xfrm>
            <a:off x="640080" y="3383280"/>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35" name="Google Shape;535;p17"/>
          <p:cNvSpPr/>
          <p:nvPr/>
        </p:nvSpPr>
        <p:spPr>
          <a:xfrm>
            <a:off x="640080" y="4599432"/>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36" name="Google Shape;536;p17"/>
          <p:cNvSpPr/>
          <p:nvPr/>
        </p:nvSpPr>
        <p:spPr>
          <a:xfrm>
            <a:off x="3886200" y="1371600"/>
            <a:ext cx="3246120" cy="640080"/>
          </a:xfrm>
          <a:prstGeom prst="roundRect">
            <a:avLst>
              <a:gd fmla="val 16667" name="adj"/>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7"/>
          <p:cNvSpPr txBox="1"/>
          <p:nvPr/>
        </p:nvSpPr>
        <p:spPr>
          <a:xfrm>
            <a:off x="3886200" y="1417320"/>
            <a:ext cx="324612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FFFFFF"/>
                </a:solidFill>
                <a:latin typeface="Microsoft YaHei"/>
                <a:ea typeface="Microsoft YaHei"/>
                <a:cs typeface="Microsoft YaHei"/>
                <a:sym typeface="Microsoft YaHei"/>
              </a:rPr>
              <a:t>可追溯</a:t>
            </a:r>
            <a:endParaRPr b="1" sz="2000">
              <a:solidFill>
                <a:srgbClr val="FFFFFF"/>
              </a:solidFill>
              <a:latin typeface="Microsoft YaHei"/>
              <a:ea typeface="Microsoft YaHei"/>
              <a:cs typeface="Microsoft YaHei"/>
              <a:sym typeface="Microsoft YaHei"/>
            </a:endParaRPr>
          </a:p>
        </p:txBody>
      </p:sp>
      <p:sp>
        <p:nvSpPr>
          <p:cNvPr id="538" name="Google Shape;538;p17"/>
          <p:cNvSpPr txBox="1"/>
          <p:nvPr/>
        </p:nvSpPr>
        <p:spPr>
          <a:xfrm>
            <a:off x="3886200" y="1691640"/>
            <a:ext cx="3246120" cy="2603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100">
                <a:solidFill>
                  <a:srgbClr val="DDEEFF"/>
                </a:solidFill>
                <a:latin typeface="Microsoft YaHei"/>
                <a:ea typeface="Microsoft YaHei"/>
                <a:cs typeface="Microsoft YaHei"/>
                <a:sym typeface="Microsoft YaHei"/>
              </a:rPr>
              <a:t>让Agentic Coding 每一步决策都有据可查</a:t>
            </a:r>
            <a:endParaRPr b="0" sz="1100">
              <a:solidFill>
                <a:srgbClr val="DDEEFF"/>
              </a:solidFill>
              <a:latin typeface="Microsoft YaHei"/>
              <a:ea typeface="Microsoft YaHei"/>
              <a:cs typeface="Microsoft YaHei"/>
              <a:sym typeface="Microsoft YaHei"/>
            </a:endParaRPr>
          </a:p>
        </p:txBody>
      </p:sp>
      <p:sp>
        <p:nvSpPr>
          <p:cNvPr id="539" name="Google Shape;539;p17"/>
          <p:cNvSpPr/>
          <p:nvPr/>
        </p:nvSpPr>
        <p:spPr>
          <a:xfrm>
            <a:off x="3886200" y="2103120"/>
            <a:ext cx="3246120" cy="3657600"/>
          </a:xfrm>
          <a:prstGeom prst="roundRect">
            <a:avLst>
              <a:gd fmla="val 16667" name="adj"/>
            </a:avLst>
          </a:prstGeom>
          <a:solidFill>
            <a:srgbClr val="E8F8E8"/>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17"/>
          <p:cNvSpPr/>
          <p:nvPr/>
        </p:nvSpPr>
        <p:spPr>
          <a:xfrm>
            <a:off x="3995928" y="2240280"/>
            <a:ext cx="54864" cy="1143000"/>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41" name="Google Shape;541;p17"/>
          <p:cNvSpPr txBox="1"/>
          <p:nvPr/>
        </p:nvSpPr>
        <p:spPr>
          <a:xfrm>
            <a:off x="4133088" y="2240280"/>
            <a:ext cx="2834640" cy="8813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27AE60"/>
                </a:solidFill>
                <a:latin typeface="Microsoft YaHei"/>
                <a:ea typeface="Microsoft YaHei"/>
                <a:cs typeface="Microsoft YaHei"/>
                <a:sym typeface="Microsoft YaHei"/>
              </a:rPr>
              <a:t>变更全链路追踪</a:t>
            </a:r>
            <a:endParaRPr b="1" sz="1200">
              <a:solidFill>
                <a:srgbClr val="27AE6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从需求到设计到任务到代码，每一步都有对应的文档记录，大大提高了Code到Spec的可追溯性</a:t>
            </a:r>
            <a:endParaRPr b="0" sz="1200">
              <a:solidFill>
                <a:srgbClr val="555555"/>
              </a:solidFill>
              <a:latin typeface="Microsoft YaHei"/>
              <a:ea typeface="Microsoft YaHei"/>
              <a:cs typeface="Microsoft YaHei"/>
              <a:sym typeface="Microsoft YaHei"/>
            </a:endParaRPr>
          </a:p>
        </p:txBody>
      </p:sp>
      <p:sp>
        <p:nvSpPr>
          <p:cNvPr id="542" name="Google Shape;542;p17"/>
          <p:cNvSpPr/>
          <p:nvPr/>
        </p:nvSpPr>
        <p:spPr>
          <a:xfrm>
            <a:off x="3995928" y="3456432"/>
            <a:ext cx="54864" cy="1143000"/>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43" name="Google Shape;543;p17"/>
          <p:cNvSpPr txBox="1"/>
          <p:nvPr/>
        </p:nvSpPr>
        <p:spPr>
          <a:xfrm>
            <a:off x="4133088" y="3456432"/>
            <a:ext cx="2834640" cy="8813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27AE60"/>
                </a:solidFill>
                <a:latin typeface="Microsoft YaHei"/>
                <a:ea typeface="Microsoft YaHei"/>
                <a:cs typeface="Microsoft YaHei"/>
                <a:sym typeface="Microsoft YaHei"/>
              </a:rPr>
              <a:t>审计友好</a:t>
            </a:r>
            <a:endParaRPr b="1" sz="1200">
              <a:solidFill>
                <a:srgbClr val="27AE6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归档机制保留完整上下文，更好的满足合规要求；人类监管审查时能通过Spec看出完整的决策链条</a:t>
            </a:r>
            <a:endParaRPr b="0" sz="1200">
              <a:solidFill>
                <a:srgbClr val="555555"/>
              </a:solidFill>
              <a:latin typeface="Microsoft YaHei"/>
              <a:ea typeface="Microsoft YaHei"/>
              <a:cs typeface="Microsoft YaHei"/>
              <a:sym typeface="Microsoft YaHei"/>
            </a:endParaRPr>
          </a:p>
        </p:txBody>
      </p:sp>
      <p:sp>
        <p:nvSpPr>
          <p:cNvPr id="544" name="Google Shape;544;p17"/>
          <p:cNvSpPr/>
          <p:nvPr/>
        </p:nvSpPr>
        <p:spPr>
          <a:xfrm>
            <a:off x="3996055" y="4672330"/>
            <a:ext cx="76200" cy="756285"/>
          </a:xfrm>
          <a:prstGeom prst="rect">
            <a:avLst/>
          </a:prstGeom>
          <a:solidFill>
            <a:srgbClr val="27AE6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45" name="Google Shape;545;p17"/>
          <p:cNvSpPr txBox="1"/>
          <p:nvPr/>
        </p:nvSpPr>
        <p:spPr>
          <a:xfrm>
            <a:off x="4133088" y="4672584"/>
            <a:ext cx="2834640" cy="69659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27AE60"/>
                </a:solidFill>
                <a:latin typeface="Microsoft YaHei"/>
                <a:ea typeface="Microsoft YaHei"/>
                <a:cs typeface="Microsoft YaHei"/>
                <a:sym typeface="Microsoft YaHei"/>
              </a:rPr>
              <a:t>决策可追溯</a:t>
            </a:r>
            <a:endParaRPr b="1" sz="1200">
              <a:solidFill>
                <a:srgbClr val="27AE6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design.md 记录技术选型理由和替代方案权衡，完整记录选择原因</a:t>
            </a:r>
            <a:endParaRPr b="0" sz="1200">
              <a:solidFill>
                <a:srgbClr val="555555"/>
              </a:solidFill>
              <a:latin typeface="Microsoft YaHei"/>
              <a:ea typeface="Microsoft YaHei"/>
              <a:cs typeface="Microsoft YaHei"/>
              <a:sym typeface="Microsoft YaHei"/>
            </a:endParaRPr>
          </a:p>
        </p:txBody>
      </p:sp>
      <p:sp>
        <p:nvSpPr>
          <p:cNvPr id="546" name="Google Shape;546;p17"/>
          <p:cNvSpPr/>
          <p:nvPr/>
        </p:nvSpPr>
        <p:spPr>
          <a:xfrm>
            <a:off x="4069080" y="3383280"/>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47" name="Google Shape;547;p17"/>
          <p:cNvSpPr/>
          <p:nvPr/>
        </p:nvSpPr>
        <p:spPr>
          <a:xfrm>
            <a:off x="4069080" y="4599432"/>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48" name="Google Shape;548;p17"/>
          <p:cNvSpPr/>
          <p:nvPr/>
        </p:nvSpPr>
        <p:spPr>
          <a:xfrm>
            <a:off x="7315200" y="1371600"/>
            <a:ext cx="3246120" cy="640080"/>
          </a:xfrm>
          <a:prstGeom prst="roundRect">
            <a:avLst>
              <a:gd fmla="val 16667" name="adj"/>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7"/>
          <p:cNvSpPr txBox="1"/>
          <p:nvPr/>
        </p:nvSpPr>
        <p:spPr>
          <a:xfrm>
            <a:off x="7315200" y="1417320"/>
            <a:ext cx="324612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FFFFFF"/>
                </a:solidFill>
                <a:latin typeface="Microsoft YaHei"/>
                <a:ea typeface="Microsoft YaHei"/>
                <a:cs typeface="Microsoft YaHei"/>
                <a:sym typeface="Microsoft YaHei"/>
              </a:rPr>
              <a:t>可协作</a:t>
            </a:r>
            <a:endParaRPr b="1" sz="2000">
              <a:solidFill>
                <a:srgbClr val="FFFFFF"/>
              </a:solidFill>
              <a:latin typeface="Microsoft YaHei"/>
              <a:ea typeface="Microsoft YaHei"/>
              <a:cs typeface="Microsoft YaHei"/>
              <a:sym typeface="Microsoft YaHei"/>
            </a:endParaRPr>
          </a:p>
        </p:txBody>
      </p:sp>
      <p:sp>
        <p:nvSpPr>
          <p:cNvPr id="550" name="Google Shape;550;p17"/>
          <p:cNvSpPr txBox="1"/>
          <p:nvPr/>
        </p:nvSpPr>
        <p:spPr>
          <a:xfrm>
            <a:off x="7315200" y="1691640"/>
            <a:ext cx="3246120" cy="2603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100">
                <a:solidFill>
                  <a:srgbClr val="DDEEFF"/>
                </a:solidFill>
                <a:latin typeface="Microsoft YaHei"/>
                <a:ea typeface="Microsoft YaHei"/>
                <a:cs typeface="Microsoft YaHei"/>
                <a:sym typeface="Microsoft YaHei"/>
              </a:rPr>
              <a:t>团队协作Agentic Coding不再靠聊天对齐</a:t>
            </a:r>
            <a:endParaRPr b="0" sz="1100">
              <a:solidFill>
                <a:srgbClr val="DDEEFF"/>
              </a:solidFill>
              <a:latin typeface="Microsoft YaHei"/>
              <a:ea typeface="Microsoft YaHei"/>
              <a:cs typeface="Microsoft YaHei"/>
              <a:sym typeface="Microsoft YaHei"/>
            </a:endParaRPr>
          </a:p>
        </p:txBody>
      </p:sp>
      <p:sp>
        <p:nvSpPr>
          <p:cNvPr id="551" name="Google Shape;551;p17"/>
          <p:cNvSpPr/>
          <p:nvPr/>
        </p:nvSpPr>
        <p:spPr>
          <a:xfrm>
            <a:off x="7315200" y="2103120"/>
            <a:ext cx="3246120" cy="3657600"/>
          </a:xfrm>
          <a:prstGeom prst="roundRect">
            <a:avLst>
              <a:gd fmla="val 16667" name="adj"/>
            </a:avLst>
          </a:prstGeom>
          <a:solidFill>
            <a:srgbClr val="FFF3E0"/>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7"/>
          <p:cNvSpPr/>
          <p:nvPr/>
        </p:nvSpPr>
        <p:spPr>
          <a:xfrm>
            <a:off x="7424928" y="2240280"/>
            <a:ext cx="54864" cy="1143000"/>
          </a:xfrm>
          <a:prstGeom prst="rect">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53" name="Google Shape;553;p17"/>
          <p:cNvSpPr txBox="1"/>
          <p:nvPr/>
        </p:nvSpPr>
        <p:spPr>
          <a:xfrm>
            <a:off x="7562088" y="2240280"/>
            <a:ext cx="2834640" cy="8813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FF8C00"/>
                </a:solidFill>
                <a:latin typeface="Microsoft YaHei"/>
                <a:ea typeface="Microsoft YaHei"/>
                <a:cs typeface="Microsoft YaHei"/>
                <a:sym typeface="Microsoft YaHei"/>
              </a:rPr>
              <a:t>多人并行不冲突</a:t>
            </a:r>
            <a:endParaRPr b="1" sz="1200">
              <a:solidFill>
                <a:srgbClr val="FF8C0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Delta spec 机制让不同变更可以并行推进，各自只描述自己的增量，合并时冲突能够被通过检测Spec检测到</a:t>
            </a:r>
            <a:endParaRPr b="0" sz="1200">
              <a:solidFill>
                <a:srgbClr val="555555"/>
              </a:solidFill>
              <a:latin typeface="Microsoft YaHei"/>
              <a:ea typeface="Microsoft YaHei"/>
              <a:cs typeface="Microsoft YaHei"/>
              <a:sym typeface="Microsoft YaHei"/>
            </a:endParaRPr>
          </a:p>
        </p:txBody>
      </p:sp>
      <p:sp>
        <p:nvSpPr>
          <p:cNvPr id="554" name="Google Shape;554;p17"/>
          <p:cNvSpPr/>
          <p:nvPr/>
        </p:nvSpPr>
        <p:spPr>
          <a:xfrm>
            <a:off x="7424928" y="3456432"/>
            <a:ext cx="54864" cy="1143000"/>
          </a:xfrm>
          <a:prstGeom prst="rect">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55" name="Google Shape;555;p17"/>
          <p:cNvSpPr txBox="1"/>
          <p:nvPr/>
        </p:nvSpPr>
        <p:spPr>
          <a:xfrm>
            <a:off x="7562088" y="3456432"/>
            <a:ext cx="2834640" cy="10655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FF8C00"/>
                </a:solidFill>
                <a:latin typeface="Microsoft YaHei"/>
                <a:ea typeface="Microsoft YaHei"/>
                <a:cs typeface="Microsoft YaHei"/>
                <a:sym typeface="Microsoft YaHei"/>
              </a:rPr>
              <a:t>上下文可共享</a:t>
            </a:r>
            <a:endParaRPr b="1" sz="1200">
              <a:solidFill>
                <a:srgbClr val="FF8C0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规格文件是团队共享资产，不是某个人的 IDE 聊天记录；任何人在使用Agentic Coding的时候Agent都能读懂系统全貌</a:t>
            </a:r>
            <a:endParaRPr b="0" sz="1200">
              <a:solidFill>
                <a:srgbClr val="555555"/>
              </a:solidFill>
              <a:latin typeface="Microsoft YaHei"/>
              <a:ea typeface="Microsoft YaHei"/>
              <a:cs typeface="Microsoft YaHei"/>
              <a:sym typeface="Microsoft YaHei"/>
            </a:endParaRPr>
          </a:p>
        </p:txBody>
      </p:sp>
      <p:sp>
        <p:nvSpPr>
          <p:cNvPr id="556" name="Google Shape;556;p17"/>
          <p:cNvSpPr/>
          <p:nvPr/>
        </p:nvSpPr>
        <p:spPr>
          <a:xfrm flipH="1">
            <a:off x="7413625" y="4672330"/>
            <a:ext cx="76200" cy="775970"/>
          </a:xfrm>
          <a:prstGeom prst="rect">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57" name="Google Shape;557;p17"/>
          <p:cNvSpPr txBox="1"/>
          <p:nvPr/>
        </p:nvSpPr>
        <p:spPr>
          <a:xfrm>
            <a:off x="7562088" y="4672584"/>
            <a:ext cx="2834640" cy="10655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FF8C00"/>
                </a:solidFill>
                <a:latin typeface="Microsoft YaHei"/>
                <a:ea typeface="Microsoft YaHei"/>
                <a:cs typeface="Microsoft YaHei"/>
                <a:sym typeface="Microsoft YaHei"/>
              </a:rPr>
              <a:t>快速上手</a:t>
            </a:r>
            <a:endParaRPr b="1" sz="1200">
              <a:solidFill>
                <a:srgbClr val="FF8C0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555555"/>
                </a:solidFill>
                <a:latin typeface="Microsoft YaHei"/>
                <a:ea typeface="Microsoft YaHei"/>
                <a:cs typeface="Microsoft YaHei"/>
                <a:sym typeface="Microsoft YaHei"/>
              </a:rPr>
              <a:t>读 specs + design + archived changes 即可理解系统演化历程，没有类似于"这段代码Agent当时为什么这样写"的问题</a:t>
            </a:r>
            <a:endParaRPr b="0" sz="1200">
              <a:solidFill>
                <a:srgbClr val="555555"/>
              </a:solidFill>
              <a:latin typeface="Microsoft YaHei"/>
              <a:ea typeface="Microsoft YaHei"/>
              <a:cs typeface="Microsoft YaHei"/>
              <a:sym typeface="Microsoft YaHei"/>
            </a:endParaRPr>
          </a:p>
        </p:txBody>
      </p:sp>
      <p:sp>
        <p:nvSpPr>
          <p:cNvPr id="558" name="Google Shape;558;p17"/>
          <p:cNvSpPr/>
          <p:nvPr/>
        </p:nvSpPr>
        <p:spPr>
          <a:xfrm>
            <a:off x="7498080" y="3383280"/>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59" name="Google Shape;559;p17"/>
          <p:cNvSpPr/>
          <p:nvPr/>
        </p:nvSpPr>
        <p:spPr>
          <a:xfrm>
            <a:off x="7498080" y="4599432"/>
            <a:ext cx="2880360" cy="6350"/>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560" name="Google Shape;560;p17"/>
          <p:cNvSpPr/>
          <p:nvPr/>
        </p:nvSpPr>
        <p:spPr>
          <a:xfrm>
            <a:off x="457200" y="5897880"/>
            <a:ext cx="10241280" cy="502920"/>
          </a:xfrm>
          <a:prstGeom prst="roundRect">
            <a:avLst>
              <a:gd fmla="val 16667" name="adj"/>
            </a:avLst>
          </a:prstGeom>
          <a:solidFill>
            <a:srgbClr val="1A1A2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1" name="Google Shape;561;p17"/>
          <p:cNvSpPr txBox="1"/>
          <p:nvPr/>
        </p:nvSpPr>
        <p:spPr>
          <a:xfrm>
            <a:off x="457200" y="5989320"/>
            <a:ext cx="10346055" cy="306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FFCC00"/>
                </a:solidFill>
                <a:latin typeface="Microsoft YaHei"/>
                <a:ea typeface="Microsoft YaHei"/>
                <a:cs typeface="Microsoft YaHei"/>
                <a:sym typeface="Microsoft YaHei"/>
              </a:rPr>
              <a:t>一句话总结：</a:t>
            </a:r>
            <a:r>
              <a:rPr b="0" lang="en-US" sz="1400">
                <a:solidFill>
                  <a:srgbClr val="FFFFFF"/>
                </a:solidFill>
                <a:latin typeface="Microsoft YaHei"/>
                <a:ea typeface="Microsoft YaHei"/>
                <a:cs typeface="Microsoft YaHei"/>
                <a:sym typeface="Microsoft YaHei"/>
              </a:rPr>
              <a:t>OpenSpec 让 Agentic Coding 从vibe coding变成 spec driven development, 增强了code规范程度和可追溯性</a:t>
            </a:r>
            <a:endParaRPr b="0" sz="1400">
              <a:solidFill>
                <a:srgbClr val="FFFFFF"/>
              </a:solidFill>
              <a:latin typeface="Microsoft YaHei"/>
              <a:ea typeface="Microsoft YaHei"/>
              <a:cs typeface="Microsoft YaHei"/>
              <a:sym typeface="Microsoft YaHei"/>
            </a:endParaRPr>
          </a:p>
        </p:txBody>
      </p:sp>
      <p:sp>
        <p:nvSpPr>
          <p:cNvPr id="562" name="Google Shape;562;p17"/>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000">
                <a:solidFill>
                  <a:srgbClr val="999999"/>
                </a:solidFill>
                <a:latin typeface="Microsoft YaHei"/>
                <a:ea typeface="Microsoft YaHei"/>
                <a:cs typeface="Microsoft YaHei"/>
                <a:sym typeface="Microsoft YaHei"/>
              </a:rPr>
              <a:t>15/41</a:t>
            </a:r>
            <a:endParaRPr b="0" sz="1000">
              <a:solidFill>
                <a:srgbClr val="999999"/>
              </a:solidFill>
              <a:latin typeface="Microsoft YaHei"/>
              <a:ea typeface="Microsoft YaHei"/>
              <a:cs typeface="Microsoft YaHei"/>
              <a:sym typeface="Microsoft YaHe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566" name="Shape 566"/>
        <p:cNvGrpSpPr/>
        <p:nvPr/>
      </p:nvGrpSpPr>
      <p:grpSpPr>
        <a:xfrm>
          <a:off x="0" y="0"/>
          <a:ext cx="0" cy="0"/>
          <a:chOff x="0" y="0"/>
          <a:chExt cx="0" cy="0"/>
        </a:xfrm>
      </p:grpSpPr>
      <p:sp>
        <p:nvSpPr>
          <p:cNvPr id="567" name="Google Shape;567;p18"/>
          <p:cNvSpPr/>
          <p:nvPr/>
        </p:nvSpPr>
        <p:spPr>
          <a:xfrm>
            <a:off x="0" y="0"/>
            <a:ext cx="12191695" cy="54864"/>
          </a:xfrm>
          <a:prstGeom prst="rect">
            <a:avLst/>
          </a:prstGeom>
          <a:solidFill>
            <a:srgbClr val="C0392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18"/>
          <p:cNvSpPr txBox="1"/>
          <p:nvPr/>
        </p:nvSpPr>
        <p:spPr>
          <a:xfrm>
            <a:off x="457200" y="192405"/>
            <a:ext cx="11200000"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rgbClr val="1A1A2E"/>
                </a:solidFill>
                <a:latin typeface="Microsoft YaHei"/>
                <a:ea typeface="Microsoft YaHei"/>
                <a:cs typeface="Microsoft YaHei"/>
                <a:sym typeface="Microsoft YaHei"/>
              </a:rPr>
              <a:t>外部竞品分析：各厂的 Spec-Driven 产品布局</a:t>
            </a:r>
            <a:endParaRPr b="1" sz="2000">
              <a:solidFill>
                <a:srgbClr val="1A1A2E"/>
              </a:solidFill>
              <a:latin typeface="Calibri"/>
              <a:ea typeface="Calibri"/>
              <a:cs typeface="Calibri"/>
              <a:sym typeface="Calibri"/>
            </a:endParaRPr>
          </a:p>
        </p:txBody>
      </p:sp>
      <p:sp>
        <p:nvSpPr>
          <p:cNvPr id="569" name="Google Shape;569;p18"/>
          <p:cNvSpPr/>
          <p:nvPr/>
        </p:nvSpPr>
        <p:spPr>
          <a:xfrm>
            <a:off x="457200" y="594360"/>
            <a:ext cx="1097280" cy="45720"/>
          </a:xfrm>
          <a:prstGeom prst="rect">
            <a:avLst/>
          </a:prstGeom>
          <a:solidFill>
            <a:srgbClr val="C0392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8"/>
          <p:cNvSpPr txBox="1"/>
          <p:nvPr/>
        </p:nvSpPr>
        <p:spPr>
          <a:xfrm>
            <a:off x="457200" y="640080"/>
            <a:ext cx="11200000" cy="260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555555"/>
                </a:solidFill>
                <a:latin typeface="Microsoft YaHei"/>
                <a:ea typeface="Microsoft YaHei"/>
                <a:cs typeface="Microsoft YaHei"/>
                <a:sym typeface="Microsoft YaHei"/>
              </a:rPr>
              <a:t>这个方向不只我们在看——2025年下半年起，7 家公司发布规格驱动类 AI 编程产品，说明方向正确但竞争加剧</a:t>
            </a:r>
            <a:endParaRPr b="0" sz="1100">
              <a:solidFill>
                <a:srgbClr val="C0392B"/>
              </a:solidFill>
              <a:latin typeface="Calibri"/>
              <a:ea typeface="Calibri"/>
              <a:cs typeface="Calibri"/>
              <a:sym typeface="Calibri"/>
            </a:endParaRPr>
          </a:p>
        </p:txBody>
      </p:sp>
      <p:graphicFrame>
        <p:nvGraphicFramePr>
          <p:cNvPr id="571" name="Google Shape;571;p18"/>
          <p:cNvGraphicFramePr/>
          <p:nvPr/>
        </p:nvGraphicFramePr>
        <p:xfrm>
          <a:off x="274320" y="998220"/>
          <a:ext cx="3000000" cy="3000000"/>
        </p:xfrm>
        <a:graphic>
          <a:graphicData uri="http://schemas.openxmlformats.org/drawingml/2006/table">
            <a:tbl>
              <a:tblPr bandRow="1" firstRow="1">
                <a:noFill/>
                <a:tableStyleId>{1919ADCB-30F0-46B4-BD1B-849308643872}</a:tableStyleId>
              </a:tblPr>
              <a:tblGrid>
                <a:gridCol w="2117100"/>
                <a:gridCol w="3175625"/>
                <a:gridCol w="4763775"/>
                <a:gridCol w="1587500"/>
              </a:tblGrid>
              <a:tr h="335925">
                <a:tc>
                  <a:txBody>
                    <a:bodyPr/>
                    <a:lstStyle/>
                    <a:p>
                      <a:pPr indent="0" lvl="0" marL="0" marR="0" rtl="0" algn="ctr">
                        <a:spcBef>
                          <a:spcPts val="0"/>
                        </a:spcBef>
                        <a:spcAft>
                          <a:spcPts val="0"/>
                        </a:spcAft>
                        <a:buNone/>
                      </a:pPr>
                      <a:r>
                        <a:rPr b="1" lang="en-US" sz="900" u="none" cap="none" strike="noStrike">
                          <a:solidFill>
                            <a:srgbClr val="FFFFFF"/>
                          </a:solidFill>
                        </a:rPr>
                        <a:t>公司</a:t>
                      </a:r>
                      <a:endParaRPr b="1" sz="900" u="none" cap="none" strike="noStrike">
                        <a:solidFill>
                          <a:srgbClr val="FFFFFF"/>
                        </a:solidFill>
                      </a:endParaRPr>
                    </a:p>
                  </a:txBody>
                  <a:tcPr marT="45725" marB="45725" marR="91450" marL="91450">
                    <a:solidFill>
                      <a:srgbClr val="2C3E50"/>
                    </a:solidFill>
                  </a:tcPr>
                </a:tc>
                <a:tc>
                  <a:txBody>
                    <a:bodyPr/>
                    <a:lstStyle/>
                    <a:p>
                      <a:pPr indent="0" lvl="0" marL="0" marR="0" rtl="0" algn="ctr">
                        <a:spcBef>
                          <a:spcPts val="0"/>
                        </a:spcBef>
                        <a:spcAft>
                          <a:spcPts val="0"/>
                        </a:spcAft>
                        <a:buNone/>
                      </a:pPr>
                      <a:r>
                        <a:rPr b="1" lang="en-US" sz="900" u="none" cap="none" strike="noStrike">
                          <a:solidFill>
                            <a:srgbClr val="FFFFFF"/>
                          </a:solidFill>
                        </a:rPr>
                        <a:t>产品</a:t>
                      </a:r>
                      <a:endParaRPr b="1" sz="900" u="none" cap="none" strike="noStrike">
                        <a:solidFill>
                          <a:srgbClr val="FFFFFF"/>
                        </a:solidFill>
                      </a:endParaRPr>
                    </a:p>
                  </a:txBody>
                  <a:tcPr marT="45725" marB="45725" marR="91450" marL="91450">
                    <a:solidFill>
                      <a:srgbClr val="2C3E50"/>
                    </a:solidFill>
                  </a:tcPr>
                </a:tc>
                <a:tc>
                  <a:txBody>
                    <a:bodyPr/>
                    <a:lstStyle/>
                    <a:p>
                      <a:pPr indent="0" lvl="0" marL="0" marR="0" rtl="0" algn="ctr">
                        <a:spcBef>
                          <a:spcPts val="0"/>
                        </a:spcBef>
                        <a:spcAft>
                          <a:spcPts val="0"/>
                        </a:spcAft>
                        <a:buNone/>
                      </a:pPr>
                      <a:r>
                        <a:rPr b="1" lang="en-US" sz="900" u="none" cap="none" strike="noStrike">
                          <a:solidFill>
                            <a:srgbClr val="FFFFFF"/>
                          </a:solidFill>
                        </a:rPr>
                        <a:t>规格/需求治理核心能力</a:t>
                      </a:r>
                      <a:endParaRPr b="1" sz="900" u="none" cap="none" strike="noStrike">
                        <a:solidFill>
                          <a:srgbClr val="FFFFFF"/>
                        </a:solidFill>
                      </a:endParaRPr>
                    </a:p>
                  </a:txBody>
                  <a:tcPr marT="45725" marB="45725" marR="91450" marL="91450">
                    <a:solidFill>
                      <a:srgbClr val="2C3E50"/>
                    </a:solidFill>
                  </a:tcPr>
                </a:tc>
                <a:tc>
                  <a:txBody>
                    <a:bodyPr/>
                    <a:lstStyle/>
                    <a:p>
                      <a:pPr indent="0" lvl="0" marL="0" marR="0" rtl="0" algn="ctr">
                        <a:spcBef>
                          <a:spcPts val="0"/>
                        </a:spcBef>
                        <a:spcAft>
                          <a:spcPts val="0"/>
                        </a:spcAft>
                        <a:buNone/>
                      </a:pPr>
                      <a:r>
                        <a:rPr b="1" lang="en-US" sz="900" u="none" cap="none" strike="noStrike">
                          <a:solidFill>
                            <a:srgbClr val="FFFFFF"/>
                          </a:solidFill>
                        </a:rPr>
                        <a:t>发布时间</a:t>
                      </a:r>
                      <a:endParaRPr b="1" sz="900" u="none" cap="none" strike="noStrike">
                        <a:solidFill>
                          <a:srgbClr val="FFFFFF"/>
                        </a:solidFill>
                      </a:endParaRPr>
                    </a:p>
                  </a:txBody>
                  <a:tcPr marT="45725" marB="45725" marR="91450" marL="91450">
                    <a:solidFill>
                      <a:srgbClr val="2C3E50"/>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Amazon (AWS)</a:t>
                      </a:r>
                      <a:endParaRPr b="1" sz="1200" u="none" cap="none" strike="noStrike">
                        <a:solidFill>
                          <a:srgbClr val="2C2C2C"/>
                        </a:solidFill>
                      </a:endParaRPr>
                    </a:p>
                  </a:txBody>
                  <a:tcPr marT="45725" marB="45725" marR="91450" marL="91450">
                    <a:solidFill>
                      <a:srgbClr val="FDEDED"/>
                    </a:solidFill>
                  </a:tcPr>
                </a:tc>
                <a:tc>
                  <a:txBody>
                    <a:bodyPr/>
                    <a:lstStyle/>
                    <a:p>
                      <a:pPr indent="0" lvl="0" marL="0" marR="0" rtl="0" algn="ctr">
                        <a:spcBef>
                          <a:spcPts val="0"/>
                        </a:spcBef>
                        <a:spcAft>
                          <a:spcPts val="0"/>
                        </a:spcAft>
                        <a:buNone/>
                      </a:pPr>
                      <a:r>
                        <a:rPr lang="en-US" sz="1200" u="none" cap="none" strike="noStrike">
                          <a:solidFill>
                            <a:srgbClr val="2C2C2C"/>
                          </a:solidFill>
                        </a:rPr>
                        <a:t>Kiro IDE</a:t>
                      </a:r>
                      <a:endParaRPr sz="1200" u="none" cap="none" strike="noStrike">
                        <a:solidFill>
                          <a:srgbClr val="2C2C2C"/>
                        </a:solidFill>
                      </a:endParaRPr>
                    </a:p>
                  </a:txBody>
                  <a:tcPr marT="45725" marB="45725" marR="91450" marL="91450">
                    <a:solidFill>
                      <a:srgbClr val="FDEDED"/>
                    </a:solidFill>
                  </a:tcPr>
                </a:tc>
                <a:tc>
                  <a:txBody>
                    <a:bodyPr/>
                    <a:lstStyle/>
                    <a:p>
                      <a:pPr indent="0" lvl="0" marL="0" marR="0" rtl="0" algn="l">
                        <a:spcBef>
                          <a:spcPts val="0"/>
                        </a:spcBef>
                        <a:spcAft>
                          <a:spcPts val="0"/>
                        </a:spcAft>
                        <a:buNone/>
                      </a:pPr>
                      <a:r>
                        <a:rPr lang="en-US" sz="1200" u="none" cap="none" strike="noStrike">
                          <a:solidFill>
                            <a:srgbClr val="2C2C2C"/>
                          </a:solidFill>
                        </a:rPr>
                        <a:t>3阶段 Spec工作流（EARS语法）</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requirements → design → tasks</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已 GA，有自治 Agent + 属性测试</a:t>
                      </a:r>
                      <a:endParaRPr sz="1200" u="none" cap="none" strike="noStrike">
                        <a:solidFill>
                          <a:srgbClr val="2C2C2C"/>
                        </a:solidFill>
                      </a:endParaRPr>
                    </a:p>
                  </a:txBody>
                  <a:tcPr marT="45725" marB="45725" marR="91450" marL="91450">
                    <a:solidFill>
                      <a:srgbClr val="FDEDED"/>
                    </a:solidFill>
                  </a:tcPr>
                </a:tc>
                <a:tc>
                  <a:txBody>
                    <a:bodyPr/>
                    <a:lstStyle/>
                    <a:p>
                      <a:pPr indent="0" lvl="0" marL="0" marR="0" rtl="0" algn="ctr">
                        <a:spcBef>
                          <a:spcPts val="0"/>
                        </a:spcBef>
                        <a:spcAft>
                          <a:spcPts val="0"/>
                        </a:spcAft>
                        <a:buNone/>
                      </a:pPr>
                      <a:r>
                        <a:rPr lang="en-US" sz="1200" u="none" cap="none" strike="noStrike">
                          <a:solidFill>
                            <a:srgbClr val="2C2C2C"/>
                          </a:solidFill>
                        </a:rPr>
                        <a:t>2025.7</a:t>
                      </a:r>
                      <a:endParaRPr sz="1200" u="none" cap="none" strike="noStrike">
                        <a:solidFill>
                          <a:srgbClr val="2C2C2C"/>
                        </a:solidFill>
                      </a:endParaRPr>
                    </a:p>
                    <a:p>
                      <a:pPr indent="0" lvl="0" marL="0" marR="0" rtl="0" algn="ctr">
                        <a:spcBef>
                          <a:spcPts val="0"/>
                        </a:spcBef>
                        <a:spcAft>
                          <a:spcPts val="0"/>
                        </a:spcAft>
                        <a:buNone/>
                      </a:pPr>
                      <a:r>
                        <a:rPr lang="en-US" sz="1200" u="none" cap="none" strike="noStrike">
                          <a:solidFill>
                            <a:srgbClr val="2C2C2C"/>
                          </a:solidFill>
                        </a:rPr>
                        <a:t>GA 11月</a:t>
                      </a:r>
                      <a:endParaRPr sz="1200" u="none" cap="none" strike="noStrike">
                        <a:solidFill>
                          <a:srgbClr val="2C2C2C"/>
                        </a:solidFill>
                      </a:endParaRPr>
                    </a:p>
                  </a:txBody>
                  <a:tcPr marT="45725" marB="45725" marR="91450" marL="91450">
                    <a:solidFill>
                      <a:srgbClr val="FDEDED"/>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GitHub</a:t>
                      </a:r>
                      <a:endParaRPr b="1" sz="1200" u="none" cap="none" strike="noStrike">
                        <a:solidFill>
                          <a:srgbClr val="2C2C2C"/>
                        </a:solidFill>
                      </a:endParaRPr>
                    </a:p>
                  </a:txBody>
                  <a:tcPr marT="45725" marB="45725" marR="91450" marL="91450">
                    <a:solidFill>
                      <a:srgbClr val="FDEDED"/>
                    </a:solidFill>
                  </a:tcPr>
                </a:tc>
                <a:tc>
                  <a:txBody>
                    <a:bodyPr/>
                    <a:lstStyle/>
                    <a:p>
                      <a:pPr indent="0" lvl="0" marL="0" marR="0" rtl="0" algn="ctr">
                        <a:spcBef>
                          <a:spcPts val="0"/>
                        </a:spcBef>
                        <a:spcAft>
                          <a:spcPts val="0"/>
                        </a:spcAft>
                        <a:buNone/>
                      </a:pPr>
                      <a:r>
                        <a:rPr lang="en-US" sz="1200" u="none" cap="none" strike="noStrike">
                          <a:solidFill>
                            <a:srgbClr val="2C2C2C"/>
                          </a:solidFill>
                        </a:rPr>
                        <a:t>Spec Kit</a:t>
                      </a:r>
                      <a:endParaRPr sz="1200" u="none" cap="none" strike="noStrike">
                        <a:solidFill>
                          <a:srgbClr val="2C2C2C"/>
                        </a:solidFill>
                      </a:endParaRPr>
                    </a:p>
                  </a:txBody>
                  <a:tcPr marT="45725" marB="45725" marR="91450" marL="91450">
                    <a:solidFill>
                      <a:srgbClr val="FDEDED"/>
                    </a:solidFill>
                  </a:tcPr>
                </a:tc>
                <a:tc>
                  <a:txBody>
                    <a:bodyPr/>
                    <a:lstStyle/>
                    <a:p>
                      <a:pPr indent="0" lvl="0" marL="0" marR="0" rtl="0" algn="l">
                        <a:spcBef>
                          <a:spcPts val="0"/>
                        </a:spcBef>
                        <a:spcAft>
                          <a:spcPts val="0"/>
                        </a:spcAft>
                        <a:buNone/>
                      </a:pPr>
                      <a:r>
                        <a:rPr lang="en-US" sz="1200" u="none" cap="none" strike="noStrike">
                          <a:solidFill>
                            <a:srgbClr val="2C2C2C"/>
                          </a:solidFill>
                        </a:rPr>
                        <a:t>开源 SDD 工具包（39.3k stars）</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Constitution → Specify → Plan → Tasks</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支持 17+ AI Agent，工具无关</a:t>
                      </a:r>
                      <a:endParaRPr sz="1200" u="none" cap="none" strike="noStrike">
                        <a:solidFill>
                          <a:srgbClr val="2C2C2C"/>
                        </a:solidFill>
                      </a:endParaRPr>
                    </a:p>
                  </a:txBody>
                  <a:tcPr marT="45725" marB="45725" marR="91450" marL="91450">
                    <a:solidFill>
                      <a:srgbClr val="FDEDED"/>
                    </a:solidFill>
                  </a:tcPr>
                </a:tc>
                <a:tc>
                  <a:txBody>
                    <a:bodyPr/>
                    <a:lstStyle/>
                    <a:p>
                      <a:pPr indent="0" lvl="0" marL="0" marR="0" rtl="0" algn="ctr">
                        <a:spcBef>
                          <a:spcPts val="0"/>
                        </a:spcBef>
                        <a:spcAft>
                          <a:spcPts val="0"/>
                        </a:spcAft>
                        <a:buNone/>
                      </a:pPr>
                      <a:r>
                        <a:rPr lang="en-US" sz="1200" u="none" cap="none" strike="noStrike">
                          <a:solidFill>
                            <a:srgbClr val="2C2C2C"/>
                          </a:solidFill>
                        </a:rPr>
                        <a:t>2025.9</a:t>
                      </a:r>
                      <a:endParaRPr sz="1200" u="none" cap="none" strike="noStrike">
                        <a:solidFill>
                          <a:srgbClr val="2C2C2C"/>
                        </a:solidFill>
                      </a:endParaRPr>
                    </a:p>
                  </a:txBody>
                  <a:tcPr marT="45725" marB="45725" marR="91450" marL="91450">
                    <a:solidFill>
                      <a:srgbClr val="FDEDED"/>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阿里</a:t>
                      </a:r>
                      <a:endParaRPr b="1"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Qoder</a:t>
                      </a:r>
                      <a:endParaRPr sz="1200" u="none" cap="none" strike="noStrike">
                        <a:solidFill>
                          <a:srgbClr val="2C2C2C"/>
                        </a:solidFill>
                      </a:endParaRPr>
                    </a:p>
                    <a:p>
                      <a:pPr indent="0" lvl="0" marL="0" marR="0" rtl="0" algn="ctr">
                        <a:spcBef>
                          <a:spcPts val="0"/>
                        </a:spcBef>
                        <a:spcAft>
                          <a:spcPts val="0"/>
                        </a:spcAft>
                        <a:buNone/>
                      </a:pPr>
                      <a:r>
                        <a:rPr lang="en-US" sz="1200" u="none" cap="none" strike="noStrike">
                          <a:solidFill>
                            <a:srgbClr val="2C2C2C"/>
                          </a:solidFill>
                        </a:rPr>
                        <a:t>(Quest Mode)</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l">
                        <a:spcBef>
                          <a:spcPts val="0"/>
                        </a:spcBef>
                        <a:spcAft>
                          <a:spcPts val="0"/>
                        </a:spcAft>
                        <a:buNone/>
                      </a:pPr>
                      <a:r>
                        <a:rPr lang="en-US" sz="1200" u="none" cap="none" strike="noStrike">
                          <a:solidFill>
                            <a:srgbClr val="2C2C2C"/>
                          </a:solidFill>
                        </a:rPr>
                        <a:t>显式要求写 spec 再执行</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Quest 1.0 自进化 Agent</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可检索 10万+ 代码文件</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2025.8</a:t>
                      </a:r>
                      <a:endParaRPr sz="1200" u="none" cap="none" strike="noStrike">
                        <a:solidFill>
                          <a:srgbClr val="2C2C2C"/>
                        </a:solidFill>
                      </a:endParaRPr>
                    </a:p>
                    <a:p>
                      <a:pPr indent="0" lvl="0" marL="0" marR="0" rtl="0" algn="ctr">
                        <a:spcBef>
                          <a:spcPts val="0"/>
                        </a:spcBef>
                        <a:spcAft>
                          <a:spcPts val="0"/>
                        </a:spcAft>
                        <a:buNone/>
                      </a:pPr>
                      <a:r>
                        <a:rPr lang="en-US" sz="1200" u="none" cap="none" strike="noStrike">
                          <a:solidFill>
                            <a:srgbClr val="2C2C2C"/>
                          </a:solidFill>
                        </a:rPr>
                        <a:t>Quest 1月26年</a:t>
                      </a:r>
                      <a:endParaRPr sz="1200" u="none" cap="none" strike="noStrike">
                        <a:solidFill>
                          <a:srgbClr val="2C2C2C"/>
                        </a:solidFill>
                      </a:endParaRPr>
                    </a:p>
                  </a:txBody>
                  <a:tcPr marT="45725" marB="45725" marR="91450" marL="91450">
                    <a:solidFill>
                      <a:srgbClr val="E8F0FE"/>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腾讯</a:t>
                      </a:r>
                      <a:endParaRPr b="1"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CodeBuddy IDE</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l">
                        <a:spcBef>
                          <a:spcPts val="0"/>
                        </a:spcBef>
                        <a:spcAft>
                          <a:spcPts val="0"/>
                        </a:spcAft>
                        <a:buNone/>
                      </a:pPr>
                      <a:r>
                        <a:rPr lang="en-US" sz="1200" u="none" cap="none" strike="noStrike">
                          <a:solidFill>
                            <a:srgbClr val="2C2C2C"/>
                          </a:solidFill>
                        </a:rPr>
                        <a:t>自动生成 PRD/TRD/DRD 文档</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Figma 设计稿 → 前后端代码</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ADP 3.0 合规监控 + 风控</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2025.7</a:t>
                      </a:r>
                      <a:endParaRPr sz="1200" u="none" cap="none" strike="noStrike">
                        <a:solidFill>
                          <a:srgbClr val="2C2C2C"/>
                        </a:solidFill>
                      </a:endParaRPr>
                    </a:p>
                  </a:txBody>
                  <a:tcPr marT="45725" marB="45725" marR="91450" marL="91450">
                    <a:solidFill>
                      <a:srgbClr val="E8F0FE"/>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字节跳动</a:t>
                      </a:r>
                      <a:endParaRPr b="1"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Trae SOLO</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l">
                        <a:spcBef>
                          <a:spcPts val="0"/>
                        </a:spcBef>
                        <a:spcAft>
                          <a:spcPts val="0"/>
                        </a:spcAft>
                        <a:buNone/>
                      </a:pPr>
                      <a:r>
                        <a:rPr lang="en-US" sz="1200" u="none" cap="none" strike="noStrike">
                          <a:solidFill>
                            <a:srgbClr val="2C2C2C"/>
                          </a:solidFill>
                        </a:rPr>
                        <a:t>需求 → PRD → 代码 → 部署全链路</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92% 用户满意度，98% 中文解析</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预测 2026年 85% 工具将具备此能力</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2025.7</a:t>
                      </a:r>
                      <a:endParaRPr sz="1200" u="none" cap="none" strike="noStrike">
                        <a:solidFill>
                          <a:srgbClr val="2C2C2C"/>
                        </a:solidFill>
                      </a:endParaRPr>
                    </a:p>
                  </a:txBody>
                  <a:tcPr marT="45725" marB="45725" marR="91450" marL="91450">
                    <a:solidFill>
                      <a:srgbClr val="E8F0FE"/>
                    </a:solidFill>
                  </a:tcPr>
                </a:tc>
              </a:tr>
              <a:tr h="548650">
                <a:tc>
                  <a:txBody>
                    <a:bodyPr/>
                    <a:lstStyle/>
                    <a:p>
                      <a:pPr indent="0" lvl="0" marL="0" marR="0" rtl="0" algn="ctr">
                        <a:spcBef>
                          <a:spcPts val="0"/>
                        </a:spcBef>
                        <a:spcAft>
                          <a:spcPts val="0"/>
                        </a:spcAft>
                        <a:buNone/>
                      </a:pPr>
                      <a:r>
                        <a:rPr b="1" lang="en-US" sz="1200" u="none" cap="none" strike="noStrike">
                          <a:solidFill>
                            <a:srgbClr val="2C2C2C"/>
                          </a:solidFill>
                        </a:rPr>
                        <a:t>百度</a:t>
                      </a:r>
                      <a:endParaRPr b="1"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Comate + Zulu</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l">
                        <a:spcBef>
                          <a:spcPts val="0"/>
                        </a:spcBef>
                        <a:spcAft>
                          <a:spcPts val="0"/>
                        </a:spcAft>
                        <a:buNone/>
                      </a:pPr>
                      <a:r>
                        <a:rPr lang="en-US" sz="1200" u="none" cap="none" strike="noStrike">
                          <a:solidFill>
                            <a:srgbClr val="2C2C2C"/>
                          </a:solidFill>
                        </a:rPr>
                        <a:t>NL 需求 → 代码 → 部署，自修复</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43% 百度内部代码由 AI 生成</a:t>
                      </a:r>
                      <a:endParaRPr sz="1200" u="none" cap="none" strike="noStrike">
                        <a:solidFill>
                          <a:srgbClr val="2C2C2C"/>
                        </a:solidFill>
                      </a:endParaRPr>
                    </a:p>
                    <a:p>
                      <a:pPr indent="0" lvl="0" marL="0" marR="0" rtl="0" algn="l">
                        <a:spcBef>
                          <a:spcPts val="0"/>
                        </a:spcBef>
                        <a:spcAft>
                          <a:spcPts val="0"/>
                        </a:spcAft>
                        <a:buNone/>
                      </a:pPr>
                      <a:r>
                        <a:rPr lang="en-US" sz="1200" u="none" cap="none" strike="noStrike">
                          <a:solidFill>
                            <a:srgbClr val="2C2C2C"/>
                          </a:solidFill>
                        </a:rPr>
                        <a:t>1000万+ 开发者用户</a:t>
                      </a:r>
                      <a:endParaRPr sz="1200" u="none" cap="none" strike="noStrike">
                        <a:solidFill>
                          <a:srgbClr val="2C2C2C"/>
                        </a:solidFill>
                      </a:endParaRPr>
                    </a:p>
                  </a:txBody>
                  <a:tcPr marT="45725" marB="45725" marR="91450" marL="91450">
                    <a:solidFill>
                      <a:srgbClr val="E8F0FE"/>
                    </a:solidFill>
                  </a:tcPr>
                </a:tc>
                <a:tc>
                  <a:txBody>
                    <a:bodyPr/>
                    <a:lstStyle/>
                    <a:p>
                      <a:pPr indent="0" lvl="0" marL="0" marR="0" rtl="0" algn="ctr">
                        <a:spcBef>
                          <a:spcPts val="0"/>
                        </a:spcBef>
                        <a:spcAft>
                          <a:spcPts val="0"/>
                        </a:spcAft>
                        <a:buNone/>
                      </a:pPr>
                      <a:r>
                        <a:rPr lang="en-US" sz="1200" u="none" cap="none" strike="noStrike">
                          <a:solidFill>
                            <a:srgbClr val="2C2C2C"/>
                          </a:solidFill>
                        </a:rPr>
                        <a:t>2025年中</a:t>
                      </a:r>
                      <a:endParaRPr sz="1200" u="none" cap="none" strike="noStrike">
                        <a:solidFill>
                          <a:srgbClr val="2C2C2C"/>
                        </a:solidFill>
                      </a:endParaRPr>
                    </a:p>
                  </a:txBody>
                  <a:tcPr marT="45725" marB="45725" marR="91450" marL="91450">
                    <a:solidFill>
                      <a:srgbClr val="E8F0FE"/>
                    </a:solidFill>
                  </a:tcPr>
                </a:tc>
              </a:tr>
            </a:tbl>
          </a:graphicData>
        </a:graphic>
      </p:graphicFrame>
      <p:sp>
        <p:nvSpPr>
          <p:cNvPr id="572" name="Google Shape;572;p18"/>
          <p:cNvSpPr/>
          <p:nvPr/>
        </p:nvSpPr>
        <p:spPr>
          <a:xfrm>
            <a:off x="274320" y="5166360"/>
            <a:ext cx="11643360" cy="1280160"/>
          </a:xfrm>
          <a:prstGeom prst="rect">
            <a:avLst/>
          </a:prstGeom>
          <a:solidFill>
            <a:srgbClr val="FDE8E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3" name="Google Shape;573;p18"/>
          <p:cNvSpPr txBox="1"/>
          <p:nvPr/>
        </p:nvSpPr>
        <p:spPr>
          <a:xfrm>
            <a:off x="457200" y="5211320"/>
            <a:ext cx="11200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2C3E50"/>
                </a:solidFill>
                <a:latin typeface="Microsoft YaHei"/>
                <a:ea typeface="Microsoft YaHei"/>
                <a:cs typeface="Microsoft YaHei"/>
                <a:sym typeface="Microsoft YaHei"/>
              </a:rPr>
              <a:t>竞争格局启示</a:t>
            </a:r>
            <a:endParaRPr b="1" sz="1300">
              <a:solidFill>
                <a:srgbClr val="C0392B"/>
              </a:solidFill>
              <a:latin typeface="Calibri"/>
              <a:ea typeface="Calibri"/>
              <a:cs typeface="Calibri"/>
              <a:sym typeface="Calibri"/>
            </a:endParaRPr>
          </a:p>
        </p:txBody>
      </p:sp>
      <p:sp>
        <p:nvSpPr>
          <p:cNvPr id="574" name="Google Shape;574;p18"/>
          <p:cNvSpPr txBox="1"/>
          <p:nvPr/>
        </p:nvSpPr>
        <p:spPr>
          <a:xfrm>
            <a:off x="457200" y="5532120"/>
            <a:ext cx="3748280" cy="9220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US" sz="1200">
                <a:solidFill>
                  <a:srgbClr val="2C3E50"/>
                </a:solidFill>
                <a:latin typeface="Microsoft YaHei"/>
                <a:ea typeface="Microsoft YaHei"/>
                <a:cs typeface="Microsoft YaHei"/>
                <a:sym typeface="Microsoft YaHei"/>
              </a:rPr>
              <a:t>标准化压力：</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Kiro的EARS + Spec Kit的Constitution</a:t>
            </a:r>
            <a:endParaRPr sz="1200">
              <a:solidFill>
                <a:srgbClr val="2C3E50"/>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正在成为事实上的行业标准</a:t>
            </a:r>
            <a:endParaRPr sz="1200">
              <a:solidFill>
                <a:srgbClr val="2C3E50"/>
              </a:solidFill>
              <a:latin typeface="Microsoft YaHei"/>
              <a:ea typeface="Microsoft YaHei"/>
              <a:cs typeface="Microsoft YaHei"/>
              <a:sym typeface="Microsoft YaHei"/>
            </a:endParaRPr>
          </a:p>
        </p:txBody>
      </p:sp>
      <p:sp>
        <p:nvSpPr>
          <p:cNvPr id="575" name="Google Shape;575;p18"/>
          <p:cNvSpPr txBox="1"/>
          <p:nvPr/>
        </p:nvSpPr>
        <p:spPr>
          <a:xfrm>
            <a:off x="4297680" y="5532120"/>
            <a:ext cx="3748280" cy="9220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US" sz="1200">
                <a:solidFill>
                  <a:srgbClr val="2C3E50"/>
                </a:solidFill>
                <a:latin typeface="Microsoft YaHei"/>
                <a:ea typeface="Microsoft YaHei"/>
                <a:cs typeface="Microsoft YaHei"/>
                <a:sym typeface="Microsoft YaHei"/>
              </a:rPr>
              <a:t>平台绑定趋势：</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各厂将spec治理嵌入自家IDE</a:t>
            </a:r>
            <a:endParaRPr sz="1200">
              <a:solidFill>
                <a:srgbClr val="2C3E50"/>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工具无关的轻量级方案仍有空间</a:t>
            </a:r>
            <a:endParaRPr sz="1200">
              <a:solidFill>
                <a:srgbClr val="2C3E50"/>
              </a:solidFill>
              <a:latin typeface="Microsoft YaHei"/>
              <a:ea typeface="Microsoft YaHei"/>
              <a:cs typeface="Microsoft YaHei"/>
              <a:sym typeface="Microsoft YaHei"/>
            </a:endParaRPr>
          </a:p>
        </p:txBody>
      </p:sp>
      <p:sp>
        <p:nvSpPr>
          <p:cNvPr id="576" name="Google Shape;576;p18"/>
          <p:cNvSpPr txBox="1"/>
          <p:nvPr/>
        </p:nvSpPr>
        <p:spPr>
          <a:xfrm>
            <a:off x="8138160" y="5532120"/>
            <a:ext cx="3748405" cy="863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200">
                <a:solidFill>
                  <a:srgbClr val="2C3E50"/>
                </a:solidFill>
                <a:latin typeface="Microsoft YaHei"/>
                <a:ea typeface="Microsoft YaHei"/>
                <a:cs typeface="Microsoft YaHei"/>
                <a:sym typeface="Microsoft YaHei"/>
              </a:rPr>
              <a:t>差异化空间：</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b="0" sz="1200">
              <a:solidFill>
                <a:srgbClr val="8B0000"/>
              </a:solidFill>
              <a:latin typeface="Calibri"/>
              <a:ea typeface="Calibri"/>
              <a:cs typeface="Calibri"/>
              <a:sym typeface="Calibr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所有竞品均缺少brownfield变更管理</a:t>
            </a:r>
            <a:endParaRPr sz="1200">
              <a:solidFill>
                <a:srgbClr val="2C3E50"/>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2C3E50"/>
                </a:solidFill>
                <a:latin typeface="Microsoft YaHei"/>
                <a:ea typeface="Microsoft YaHei"/>
                <a:cs typeface="Microsoft YaHei"/>
                <a:sym typeface="Microsoft YaHei"/>
              </a:rPr>
              <a:t>和delta spec演进能力</a:t>
            </a:r>
            <a:endParaRPr sz="1200">
              <a:solidFill>
                <a:srgbClr val="2C3E50"/>
              </a:solidFill>
              <a:latin typeface="Microsoft YaHei"/>
              <a:ea typeface="Microsoft YaHei"/>
              <a:cs typeface="Microsoft YaHei"/>
              <a:sym typeface="Microsoft YaHei"/>
            </a:endParaRPr>
          </a:p>
        </p:txBody>
      </p:sp>
      <p:sp>
        <p:nvSpPr>
          <p:cNvPr id="577" name="Google Shape;577;p18"/>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16/41</a:t>
            </a:r>
            <a:endParaRPr b="0" sz="1000">
              <a:solidFill>
                <a:srgbClr val="999999"/>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81" name="Shape 581"/>
        <p:cNvGrpSpPr/>
        <p:nvPr/>
      </p:nvGrpSpPr>
      <p:grpSpPr>
        <a:xfrm>
          <a:off x="0" y="0"/>
          <a:ext cx="0" cy="0"/>
          <a:chOff x="0" y="0"/>
          <a:chExt cx="0" cy="0"/>
        </a:xfrm>
      </p:grpSpPr>
      <p:sp>
        <p:nvSpPr>
          <p:cNvPr id="582" name="Google Shape;582;p19"/>
          <p:cNvSpPr/>
          <p:nvPr/>
        </p:nvSpPr>
        <p:spPr>
          <a:xfrm>
            <a:off x="0" y="0"/>
            <a:ext cx="12188952"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9"/>
          <p:cNvSpPr txBox="1"/>
          <p:nvPr/>
        </p:nvSpPr>
        <p:spPr>
          <a:xfrm>
            <a:off x="457200" y="164465"/>
            <a:ext cx="1078992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1A1A2E"/>
                </a:solidFill>
                <a:latin typeface="Microsoft YaHei"/>
                <a:ea typeface="Microsoft YaHei"/>
                <a:cs typeface="Microsoft YaHei"/>
                <a:sym typeface="Microsoft YaHei"/>
              </a:rPr>
              <a:t>内部与CodeArt对比：Pony Agent + CodeArts Req  vs  OpenSpec-HW2</a:t>
            </a:r>
            <a:endParaRPr b="1" sz="2400">
              <a:solidFill>
                <a:srgbClr val="1A1A2E"/>
              </a:solidFill>
              <a:latin typeface="Calibri"/>
              <a:ea typeface="Calibri"/>
              <a:cs typeface="Calibri"/>
              <a:sym typeface="Calibri"/>
            </a:endParaRPr>
          </a:p>
        </p:txBody>
      </p:sp>
      <p:sp>
        <p:nvSpPr>
          <p:cNvPr id="584" name="Google Shape;584;p19"/>
          <p:cNvSpPr txBox="1"/>
          <p:nvPr/>
        </p:nvSpPr>
        <p:spPr>
          <a:xfrm>
            <a:off x="457200" y="658368"/>
            <a:ext cx="10058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999999"/>
                </a:solidFill>
                <a:latin typeface="Microsoft YaHei"/>
                <a:ea typeface="Microsoft YaHei"/>
                <a:cs typeface="Microsoft YaHei"/>
                <a:sym typeface="Microsoft YaHei"/>
              </a:rPr>
              <a:t>同是“需求→规格”的智能化，但结构化深度和演进能力差异显著</a:t>
            </a:r>
            <a:endParaRPr b="0" sz="1300">
              <a:solidFill>
                <a:srgbClr val="999999"/>
              </a:solidFill>
              <a:latin typeface="Calibri"/>
              <a:ea typeface="Calibri"/>
              <a:cs typeface="Calibri"/>
              <a:sym typeface="Calibri"/>
            </a:endParaRPr>
          </a:p>
        </p:txBody>
      </p:sp>
      <p:sp>
        <p:nvSpPr>
          <p:cNvPr id="585" name="Google Shape;585;p19"/>
          <p:cNvSpPr/>
          <p:nvPr/>
        </p:nvSpPr>
        <p:spPr>
          <a:xfrm>
            <a:off x="457200" y="1051560"/>
            <a:ext cx="10972800" cy="10972"/>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86" name="Google Shape;586;p19"/>
          <p:cNvSpPr/>
          <p:nvPr/>
        </p:nvSpPr>
        <p:spPr>
          <a:xfrm>
            <a:off x="457200" y="1170432"/>
            <a:ext cx="2560320" cy="320040"/>
          </a:xfrm>
          <a:prstGeom prst="roundRect">
            <a:avLst>
              <a:gd fmla="val 16667" name="adj"/>
            </a:avLst>
          </a:prstGeom>
          <a:solidFill>
            <a:srgbClr val="44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87" name="Google Shape;587;p19"/>
          <p:cNvSpPr/>
          <p:nvPr/>
        </p:nvSpPr>
        <p:spPr>
          <a:xfrm>
            <a:off x="3108960" y="1170432"/>
            <a:ext cx="4023360" cy="320040"/>
          </a:xfrm>
          <a:prstGeom prst="roundRect">
            <a:avLst>
              <a:gd fmla="val 16667" name="adj"/>
            </a:avLst>
          </a:prstGeom>
          <a:solidFill>
            <a:srgbClr val="CF00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88" name="Google Shape;588;p19"/>
          <p:cNvSpPr/>
          <p:nvPr/>
        </p:nvSpPr>
        <p:spPr>
          <a:xfrm>
            <a:off x="7223760" y="1170432"/>
            <a:ext cx="4206240" cy="320040"/>
          </a:xfrm>
          <a:prstGeom prst="roundRect">
            <a:avLst>
              <a:gd fmla="val 16667" name="adj"/>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89" name="Google Shape;589;p19"/>
          <p:cNvSpPr txBox="1"/>
          <p:nvPr/>
        </p:nvSpPr>
        <p:spPr>
          <a:xfrm>
            <a:off x="1390650" y="1179576"/>
            <a:ext cx="693420" cy="245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000">
                <a:solidFill>
                  <a:srgbClr val="FFFFFF"/>
                </a:solidFill>
                <a:latin typeface="Microsoft YaHei"/>
                <a:ea typeface="Microsoft YaHei"/>
                <a:cs typeface="Microsoft YaHei"/>
                <a:sym typeface="Microsoft YaHei"/>
              </a:rPr>
              <a:t>对比维度</a:t>
            </a:r>
            <a:endParaRPr b="1" sz="1000">
              <a:solidFill>
                <a:srgbClr val="FFFFFF"/>
              </a:solidFill>
              <a:latin typeface="Microsoft YaHei"/>
              <a:ea typeface="Microsoft YaHei"/>
              <a:cs typeface="Microsoft YaHei"/>
              <a:sym typeface="Microsoft YaHei"/>
            </a:endParaRPr>
          </a:p>
        </p:txBody>
      </p:sp>
      <p:sp>
        <p:nvSpPr>
          <p:cNvPr id="590" name="Google Shape;590;p19"/>
          <p:cNvSpPr txBox="1"/>
          <p:nvPr/>
        </p:nvSpPr>
        <p:spPr>
          <a:xfrm>
            <a:off x="4168456" y="1179576"/>
            <a:ext cx="1904365" cy="245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000">
                <a:solidFill>
                  <a:srgbClr val="FFFFFF"/>
                </a:solidFill>
                <a:latin typeface="Microsoft YaHei"/>
                <a:ea typeface="Microsoft YaHei"/>
                <a:cs typeface="Microsoft YaHei"/>
                <a:sym typeface="Microsoft YaHei"/>
              </a:rPr>
              <a:t>Pony Agent + CodeArts Req</a:t>
            </a:r>
            <a:endParaRPr b="1" sz="1000">
              <a:solidFill>
                <a:srgbClr val="FFFFFF"/>
              </a:solidFill>
              <a:latin typeface="Microsoft YaHei"/>
              <a:ea typeface="Microsoft YaHei"/>
              <a:cs typeface="Microsoft YaHei"/>
              <a:sym typeface="Microsoft YaHei"/>
            </a:endParaRPr>
          </a:p>
        </p:txBody>
      </p:sp>
      <p:sp>
        <p:nvSpPr>
          <p:cNvPr id="591" name="Google Shape;591;p19"/>
          <p:cNvSpPr txBox="1"/>
          <p:nvPr/>
        </p:nvSpPr>
        <p:spPr>
          <a:xfrm>
            <a:off x="8728075" y="1179576"/>
            <a:ext cx="1197610" cy="245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000">
                <a:solidFill>
                  <a:srgbClr val="FFFFFF"/>
                </a:solidFill>
                <a:latin typeface="Microsoft YaHei"/>
                <a:ea typeface="Microsoft YaHei"/>
                <a:cs typeface="Microsoft YaHei"/>
                <a:sym typeface="Microsoft YaHei"/>
              </a:rPr>
              <a:t>OpenSpec-HW2</a:t>
            </a:r>
            <a:endParaRPr b="1" sz="1000">
              <a:solidFill>
                <a:srgbClr val="FFFFFF"/>
              </a:solidFill>
              <a:latin typeface="Microsoft YaHei"/>
              <a:ea typeface="Microsoft YaHei"/>
              <a:cs typeface="Microsoft YaHei"/>
              <a:sym typeface="Microsoft YaHei"/>
            </a:endParaRPr>
          </a:p>
        </p:txBody>
      </p:sp>
      <p:sp>
        <p:nvSpPr>
          <p:cNvPr id="592" name="Google Shape;592;p19"/>
          <p:cNvSpPr/>
          <p:nvPr/>
        </p:nvSpPr>
        <p:spPr>
          <a:xfrm>
            <a:off x="457200" y="1554480"/>
            <a:ext cx="2560320" cy="530352"/>
          </a:xfrm>
          <a:prstGeom prst="roundRect">
            <a:avLst>
              <a:gd fmla="val 16667" name="adj"/>
            </a:avLst>
          </a:prstGeom>
          <a:solidFill>
            <a:srgbClr val="F0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93" name="Google Shape;593;p19"/>
          <p:cNvSpPr/>
          <p:nvPr/>
        </p:nvSpPr>
        <p:spPr>
          <a:xfrm>
            <a:off x="3108960" y="1554480"/>
            <a:ext cx="4023360" cy="530352"/>
          </a:xfrm>
          <a:prstGeom prst="roundRect">
            <a:avLst>
              <a:gd fmla="val 16667" name="adj"/>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94" name="Google Shape;594;p19"/>
          <p:cNvSpPr/>
          <p:nvPr/>
        </p:nvSpPr>
        <p:spPr>
          <a:xfrm>
            <a:off x="7223760" y="1554480"/>
            <a:ext cx="4206240" cy="530352"/>
          </a:xfrm>
          <a:prstGeom prst="roundRect">
            <a:avLst>
              <a:gd fmla="val 16667" name="adj"/>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95" name="Google Shape;595;p19"/>
          <p:cNvSpPr txBox="1"/>
          <p:nvPr/>
        </p:nvSpPr>
        <p:spPr>
          <a:xfrm>
            <a:off x="530352" y="1591056"/>
            <a:ext cx="2414015"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333333"/>
                </a:solidFill>
                <a:latin typeface="Microsoft YaHei"/>
                <a:ea typeface="Microsoft YaHei"/>
                <a:cs typeface="Microsoft YaHei"/>
                <a:sym typeface="Microsoft YaHei"/>
              </a:rPr>
              <a:t>需求输入方式</a:t>
            </a:r>
            <a:endParaRPr b="1" sz="1000">
              <a:solidFill>
                <a:srgbClr val="333333"/>
              </a:solidFill>
              <a:latin typeface="Microsoft YaHei"/>
              <a:ea typeface="Microsoft YaHei"/>
              <a:cs typeface="Microsoft YaHei"/>
              <a:sym typeface="Microsoft YaHei"/>
            </a:endParaRPr>
          </a:p>
        </p:txBody>
      </p:sp>
      <p:sp>
        <p:nvSpPr>
          <p:cNvPr id="596" name="Google Shape;596;p19"/>
          <p:cNvSpPr txBox="1"/>
          <p:nvPr/>
        </p:nvSpPr>
        <p:spPr>
          <a:xfrm>
            <a:off x="3182112" y="1572768"/>
            <a:ext cx="3877056"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333333"/>
                </a:solidFill>
                <a:latin typeface="Microsoft YaHei"/>
                <a:ea typeface="Microsoft YaHei"/>
                <a:cs typeface="Microsoft YaHei"/>
                <a:sym typeface="Microsoft YaHei"/>
              </a:rPr>
              <a:t>自然语言 → Pony 生成需求文档</a:t>
            </a:r>
            <a:endParaRPr b="0" sz="10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/pony 分解需求 → 功能清单 + 优先级</a:t>
            </a:r>
            <a:endParaRPr b="0" sz="1000">
              <a:solidFill>
                <a:srgbClr val="999999"/>
              </a:solidFill>
              <a:latin typeface="Calibri"/>
              <a:ea typeface="Calibri"/>
              <a:cs typeface="Calibri"/>
              <a:sym typeface="Calibri"/>
            </a:endParaRPr>
          </a:p>
        </p:txBody>
      </p:sp>
      <p:sp>
        <p:nvSpPr>
          <p:cNvPr id="597" name="Google Shape;597;p19"/>
          <p:cNvSpPr txBox="1"/>
          <p:nvPr/>
        </p:nvSpPr>
        <p:spPr>
          <a:xfrm>
            <a:off x="7296912" y="1572768"/>
            <a:ext cx="4059935"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107C10"/>
                </a:solidFill>
                <a:latin typeface="Microsoft YaHei"/>
                <a:ea typeface="Microsoft YaHei"/>
                <a:cs typeface="Microsoft YaHei"/>
                <a:sym typeface="Microsoft YaHei"/>
              </a:rPr>
              <a:t>Proposal → Usecases → Specs 多步演进</a:t>
            </a:r>
            <a:endParaRPr b="1" sz="1000">
              <a:solidFill>
                <a:srgbClr val="107C10"/>
              </a:solidFill>
              <a:latin typeface="Calibri"/>
              <a:ea typeface="Calibri"/>
              <a:cs typeface="Calibri"/>
              <a:sym typeface="Calibri"/>
            </a:endParaRPr>
          </a:p>
          <a:p>
            <a:pPr indent="0" lvl="0" marL="0" marR="0" rtl="0" algn="l">
              <a:spcBef>
                <a:spcPts val="0"/>
              </a:spcBef>
              <a:spcAft>
                <a:spcPts val="0"/>
              </a:spcAft>
              <a:buNone/>
            </a:pPr>
            <a:r>
              <a:rPr b="0" lang="en-US" sz="1000">
                <a:solidFill>
                  <a:srgbClr val="555555"/>
                </a:solidFill>
                <a:latin typeface="Microsoft YaHei"/>
                <a:ea typeface="Microsoft YaHei"/>
                <a:cs typeface="Microsoft YaHei"/>
                <a:sym typeface="Microsoft YaHei"/>
              </a:rPr>
              <a:t>每步基于前一步的结构化产出推导</a:t>
            </a:r>
            <a:endParaRPr b="0" sz="1000">
              <a:solidFill>
                <a:srgbClr val="555555"/>
              </a:solidFill>
              <a:latin typeface="Calibri"/>
              <a:ea typeface="Calibri"/>
              <a:cs typeface="Calibri"/>
              <a:sym typeface="Calibri"/>
            </a:endParaRPr>
          </a:p>
        </p:txBody>
      </p:sp>
      <p:sp>
        <p:nvSpPr>
          <p:cNvPr id="598" name="Google Shape;598;p19"/>
          <p:cNvSpPr/>
          <p:nvPr/>
        </p:nvSpPr>
        <p:spPr>
          <a:xfrm>
            <a:off x="457200" y="2112264"/>
            <a:ext cx="2560320" cy="530352"/>
          </a:xfrm>
          <a:prstGeom prst="roundRect">
            <a:avLst>
              <a:gd fmla="val 16667" name="adj"/>
            </a:avLst>
          </a:prstGeom>
          <a:solidFill>
            <a:srgbClr val="F0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599" name="Google Shape;599;p19"/>
          <p:cNvSpPr/>
          <p:nvPr/>
        </p:nvSpPr>
        <p:spPr>
          <a:xfrm>
            <a:off x="3108960" y="2112264"/>
            <a:ext cx="4023360" cy="530352"/>
          </a:xfrm>
          <a:prstGeom prst="roundRect">
            <a:avLst>
              <a:gd fmla="val 16667" name="adj"/>
            </a:avLst>
          </a:prstGeom>
          <a:solidFill>
            <a:srgbClr val="FEF5E7"/>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00" name="Google Shape;600;p19"/>
          <p:cNvSpPr/>
          <p:nvPr/>
        </p:nvSpPr>
        <p:spPr>
          <a:xfrm>
            <a:off x="7223760" y="2112264"/>
            <a:ext cx="4206240" cy="530352"/>
          </a:xfrm>
          <a:prstGeom prst="roundRect">
            <a:avLst>
              <a:gd fmla="val 16667" name="adj"/>
            </a:avLst>
          </a:prstGeom>
          <a:solidFill>
            <a:srgbClr val="FEF5E7"/>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01" name="Google Shape;601;p19"/>
          <p:cNvSpPr txBox="1"/>
          <p:nvPr/>
        </p:nvSpPr>
        <p:spPr>
          <a:xfrm>
            <a:off x="530352" y="2148840"/>
            <a:ext cx="2414015"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333333"/>
                </a:solidFill>
                <a:latin typeface="Microsoft YaHei"/>
                <a:ea typeface="Microsoft YaHei"/>
                <a:cs typeface="Microsoft YaHei"/>
                <a:sym typeface="Microsoft YaHei"/>
              </a:rPr>
              <a:t>需求结构化程度</a:t>
            </a:r>
            <a:endParaRPr b="1" sz="1000">
              <a:solidFill>
                <a:srgbClr val="333333"/>
              </a:solidFill>
              <a:latin typeface="Microsoft YaHei"/>
              <a:ea typeface="Microsoft YaHei"/>
              <a:cs typeface="Microsoft YaHei"/>
              <a:sym typeface="Microsoft YaHei"/>
            </a:endParaRPr>
          </a:p>
        </p:txBody>
      </p:sp>
      <p:sp>
        <p:nvSpPr>
          <p:cNvPr id="602" name="Google Shape;602;p19"/>
          <p:cNvSpPr txBox="1"/>
          <p:nvPr/>
        </p:nvSpPr>
        <p:spPr>
          <a:xfrm>
            <a:off x="3182112" y="2130552"/>
            <a:ext cx="3877056"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333333"/>
                </a:solidFill>
                <a:latin typeface="Microsoft YaHei"/>
                <a:ea typeface="Microsoft YaHei"/>
                <a:cs typeface="Microsoft YaHei"/>
                <a:sym typeface="Microsoft YaHei"/>
              </a:rPr>
              <a:t>文档级：生成需求描述文档</a:t>
            </a:r>
            <a:endParaRPr b="0" sz="10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IPD 模板：RR → IR → SR → AR 分层</a:t>
            </a:r>
            <a:endParaRPr b="0" sz="1000">
              <a:solidFill>
                <a:srgbClr val="999999"/>
              </a:solidFill>
              <a:latin typeface="Calibri"/>
              <a:ea typeface="Calibri"/>
              <a:cs typeface="Calibri"/>
              <a:sym typeface="Calibri"/>
            </a:endParaRPr>
          </a:p>
        </p:txBody>
      </p:sp>
      <p:sp>
        <p:nvSpPr>
          <p:cNvPr id="603" name="Google Shape;603;p19"/>
          <p:cNvSpPr txBox="1"/>
          <p:nvPr/>
        </p:nvSpPr>
        <p:spPr>
          <a:xfrm>
            <a:off x="7296912" y="2130552"/>
            <a:ext cx="4059935"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107C10"/>
                </a:solidFill>
                <a:latin typeface="Microsoft YaHei"/>
                <a:ea typeface="Microsoft YaHei"/>
                <a:cs typeface="Microsoft YaHei"/>
                <a:sym typeface="Microsoft YaHei"/>
              </a:rPr>
              <a:t>场景级：Given / When / Then 可测试规格</a:t>
            </a:r>
            <a:endParaRPr b="1" sz="1000">
              <a:solidFill>
                <a:srgbClr val="107C10"/>
              </a:solidFill>
              <a:latin typeface="Calibri"/>
              <a:ea typeface="Calibri"/>
              <a:cs typeface="Calibri"/>
              <a:sym typeface="Calibri"/>
            </a:endParaRPr>
          </a:p>
          <a:p>
            <a:pPr indent="0" lvl="0" marL="0" marR="0" rtl="0" algn="l">
              <a:spcBef>
                <a:spcPts val="0"/>
              </a:spcBef>
              <a:spcAft>
                <a:spcPts val="0"/>
              </a:spcAft>
              <a:buNone/>
            </a:pPr>
            <a:r>
              <a:rPr b="0" lang="en-US" sz="1000">
                <a:solidFill>
                  <a:srgbClr val="555555"/>
                </a:solidFill>
                <a:latin typeface="Microsoft YaHei"/>
                <a:ea typeface="Microsoft YaHei"/>
                <a:cs typeface="Microsoft YaHei"/>
                <a:sym typeface="Microsoft YaHei"/>
              </a:rPr>
              <a:t>每条 Spec 绑定具体 Usecase 来源</a:t>
            </a:r>
            <a:endParaRPr b="0" sz="1000">
              <a:solidFill>
                <a:srgbClr val="555555"/>
              </a:solidFill>
              <a:latin typeface="Calibri"/>
              <a:ea typeface="Calibri"/>
              <a:cs typeface="Calibri"/>
              <a:sym typeface="Calibri"/>
            </a:endParaRPr>
          </a:p>
        </p:txBody>
      </p:sp>
      <p:sp>
        <p:nvSpPr>
          <p:cNvPr id="604" name="Google Shape;604;p19"/>
          <p:cNvSpPr/>
          <p:nvPr/>
        </p:nvSpPr>
        <p:spPr>
          <a:xfrm>
            <a:off x="457200" y="2670048"/>
            <a:ext cx="2560320" cy="530352"/>
          </a:xfrm>
          <a:prstGeom prst="roundRect">
            <a:avLst>
              <a:gd fmla="val 16667" name="adj"/>
            </a:avLst>
          </a:prstGeom>
          <a:solidFill>
            <a:srgbClr val="F0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05" name="Google Shape;605;p19"/>
          <p:cNvSpPr/>
          <p:nvPr/>
        </p:nvSpPr>
        <p:spPr>
          <a:xfrm>
            <a:off x="3108960" y="2670048"/>
            <a:ext cx="4023360" cy="530352"/>
          </a:xfrm>
          <a:prstGeom prst="roundRect">
            <a:avLst>
              <a:gd fmla="val 16667" name="adj"/>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06" name="Google Shape;606;p19"/>
          <p:cNvSpPr/>
          <p:nvPr/>
        </p:nvSpPr>
        <p:spPr>
          <a:xfrm>
            <a:off x="7223760" y="2670048"/>
            <a:ext cx="4206240" cy="530352"/>
          </a:xfrm>
          <a:prstGeom prst="roundRect">
            <a:avLst>
              <a:gd fmla="val 16667" name="adj"/>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07" name="Google Shape;607;p19"/>
          <p:cNvSpPr txBox="1"/>
          <p:nvPr/>
        </p:nvSpPr>
        <p:spPr>
          <a:xfrm>
            <a:off x="530352" y="2706624"/>
            <a:ext cx="2414015"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333333"/>
                </a:solidFill>
                <a:latin typeface="Microsoft YaHei"/>
                <a:ea typeface="Microsoft YaHei"/>
                <a:cs typeface="Microsoft YaHei"/>
                <a:sym typeface="Microsoft YaHei"/>
              </a:rPr>
              <a:t>异常/边界覆盖</a:t>
            </a:r>
            <a:endParaRPr b="1" sz="1000">
              <a:solidFill>
                <a:srgbClr val="333333"/>
              </a:solidFill>
              <a:latin typeface="Microsoft YaHei"/>
              <a:ea typeface="Microsoft YaHei"/>
              <a:cs typeface="Microsoft YaHei"/>
              <a:sym typeface="Microsoft YaHei"/>
            </a:endParaRPr>
          </a:p>
        </p:txBody>
      </p:sp>
      <p:sp>
        <p:nvSpPr>
          <p:cNvPr id="608" name="Google Shape;608;p19"/>
          <p:cNvSpPr txBox="1"/>
          <p:nvPr/>
        </p:nvSpPr>
        <p:spPr>
          <a:xfrm>
            <a:off x="3182112" y="2688336"/>
            <a:ext cx="3877056"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333333"/>
                </a:solidFill>
                <a:latin typeface="Microsoft YaHei"/>
                <a:ea typeface="Microsoft YaHei"/>
                <a:cs typeface="Microsoft YaHei"/>
                <a:sym typeface="Microsoft YaHei"/>
              </a:rPr>
              <a:t>依赖 AI 自行判断</a:t>
            </a:r>
            <a:endParaRPr b="0" sz="10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无强制的异常场景梳理机制</a:t>
            </a:r>
            <a:endParaRPr b="0" sz="1000">
              <a:solidFill>
                <a:srgbClr val="999999"/>
              </a:solidFill>
              <a:latin typeface="Calibri"/>
              <a:ea typeface="Calibri"/>
              <a:cs typeface="Calibri"/>
              <a:sym typeface="Calibri"/>
            </a:endParaRPr>
          </a:p>
        </p:txBody>
      </p:sp>
      <p:sp>
        <p:nvSpPr>
          <p:cNvPr id="609" name="Google Shape;609;p19"/>
          <p:cNvSpPr txBox="1"/>
          <p:nvPr/>
        </p:nvSpPr>
        <p:spPr>
          <a:xfrm>
            <a:off x="7296912" y="2688336"/>
            <a:ext cx="4059935"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107C10"/>
                </a:solidFill>
                <a:latin typeface="Microsoft YaHei"/>
                <a:ea typeface="Microsoft YaHei"/>
                <a:cs typeface="Microsoft YaHei"/>
                <a:sym typeface="Microsoft YaHei"/>
              </a:rPr>
              <a:t>Usecases 的 Extensions 强制梳理异常路径</a:t>
            </a:r>
            <a:endParaRPr b="1" sz="1000">
              <a:solidFill>
                <a:srgbClr val="107C10"/>
              </a:solidFill>
              <a:latin typeface="Calibri"/>
              <a:ea typeface="Calibri"/>
              <a:cs typeface="Calibri"/>
              <a:sym typeface="Calibri"/>
            </a:endParaRPr>
          </a:p>
          <a:p>
            <a:pPr indent="0" lvl="0" marL="0" marR="0" rtl="0" algn="l">
              <a:spcBef>
                <a:spcPts val="0"/>
              </a:spcBef>
              <a:spcAft>
                <a:spcPts val="0"/>
              </a:spcAft>
              <a:buNone/>
            </a:pPr>
            <a:r>
              <a:rPr b="0" lang="en-US" sz="1000">
                <a:solidFill>
                  <a:srgbClr val="555555"/>
                </a:solidFill>
                <a:latin typeface="Microsoft YaHei"/>
                <a:ea typeface="Microsoft YaHei"/>
                <a:cs typeface="Microsoft YaHei"/>
                <a:sym typeface="Microsoft YaHei"/>
              </a:rPr>
              <a:t>实测比原生版多发现 3 个关键边界场景</a:t>
            </a:r>
            <a:endParaRPr b="0" sz="1000">
              <a:solidFill>
                <a:srgbClr val="555555"/>
              </a:solidFill>
              <a:latin typeface="Calibri"/>
              <a:ea typeface="Calibri"/>
              <a:cs typeface="Calibri"/>
              <a:sym typeface="Calibri"/>
            </a:endParaRPr>
          </a:p>
        </p:txBody>
      </p:sp>
      <p:sp>
        <p:nvSpPr>
          <p:cNvPr id="610" name="Google Shape;610;p19"/>
          <p:cNvSpPr/>
          <p:nvPr/>
        </p:nvSpPr>
        <p:spPr>
          <a:xfrm>
            <a:off x="457200" y="3227832"/>
            <a:ext cx="2560320" cy="530352"/>
          </a:xfrm>
          <a:prstGeom prst="roundRect">
            <a:avLst>
              <a:gd fmla="val 16667" name="adj"/>
            </a:avLst>
          </a:prstGeom>
          <a:solidFill>
            <a:srgbClr val="F0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1" name="Google Shape;611;p19"/>
          <p:cNvSpPr/>
          <p:nvPr/>
        </p:nvSpPr>
        <p:spPr>
          <a:xfrm>
            <a:off x="3108960" y="3227832"/>
            <a:ext cx="4023360" cy="530352"/>
          </a:xfrm>
          <a:prstGeom prst="roundRect">
            <a:avLst>
              <a:gd fmla="val 16667" name="adj"/>
            </a:avLst>
          </a:prstGeom>
          <a:solidFill>
            <a:srgbClr val="E3F2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2" name="Google Shape;612;p19"/>
          <p:cNvSpPr/>
          <p:nvPr/>
        </p:nvSpPr>
        <p:spPr>
          <a:xfrm>
            <a:off x="7223760" y="3227832"/>
            <a:ext cx="4206240" cy="530352"/>
          </a:xfrm>
          <a:prstGeom prst="roundRect">
            <a:avLst>
              <a:gd fmla="val 16667" name="adj"/>
            </a:avLst>
          </a:prstGeom>
          <a:solidFill>
            <a:srgbClr val="E3F2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3" name="Google Shape;613;p19"/>
          <p:cNvSpPr txBox="1"/>
          <p:nvPr/>
        </p:nvSpPr>
        <p:spPr>
          <a:xfrm>
            <a:off x="530352" y="3264408"/>
            <a:ext cx="2414015"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333333"/>
                </a:solidFill>
                <a:latin typeface="Microsoft YaHei"/>
                <a:ea typeface="Microsoft YaHei"/>
                <a:cs typeface="Microsoft YaHei"/>
                <a:sym typeface="Microsoft YaHei"/>
              </a:rPr>
              <a:t>变更管理</a:t>
            </a:r>
            <a:endParaRPr b="1" sz="1000">
              <a:solidFill>
                <a:srgbClr val="333333"/>
              </a:solidFill>
              <a:latin typeface="Microsoft YaHei"/>
              <a:ea typeface="Microsoft YaHei"/>
              <a:cs typeface="Microsoft YaHei"/>
              <a:sym typeface="Microsoft YaHei"/>
            </a:endParaRPr>
          </a:p>
        </p:txBody>
      </p:sp>
      <p:sp>
        <p:nvSpPr>
          <p:cNvPr id="614" name="Google Shape;614;p19"/>
          <p:cNvSpPr txBox="1"/>
          <p:nvPr/>
        </p:nvSpPr>
        <p:spPr>
          <a:xfrm>
            <a:off x="3182112" y="3246120"/>
            <a:ext cx="3877056"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333333"/>
                </a:solidFill>
                <a:latin typeface="Microsoft YaHei"/>
                <a:ea typeface="Microsoft YaHei"/>
                <a:cs typeface="Microsoft YaHei"/>
                <a:sym typeface="Microsoft YaHei"/>
              </a:rPr>
              <a:t>需求文档整体替换或人工修改</a:t>
            </a:r>
            <a:endParaRPr b="0" sz="10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无 delta 机制，变更历史不透明</a:t>
            </a:r>
            <a:endParaRPr b="0" sz="1000">
              <a:solidFill>
                <a:srgbClr val="999999"/>
              </a:solidFill>
              <a:latin typeface="Calibri"/>
              <a:ea typeface="Calibri"/>
              <a:cs typeface="Calibri"/>
              <a:sym typeface="Calibri"/>
            </a:endParaRPr>
          </a:p>
        </p:txBody>
      </p:sp>
      <p:sp>
        <p:nvSpPr>
          <p:cNvPr id="615" name="Google Shape;615;p19"/>
          <p:cNvSpPr txBox="1"/>
          <p:nvPr/>
        </p:nvSpPr>
        <p:spPr>
          <a:xfrm>
            <a:off x="7296912" y="3246120"/>
            <a:ext cx="4059935"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107C10"/>
                </a:solidFill>
                <a:latin typeface="Microsoft YaHei"/>
                <a:ea typeface="Microsoft YaHei"/>
                <a:cs typeface="Microsoft YaHei"/>
                <a:sym typeface="Microsoft YaHei"/>
              </a:rPr>
              <a:t>Delta Spec：只描述 ADDED / MODIFIED / REMOVED</a:t>
            </a:r>
            <a:endParaRPr b="1" sz="1000">
              <a:solidFill>
                <a:srgbClr val="107C10"/>
              </a:solidFill>
              <a:latin typeface="Calibri"/>
              <a:ea typeface="Calibri"/>
              <a:cs typeface="Calibri"/>
              <a:sym typeface="Calibri"/>
            </a:endParaRPr>
          </a:p>
          <a:p>
            <a:pPr indent="0" lvl="0" marL="0" marR="0" rtl="0" algn="l">
              <a:spcBef>
                <a:spcPts val="0"/>
              </a:spcBef>
              <a:spcAft>
                <a:spcPts val="0"/>
              </a:spcAft>
              <a:buNone/>
            </a:pPr>
            <a:r>
              <a:rPr b="0" lang="en-US" sz="1000">
                <a:solidFill>
                  <a:srgbClr val="555555"/>
                </a:solidFill>
                <a:latin typeface="Microsoft YaHei"/>
                <a:ea typeface="Microsoft YaHei"/>
                <a:cs typeface="Microsoft YaHei"/>
                <a:sym typeface="Microsoft YaHei"/>
              </a:rPr>
              <a:t>变更意图显式记录，可审查可回溯</a:t>
            </a:r>
            <a:endParaRPr b="0" sz="1000">
              <a:solidFill>
                <a:srgbClr val="555555"/>
              </a:solidFill>
              <a:latin typeface="Calibri"/>
              <a:ea typeface="Calibri"/>
              <a:cs typeface="Calibri"/>
              <a:sym typeface="Calibri"/>
            </a:endParaRPr>
          </a:p>
        </p:txBody>
      </p:sp>
      <p:sp>
        <p:nvSpPr>
          <p:cNvPr id="616" name="Google Shape;616;p19"/>
          <p:cNvSpPr/>
          <p:nvPr/>
        </p:nvSpPr>
        <p:spPr>
          <a:xfrm>
            <a:off x="457200" y="3785615"/>
            <a:ext cx="2560320" cy="530352"/>
          </a:xfrm>
          <a:prstGeom prst="roundRect">
            <a:avLst>
              <a:gd fmla="val 16667" name="adj"/>
            </a:avLst>
          </a:prstGeom>
          <a:solidFill>
            <a:srgbClr val="F0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7" name="Google Shape;617;p19"/>
          <p:cNvSpPr/>
          <p:nvPr/>
        </p:nvSpPr>
        <p:spPr>
          <a:xfrm>
            <a:off x="3108960" y="3785615"/>
            <a:ext cx="4023360" cy="530352"/>
          </a:xfrm>
          <a:prstGeom prst="roundRect">
            <a:avLst>
              <a:gd fmla="val 16667" name="adj"/>
            </a:avLst>
          </a:prstGeom>
          <a:solidFill>
            <a:srgbClr val="FEF5E7"/>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8" name="Google Shape;618;p19"/>
          <p:cNvSpPr/>
          <p:nvPr/>
        </p:nvSpPr>
        <p:spPr>
          <a:xfrm>
            <a:off x="7223760" y="3785615"/>
            <a:ext cx="4206240" cy="530352"/>
          </a:xfrm>
          <a:prstGeom prst="roundRect">
            <a:avLst>
              <a:gd fmla="val 16667" name="adj"/>
            </a:avLst>
          </a:prstGeom>
          <a:solidFill>
            <a:srgbClr val="FEF5E7"/>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Calibri"/>
              <a:ea typeface="Calibri"/>
              <a:cs typeface="Calibri"/>
              <a:sym typeface="Calibri"/>
            </a:endParaRPr>
          </a:p>
        </p:txBody>
      </p:sp>
      <p:sp>
        <p:nvSpPr>
          <p:cNvPr id="619" name="Google Shape;619;p19"/>
          <p:cNvSpPr txBox="1"/>
          <p:nvPr/>
        </p:nvSpPr>
        <p:spPr>
          <a:xfrm>
            <a:off x="530352" y="3822191"/>
            <a:ext cx="2414015"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333333"/>
                </a:solidFill>
                <a:latin typeface="Microsoft YaHei"/>
                <a:ea typeface="Microsoft YaHei"/>
                <a:cs typeface="Microsoft YaHei"/>
                <a:sym typeface="Microsoft YaHei"/>
              </a:rPr>
              <a:t>Spec 演进能力</a:t>
            </a:r>
            <a:endParaRPr b="1" sz="1000">
              <a:solidFill>
                <a:srgbClr val="333333"/>
              </a:solidFill>
              <a:latin typeface="Microsoft YaHei"/>
              <a:ea typeface="Microsoft YaHei"/>
              <a:cs typeface="Microsoft YaHei"/>
              <a:sym typeface="Microsoft YaHei"/>
            </a:endParaRPr>
          </a:p>
        </p:txBody>
      </p:sp>
      <p:sp>
        <p:nvSpPr>
          <p:cNvPr id="620" name="Google Shape;620;p19"/>
          <p:cNvSpPr txBox="1"/>
          <p:nvPr/>
        </p:nvSpPr>
        <p:spPr>
          <a:xfrm>
            <a:off x="3182112" y="3803903"/>
            <a:ext cx="3877056"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000">
                <a:solidFill>
                  <a:srgbClr val="333333"/>
                </a:solidFill>
                <a:latin typeface="Microsoft YaHei"/>
                <a:ea typeface="Microsoft YaHei"/>
                <a:cs typeface="Microsoft YaHei"/>
                <a:sym typeface="Microsoft YaHei"/>
              </a:rPr>
              <a:t>需求文档为一次性产出</a:t>
            </a:r>
            <a:endParaRPr b="0" sz="10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000">
                <a:solidFill>
                  <a:srgbClr val="999999"/>
                </a:solidFill>
                <a:latin typeface="Microsoft YaHei"/>
                <a:ea typeface="Microsoft YaHei"/>
                <a:cs typeface="Microsoft YaHei"/>
                <a:sym typeface="Microsoft YaHei"/>
              </a:rPr>
              <a:t>无归档合并、无“活文档”演进机制</a:t>
            </a:r>
            <a:endParaRPr b="0" sz="1000">
              <a:solidFill>
                <a:srgbClr val="999999"/>
              </a:solidFill>
              <a:latin typeface="Calibri"/>
              <a:ea typeface="Calibri"/>
              <a:cs typeface="Calibri"/>
              <a:sym typeface="Calibri"/>
            </a:endParaRPr>
          </a:p>
        </p:txBody>
      </p:sp>
      <p:sp>
        <p:nvSpPr>
          <p:cNvPr id="621" name="Google Shape;621;p19"/>
          <p:cNvSpPr txBox="1"/>
          <p:nvPr/>
        </p:nvSpPr>
        <p:spPr>
          <a:xfrm>
            <a:off x="7296912" y="3803903"/>
            <a:ext cx="4059935" cy="3987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000">
                <a:solidFill>
                  <a:srgbClr val="107C10"/>
                </a:solidFill>
                <a:latin typeface="Microsoft YaHei"/>
                <a:ea typeface="Microsoft YaHei"/>
                <a:cs typeface="Microsoft YaHei"/>
                <a:sym typeface="Microsoft YaHei"/>
              </a:rPr>
              <a:t>Archive 归档 → delta 合并到 main specs</a:t>
            </a:r>
            <a:endParaRPr b="1" sz="1000">
              <a:solidFill>
                <a:srgbClr val="107C10"/>
              </a:solidFill>
              <a:latin typeface="Calibri"/>
              <a:ea typeface="Calibri"/>
              <a:cs typeface="Calibri"/>
              <a:sym typeface="Calibri"/>
            </a:endParaRPr>
          </a:p>
          <a:p>
            <a:pPr indent="0" lvl="0" marL="0" marR="0" rtl="0" algn="l">
              <a:spcBef>
                <a:spcPts val="0"/>
              </a:spcBef>
              <a:spcAft>
                <a:spcPts val="0"/>
              </a:spcAft>
              <a:buNone/>
            </a:pPr>
            <a:r>
              <a:rPr b="0" lang="en-US" sz="1000">
                <a:solidFill>
                  <a:srgbClr val="555555"/>
                </a:solidFill>
                <a:latin typeface="Microsoft YaHei"/>
                <a:ea typeface="Microsoft YaHei"/>
                <a:cs typeface="Microsoft YaHei"/>
                <a:sym typeface="Microsoft YaHei"/>
              </a:rPr>
              <a:t>Specs 随迭代持续演进，永远反映最新状态</a:t>
            </a:r>
            <a:endParaRPr b="0" sz="1000">
              <a:solidFill>
                <a:srgbClr val="555555"/>
              </a:solidFill>
              <a:latin typeface="Calibri"/>
              <a:ea typeface="Calibri"/>
              <a:cs typeface="Calibri"/>
              <a:sym typeface="Calibri"/>
            </a:endParaRPr>
          </a:p>
        </p:txBody>
      </p:sp>
      <p:sp>
        <p:nvSpPr>
          <p:cNvPr id="622" name="Google Shape;622;p19"/>
          <p:cNvSpPr/>
          <p:nvPr/>
        </p:nvSpPr>
        <p:spPr>
          <a:xfrm>
            <a:off x="457200" y="5029200"/>
            <a:ext cx="10789920" cy="960120"/>
          </a:xfrm>
          <a:prstGeom prst="roundRect">
            <a:avLst>
              <a:gd fmla="val 16667" name="adj"/>
            </a:avLst>
          </a:prstGeom>
          <a:solidFill>
            <a:srgbClr val="1A1A2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3" name="Google Shape;623;p19"/>
          <p:cNvSpPr txBox="1"/>
          <p:nvPr/>
        </p:nvSpPr>
        <p:spPr>
          <a:xfrm>
            <a:off x="640080" y="5074920"/>
            <a:ext cx="10424160" cy="88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E86C00"/>
                </a:solidFill>
                <a:latin typeface="Microsoft YaHei"/>
                <a:ea typeface="Microsoft YaHei"/>
                <a:cs typeface="Microsoft YaHei"/>
                <a:sym typeface="Microsoft YaHei"/>
              </a:rPr>
              <a:t>核心差异： Pony Agent对于Agentic Code的需求治理深度不够</a:t>
            </a:r>
            <a:endParaRPr b="1" sz="1300">
              <a:solidFill>
                <a:srgbClr val="E86C00"/>
              </a:solidFill>
              <a:latin typeface="Calibri"/>
              <a:ea typeface="Calibri"/>
              <a:cs typeface="Calibri"/>
              <a:sym typeface="Calibri"/>
            </a:endParaRPr>
          </a:p>
          <a:p>
            <a:pPr indent="0" lvl="0" marL="0" marR="0" rtl="0" algn="l">
              <a:spcBef>
                <a:spcPts val="300"/>
              </a:spcBef>
              <a:spcAft>
                <a:spcPts val="0"/>
              </a:spcAft>
              <a:buNone/>
            </a:pPr>
            <a:r>
              <a:rPr b="0" lang="en-US" sz="1100">
                <a:solidFill>
                  <a:srgbClr val="CCCCCC"/>
                </a:solidFill>
                <a:latin typeface="Microsoft YaHei"/>
                <a:ea typeface="Microsoft YaHei"/>
                <a:cs typeface="Microsoft YaHei"/>
                <a:sym typeface="Microsoft YaHei"/>
              </a:rPr>
              <a:t>Pony Agent 部分解决“把模糊需求变成文档”，OpenSpec-HW2 潜在解决“把需求变成可测试、可追溯、可演进的结构化规格”。</a:t>
            </a:r>
            <a:endParaRPr b="0" sz="1100">
              <a:solidFill>
                <a:srgbClr val="CCCCCC"/>
              </a:solidFill>
              <a:latin typeface="Calibri"/>
              <a:ea typeface="Calibri"/>
              <a:cs typeface="Calibri"/>
              <a:sym typeface="Calibri"/>
            </a:endParaRPr>
          </a:p>
          <a:p>
            <a:pPr indent="0" lvl="0" marL="0" marR="0" rtl="0" algn="l">
              <a:spcBef>
                <a:spcPts val="200"/>
              </a:spcBef>
              <a:spcAft>
                <a:spcPts val="0"/>
              </a:spcAft>
              <a:buNone/>
            </a:pPr>
            <a:r>
              <a:rPr b="0" lang="en-US" sz="1100">
                <a:solidFill>
                  <a:srgbClr val="CCCCCC"/>
                </a:solidFill>
                <a:latin typeface="Microsoft YaHei"/>
                <a:ea typeface="Microsoft YaHei"/>
                <a:cs typeface="Microsoft YaHei"/>
                <a:sym typeface="Microsoft YaHei"/>
              </a:rPr>
              <a:t>类比：Pony 像一个“需求写手”（写完交付），OpenSpec 像一个“需求工程体系”（写完还要维护、演进、追溯）。</a:t>
            </a:r>
            <a:endParaRPr b="0" sz="1100">
              <a:solidFill>
                <a:srgbClr val="CCCCCC"/>
              </a:solidFill>
              <a:latin typeface="Calibri"/>
              <a:ea typeface="Calibri"/>
              <a:cs typeface="Calibri"/>
              <a:sym typeface="Calibri"/>
            </a:endParaRPr>
          </a:p>
          <a:p>
            <a:pPr indent="0" lvl="0" marL="0" marR="0" rtl="0" algn="l">
              <a:spcBef>
                <a:spcPts val="200"/>
              </a:spcBef>
              <a:spcAft>
                <a:spcPts val="0"/>
              </a:spcAft>
              <a:buNone/>
            </a:pPr>
            <a:r>
              <a:rPr b="0" lang="en-US" sz="1100">
                <a:solidFill>
                  <a:srgbClr val="CCCCCC"/>
                </a:solidFill>
                <a:latin typeface="Microsoft YaHei"/>
                <a:ea typeface="Microsoft YaHei"/>
                <a:cs typeface="Microsoft YaHei"/>
                <a:sym typeface="Microsoft YaHei"/>
              </a:rPr>
              <a:t>CodeArts Req 的 IPD 追溯链有一定追溯能力，但其Spec规格仍是传统需求文档，缺少 OpenSpec 的 BDD 场景规格和 delta 变更管理。</a:t>
            </a:r>
            <a:endParaRPr b="0" sz="1100">
              <a:solidFill>
                <a:srgbClr val="CCCCCC"/>
              </a:solidFill>
              <a:latin typeface="Calibri"/>
              <a:ea typeface="Calibri"/>
              <a:cs typeface="Calibri"/>
              <a:sym typeface="Calibri"/>
            </a:endParaRPr>
          </a:p>
        </p:txBody>
      </p:sp>
      <p:sp>
        <p:nvSpPr>
          <p:cNvPr id="624" name="Google Shape;624;p19"/>
          <p:cNvSpPr txBox="1"/>
          <p:nvPr/>
        </p:nvSpPr>
        <p:spPr>
          <a:xfrm>
            <a:off x="457200" y="6053328"/>
            <a:ext cx="9144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800">
                <a:solidFill>
                  <a:srgbClr val="999999"/>
                </a:solidFill>
                <a:latin typeface="Microsoft YaHei"/>
                <a:ea typeface="Microsoft YaHei"/>
                <a:cs typeface="Microsoft YaHei"/>
                <a:sym typeface="Microsoft YaHei"/>
              </a:rPr>
              <a:t>数据来源：华为云 CodeArts Req 官方文档 | IT之家 (2025.6) | AI工具集 | Martin Fowler SDD 对比</a:t>
            </a:r>
            <a:endParaRPr b="0" sz="800">
              <a:solidFill>
                <a:srgbClr val="999999"/>
              </a:solidFill>
              <a:latin typeface="Calibri"/>
              <a:ea typeface="Calibri"/>
              <a:cs typeface="Calibri"/>
              <a:sym typeface="Calibri"/>
            </a:endParaRPr>
          </a:p>
        </p:txBody>
      </p:sp>
      <p:sp>
        <p:nvSpPr>
          <p:cNvPr id="625" name="Google Shape;625;p19"/>
          <p:cNvSpPr txBox="1"/>
          <p:nvPr/>
        </p:nvSpPr>
        <p:spPr>
          <a:xfrm>
            <a:off x="11091672"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000">
                <a:solidFill>
                  <a:srgbClr val="999999"/>
                </a:solidFill>
                <a:latin typeface="Microsoft YaHei"/>
                <a:ea typeface="Microsoft YaHei"/>
                <a:cs typeface="Microsoft YaHei"/>
                <a:sym typeface="Microsoft YaHei"/>
              </a:rPr>
              <a:t>17/41</a:t>
            </a:r>
            <a:endParaRPr b="0" sz="1000">
              <a:solidFill>
                <a:srgbClr val="999999"/>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20"/>
          <p:cNvSpPr/>
          <p:nvPr/>
        </p:nvSpPr>
        <p:spPr>
          <a:xfrm>
            <a:off x="0" y="0"/>
            <a:ext cx="12188952" cy="73152"/>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20"/>
          <p:cNvSpPr/>
          <p:nvPr/>
        </p:nvSpPr>
        <p:spPr>
          <a:xfrm>
            <a:off x="0" y="6784848"/>
            <a:ext cx="12188952" cy="73152"/>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2" name="Google Shape;632;p20"/>
          <p:cNvSpPr txBox="1"/>
          <p:nvPr/>
        </p:nvSpPr>
        <p:spPr>
          <a:xfrm>
            <a:off x="640080" y="182880"/>
            <a:ext cx="109728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1A1A2E"/>
                </a:solidFill>
                <a:latin typeface="Microsoft YaHei"/>
                <a:ea typeface="Microsoft YaHei"/>
                <a:cs typeface="Microsoft YaHei"/>
                <a:sym typeface="Microsoft YaHei"/>
              </a:rPr>
              <a:t>OpenSpec-HW2  （或类似工具平台） 现有不足与改进空间</a:t>
            </a:r>
            <a:endParaRPr b="1" sz="2400">
              <a:solidFill>
                <a:srgbClr val="1A1A2E"/>
              </a:solidFill>
              <a:latin typeface="Microsoft YaHei"/>
              <a:ea typeface="Microsoft YaHei"/>
              <a:cs typeface="Microsoft YaHei"/>
              <a:sym typeface="Microsoft YaHei"/>
            </a:endParaRPr>
          </a:p>
        </p:txBody>
      </p:sp>
      <p:sp>
        <p:nvSpPr>
          <p:cNvPr id="633" name="Google Shape;633;p20"/>
          <p:cNvSpPr txBox="1"/>
          <p:nvPr/>
        </p:nvSpPr>
        <p:spPr>
          <a:xfrm>
            <a:off x="640080" y="685800"/>
            <a:ext cx="109728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300">
                <a:solidFill>
                  <a:srgbClr val="555555"/>
                </a:solidFill>
                <a:latin typeface="Microsoft YaHei"/>
                <a:ea typeface="Microsoft YaHei"/>
                <a:cs typeface="Microsoft YaHei"/>
                <a:sym typeface="Microsoft YaHei"/>
              </a:rPr>
              <a:t>竞品未解决这些问题 → 改进这些不足既能补自身短板，又能形成差异化优势</a:t>
            </a:r>
            <a:endParaRPr b="0" sz="1300">
              <a:solidFill>
                <a:srgbClr val="555555"/>
              </a:solidFill>
              <a:latin typeface="Microsoft YaHei"/>
              <a:ea typeface="Microsoft YaHei"/>
              <a:cs typeface="Microsoft YaHei"/>
              <a:sym typeface="Microsoft YaHei"/>
            </a:endParaRPr>
          </a:p>
        </p:txBody>
      </p:sp>
      <p:sp>
        <p:nvSpPr>
          <p:cNvPr id="634" name="Google Shape;634;p20"/>
          <p:cNvSpPr/>
          <p:nvPr/>
        </p:nvSpPr>
        <p:spPr>
          <a:xfrm>
            <a:off x="640080" y="1097280"/>
            <a:ext cx="10881360" cy="18288"/>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20"/>
          <p:cNvSpPr txBox="1"/>
          <p:nvPr/>
        </p:nvSpPr>
        <p:spPr>
          <a:xfrm>
            <a:off x="640080" y="1234440"/>
            <a:ext cx="457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888888"/>
                </a:solidFill>
                <a:latin typeface="Microsoft YaHei"/>
                <a:ea typeface="Microsoft YaHei"/>
                <a:cs typeface="Microsoft YaHei"/>
                <a:sym typeface="Microsoft YaHei"/>
              </a:rPr>
              <a:t>#</a:t>
            </a:r>
            <a:endParaRPr b="1" sz="1100">
              <a:solidFill>
                <a:srgbClr val="888888"/>
              </a:solidFill>
              <a:latin typeface="Microsoft YaHei"/>
              <a:ea typeface="Microsoft YaHei"/>
              <a:cs typeface="Microsoft YaHei"/>
              <a:sym typeface="Microsoft YaHei"/>
            </a:endParaRPr>
          </a:p>
        </p:txBody>
      </p:sp>
      <p:sp>
        <p:nvSpPr>
          <p:cNvPr id="636" name="Google Shape;636;p20"/>
          <p:cNvSpPr txBox="1"/>
          <p:nvPr/>
        </p:nvSpPr>
        <p:spPr>
          <a:xfrm>
            <a:off x="1897380" y="1224915"/>
            <a:ext cx="41148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1A1A2E"/>
                </a:solidFill>
                <a:latin typeface="Microsoft YaHei"/>
                <a:ea typeface="Microsoft YaHei"/>
                <a:cs typeface="Microsoft YaHei"/>
                <a:sym typeface="Microsoft YaHei"/>
              </a:rPr>
              <a:t>OpenSpec 现有不足</a:t>
            </a:r>
            <a:endParaRPr b="1" sz="1200">
              <a:solidFill>
                <a:srgbClr val="1A1A2E"/>
              </a:solidFill>
              <a:latin typeface="Microsoft YaHei"/>
              <a:ea typeface="Microsoft YaHei"/>
              <a:cs typeface="Microsoft YaHei"/>
              <a:sym typeface="Microsoft YaHei"/>
            </a:endParaRPr>
          </a:p>
        </p:txBody>
      </p:sp>
      <p:sp>
        <p:nvSpPr>
          <p:cNvPr id="637" name="Google Shape;637;p20"/>
          <p:cNvSpPr txBox="1"/>
          <p:nvPr/>
        </p:nvSpPr>
        <p:spPr>
          <a:xfrm>
            <a:off x="6986905" y="1194435"/>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Microsoft YaHei"/>
                <a:ea typeface="Microsoft YaHei"/>
                <a:cs typeface="Microsoft YaHei"/>
                <a:sym typeface="Microsoft YaHei"/>
              </a:rPr>
              <a:t>→ 改进方向</a:t>
            </a:r>
            <a:endParaRPr b="1" sz="1200">
              <a:solidFill>
                <a:srgbClr val="0078D4"/>
              </a:solidFill>
              <a:latin typeface="Microsoft YaHei"/>
              <a:ea typeface="Microsoft YaHei"/>
              <a:cs typeface="Microsoft YaHei"/>
              <a:sym typeface="Microsoft YaHei"/>
            </a:endParaRPr>
          </a:p>
        </p:txBody>
      </p:sp>
      <p:sp>
        <p:nvSpPr>
          <p:cNvPr id="638" name="Google Shape;638;p20"/>
          <p:cNvSpPr/>
          <p:nvPr/>
        </p:nvSpPr>
        <p:spPr>
          <a:xfrm>
            <a:off x="640080" y="1508760"/>
            <a:ext cx="10881360" cy="9144"/>
          </a:xfrm>
          <a:prstGeom prst="rect">
            <a:avLst/>
          </a:prstGeom>
          <a:solidFill>
            <a:srgbClr val="EEEE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9" name="Google Shape;639;p20"/>
          <p:cNvSpPr/>
          <p:nvPr/>
        </p:nvSpPr>
        <p:spPr>
          <a:xfrm>
            <a:off x="640080" y="2606040"/>
            <a:ext cx="10881360" cy="9144"/>
          </a:xfrm>
          <a:prstGeom prst="rect">
            <a:avLst/>
          </a:prstGeom>
          <a:solidFill>
            <a:srgbClr val="EEEE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20"/>
          <p:cNvSpPr/>
          <p:nvPr/>
        </p:nvSpPr>
        <p:spPr>
          <a:xfrm>
            <a:off x="640080" y="3703320"/>
            <a:ext cx="10881360" cy="9144"/>
          </a:xfrm>
          <a:prstGeom prst="rect">
            <a:avLst/>
          </a:prstGeom>
          <a:solidFill>
            <a:srgbClr val="EEEE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20"/>
          <p:cNvSpPr/>
          <p:nvPr/>
        </p:nvSpPr>
        <p:spPr>
          <a:xfrm>
            <a:off x="640080" y="4800600"/>
            <a:ext cx="10881360" cy="9144"/>
          </a:xfrm>
          <a:prstGeom prst="rect">
            <a:avLst/>
          </a:prstGeom>
          <a:solidFill>
            <a:srgbClr val="EEEEE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20"/>
          <p:cNvSpPr txBox="1"/>
          <p:nvPr/>
        </p:nvSpPr>
        <p:spPr>
          <a:xfrm>
            <a:off x="640080" y="1645920"/>
            <a:ext cx="457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0078D4"/>
                </a:solidFill>
                <a:latin typeface="Microsoft YaHei"/>
                <a:ea typeface="Microsoft YaHei"/>
                <a:cs typeface="Microsoft YaHei"/>
                <a:sym typeface="Microsoft YaHei"/>
              </a:rPr>
              <a:t>1</a:t>
            </a:r>
            <a:endParaRPr b="1" sz="1800">
              <a:solidFill>
                <a:srgbClr val="0078D4"/>
              </a:solidFill>
              <a:latin typeface="Microsoft YaHei"/>
              <a:ea typeface="Microsoft YaHei"/>
              <a:cs typeface="Microsoft YaHei"/>
              <a:sym typeface="Microsoft YaHei"/>
            </a:endParaRPr>
          </a:p>
        </p:txBody>
      </p:sp>
      <p:sp>
        <p:nvSpPr>
          <p:cNvPr id="643" name="Google Shape;643;p20"/>
          <p:cNvSpPr txBox="1"/>
          <p:nvPr/>
        </p:nvSpPr>
        <p:spPr>
          <a:xfrm>
            <a:off x="1897380" y="1609090"/>
            <a:ext cx="4023360" cy="598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333333"/>
                </a:solidFill>
                <a:latin typeface="Microsoft YaHei"/>
                <a:ea typeface="Microsoft YaHei"/>
                <a:cs typeface="Microsoft YaHei"/>
                <a:sym typeface="Microsoft YaHei"/>
              </a:rPr>
              <a:t>没有 Spec 质量审查机制</a:t>
            </a:r>
            <a:endParaRPr b="1"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Spec 生成后直接用于实现，遗漏、矛盾、</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模糊之处需要依赖用户进行人工检查发现</a:t>
            </a:r>
            <a:endParaRPr b="0" sz="1100">
              <a:solidFill>
                <a:srgbClr val="333333"/>
              </a:solidFill>
              <a:latin typeface="Microsoft YaHei"/>
              <a:ea typeface="Microsoft YaHei"/>
              <a:cs typeface="Microsoft YaHei"/>
              <a:sym typeface="Microsoft YaHei"/>
            </a:endParaRPr>
          </a:p>
        </p:txBody>
      </p:sp>
      <p:sp>
        <p:nvSpPr>
          <p:cNvPr id="644" name="Google Shape;644;p20"/>
          <p:cNvSpPr txBox="1"/>
          <p:nvPr/>
        </p:nvSpPr>
        <p:spPr>
          <a:xfrm>
            <a:off x="6986905" y="1600200"/>
            <a:ext cx="292608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0078D4"/>
                </a:solidFill>
                <a:latin typeface="Microsoft YaHei"/>
                <a:ea typeface="Microsoft YaHei"/>
                <a:cs typeface="Microsoft YaHei"/>
                <a:sym typeface="Microsoft YaHei"/>
              </a:rPr>
              <a:t>Multi-Perspective</a:t>
            </a:r>
            <a:endParaRPr b="1" sz="1100">
              <a:solidFill>
                <a:srgbClr val="0078D4"/>
              </a:solidFill>
              <a:latin typeface="Microsoft YaHei"/>
              <a:ea typeface="Microsoft YaHei"/>
              <a:cs typeface="Microsoft YaHei"/>
              <a:sym typeface="Microsoft YaHei"/>
            </a:endParaRPr>
          </a:p>
          <a:p>
            <a:pPr indent="0" lvl="0" marL="0" marR="0" rtl="0" algn="l">
              <a:spcBef>
                <a:spcPts val="0"/>
              </a:spcBef>
              <a:spcAft>
                <a:spcPts val="0"/>
              </a:spcAft>
              <a:buNone/>
            </a:pPr>
            <a:r>
              <a:rPr b="1" lang="en-US" sz="1100">
                <a:solidFill>
                  <a:srgbClr val="0078D4"/>
                </a:solidFill>
                <a:latin typeface="Microsoft YaHei"/>
                <a:ea typeface="Microsoft YaHei"/>
                <a:cs typeface="Microsoft YaHei"/>
                <a:sym typeface="Microsoft YaHei"/>
              </a:rPr>
              <a:t>Spec Testing</a:t>
            </a:r>
            <a:endParaRPr b="1" sz="1100">
              <a:solidFill>
                <a:srgbClr val="0078D4"/>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0078D4"/>
                </a:solidFill>
                <a:latin typeface="Microsoft YaHei"/>
                <a:ea typeface="Microsoft YaHei"/>
                <a:cs typeface="Microsoft YaHei"/>
                <a:sym typeface="Microsoft YaHei"/>
              </a:rPr>
              <a:t>多视角自动审查 spec 完整性</a:t>
            </a:r>
            <a:endParaRPr b="0" sz="1100">
              <a:solidFill>
                <a:srgbClr val="0078D4"/>
              </a:solidFill>
              <a:latin typeface="Microsoft YaHei"/>
              <a:ea typeface="Microsoft YaHei"/>
              <a:cs typeface="Microsoft YaHei"/>
              <a:sym typeface="Microsoft YaHei"/>
            </a:endParaRPr>
          </a:p>
        </p:txBody>
      </p:sp>
      <p:sp>
        <p:nvSpPr>
          <p:cNvPr id="645" name="Google Shape;645;p20"/>
          <p:cNvSpPr txBox="1"/>
          <p:nvPr/>
        </p:nvSpPr>
        <p:spPr>
          <a:xfrm>
            <a:off x="640080" y="2743200"/>
            <a:ext cx="457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107C10"/>
                </a:solidFill>
                <a:latin typeface="Microsoft YaHei"/>
                <a:ea typeface="Microsoft YaHei"/>
                <a:cs typeface="Microsoft YaHei"/>
                <a:sym typeface="Microsoft YaHei"/>
              </a:rPr>
              <a:t>2</a:t>
            </a:r>
            <a:endParaRPr b="1" sz="1800">
              <a:solidFill>
                <a:srgbClr val="107C10"/>
              </a:solidFill>
              <a:latin typeface="Microsoft YaHei"/>
              <a:ea typeface="Microsoft YaHei"/>
              <a:cs typeface="Microsoft YaHei"/>
              <a:sym typeface="Microsoft YaHei"/>
            </a:endParaRPr>
          </a:p>
        </p:txBody>
      </p:sp>
      <p:sp>
        <p:nvSpPr>
          <p:cNvPr id="646" name="Google Shape;646;p20"/>
          <p:cNvSpPr txBox="1"/>
          <p:nvPr/>
        </p:nvSpPr>
        <p:spPr>
          <a:xfrm>
            <a:off x="1897380" y="2715260"/>
            <a:ext cx="4023360" cy="598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333333"/>
                </a:solidFill>
                <a:latin typeface="Microsoft YaHei"/>
                <a:ea typeface="Microsoft YaHei"/>
                <a:cs typeface="Microsoft YaHei"/>
                <a:sym typeface="Microsoft YaHei"/>
              </a:rPr>
              <a:t>Spec 只是 Markdown 文档</a:t>
            </a:r>
            <a:endParaRPr b="1"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Apply 阶段 AI 可能潜在的偏离 spec，如果没有</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强制约束机制，违规无法自动拦截</a:t>
            </a:r>
            <a:endParaRPr b="0" sz="1100">
              <a:solidFill>
                <a:srgbClr val="333333"/>
              </a:solidFill>
              <a:latin typeface="Microsoft YaHei"/>
              <a:ea typeface="Microsoft YaHei"/>
              <a:cs typeface="Microsoft YaHei"/>
              <a:sym typeface="Microsoft YaHei"/>
            </a:endParaRPr>
          </a:p>
        </p:txBody>
      </p:sp>
      <p:sp>
        <p:nvSpPr>
          <p:cNvPr id="647" name="Google Shape;647;p20"/>
          <p:cNvSpPr txBox="1"/>
          <p:nvPr/>
        </p:nvSpPr>
        <p:spPr>
          <a:xfrm>
            <a:off x="7063740" y="2697480"/>
            <a:ext cx="292608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107C10"/>
                </a:solidFill>
                <a:latin typeface="Microsoft YaHei"/>
                <a:ea typeface="Microsoft YaHei"/>
                <a:cs typeface="Microsoft YaHei"/>
                <a:sym typeface="Microsoft YaHei"/>
              </a:rPr>
              <a:t>Spec-as-Runtime</a:t>
            </a:r>
            <a:endParaRPr b="1" sz="1100">
              <a:solidFill>
                <a:srgbClr val="107C10"/>
              </a:solidFill>
              <a:latin typeface="Microsoft YaHei"/>
              <a:ea typeface="Microsoft YaHei"/>
              <a:cs typeface="Microsoft YaHei"/>
              <a:sym typeface="Microsoft YaHei"/>
            </a:endParaRPr>
          </a:p>
          <a:p>
            <a:pPr indent="0" lvl="0" marL="0" marR="0" rtl="0" algn="l">
              <a:spcBef>
                <a:spcPts val="0"/>
              </a:spcBef>
              <a:spcAft>
                <a:spcPts val="0"/>
              </a:spcAft>
              <a:buNone/>
            </a:pPr>
            <a:r>
              <a:rPr b="1" lang="en-US" sz="1100">
                <a:solidFill>
                  <a:srgbClr val="107C10"/>
                </a:solidFill>
                <a:latin typeface="Microsoft YaHei"/>
                <a:ea typeface="Microsoft YaHei"/>
                <a:cs typeface="Microsoft YaHei"/>
                <a:sym typeface="Microsoft YaHei"/>
              </a:rPr>
              <a:t>Guardrail</a:t>
            </a:r>
            <a:endParaRPr b="1" sz="1100">
              <a:solidFill>
                <a:srgbClr val="107C10"/>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107C10"/>
                </a:solidFill>
                <a:latin typeface="Microsoft YaHei"/>
                <a:ea typeface="Microsoft YaHei"/>
                <a:cs typeface="Microsoft YaHei"/>
                <a:sym typeface="Microsoft YaHei"/>
              </a:rPr>
              <a:t>Spec 编译为运行时约束</a:t>
            </a:r>
            <a:endParaRPr b="0" sz="1100">
              <a:solidFill>
                <a:srgbClr val="107C10"/>
              </a:solidFill>
              <a:latin typeface="Microsoft YaHei"/>
              <a:ea typeface="Microsoft YaHei"/>
              <a:cs typeface="Microsoft YaHei"/>
              <a:sym typeface="Microsoft YaHei"/>
            </a:endParaRPr>
          </a:p>
        </p:txBody>
      </p:sp>
      <p:sp>
        <p:nvSpPr>
          <p:cNvPr id="648" name="Google Shape;648;p20"/>
          <p:cNvSpPr txBox="1"/>
          <p:nvPr/>
        </p:nvSpPr>
        <p:spPr>
          <a:xfrm>
            <a:off x="640080" y="3840480"/>
            <a:ext cx="457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E86C00"/>
                </a:solidFill>
                <a:latin typeface="Microsoft YaHei"/>
                <a:ea typeface="Microsoft YaHei"/>
                <a:cs typeface="Microsoft YaHei"/>
                <a:sym typeface="Microsoft YaHei"/>
              </a:rPr>
              <a:t>3</a:t>
            </a:r>
            <a:endParaRPr b="1" sz="1800">
              <a:solidFill>
                <a:srgbClr val="E86C00"/>
              </a:solidFill>
              <a:latin typeface="Microsoft YaHei"/>
              <a:ea typeface="Microsoft YaHei"/>
              <a:cs typeface="Microsoft YaHei"/>
              <a:sym typeface="Microsoft YaHei"/>
            </a:endParaRPr>
          </a:p>
        </p:txBody>
      </p:sp>
      <p:sp>
        <p:nvSpPr>
          <p:cNvPr id="649" name="Google Shape;649;p20"/>
          <p:cNvSpPr txBox="1"/>
          <p:nvPr/>
        </p:nvSpPr>
        <p:spPr>
          <a:xfrm>
            <a:off x="1897380" y="3803650"/>
            <a:ext cx="4023360" cy="598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333333"/>
                </a:solidFill>
                <a:latin typeface="Microsoft YaHei"/>
                <a:ea typeface="Microsoft YaHei"/>
                <a:cs typeface="Microsoft YaHei"/>
                <a:sym typeface="Microsoft YaHei"/>
              </a:rPr>
              <a:t>每次Spec变更从零开始，无经验积累</a:t>
            </a:r>
            <a:endParaRPr b="1"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不会从历史项目中学习哪些 spec 写法</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有效，反复踩同样的坑</a:t>
            </a:r>
            <a:endParaRPr b="0" sz="1100">
              <a:solidFill>
                <a:srgbClr val="333333"/>
              </a:solidFill>
              <a:latin typeface="Microsoft YaHei"/>
              <a:ea typeface="Microsoft YaHei"/>
              <a:cs typeface="Microsoft YaHei"/>
              <a:sym typeface="Microsoft YaHei"/>
            </a:endParaRPr>
          </a:p>
        </p:txBody>
      </p:sp>
      <p:sp>
        <p:nvSpPr>
          <p:cNvPr id="650" name="Google Shape;650;p20"/>
          <p:cNvSpPr txBox="1"/>
          <p:nvPr/>
        </p:nvSpPr>
        <p:spPr>
          <a:xfrm>
            <a:off x="7124065" y="3794760"/>
            <a:ext cx="292608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E86C00"/>
                </a:solidFill>
                <a:latin typeface="Microsoft YaHei"/>
                <a:ea typeface="Microsoft YaHei"/>
                <a:cs typeface="Microsoft YaHei"/>
                <a:sym typeface="Microsoft YaHei"/>
              </a:rPr>
              <a:t>Self-Evolving</a:t>
            </a:r>
            <a:endParaRPr b="1" sz="1100">
              <a:solidFill>
                <a:srgbClr val="E86C00"/>
              </a:solidFill>
              <a:latin typeface="Microsoft YaHei"/>
              <a:ea typeface="Microsoft YaHei"/>
              <a:cs typeface="Microsoft YaHei"/>
              <a:sym typeface="Microsoft YaHei"/>
            </a:endParaRPr>
          </a:p>
          <a:p>
            <a:pPr indent="0" lvl="0" marL="0" marR="0" rtl="0" algn="l">
              <a:spcBef>
                <a:spcPts val="0"/>
              </a:spcBef>
              <a:spcAft>
                <a:spcPts val="0"/>
              </a:spcAft>
              <a:buNone/>
            </a:pPr>
            <a:r>
              <a:rPr b="1" lang="en-US" sz="1100">
                <a:solidFill>
                  <a:srgbClr val="E86C00"/>
                </a:solidFill>
                <a:latin typeface="Microsoft YaHei"/>
                <a:ea typeface="Microsoft YaHei"/>
                <a:cs typeface="Microsoft YaHei"/>
                <a:sym typeface="Microsoft YaHei"/>
              </a:rPr>
              <a:t>Spec Agents</a:t>
            </a:r>
            <a:endParaRPr b="1" sz="1100">
              <a:solidFill>
                <a:srgbClr val="E86C00"/>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E86C00"/>
                </a:solidFill>
                <a:latin typeface="Microsoft YaHei"/>
                <a:ea typeface="Microsoft YaHei"/>
                <a:cs typeface="Microsoft YaHei"/>
                <a:sym typeface="Microsoft YaHei"/>
              </a:rPr>
              <a:t>自动提炼经验，持续进化</a:t>
            </a:r>
            <a:endParaRPr b="0" sz="1100">
              <a:solidFill>
                <a:srgbClr val="E86C00"/>
              </a:solidFill>
              <a:latin typeface="Microsoft YaHei"/>
              <a:ea typeface="Microsoft YaHei"/>
              <a:cs typeface="Microsoft YaHei"/>
              <a:sym typeface="Microsoft YaHei"/>
            </a:endParaRPr>
          </a:p>
        </p:txBody>
      </p:sp>
      <p:sp>
        <p:nvSpPr>
          <p:cNvPr id="651" name="Google Shape;651;p20"/>
          <p:cNvSpPr txBox="1"/>
          <p:nvPr/>
        </p:nvSpPr>
        <p:spPr>
          <a:xfrm>
            <a:off x="640080" y="4937760"/>
            <a:ext cx="457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D13438"/>
                </a:solidFill>
                <a:latin typeface="Microsoft YaHei"/>
                <a:ea typeface="Microsoft YaHei"/>
                <a:cs typeface="Microsoft YaHei"/>
                <a:sym typeface="Microsoft YaHei"/>
              </a:rPr>
              <a:t>4</a:t>
            </a:r>
            <a:endParaRPr b="1" sz="1800">
              <a:solidFill>
                <a:srgbClr val="D13438"/>
              </a:solidFill>
              <a:latin typeface="Microsoft YaHei"/>
              <a:ea typeface="Microsoft YaHei"/>
              <a:cs typeface="Microsoft YaHei"/>
              <a:sym typeface="Microsoft YaHei"/>
            </a:endParaRPr>
          </a:p>
        </p:txBody>
      </p:sp>
      <p:sp>
        <p:nvSpPr>
          <p:cNvPr id="652" name="Google Shape;652;p20"/>
          <p:cNvSpPr txBox="1"/>
          <p:nvPr/>
        </p:nvSpPr>
        <p:spPr>
          <a:xfrm>
            <a:off x="1897380" y="4892040"/>
            <a:ext cx="4023360" cy="598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333333"/>
                </a:solidFill>
                <a:latin typeface="Microsoft YaHei"/>
                <a:ea typeface="Microsoft YaHei"/>
                <a:cs typeface="Microsoft YaHei"/>
                <a:sym typeface="Microsoft YaHei"/>
              </a:rPr>
              <a:t>通用框架，不懂行业知识</a:t>
            </a:r>
            <a:endParaRPr b="1"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不理解 类似于通讯的3GPP 等行业术语</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和合规要求，生成的 spec 缺乏行业深度</a:t>
            </a:r>
            <a:endParaRPr b="0" sz="1100">
              <a:solidFill>
                <a:srgbClr val="333333"/>
              </a:solidFill>
              <a:latin typeface="Microsoft YaHei"/>
              <a:ea typeface="Microsoft YaHei"/>
              <a:cs typeface="Microsoft YaHei"/>
              <a:sym typeface="Microsoft YaHei"/>
            </a:endParaRPr>
          </a:p>
        </p:txBody>
      </p:sp>
      <p:sp>
        <p:nvSpPr>
          <p:cNvPr id="653" name="Google Shape;653;p20"/>
          <p:cNvSpPr txBox="1"/>
          <p:nvPr/>
        </p:nvSpPr>
        <p:spPr>
          <a:xfrm>
            <a:off x="7124065" y="4892040"/>
            <a:ext cx="292608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100">
                <a:solidFill>
                  <a:srgbClr val="D13438"/>
                </a:solidFill>
                <a:latin typeface="Microsoft YaHei"/>
                <a:ea typeface="Microsoft YaHei"/>
                <a:cs typeface="Microsoft YaHei"/>
                <a:sym typeface="Microsoft YaHei"/>
              </a:rPr>
              <a:t>Domain-Specific</a:t>
            </a:r>
            <a:endParaRPr b="1" sz="1100">
              <a:solidFill>
                <a:srgbClr val="D13438"/>
              </a:solidFill>
              <a:latin typeface="Microsoft YaHei"/>
              <a:ea typeface="Microsoft YaHei"/>
              <a:cs typeface="Microsoft YaHei"/>
              <a:sym typeface="Microsoft YaHei"/>
            </a:endParaRPr>
          </a:p>
          <a:p>
            <a:pPr indent="0" lvl="0" marL="0" marR="0" rtl="0" algn="l">
              <a:spcBef>
                <a:spcPts val="0"/>
              </a:spcBef>
              <a:spcAft>
                <a:spcPts val="0"/>
              </a:spcAft>
              <a:buNone/>
            </a:pPr>
            <a:r>
              <a:rPr b="1" lang="en-US" sz="1100">
                <a:solidFill>
                  <a:srgbClr val="D13438"/>
                </a:solidFill>
                <a:latin typeface="Microsoft YaHei"/>
                <a:ea typeface="Microsoft YaHei"/>
                <a:cs typeface="Microsoft YaHei"/>
                <a:sym typeface="Microsoft YaHei"/>
              </a:rPr>
              <a:t>Packs</a:t>
            </a:r>
            <a:endParaRPr b="1" sz="1100">
              <a:solidFill>
                <a:srgbClr val="D13438"/>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D13438"/>
                </a:solidFill>
                <a:latin typeface="Microsoft YaHei"/>
                <a:ea typeface="Microsoft YaHei"/>
                <a:cs typeface="Microsoft YaHei"/>
                <a:sym typeface="Microsoft YaHei"/>
              </a:rPr>
              <a:t>行业知识预配置包</a:t>
            </a:r>
            <a:endParaRPr b="0" sz="1100">
              <a:solidFill>
                <a:srgbClr val="D13438"/>
              </a:solidFill>
              <a:latin typeface="Microsoft YaHei"/>
              <a:ea typeface="Microsoft YaHei"/>
              <a:cs typeface="Microsoft YaHei"/>
              <a:sym typeface="Microsoft YaHei"/>
            </a:endParaRPr>
          </a:p>
        </p:txBody>
      </p:sp>
      <p:sp>
        <p:nvSpPr>
          <p:cNvPr id="654" name="Google Shape;654;p20"/>
          <p:cNvSpPr/>
          <p:nvPr/>
        </p:nvSpPr>
        <p:spPr>
          <a:xfrm>
            <a:off x="640080" y="5897880"/>
            <a:ext cx="10881360" cy="9144"/>
          </a:xfrm>
          <a:prstGeom prst="rect">
            <a:avLst/>
          </a:prstGeom>
          <a:solidFill>
            <a:srgbClr val="DDDDD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5" name="Google Shape;655;p20"/>
          <p:cNvSpPr txBox="1"/>
          <p:nvPr/>
        </p:nvSpPr>
        <p:spPr>
          <a:xfrm>
            <a:off x="640080" y="5989320"/>
            <a:ext cx="108813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1A1A2E"/>
                </a:solidFill>
                <a:latin typeface="Microsoft YaHei"/>
                <a:ea typeface="Microsoft YaHei"/>
                <a:cs typeface="Microsoft YaHei"/>
                <a:sym typeface="Microsoft YaHei"/>
              </a:rPr>
              <a:t>这四个不足既是 OpenSpec 自身的改进目标，也恰好是所有竞品的共同盲区——改进它们就是我们的差异化路径。</a:t>
            </a:r>
            <a:endParaRPr b="0" sz="1200">
              <a:solidFill>
                <a:srgbClr val="1A1A2E"/>
              </a:solidFill>
              <a:latin typeface="Microsoft YaHei"/>
              <a:ea typeface="Microsoft YaHei"/>
              <a:cs typeface="Microsoft YaHei"/>
              <a:sym typeface="Microsoft YaHei"/>
            </a:endParaRPr>
          </a:p>
        </p:txBody>
      </p:sp>
      <p:sp>
        <p:nvSpPr>
          <p:cNvPr id="656" name="Google Shape;656;p20"/>
          <p:cNvSpPr txBox="1"/>
          <p:nvPr/>
        </p:nvSpPr>
        <p:spPr>
          <a:xfrm>
            <a:off x="11109960"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b="0" sz="1000">
              <a:solidFill>
                <a:srgbClr val="333333"/>
              </a:solidFill>
              <a:latin typeface="Microsoft YaHei"/>
              <a:ea typeface="Microsoft YaHei"/>
              <a:cs typeface="Microsoft YaHei"/>
              <a:sym typeface="Microsoft YaHei"/>
            </a:endParaRPr>
          </a:p>
        </p:txBody>
      </p:sp>
      <p:sp>
        <p:nvSpPr>
          <p:cNvPr id="657" name="Google Shape;657;p20"/>
          <p:cNvSpPr txBox="1"/>
          <p:nvPr/>
        </p:nvSpPr>
        <p:spPr>
          <a:xfrm>
            <a:off x="11109960" y="640080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333333"/>
                </a:solidFill>
                <a:latin typeface="Microsoft YaHei"/>
                <a:ea typeface="Microsoft YaHei"/>
                <a:cs typeface="Microsoft YaHei"/>
                <a:sym typeface="Microsoft YaHei"/>
              </a:rPr>
              <a:t>18/41</a:t>
            </a:r>
            <a:endParaRPr sz="1000">
              <a:solidFill>
                <a:srgbClr val="333333"/>
              </a:solidFill>
              <a:latin typeface="Microsoft YaHei"/>
              <a:ea typeface="Microsoft YaHei"/>
              <a:cs typeface="Microsoft YaHei"/>
              <a:sym typeface="Microsoft YaHe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61" name="Shape 661"/>
        <p:cNvGrpSpPr/>
        <p:nvPr/>
      </p:nvGrpSpPr>
      <p:grpSpPr>
        <a:xfrm>
          <a:off x="0" y="0"/>
          <a:ext cx="0" cy="0"/>
          <a:chOff x="0" y="0"/>
          <a:chExt cx="0" cy="0"/>
        </a:xfrm>
      </p:grpSpPr>
      <p:sp>
        <p:nvSpPr>
          <p:cNvPr id="662" name="Google Shape;662;p21"/>
          <p:cNvSpPr/>
          <p:nvPr/>
        </p:nvSpPr>
        <p:spPr>
          <a:xfrm>
            <a:off x="0" y="0"/>
            <a:ext cx="1219169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63" name="Google Shape;663;p21"/>
          <p:cNvSpPr txBox="1"/>
          <p:nvPr/>
        </p:nvSpPr>
        <p:spPr>
          <a:xfrm>
            <a:off x="731520" y="365760"/>
            <a:ext cx="9144000" cy="4914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600">
                <a:solidFill>
                  <a:srgbClr val="333333"/>
                </a:solidFill>
                <a:latin typeface="Microsoft YaHei"/>
                <a:ea typeface="Microsoft YaHei"/>
                <a:cs typeface="Microsoft YaHei"/>
                <a:sym typeface="Microsoft YaHei"/>
              </a:rPr>
              <a:t>Openspec-HW2（或类似工具平台）潜在的研究方向</a:t>
            </a:r>
            <a:endParaRPr b="1" sz="2600">
              <a:solidFill>
                <a:srgbClr val="333333"/>
              </a:solidFill>
              <a:latin typeface="Microsoft YaHei"/>
              <a:ea typeface="Microsoft YaHei"/>
              <a:cs typeface="Microsoft YaHei"/>
              <a:sym typeface="Microsoft YaHei"/>
            </a:endParaRPr>
          </a:p>
        </p:txBody>
      </p:sp>
      <p:sp>
        <p:nvSpPr>
          <p:cNvPr id="664" name="Google Shape;664;p21"/>
          <p:cNvSpPr/>
          <p:nvPr/>
        </p:nvSpPr>
        <p:spPr>
          <a:xfrm>
            <a:off x="731520" y="920000"/>
            <a:ext cx="1097280" cy="4572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65" name="Google Shape;665;p21"/>
          <p:cNvSpPr/>
          <p:nvPr/>
        </p:nvSpPr>
        <p:spPr>
          <a:xfrm>
            <a:off x="2199895" y="1119990"/>
            <a:ext cx="3500000" cy="2400000"/>
          </a:xfrm>
          <a:prstGeom prst="roundRect">
            <a:avLst>
              <a:gd fmla="val 16667" name="adj"/>
            </a:avLst>
          </a:prstGeom>
          <a:solidFill>
            <a:srgbClr val="E8F4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21"/>
          <p:cNvSpPr/>
          <p:nvPr/>
        </p:nvSpPr>
        <p:spPr>
          <a:xfrm>
            <a:off x="2199895" y="1119990"/>
            <a:ext cx="3500000" cy="650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67" name="Google Shape;667;p21"/>
          <p:cNvSpPr/>
          <p:nvPr/>
        </p:nvSpPr>
        <p:spPr>
          <a:xfrm>
            <a:off x="2319895" y="1269990"/>
            <a:ext cx="360000" cy="360000"/>
          </a:xfrm>
          <a:prstGeom prst="roundRect">
            <a:avLst>
              <a:gd fmla="val 16667" name="adj"/>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21"/>
          <p:cNvSpPr txBox="1"/>
          <p:nvPr/>
        </p:nvSpPr>
        <p:spPr>
          <a:xfrm>
            <a:off x="2319895" y="1289990"/>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1</a:t>
            </a:r>
            <a:endParaRPr b="1" sz="1800">
              <a:solidFill>
                <a:srgbClr val="FFFFFF"/>
              </a:solidFill>
              <a:latin typeface="Microsoft YaHei"/>
              <a:ea typeface="Microsoft YaHei"/>
              <a:cs typeface="Microsoft YaHei"/>
              <a:sym typeface="Microsoft YaHei"/>
            </a:endParaRPr>
          </a:p>
        </p:txBody>
      </p:sp>
      <p:sp>
        <p:nvSpPr>
          <p:cNvPr id="669" name="Google Shape;669;p21"/>
          <p:cNvSpPr txBox="1"/>
          <p:nvPr/>
        </p:nvSpPr>
        <p:spPr>
          <a:xfrm>
            <a:off x="2759895" y="1289990"/>
            <a:ext cx="280000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0078D4"/>
                </a:solidFill>
                <a:latin typeface="Microsoft YaHei"/>
                <a:ea typeface="Microsoft YaHei"/>
                <a:cs typeface="Microsoft YaHei"/>
                <a:sym typeface="Microsoft YaHei"/>
              </a:rPr>
              <a:t>Multi-Perspective Spec Testing</a:t>
            </a:r>
            <a:endParaRPr b="1" sz="1400">
              <a:solidFill>
                <a:srgbClr val="0078D4"/>
              </a:solidFill>
              <a:latin typeface="Microsoft YaHei"/>
              <a:ea typeface="Microsoft YaHei"/>
              <a:cs typeface="Microsoft YaHei"/>
              <a:sym typeface="Microsoft YaHei"/>
            </a:endParaRPr>
          </a:p>
        </p:txBody>
      </p:sp>
      <p:sp>
        <p:nvSpPr>
          <p:cNvPr id="670" name="Google Shape;670;p21"/>
          <p:cNvSpPr txBox="1"/>
          <p:nvPr/>
        </p:nvSpPr>
        <p:spPr>
          <a:xfrm>
            <a:off x="2359895" y="1739990"/>
            <a:ext cx="3180000" cy="800000"/>
          </a:xfrm>
          <a:prstGeom prst="rect">
            <a:avLst/>
          </a:prstGeom>
          <a:noFill/>
          <a:ln>
            <a:noFill/>
          </a:ln>
        </p:spPr>
        <p:txBody>
          <a:bodyPr anchorCtr="0" anchor="t" bIns="45700" lIns="91425" spcFirstLastPara="1" rIns="91425" wrap="square" tIns="45700">
            <a:spAutoFit/>
          </a:bodyPr>
          <a:lstStyle/>
          <a:p>
            <a:pPr indent="0" lvl="0" marL="0" marR="0" rtl="0" algn="l">
              <a:lnSpc>
                <a:spcPct val="163636"/>
              </a:lnSpc>
              <a:spcBef>
                <a:spcPts val="0"/>
              </a:spcBef>
              <a:spcAft>
                <a:spcPts val="0"/>
              </a:spcAft>
              <a:buNone/>
            </a:pPr>
            <a:r>
              <a:rPr b="0" lang="en-US" sz="1100">
                <a:solidFill>
                  <a:srgbClr val="333333"/>
                </a:solidFill>
                <a:latin typeface="Microsoft YaHei"/>
                <a:ea typeface="Microsoft YaHei"/>
                <a:cs typeface="Microsoft YaHei"/>
                <a:sym typeface="Microsoft YaHei"/>
              </a:rPr>
              <a:t>多智能体多视角测试 spec</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完整性审查员 + 异常路径测试员 + 边界条件分析员 + 集成分析师</a:t>
            </a:r>
            <a:endParaRPr b="0" sz="1100">
              <a:solidFill>
                <a:srgbClr val="333333"/>
              </a:solidFill>
              <a:latin typeface="Microsoft YaHei"/>
              <a:ea typeface="Microsoft YaHei"/>
              <a:cs typeface="Microsoft YaHei"/>
              <a:sym typeface="Microsoft YaHei"/>
            </a:endParaRPr>
          </a:p>
        </p:txBody>
      </p:sp>
      <p:sp>
        <p:nvSpPr>
          <p:cNvPr id="671" name="Google Shape;671;p21"/>
          <p:cNvSpPr/>
          <p:nvPr/>
        </p:nvSpPr>
        <p:spPr>
          <a:xfrm>
            <a:off x="2359895" y="2619990"/>
            <a:ext cx="3180000" cy="180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21"/>
          <p:cNvSpPr txBox="1"/>
          <p:nvPr/>
        </p:nvSpPr>
        <p:spPr>
          <a:xfrm>
            <a:off x="2359895" y="2739990"/>
            <a:ext cx="3180000" cy="553085"/>
          </a:xfrm>
          <a:prstGeom prst="rect">
            <a:avLst/>
          </a:prstGeom>
          <a:noFill/>
          <a:ln>
            <a:noFill/>
          </a:ln>
        </p:spPr>
        <p:txBody>
          <a:bodyPr anchorCtr="0" anchor="t" bIns="45700" lIns="91425" spcFirstLastPara="1" rIns="91425" wrap="square" tIns="45700">
            <a:spAutoFit/>
          </a:bodyPr>
          <a:lstStyle/>
          <a:p>
            <a:pPr indent="0" lvl="0" marL="0" marR="0" rtl="0" algn="l">
              <a:lnSpc>
                <a:spcPct val="180000"/>
              </a:lnSpc>
              <a:spcBef>
                <a:spcPts val="0"/>
              </a:spcBef>
              <a:spcAft>
                <a:spcPts val="0"/>
              </a:spcAft>
              <a:buNone/>
            </a:pPr>
            <a:r>
              <a:rPr b="0" lang="en-US" sz="1000">
                <a:solidFill>
                  <a:srgbClr val="333333"/>
                </a:solidFill>
                <a:latin typeface="Microsoft YaHei"/>
                <a:ea typeface="Microsoft YaHei"/>
                <a:cs typeface="Microsoft YaHei"/>
                <a:sym typeface="Microsoft YaHei"/>
              </a:rPr>
              <a:t>Perspective-Based Review 前沿方向</a:t>
            </a:r>
            <a:br>
              <a:rPr b="0" lang="en-US" sz="1000">
                <a:solidFill>
                  <a:srgbClr val="333333"/>
                </a:solidFill>
                <a:latin typeface="Microsoft YaHei"/>
                <a:ea typeface="Microsoft YaHei"/>
                <a:cs typeface="Microsoft YaHei"/>
                <a:sym typeface="Microsoft YaHei"/>
              </a:rPr>
            </a:br>
            <a:r>
              <a:rPr b="0" lang="en-US" sz="1000">
                <a:solidFill>
                  <a:srgbClr val="333333"/>
                </a:solidFill>
                <a:latin typeface="Microsoft YaHei"/>
                <a:ea typeface="Microsoft YaHei"/>
                <a:cs typeface="Microsoft YaHei"/>
                <a:sym typeface="Microsoft YaHei"/>
              </a:rPr>
              <a:t>基于PBR方法论</a:t>
            </a:r>
            <a:endParaRPr b="1" sz="1100">
              <a:solidFill>
                <a:srgbClr val="0078D4"/>
              </a:solidFill>
              <a:latin typeface="Microsoft YaHei"/>
              <a:ea typeface="Microsoft YaHei"/>
              <a:cs typeface="Microsoft YaHei"/>
              <a:sym typeface="Microsoft YaHei"/>
            </a:endParaRPr>
          </a:p>
        </p:txBody>
      </p:sp>
      <p:sp>
        <p:nvSpPr>
          <p:cNvPr id="673" name="Google Shape;673;p21"/>
          <p:cNvSpPr/>
          <p:nvPr/>
        </p:nvSpPr>
        <p:spPr>
          <a:xfrm>
            <a:off x="5949895" y="1119990"/>
            <a:ext cx="3500000" cy="2400000"/>
          </a:xfrm>
          <a:prstGeom prst="roundRect">
            <a:avLst>
              <a:gd fmla="val 16667" name="adj"/>
            </a:avLst>
          </a:prstGeom>
          <a:solidFill>
            <a:srgbClr val="E8F5E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21"/>
          <p:cNvSpPr/>
          <p:nvPr/>
        </p:nvSpPr>
        <p:spPr>
          <a:xfrm>
            <a:off x="5949895" y="1119990"/>
            <a:ext cx="3500000" cy="650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21"/>
          <p:cNvSpPr/>
          <p:nvPr/>
        </p:nvSpPr>
        <p:spPr>
          <a:xfrm>
            <a:off x="6069895" y="1269990"/>
            <a:ext cx="360000" cy="360000"/>
          </a:xfrm>
          <a:prstGeom prst="roundRect">
            <a:avLst>
              <a:gd fmla="val 16667" name="adj"/>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21"/>
          <p:cNvSpPr txBox="1"/>
          <p:nvPr/>
        </p:nvSpPr>
        <p:spPr>
          <a:xfrm>
            <a:off x="6069895" y="1289990"/>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2</a:t>
            </a:r>
            <a:endParaRPr b="1" sz="1800">
              <a:solidFill>
                <a:srgbClr val="FFFFFF"/>
              </a:solidFill>
              <a:latin typeface="Microsoft YaHei"/>
              <a:ea typeface="Microsoft YaHei"/>
              <a:cs typeface="Microsoft YaHei"/>
              <a:sym typeface="Microsoft YaHei"/>
            </a:endParaRPr>
          </a:p>
        </p:txBody>
      </p:sp>
      <p:sp>
        <p:nvSpPr>
          <p:cNvPr id="677" name="Google Shape;677;p21"/>
          <p:cNvSpPr txBox="1"/>
          <p:nvPr/>
        </p:nvSpPr>
        <p:spPr>
          <a:xfrm>
            <a:off x="6509895" y="1289990"/>
            <a:ext cx="280000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107C10"/>
                </a:solidFill>
                <a:latin typeface="Microsoft YaHei"/>
                <a:ea typeface="Microsoft YaHei"/>
                <a:cs typeface="Microsoft YaHei"/>
                <a:sym typeface="Microsoft YaHei"/>
              </a:rPr>
              <a:t>Spec-as-Runtime-Guardrail</a:t>
            </a:r>
            <a:endParaRPr b="1" sz="1400">
              <a:solidFill>
                <a:srgbClr val="107C10"/>
              </a:solidFill>
              <a:latin typeface="Microsoft YaHei"/>
              <a:ea typeface="Microsoft YaHei"/>
              <a:cs typeface="Microsoft YaHei"/>
              <a:sym typeface="Microsoft YaHei"/>
            </a:endParaRPr>
          </a:p>
        </p:txBody>
      </p:sp>
      <p:sp>
        <p:nvSpPr>
          <p:cNvPr id="678" name="Google Shape;678;p21"/>
          <p:cNvSpPr txBox="1"/>
          <p:nvPr/>
        </p:nvSpPr>
        <p:spPr>
          <a:xfrm>
            <a:off x="6109895" y="1739990"/>
            <a:ext cx="3180000" cy="800000"/>
          </a:xfrm>
          <a:prstGeom prst="rect">
            <a:avLst/>
          </a:prstGeom>
          <a:noFill/>
          <a:ln>
            <a:noFill/>
          </a:ln>
        </p:spPr>
        <p:txBody>
          <a:bodyPr anchorCtr="0" anchor="t" bIns="45700" lIns="91425" spcFirstLastPara="1" rIns="91425" wrap="square" tIns="45700">
            <a:spAutoFit/>
          </a:bodyPr>
          <a:lstStyle/>
          <a:p>
            <a:pPr indent="0" lvl="0" marL="0" marR="0" rtl="0" algn="l">
              <a:lnSpc>
                <a:spcPct val="163636"/>
              </a:lnSpc>
              <a:spcBef>
                <a:spcPts val="0"/>
              </a:spcBef>
              <a:spcAft>
                <a:spcPts val="0"/>
              </a:spcAft>
              <a:buNone/>
            </a:pPr>
            <a:r>
              <a:rPr b="0" lang="en-US" sz="1100">
                <a:solidFill>
                  <a:srgbClr val="333333"/>
                </a:solidFill>
                <a:latin typeface="Microsoft YaHei"/>
                <a:ea typeface="Microsoft YaHei"/>
                <a:cs typeface="Microsoft YaHei"/>
                <a:sym typeface="Microsoft YaHei"/>
              </a:rPr>
              <a:t>Spec 编译为运行时约束</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AI 写代码时实时拦截违规</a:t>
            </a:r>
            <a:endParaRPr b="0" sz="1100">
              <a:solidFill>
                <a:srgbClr val="333333"/>
              </a:solidFill>
              <a:latin typeface="Microsoft YaHei"/>
              <a:ea typeface="Microsoft YaHei"/>
              <a:cs typeface="Microsoft YaHei"/>
              <a:sym typeface="Microsoft YaHei"/>
            </a:endParaRPr>
          </a:p>
        </p:txBody>
      </p:sp>
      <p:sp>
        <p:nvSpPr>
          <p:cNvPr id="679" name="Google Shape;679;p21"/>
          <p:cNvSpPr/>
          <p:nvPr/>
        </p:nvSpPr>
        <p:spPr>
          <a:xfrm>
            <a:off x="6109895" y="2619990"/>
            <a:ext cx="3180000" cy="180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0" name="Google Shape;680;p21"/>
          <p:cNvSpPr txBox="1"/>
          <p:nvPr/>
        </p:nvSpPr>
        <p:spPr>
          <a:xfrm>
            <a:off x="6109895" y="2739990"/>
            <a:ext cx="3180000" cy="321945"/>
          </a:xfrm>
          <a:prstGeom prst="rect">
            <a:avLst/>
          </a:prstGeom>
          <a:noFill/>
          <a:ln>
            <a:noFill/>
          </a:ln>
        </p:spPr>
        <p:txBody>
          <a:bodyPr anchorCtr="0" anchor="t" bIns="45700" lIns="91425" spcFirstLastPara="1" rIns="91425" wrap="square" tIns="45700">
            <a:spAutoFit/>
          </a:bodyPr>
          <a:lstStyle/>
          <a:p>
            <a:pPr indent="0" lvl="0" marL="0" marR="0" rtl="0" algn="l">
              <a:lnSpc>
                <a:spcPct val="163636"/>
              </a:lnSpc>
              <a:spcBef>
                <a:spcPts val="0"/>
              </a:spcBef>
              <a:spcAft>
                <a:spcPts val="0"/>
              </a:spcAft>
              <a:buNone/>
            </a:pPr>
            <a:r>
              <a:rPr b="1" lang="en-US" sz="1100">
                <a:solidFill>
                  <a:srgbClr val="107C10"/>
                </a:solidFill>
                <a:latin typeface="Microsoft YaHei"/>
                <a:ea typeface="Microsoft YaHei"/>
                <a:cs typeface="Microsoft YaHei"/>
                <a:sym typeface="Microsoft YaHei"/>
              </a:rPr>
              <a:t>事后追溯→事前预防</a:t>
            </a:r>
            <a:endParaRPr b="1" sz="1100">
              <a:solidFill>
                <a:srgbClr val="107C10"/>
              </a:solidFill>
              <a:latin typeface="Microsoft YaHei"/>
              <a:ea typeface="Microsoft YaHei"/>
              <a:cs typeface="Microsoft YaHei"/>
              <a:sym typeface="Microsoft YaHei"/>
            </a:endParaRPr>
          </a:p>
        </p:txBody>
      </p:sp>
      <p:sp>
        <p:nvSpPr>
          <p:cNvPr id="681" name="Google Shape;681;p21"/>
          <p:cNvSpPr/>
          <p:nvPr/>
        </p:nvSpPr>
        <p:spPr>
          <a:xfrm>
            <a:off x="2159905" y="3722855"/>
            <a:ext cx="3500000" cy="2400000"/>
          </a:xfrm>
          <a:prstGeom prst="roundRect">
            <a:avLst>
              <a:gd fmla="val 16667" name="adj"/>
            </a:avLst>
          </a:prstGeom>
          <a:solidFill>
            <a:srgbClr val="FFF3E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2" name="Google Shape;682;p21"/>
          <p:cNvSpPr/>
          <p:nvPr/>
        </p:nvSpPr>
        <p:spPr>
          <a:xfrm>
            <a:off x="2159905" y="3722855"/>
            <a:ext cx="3500000" cy="650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3" name="Google Shape;683;p21"/>
          <p:cNvSpPr/>
          <p:nvPr/>
        </p:nvSpPr>
        <p:spPr>
          <a:xfrm>
            <a:off x="2279905" y="3872855"/>
            <a:ext cx="360000" cy="360000"/>
          </a:xfrm>
          <a:prstGeom prst="roundRect">
            <a:avLst>
              <a:gd fmla="val 16667" name="adj"/>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4" name="Google Shape;684;p21"/>
          <p:cNvSpPr txBox="1"/>
          <p:nvPr/>
        </p:nvSpPr>
        <p:spPr>
          <a:xfrm>
            <a:off x="2279905" y="3892855"/>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3</a:t>
            </a:r>
            <a:endParaRPr b="1" sz="1800">
              <a:solidFill>
                <a:srgbClr val="FFFFFF"/>
              </a:solidFill>
              <a:latin typeface="Microsoft YaHei"/>
              <a:ea typeface="Microsoft YaHei"/>
              <a:cs typeface="Microsoft YaHei"/>
              <a:sym typeface="Microsoft YaHei"/>
            </a:endParaRPr>
          </a:p>
        </p:txBody>
      </p:sp>
      <p:sp>
        <p:nvSpPr>
          <p:cNvPr id="685" name="Google Shape;685;p21"/>
          <p:cNvSpPr txBox="1"/>
          <p:nvPr/>
        </p:nvSpPr>
        <p:spPr>
          <a:xfrm>
            <a:off x="2719905" y="3892855"/>
            <a:ext cx="280000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E86C00"/>
                </a:solidFill>
                <a:latin typeface="Microsoft YaHei"/>
                <a:ea typeface="Microsoft YaHei"/>
                <a:cs typeface="Microsoft YaHei"/>
                <a:sym typeface="Microsoft YaHei"/>
              </a:rPr>
              <a:t>Self-Evolving Spec Agents</a:t>
            </a:r>
            <a:endParaRPr b="1" sz="1400">
              <a:solidFill>
                <a:srgbClr val="E86C00"/>
              </a:solidFill>
              <a:latin typeface="Microsoft YaHei"/>
              <a:ea typeface="Microsoft YaHei"/>
              <a:cs typeface="Microsoft YaHei"/>
              <a:sym typeface="Microsoft YaHei"/>
            </a:endParaRPr>
          </a:p>
        </p:txBody>
      </p:sp>
      <p:sp>
        <p:nvSpPr>
          <p:cNvPr id="686" name="Google Shape;686;p21"/>
          <p:cNvSpPr txBox="1"/>
          <p:nvPr/>
        </p:nvSpPr>
        <p:spPr>
          <a:xfrm>
            <a:off x="2319905" y="4342855"/>
            <a:ext cx="3180000" cy="800000"/>
          </a:xfrm>
          <a:prstGeom prst="rect">
            <a:avLst/>
          </a:prstGeom>
          <a:noFill/>
          <a:ln>
            <a:noFill/>
          </a:ln>
        </p:spPr>
        <p:txBody>
          <a:bodyPr anchorCtr="0" anchor="t" bIns="45700" lIns="91425" spcFirstLastPara="1" rIns="91425" wrap="square" tIns="45700">
            <a:spAutoFit/>
          </a:bodyPr>
          <a:lstStyle/>
          <a:p>
            <a:pPr indent="0" lvl="0" marL="0" marR="0" rtl="0" algn="l">
              <a:lnSpc>
                <a:spcPct val="163636"/>
              </a:lnSpc>
              <a:spcBef>
                <a:spcPts val="0"/>
              </a:spcBef>
              <a:spcAft>
                <a:spcPts val="0"/>
              </a:spcAft>
              <a:buNone/>
            </a:pPr>
            <a:r>
              <a:rPr b="0" lang="en-US" sz="1100">
                <a:solidFill>
                  <a:srgbClr val="333333"/>
                </a:solidFill>
                <a:latin typeface="Microsoft YaHei"/>
                <a:ea typeface="Microsoft YaHei"/>
                <a:cs typeface="Microsoft YaHei"/>
                <a:sym typeface="Microsoft YaHei"/>
              </a:rPr>
              <a:t>每次 Apply→Verify 循环自动提炼经验</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蒸馏“Spec 最佳实践原则”持续进化</a:t>
            </a:r>
            <a:endParaRPr b="0" sz="1100">
              <a:solidFill>
                <a:srgbClr val="333333"/>
              </a:solidFill>
              <a:latin typeface="Microsoft YaHei"/>
              <a:ea typeface="Microsoft YaHei"/>
              <a:cs typeface="Microsoft YaHei"/>
              <a:sym typeface="Microsoft YaHei"/>
            </a:endParaRPr>
          </a:p>
        </p:txBody>
      </p:sp>
      <p:sp>
        <p:nvSpPr>
          <p:cNvPr id="687" name="Google Shape;687;p21"/>
          <p:cNvSpPr/>
          <p:nvPr/>
        </p:nvSpPr>
        <p:spPr>
          <a:xfrm>
            <a:off x="2319905" y="5222855"/>
            <a:ext cx="3180000" cy="180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8" name="Google Shape;688;p21"/>
          <p:cNvSpPr txBox="1"/>
          <p:nvPr/>
        </p:nvSpPr>
        <p:spPr>
          <a:xfrm>
            <a:off x="2319905" y="5342855"/>
            <a:ext cx="3180000" cy="650000"/>
          </a:xfrm>
          <a:prstGeom prst="rect">
            <a:avLst/>
          </a:prstGeom>
          <a:noFill/>
          <a:ln>
            <a:noFill/>
          </a:ln>
        </p:spPr>
        <p:txBody>
          <a:bodyPr anchorCtr="0" anchor="t" bIns="45700" lIns="91425" spcFirstLastPara="1" rIns="91425" wrap="square" tIns="45700">
            <a:spAutoFit/>
          </a:bodyPr>
          <a:lstStyle/>
          <a:p>
            <a:pPr indent="0" lvl="0" marL="0" marR="0" rtl="0" algn="l">
              <a:lnSpc>
                <a:spcPct val="180000"/>
              </a:lnSpc>
              <a:spcBef>
                <a:spcPts val="0"/>
              </a:spcBef>
              <a:spcAft>
                <a:spcPts val="0"/>
              </a:spcAft>
              <a:buNone/>
            </a:pPr>
            <a:r>
              <a:rPr b="0" lang="en-US" sz="1000">
                <a:solidFill>
                  <a:srgbClr val="333333"/>
                </a:solidFill>
                <a:latin typeface="Microsoft YaHei"/>
                <a:ea typeface="Microsoft YaHei"/>
                <a:cs typeface="Microsoft YaHei"/>
                <a:sym typeface="Microsoft YaHei"/>
              </a:rPr>
              <a:t>经验积累效应：使用越多，spec质量越高</a:t>
            </a:r>
            <a:br>
              <a:rPr b="0" lang="en-US" sz="1000">
                <a:solidFill>
                  <a:srgbClr val="333333"/>
                </a:solidFill>
                <a:latin typeface="Microsoft YaHei"/>
                <a:ea typeface="Microsoft YaHei"/>
                <a:cs typeface="Microsoft YaHei"/>
                <a:sym typeface="Microsoft YaHei"/>
              </a:rPr>
            </a:br>
            <a:r>
              <a:rPr b="0" lang="en-US" sz="1000">
                <a:solidFill>
                  <a:srgbClr val="333333"/>
                </a:solidFill>
                <a:latin typeface="Microsoft YaHei"/>
                <a:ea typeface="Microsoft YaHei"/>
                <a:cs typeface="Microsoft YaHei"/>
                <a:sym typeface="Microsoft YaHei"/>
              </a:rPr>
              <a:t>差异化路径：竞品目前均为 stateless</a:t>
            </a:r>
            <a:endParaRPr b="1" sz="1100">
              <a:solidFill>
                <a:srgbClr val="E86C00"/>
              </a:solidFill>
              <a:latin typeface="Microsoft YaHei"/>
              <a:ea typeface="Microsoft YaHei"/>
              <a:cs typeface="Microsoft YaHei"/>
              <a:sym typeface="Microsoft YaHei"/>
            </a:endParaRPr>
          </a:p>
        </p:txBody>
      </p:sp>
      <p:sp>
        <p:nvSpPr>
          <p:cNvPr id="689" name="Google Shape;689;p21"/>
          <p:cNvSpPr/>
          <p:nvPr/>
        </p:nvSpPr>
        <p:spPr>
          <a:xfrm>
            <a:off x="5949895" y="3719990"/>
            <a:ext cx="3500000" cy="2400000"/>
          </a:xfrm>
          <a:prstGeom prst="roundRect">
            <a:avLst>
              <a:gd fmla="val 16667" name="adj"/>
            </a:avLst>
          </a:prstGeom>
          <a:solidFill>
            <a:srgbClr val="E0F7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0" name="Google Shape;690;p21"/>
          <p:cNvSpPr/>
          <p:nvPr/>
        </p:nvSpPr>
        <p:spPr>
          <a:xfrm>
            <a:off x="5949895" y="3719990"/>
            <a:ext cx="3500000" cy="650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1" name="Google Shape;691;p21"/>
          <p:cNvSpPr/>
          <p:nvPr/>
        </p:nvSpPr>
        <p:spPr>
          <a:xfrm>
            <a:off x="6069895" y="3869990"/>
            <a:ext cx="360000" cy="360000"/>
          </a:xfrm>
          <a:prstGeom prst="roundRect">
            <a:avLst>
              <a:gd fmla="val 16667" name="adj"/>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2" name="Google Shape;692;p21"/>
          <p:cNvSpPr txBox="1"/>
          <p:nvPr/>
        </p:nvSpPr>
        <p:spPr>
          <a:xfrm>
            <a:off x="6069895" y="3889990"/>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4</a:t>
            </a:r>
            <a:endParaRPr b="1" sz="1800">
              <a:solidFill>
                <a:srgbClr val="FFFFFF"/>
              </a:solidFill>
              <a:latin typeface="Microsoft YaHei"/>
              <a:ea typeface="Microsoft YaHei"/>
              <a:cs typeface="Microsoft YaHei"/>
              <a:sym typeface="Microsoft YaHei"/>
            </a:endParaRPr>
          </a:p>
        </p:txBody>
      </p:sp>
      <p:sp>
        <p:nvSpPr>
          <p:cNvPr id="693" name="Google Shape;693;p21"/>
          <p:cNvSpPr txBox="1"/>
          <p:nvPr/>
        </p:nvSpPr>
        <p:spPr>
          <a:xfrm>
            <a:off x="6509895" y="3889990"/>
            <a:ext cx="2800000" cy="36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008B8B"/>
                </a:solidFill>
                <a:latin typeface="Microsoft YaHei"/>
                <a:ea typeface="Microsoft YaHei"/>
                <a:cs typeface="Microsoft YaHei"/>
                <a:sym typeface="Microsoft YaHei"/>
              </a:rPr>
              <a:t>Domain-Specific Packs</a:t>
            </a:r>
            <a:endParaRPr b="1" sz="1400">
              <a:solidFill>
                <a:srgbClr val="008B8B"/>
              </a:solidFill>
              <a:latin typeface="Microsoft YaHei"/>
              <a:ea typeface="Microsoft YaHei"/>
              <a:cs typeface="Microsoft YaHei"/>
              <a:sym typeface="Microsoft YaHei"/>
            </a:endParaRPr>
          </a:p>
        </p:txBody>
      </p:sp>
      <p:sp>
        <p:nvSpPr>
          <p:cNvPr id="694" name="Google Shape;694;p21"/>
          <p:cNvSpPr txBox="1"/>
          <p:nvPr/>
        </p:nvSpPr>
        <p:spPr>
          <a:xfrm>
            <a:off x="6109895" y="4339990"/>
            <a:ext cx="3180000" cy="553085"/>
          </a:xfrm>
          <a:prstGeom prst="rect">
            <a:avLst/>
          </a:prstGeom>
          <a:noFill/>
          <a:ln>
            <a:noFill/>
          </a:ln>
        </p:spPr>
        <p:txBody>
          <a:bodyPr anchorCtr="0" anchor="t" bIns="45700" lIns="91425" spcFirstLastPara="1" rIns="91425" wrap="square" tIns="45700">
            <a:spAutoFit/>
          </a:bodyPr>
          <a:lstStyle/>
          <a:p>
            <a:pPr indent="0" lvl="0" marL="0" marR="0" rtl="0" algn="l">
              <a:lnSpc>
                <a:spcPct val="163636"/>
              </a:lnSpc>
              <a:spcBef>
                <a:spcPts val="0"/>
              </a:spcBef>
              <a:spcAft>
                <a:spcPts val="0"/>
              </a:spcAft>
              <a:buNone/>
            </a:pPr>
            <a:r>
              <a:rPr b="0" lang="en-US" sz="1100">
                <a:solidFill>
                  <a:srgbClr val="333333"/>
                </a:solidFill>
                <a:latin typeface="Microsoft YaHei"/>
                <a:ea typeface="Microsoft YaHei"/>
                <a:cs typeface="Microsoft YaHei"/>
                <a:sym typeface="Microsoft YaHei"/>
              </a:rPr>
              <a:t>光/GTS/智能驾驶行业预配置</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行业规则 + spec 模板 + schema 约束 + 验证规则</a:t>
            </a:r>
            <a:endParaRPr b="0" sz="1100">
              <a:solidFill>
                <a:srgbClr val="333333"/>
              </a:solidFill>
              <a:latin typeface="Microsoft YaHei"/>
              <a:ea typeface="Microsoft YaHei"/>
              <a:cs typeface="Microsoft YaHei"/>
              <a:sym typeface="Microsoft YaHei"/>
            </a:endParaRPr>
          </a:p>
        </p:txBody>
      </p:sp>
      <p:sp>
        <p:nvSpPr>
          <p:cNvPr id="695" name="Google Shape;695;p21"/>
          <p:cNvSpPr/>
          <p:nvPr/>
        </p:nvSpPr>
        <p:spPr>
          <a:xfrm>
            <a:off x="6109895" y="5219990"/>
            <a:ext cx="3180000" cy="180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6" name="Google Shape;696;p21"/>
          <p:cNvSpPr txBox="1"/>
          <p:nvPr/>
        </p:nvSpPr>
        <p:spPr>
          <a:xfrm>
            <a:off x="6109895" y="5339990"/>
            <a:ext cx="3180000" cy="553085"/>
          </a:xfrm>
          <a:prstGeom prst="rect">
            <a:avLst/>
          </a:prstGeom>
          <a:noFill/>
          <a:ln>
            <a:noFill/>
          </a:ln>
        </p:spPr>
        <p:txBody>
          <a:bodyPr anchorCtr="0" anchor="t" bIns="45700" lIns="91425" spcFirstLastPara="1" rIns="91425" wrap="square" tIns="45700">
            <a:spAutoFit/>
          </a:bodyPr>
          <a:lstStyle/>
          <a:p>
            <a:pPr indent="0" lvl="0" marL="0" marR="0" rtl="0" algn="l">
              <a:lnSpc>
                <a:spcPct val="180000"/>
              </a:lnSpc>
              <a:spcBef>
                <a:spcPts val="0"/>
              </a:spcBef>
              <a:spcAft>
                <a:spcPts val="0"/>
              </a:spcAft>
              <a:buNone/>
            </a:pPr>
            <a:r>
              <a:rPr b="0" lang="en-US" sz="1000">
                <a:solidFill>
                  <a:srgbClr val="333333"/>
                </a:solidFill>
                <a:latin typeface="Microsoft YaHei"/>
                <a:ea typeface="Microsoft YaHei"/>
                <a:cs typeface="Microsoft YaHei"/>
                <a:sym typeface="Microsoft YaHei"/>
              </a:rPr>
              <a:t>华为业务域适配：光/GTS/智驾/昇腾/鸿蒙潜在都能生成domain specific Pack</a:t>
            </a:r>
            <a:endParaRPr b="1" sz="1100">
              <a:solidFill>
                <a:srgbClr val="008B8B"/>
              </a:solidFill>
              <a:latin typeface="Microsoft YaHei"/>
              <a:ea typeface="Microsoft YaHei"/>
              <a:cs typeface="Microsoft YaHei"/>
              <a:sym typeface="Microsoft YaHei"/>
            </a:endParaRPr>
          </a:p>
        </p:txBody>
      </p:sp>
      <p:sp>
        <p:nvSpPr>
          <p:cNvPr id="697" name="Google Shape;697;p21"/>
          <p:cNvSpPr txBox="1"/>
          <p:nvPr/>
        </p:nvSpPr>
        <p:spPr>
          <a:xfrm>
            <a:off x="1109441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000">
                <a:solidFill>
                  <a:srgbClr val="666666"/>
                </a:solidFill>
                <a:latin typeface="Microsoft YaHei"/>
                <a:ea typeface="Microsoft YaHei"/>
                <a:cs typeface="Microsoft YaHei"/>
                <a:sym typeface="Microsoft YaHei"/>
              </a:rPr>
              <a:t>19/41</a:t>
            </a:r>
            <a:endParaRPr b="0" sz="1000">
              <a:solidFill>
                <a:srgbClr val="666666"/>
              </a:solidFill>
              <a:latin typeface="Microsoft YaHei"/>
              <a:ea typeface="Microsoft YaHei"/>
              <a:cs typeface="Microsoft YaHei"/>
              <a:sym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1" name="Shape 701"/>
        <p:cNvGrpSpPr/>
        <p:nvPr/>
      </p:nvGrpSpPr>
      <p:grpSpPr>
        <a:xfrm>
          <a:off x="0" y="0"/>
          <a:ext cx="0" cy="0"/>
          <a:chOff x="0" y="0"/>
          <a:chExt cx="0" cy="0"/>
        </a:xfrm>
      </p:grpSpPr>
      <p:sp>
        <p:nvSpPr>
          <p:cNvPr id="702" name="Google Shape;702;p22"/>
          <p:cNvSpPr/>
          <p:nvPr/>
        </p:nvSpPr>
        <p:spPr>
          <a:xfrm>
            <a:off x="0" y="0"/>
            <a:ext cx="12191365" cy="54864"/>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03" name="Google Shape;703;p22"/>
          <p:cNvSpPr txBox="1"/>
          <p:nvPr/>
        </p:nvSpPr>
        <p:spPr>
          <a:xfrm>
            <a:off x="457200" y="228600"/>
            <a:ext cx="8229600" cy="4914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600">
                <a:solidFill>
                  <a:srgbClr val="333333"/>
                </a:solidFill>
                <a:latin typeface="Microsoft YaHei"/>
                <a:ea typeface="Microsoft YaHei"/>
                <a:cs typeface="Microsoft YaHei"/>
                <a:sym typeface="Microsoft YaHei"/>
              </a:rPr>
              <a:t>Openspec-HW2（或类似工具平台）潜在的研究方向</a:t>
            </a:r>
            <a:endParaRPr b="1" sz="2600">
              <a:solidFill>
                <a:srgbClr val="1A1A2E"/>
              </a:solidFill>
              <a:latin typeface="Microsoft YaHei"/>
              <a:ea typeface="Microsoft YaHei"/>
              <a:cs typeface="Microsoft YaHei"/>
              <a:sym typeface="Microsoft YaHei"/>
            </a:endParaRPr>
          </a:p>
        </p:txBody>
      </p:sp>
      <p:sp>
        <p:nvSpPr>
          <p:cNvPr id="704" name="Google Shape;704;p22"/>
          <p:cNvSpPr/>
          <p:nvPr/>
        </p:nvSpPr>
        <p:spPr>
          <a:xfrm>
            <a:off x="457200" y="667512"/>
            <a:ext cx="91440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05" name="Google Shape;705;p22"/>
          <p:cNvSpPr/>
          <p:nvPr/>
        </p:nvSpPr>
        <p:spPr>
          <a:xfrm>
            <a:off x="350000" y="1300000"/>
            <a:ext cx="2700000" cy="5100000"/>
          </a:xfrm>
          <a:prstGeom prst="roundRect">
            <a:avLst>
              <a:gd fmla="val 16667" name="adj"/>
            </a:avLst>
          </a:prstGeom>
          <a:solidFill>
            <a:srgbClr val="F0F5FF"/>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06" name="Google Shape;706;p22"/>
          <p:cNvSpPr/>
          <p:nvPr/>
        </p:nvSpPr>
        <p:spPr>
          <a:xfrm>
            <a:off x="350000" y="1300000"/>
            <a:ext cx="2700000" cy="550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07" name="Google Shape;707;p22"/>
          <p:cNvSpPr txBox="1"/>
          <p:nvPr/>
        </p:nvSpPr>
        <p:spPr>
          <a:xfrm>
            <a:off x="450215" y="1400175"/>
            <a:ext cx="2110105" cy="5530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0078D4"/>
                </a:solidFill>
                <a:latin typeface="Microsoft YaHei"/>
                <a:ea typeface="Microsoft YaHei"/>
                <a:cs typeface="Microsoft YaHei"/>
                <a:sym typeface="Microsoft YaHei"/>
              </a:rPr>
              <a:t>Multi-Perspective</a:t>
            </a:r>
            <a:br>
              <a:rPr b="1" lang="en-US" sz="1500">
                <a:solidFill>
                  <a:srgbClr val="0078D4"/>
                </a:solidFill>
                <a:latin typeface="Microsoft YaHei"/>
                <a:ea typeface="Microsoft YaHei"/>
                <a:cs typeface="Microsoft YaHei"/>
                <a:sym typeface="Microsoft YaHei"/>
              </a:rPr>
            </a:br>
            <a:r>
              <a:rPr b="1" lang="en-US" sz="1500">
                <a:solidFill>
                  <a:srgbClr val="0078D4"/>
                </a:solidFill>
                <a:latin typeface="Microsoft YaHei"/>
                <a:ea typeface="Microsoft YaHei"/>
                <a:cs typeface="Microsoft YaHei"/>
                <a:sym typeface="Microsoft YaHei"/>
              </a:rPr>
              <a:t>Spec Eval</a:t>
            </a:r>
            <a:endParaRPr b="1" sz="1500">
              <a:solidFill>
                <a:srgbClr val="0078D4"/>
              </a:solidFill>
              <a:latin typeface="Microsoft YaHei"/>
              <a:ea typeface="Microsoft YaHei"/>
              <a:cs typeface="Microsoft YaHei"/>
              <a:sym typeface="Microsoft YaHei"/>
            </a:endParaRPr>
          </a:p>
        </p:txBody>
      </p:sp>
      <p:sp>
        <p:nvSpPr>
          <p:cNvPr id="708" name="Google Shape;708;p22"/>
          <p:cNvSpPr/>
          <p:nvPr/>
        </p:nvSpPr>
        <p:spPr>
          <a:xfrm>
            <a:off x="410000" y="1900000"/>
            <a:ext cx="2580000" cy="1200000"/>
          </a:xfrm>
          <a:prstGeom prst="roundRect">
            <a:avLst>
              <a:gd fmla="val 16667" name="adj"/>
            </a:avLst>
          </a:prstGeom>
          <a:solidFill>
            <a:srgbClr val="FD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09" name="Google Shape;709;p22"/>
          <p:cNvSpPr txBox="1"/>
          <p:nvPr/>
        </p:nvSpPr>
        <p:spPr>
          <a:xfrm>
            <a:off x="470000" y="19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D13438"/>
                </a:solidFill>
                <a:latin typeface="Microsoft YaHei"/>
                <a:ea typeface="Microsoft YaHei"/>
                <a:cs typeface="Microsoft YaHei"/>
                <a:sym typeface="Microsoft YaHei"/>
              </a:rPr>
              <a:t>Problem</a:t>
            </a:r>
            <a:endParaRPr b="1" sz="1300">
              <a:solidFill>
                <a:srgbClr val="D13438"/>
              </a:solidFill>
              <a:latin typeface="Microsoft YaHei"/>
              <a:ea typeface="Microsoft YaHei"/>
              <a:cs typeface="Microsoft YaHei"/>
              <a:sym typeface="Microsoft YaHei"/>
            </a:endParaRPr>
          </a:p>
        </p:txBody>
      </p:sp>
      <p:sp>
        <p:nvSpPr>
          <p:cNvPr id="710" name="Google Shape;710;p22"/>
          <p:cNvSpPr txBox="1"/>
          <p:nvPr/>
        </p:nvSpPr>
        <p:spPr>
          <a:xfrm>
            <a:off x="469900" y="2150110"/>
            <a:ext cx="2555875" cy="9372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当前Spec检查依赖人工 </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并且单一 AI 检查 spec 只能发现已知问题</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缺乏创造性的多视角审查</a:t>
            </a:r>
            <a:br>
              <a:rPr b="0" lang="en-US" sz="1100">
                <a:solidFill>
                  <a:srgbClr val="333333"/>
                </a:solidFill>
                <a:latin typeface="Microsoft YaHei"/>
                <a:ea typeface="Microsoft YaHei"/>
                <a:cs typeface="Microsoft YaHei"/>
                <a:sym typeface="Microsoft YaHei"/>
              </a:rPr>
            </a:br>
            <a:endParaRPr b="0" sz="1100">
              <a:solidFill>
                <a:srgbClr val="333333"/>
              </a:solidFill>
              <a:latin typeface="Microsoft YaHei"/>
              <a:ea typeface="Microsoft YaHei"/>
              <a:cs typeface="Microsoft YaHei"/>
              <a:sym typeface="Microsoft YaHei"/>
            </a:endParaRPr>
          </a:p>
        </p:txBody>
      </p:sp>
      <p:sp>
        <p:nvSpPr>
          <p:cNvPr id="711" name="Google Shape;711;p22"/>
          <p:cNvSpPr/>
          <p:nvPr/>
        </p:nvSpPr>
        <p:spPr>
          <a:xfrm>
            <a:off x="410000" y="3200000"/>
            <a:ext cx="2580000" cy="1500000"/>
          </a:xfrm>
          <a:prstGeom prst="roundRect">
            <a:avLst>
              <a:gd fmla="val 16667" name="adj"/>
            </a:avLst>
          </a:prstGeom>
          <a:solidFill>
            <a:srgbClr val="F0F8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22"/>
          <p:cNvSpPr txBox="1"/>
          <p:nvPr/>
        </p:nvSpPr>
        <p:spPr>
          <a:xfrm>
            <a:off x="470000" y="32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Potential Solution</a:t>
            </a:r>
            <a:endParaRPr b="1" sz="1300">
              <a:solidFill>
                <a:srgbClr val="107C10"/>
              </a:solidFill>
              <a:latin typeface="Microsoft YaHei"/>
              <a:ea typeface="Microsoft YaHei"/>
              <a:cs typeface="Microsoft YaHei"/>
              <a:sym typeface="Microsoft YaHei"/>
            </a:endParaRPr>
          </a:p>
        </p:txBody>
      </p:sp>
      <p:sp>
        <p:nvSpPr>
          <p:cNvPr id="713" name="Google Shape;713;p22"/>
          <p:cNvSpPr txBox="1"/>
          <p:nvPr/>
        </p:nvSpPr>
        <p:spPr>
          <a:xfrm>
            <a:off x="450215" y="3449955"/>
            <a:ext cx="2794000" cy="1106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部署多视角专业化 Agent 测试团队：</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完整性审查员</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异常路径测试员</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 边界条件分析员</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 集成分析师</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a:t>
            </a:r>
            <a:endParaRPr b="0" sz="1100">
              <a:solidFill>
                <a:srgbClr val="333333"/>
              </a:solidFill>
              <a:latin typeface="Microsoft YaHei"/>
              <a:ea typeface="Microsoft YaHei"/>
              <a:cs typeface="Microsoft YaHei"/>
              <a:sym typeface="Microsoft YaHei"/>
            </a:endParaRPr>
          </a:p>
        </p:txBody>
      </p:sp>
      <p:sp>
        <p:nvSpPr>
          <p:cNvPr id="714" name="Google Shape;714;p22"/>
          <p:cNvSpPr/>
          <p:nvPr/>
        </p:nvSpPr>
        <p:spPr>
          <a:xfrm>
            <a:off x="410000" y="4800000"/>
            <a:ext cx="2580000" cy="1200000"/>
          </a:xfrm>
          <a:prstGeom prst="roundRect">
            <a:avLst>
              <a:gd fmla="val 16667" name="adj"/>
            </a:avLst>
          </a:prstGeom>
          <a:solidFill>
            <a:srgbClr val="F8F8F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5" name="Google Shape;715;p22"/>
          <p:cNvSpPr txBox="1"/>
          <p:nvPr/>
        </p:nvSpPr>
        <p:spPr>
          <a:xfrm>
            <a:off x="470000" y="48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78D4"/>
                </a:solidFill>
                <a:latin typeface="Microsoft YaHei"/>
                <a:ea typeface="Microsoft YaHei"/>
                <a:cs typeface="Microsoft YaHei"/>
                <a:sym typeface="Microsoft YaHei"/>
              </a:rPr>
              <a:t>Potential Value</a:t>
            </a:r>
            <a:endParaRPr b="1" sz="1300">
              <a:solidFill>
                <a:srgbClr val="0078D4"/>
              </a:solidFill>
              <a:latin typeface="Microsoft YaHei"/>
              <a:ea typeface="Microsoft YaHei"/>
              <a:cs typeface="Microsoft YaHei"/>
              <a:sym typeface="Microsoft YaHei"/>
            </a:endParaRPr>
          </a:p>
        </p:txBody>
      </p:sp>
      <p:sp>
        <p:nvSpPr>
          <p:cNvPr id="716" name="Google Shape;716;p22"/>
          <p:cNvSpPr txBox="1"/>
          <p:nvPr/>
        </p:nvSpPr>
        <p:spPr>
          <a:xfrm>
            <a:off x="470000" y="5050000"/>
            <a:ext cx="2460000" cy="768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进一步确保Spec的质量和完整性</a:t>
            </a:r>
            <a:endParaRPr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br>
              <a:rPr lang="en-US" sz="1100">
                <a:solidFill>
                  <a:srgbClr val="333333"/>
                </a:solidFill>
                <a:latin typeface="Microsoft YaHei"/>
                <a:ea typeface="Microsoft YaHei"/>
                <a:cs typeface="Microsoft YaHei"/>
                <a:sym typeface="Microsoft YaHei"/>
              </a:rPr>
            </a:br>
            <a:r>
              <a:rPr lang="en-US" sz="1100">
                <a:solidFill>
                  <a:srgbClr val="333333"/>
                </a:solidFill>
                <a:latin typeface="Microsoft YaHei"/>
                <a:ea typeface="Microsoft YaHei"/>
                <a:cs typeface="Microsoft YaHei"/>
                <a:sym typeface="Microsoft YaHei"/>
              </a:rPr>
              <a:t>验证多视角审查是否在SDD中存在有效性</a:t>
            </a:r>
            <a:endParaRPr sz="1100">
              <a:solidFill>
                <a:srgbClr val="333333"/>
              </a:solidFill>
              <a:latin typeface="Microsoft YaHei"/>
              <a:ea typeface="Microsoft YaHei"/>
              <a:cs typeface="Microsoft YaHei"/>
              <a:sym typeface="Microsoft YaHei"/>
            </a:endParaRPr>
          </a:p>
        </p:txBody>
      </p:sp>
      <p:sp>
        <p:nvSpPr>
          <p:cNvPr id="717" name="Google Shape;717;p22"/>
          <p:cNvSpPr/>
          <p:nvPr/>
        </p:nvSpPr>
        <p:spPr>
          <a:xfrm>
            <a:off x="8802704" y="1300000"/>
            <a:ext cx="2700000" cy="5100000"/>
          </a:xfrm>
          <a:prstGeom prst="roundRect">
            <a:avLst>
              <a:gd fmla="val 16667" name="adj"/>
            </a:avLst>
          </a:prstGeom>
          <a:solidFill>
            <a:srgbClr val="F0F8F8"/>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8" name="Google Shape;718;p22"/>
          <p:cNvSpPr/>
          <p:nvPr/>
        </p:nvSpPr>
        <p:spPr>
          <a:xfrm>
            <a:off x="8802704" y="1300000"/>
            <a:ext cx="2700000" cy="550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9" name="Google Shape;719;p22"/>
          <p:cNvSpPr txBox="1"/>
          <p:nvPr/>
        </p:nvSpPr>
        <p:spPr>
          <a:xfrm>
            <a:off x="8902954" y="1400175"/>
            <a:ext cx="1950085" cy="5530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008B8B"/>
                </a:solidFill>
                <a:latin typeface="Microsoft YaHei"/>
                <a:ea typeface="Microsoft YaHei"/>
                <a:cs typeface="Microsoft YaHei"/>
                <a:sym typeface="Microsoft YaHei"/>
              </a:rPr>
              <a:t>Domain-Specific Packs</a:t>
            </a:r>
            <a:endParaRPr b="1" sz="1500">
              <a:solidFill>
                <a:srgbClr val="008B8B"/>
              </a:solidFill>
              <a:latin typeface="Microsoft YaHei"/>
              <a:ea typeface="Microsoft YaHei"/>
              <a:cs typeface="Microsoft YaHei"/>
              <a:sym typeface="Microsoft YaHei"/>
            </a:endParaRPr>
          </a:p>
        </p:txBody>
      </p:sp>
      <p:sp>
        <p:nvSpPr>
          <p:cNvPr id="720" name="Google Shape;720;p22"/>
          <p:cNvSpPr/>
          <p:nvPr/>
        </p:nvSpPr>
        <p:spPr>
          <a:xfrm>
            <a:off x="8862704" y="1900000"/>
            <a:ext cx="2580000" cy="1200000"/>
          </a:xfrm>
          <a:prstGeom prst="roundRect">
            <a:avLst>
              <a:gd fmla="val 16667" name="adj"/>
            </a:avLst>
          </a:prstGeom>
          <a:solidFill>
            <a:srgbClr val="FD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1" name="Google Shape;721;p22"/>
          <p:cNvSpPr txBox="1"/>
          <p:nvPr/>
        </p:nvSpPr>
        <p:spPr>
          <a:xfrm>
            <a:off x="8922704" y="19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D13438"/>
                </a:solidFill>
                <a:latin typeface="Microsoft YaHei"/>
                <a:ea typeface="Microsoft YaHei"/>
                <a:cs typeface="Microsoft YaHei"/>
                <a:sym typeface="Microsoft YaHei"/>
              </a:rPr>
              <a:t>Problem</a:t>
            </a:r>
            <a:endParaRPr b="1" sz="1300">
              <a:solidFill>
                <a:srgbClr val="D13438"/>
              </a:solidFill>
              <a:latin typeface="Microsoft YaHei"/>
              <a:ea typeface="Microsoft YaHei"/>
              <a:cs typeface="Microsoft YaHei"/>
              <a:sym typeface="Microsoft YaHei"/>
            </a:endParaRPr>
          </a:p>
        </p:txBody>
      </p:sp>
      <p:sp>
        <p:nvSpPr>
          <p:cNvPr id="722" name="Google Shape;722;p22"/>
          <p:cNvSpPr txBox="1"/>
          <p:nvPr/>
        </p:nvSpPr>
        <p:spPr>
          <a:xfrm>
            <a:off x="8922704" y="2150000"/>
            <a:ext cx="2460000" cy="768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AI Agent</a:t>
            </a:r>
            <a:r>
              <a:rPr lang="en-US" sz="1100">
                <a:solidFill>
                  <a:srgbClr val="333333"/>
                </a:solidFill>
                <a:latin typeface="Microsoft YaHei"/>
                <a:ea typeface="Microsoft YaHei"/>
                <a:cs typeface="Microsoft YaHei"/>
                <a:sym typeface="Microsoft YaHei"/>
              </a:rPr>
              <a:t>不理解 类似于通讯的3GPP 等行业术语</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和合规要求，生成的 spec 缺乏行业深度</a:t>
            </a:r>
            <a:endParaRPr b="0" sz="1100">
              <a:solidFill>
                <a:srgbClr val="333333"/>
              </a:solidFill>
              <a:latin typeface="Microsoft YaHei"/>
              <a:ea typeface="Microsoft YaHei"/>
              <a:cs typeface="Microsoft YaHei"/>
              <a:sym typeface="Microsoft YaHei"/>
            </a:endParaRPr>
          </a:p>
        </p:txBody>
      </p:sp>
      <p:sp>
        <p:nvSpPr>
          <p:cNvPr id="723" name="Google Shape;723;p22"/>
          <p:cNvSpPr/>
          <p:nvPr/>
        </p:nvSpPr>
        <p:spPr>
          <a:xfrm>
            <a:off x="8862704" y="3200000"/>
            <a:ext cx="2580000" cy="1500000"/>
          </a:xfrm>
          <a:prstGeom prst="roundRect">
            <a:avLst>
              <a:gd fmla="val 16667" name="adj"/>
            </a:avLst>
          </a:prstGeom>
          <a:solidFill>
            <a:srgbClr val="F0F8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22"/>
          <p:cNvSpPr txBox="1"/>
          <p:nvPr/>
        </p:nvSpPr>
        <p:spPr>
          <a:xfrm>
            <a:off x="8922704" y="32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Potential Solution</a:t>
            </a:r>
            <a:endParaRPr b="1" sz="1300">
              <a:solidFill>
                <a:srgbClr val="107C10"/>
              </a:solidFill>
              <a:latin typeface="Microsoft YaHei"/>
              <a:ea typeface="Microsoft YaHei"/>
              <a:cs typeface="Microsoft YaHei"/>
              <a:sym typeface="Microsoft YaHei"/>
            </a:endParaRPr>
          </a:p>
        </p:txBody>
      </p:sp>
      <p:sp>
        <p:nvSpPr>
          <p:cNvPr id="725" name="Google Shape;725;p22"/>
          <p:cNvSpPr txBox="1"/>
          <p:nvPr/>
        </p:nvSpPr>
        <p:spPr>
          <a:xfrm>
            <a:off x="8922704" y="3450000"/>
            <a:ext cx="2460000" cy="120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将领域知识打包为 Domain Packs：</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行业规则（Rules）+ spec 模板</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Schema 约束 + 验证规则（Validators）</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AI 生成 spec 时自动引用行业知识</a:t>
            </a:r>
            <a:endParaRPr b="0" sz="1100">
              <a:solidFill>
                <a:srgbClr val="333333"/>
              </a:solidFill>
              <a:latin typeface="Microsoft YaHei"/>
              <a:ea typeface="Microsoft YaHei"/>
              <a:cs typeface="Microsoft YaHei"/>
              <a:sym typeface="Microsoft YaHei"/>
            </a:endParaRPr>
          </a:p>
        </p:txBody>
      </p:sp>
      <p:sp>
        <p:nvSpPr>
          <p:cNvPr id="726" name="Google Shape;726;p22"/>
          <p:cNvSpPr/>
          <p:nvPr/>
        </p:nvSpPr>
        <p:spPr>
          <a:xfrm>
            <a:off x="8862704" y="4800000"/>
            <a:ext cx="2580000" cy="1200000"/>
          </a:xfrm>
          <a:prstGeom prst="roundRect">
            <a:avLst>
              <a:gd fmla="val 16667" name="adj"/>
            </a:avLst>
          </a:prstGeom>
          <a:solidFill>
            <a:srgbClr val="F8F8F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22"/>
          <p:cNvSpPr txBox="1"/>
          <p:nvPr/>
        </p:nvSpPr>
        <p:spPr>
          <a:xfrm>
            <a:off x="8922704" y="48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8B8B"/>
                </a:solidFill>
                <a:latin typeface="Microsoft YaHei"/>
                <a:ea typeface="Microsoft YaHei"/>
                <a:cs typeface="Microsoft YaHei"/>
                <a:sym typeface="Microsoft YaHei"/>
              </a:rPr>
              <a:t>Business Value</a:t>
            </a:r>
            <a:endParaRPr b="1" sz="1300">
              <a:solidFill>
                <a:srgbClr val="008B8B"/>
              </a:solidFill>
              <a:latin typeface="Microsoft YaHei"/>
              <a:ea typeface="Microsoft YaHei"/>
              <a:cs typeface="Microsoft YaHei"/>
              <a:sym typeface="Microsoft YaHei"/>
            </a:endParaRPr>
          </a:p>
        </p:txBody>
      </p:sp>
      <p:sp>
        <p:nvSpPr>
          <p:cNvPr id="728" name="Google Shape;728;p22"/>
          <p:cNvSpPr txBox="1"/>
          <p:nvPr/>
        </p:nvSpPr>
        <p:spPr>
          <a:xfrm>
            <a:off x="8922704" y="5050000"/>
            <a:ext cx="2460000" cy="768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华为业务域的行业知识构成差异化壁垒</a:t>
            </a:r>
            <a:br>
              <a:rPr lang="en-US" sz="1100">
                <a:solidFill>
                  <a:srgbClr val="333333"/>
                </a:solidFill>
                <a:latin typeface="Microsoft YaHei"/>
                <a:ea typeface="Microsoft YaHei"/>
                <a:cs typeface="Microsoft YaHei"/>
                <a:sym typeface="Microsoft YaHei"/>
              </a:rPr>
            </a:br>
            <a:r>
              <a:rPr lang="en-US" sz="1100">
                <a:solidFill>
                  <a:srgbClr val="333333"/>
                </a:solidFill>
                <a:latin typeface="Microsoft YaHei"/>
                <a:ea typeface="Microsoft YaHei"/>
                <a:cs typeface="Microsoft YaHei"/>
                <a:sym typeface="Microsoft YaHei"/>
              </a:rPr>
              <a:t>3GPP/ISO 26262 等合规需求驱动</a:t>
            </a:r>
            <a:br>
              <a:rPr lang="en-US" sz="1100">
                <a:solidFill>
                  <a:srgbClr val="333333"/>
                </a:solidFill>
                <a:latin typeface="Microsoft YaHei"/>
                <a:ea typeface="Microsoft YaHei"/>
                <a:cs typeface="Microsoft YaHei"/>
                <a:sym typeface="Microsoft YaHei"/>
              </a:rPr>
            </a:br>
            <a:r>
              <a:rPr lang="en-US" sz="1100">
                <a:solidFill>
                  <a:srgbClr val="333333"/>
                </a:solidFill>
                <a:latin typeface="Microsoft YaHei"/>
                <a:ea typeface="Microsoft YaHei"/>
                <a:cs typeface="Microsoft YaHei"/>
                <a:sym typeface="Microsoft YaHei"/>
              </a:rPr>
              <a:t>行业积累可结构化封装为 Pack</a:t>
            </a:r>
            <a:endParaRPr b="1" sz="1100">
              <a:solidFill>
                <a:srgbClr val="008B8B"/>
              </a:solidFill>
              <a:latin typeface="Microsoft YaHei"/>
              <a:ea typeface="Microsoft YaHei"/>
              <a:cs typeface="Microsoft YaHei"/>
              <a:sym typeface="Microsoft YaHei"/>
            </a:endParaRPr>
          </a:p>
        </p:txBody>
      </p:sp>
      <p:sp>
        <p:nvSpPr>
          <p:cNvPr id="729" name="Google Shape;729;p22"/>
          <p:cNvSpPr/>
          <p:nvPr/>
        </p:nvSpPr>
        <p:spPr>
          <a:xfrm>
            <a:off x="5990000" y="1300000"/>
            <a:ext cx="2700000" cy="5100000"/>
          </a:xfrm>
          <a:prstGeom prst="roundRect">
            <a:avLst>
              <a:gd fmla="val 16667" name="adj"/>
            </a:avLst>
          </a:prstGeom>
          <a:solidFill>
            <a:srgbClr val="FFF5E6"/>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0" name="Google Shape;730;p22"/>
          <p:cNvSpPr/>
          <p:nvPr/>
        </p:nvSpPr>
        <p:spPr>
          <a:xfrm>
            <a:off x="5990000" y="1300000"/>
            <a:ext cx="2700000" cy="550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22"/>
          <p:cNvSpPr txBox="1"/>
          <p:nvPr/>
        </p:nvSpPr>
        <p:spPr>
          <a:xfrm>
            <a:off x="6090285" y="1400175"/>
            <a:ext cx="2030095" cy="5530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E86C00"/>
                </a:solidFill>
                <a:latin typeface="Microsoft YaHei"/>
                <a:ea typeface="Microsoft YaHei"/>
                <a:cs typeface="Microsoft YaHei"/>
                <a:sym typeface="Microsoft YaHei"/>
              </a:rPr>
              <a:t>Self-Evolving</a:t>
            </a:r>
            <a:br>
              <a:rPr b="1" lang="en-US" sz="1500">
                <a:solidFill>
                  <a:srgbClr val="E86C00"/>
                </a:solidFill>
                <a:latin typeface="Microsoft YaHei"/>
                <a:ea typeface="Microsoft YaHei"/>
                <a:cs typeface="Microsoft YaHei"/>
                <a:sym typeface="Microsoft YaHei"/>
              </a:rPr>
            </a:br>
            <a:r>
              <a:rPr b="1" lang="en-US" sz="1500">
                <a:solidFill>
                  <a:srgbClr val="E86C00"/>
                </a:solidFill>
                <a:latin typeface="Microsoft YaHei"/>
                <a:ea typeface="Microsoft YaHei"/>
                <a:cs typeface="Microsoft YaHei"/>
                <a:sym typeface="Microsoft YaHei"/>
              </a:rPr>
              <a:t>Spec Agents</a:t>
            </a:r>
            <a:endParaRPr b="1" sz="1500">
              <a:solidFill>
                <a:srgbClr val="E86C00"/>
              </a:solidFill>
              <a:latin typeface="Microsoft YaHei"/>
              <a:ea typeface="Microsoft YaHei"/>
              <a:cs typeface="Microsoft YaHei"/>
              <a:sym typeface="Microsoft YaHei"/>
            </a:endParaRPr>
          </a:p>
        </p:txBody>
      </p:sp>
      <p:sp>
        <p:nvSpPr>
          <p:cNvPr id="732" name="Google Shape;732;p22"/>
          <p:cNvSpPr/>
          <p:nvPr/>
        </p:nvSpPr>
        <p:spPr>
          <a:xfrm>
            <a:off x="6050000" y="1900000"/>
            <a:ext cx="2580000" cy="1200000"/>
          </a:xfrm>
          <a:prstGeom prst="roundRect">
            <a:avLst>
              <a:gd fmla="val 16667" name="adj"/>
            </a:avLst>
          </a:prstGeom>
          <a:solidFill>
            <a:srgbClr val="FD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22"/>
          <p:cNvSpPr txBox="1"/>
          <p:nvPr/>
        </p:nvSpPr>
        <p:spPr>
          <a:xfrm>
            <a:off x="6110000" y="19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D13438"/>
                </a:solidFill>
                <a:latin typeface="Microsoft YaHei"/>
                <a:ea typeface="Microsoft YaHei"/>
                <a:cs typeface="Microsoft YaHei"/>
                <a:sym typeface="Microsoft YaHei"/>
              </a:rPr>
              <a:t>Problem</a:t>
            </a:r>
            <a:endParaRPr b="1" sz="1300">
              <a:solidFill>
                <a:srgbClr val="D13438"/>
              </a:solidFill>
              <a:latin typeface="Microsoft YaHei"/>
              <a:ea typeface="Microsoft YaHei"/>
              <a:cs typeface="Microsoft YaHei"/>
              <a:sym typeface="Microsoft YaHei"/>
            </a:endParaRPr>
          </a:p>
        </p:txBody>
      </p:sp>
      <p:sp>
        <p:nvSpPr>
          <p:cNvPr id="734" name="Google Shape;734;p22"/>
          <p:cNvSpPr txBox="1"/>
          <p:nvPr/>
        </p:nvSpPr>
        <p:spPr>
          <a:xfrm>
            <a:off x="6110000" y="2150000"/>
            <a:ext cx="2460000" cy="90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AI Agent 每次都从零开始，无记忆</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同类项目反复犯相同错误</a:t>
            </a:r>
            <a:endParaRPr b="0" sz="11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Spec 质量不随使用量提升，无积累效应</a:t>
            </a:r>
            <a:endParaRPr b="0" sz="1100">
              <a:solidFill>
                <a:srgbClr val="333333"/>
              </a:solidFill>
              <a:latin typeface="Calibri"/>
              <a:ea typeface="Calibri"/>
              <a:cs typeface="Calibri"/>
              <a:sym typeface="Calibri"/>
            </a:endParaRPr>
          </a:p>
        </p:txBody>
      </p:sp>
      <p:sp>
        <p:nvSpPr>
          <p:cNvPr id="735" name="Google Shape;735;p22"/>
          <p:cNvSpPr/>
          <p:nvPr/>
        </p:nvSpPr>
        <p:spPr>
          <a:xfrm>
            <a:off x="6050000" y="3200000"/>
            <a:ext cx="2580000" cy="1500000"/>
          </a:xfrm>
          <a:prstGeom prst="roundRect">
            <a:avLst>
              <a:gd fmla="val 16667" name="adj"/>
            </a:avLst>
          </a:prstGeom>
          <a:solidFill>
            <a:srgbClr val="F0F8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6" name="Google Shape;736;p22"/>
          <p:cNvSpPr txBox="1"/>
          <p:nvPr/>
        </p:nvSpPr>
        <p:spPr>
          <a:xfrm>
            <a:off x="6110000" y="32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Potential Solution</a:t>
            </a:r>
            <a:endParaRPr b="1" sz="1300">
              <a:solidFill>
                <a:srgbClr val="107C10"/>
              </a:solidFill>
              <a:latin typeface="Microsoft YaHei"/>
              <a:ea typeface="Microsoft YaHei"/>
              <a:cs typeface="Microsoft YaHei"/>
              <a:sym typeface="Microsoft YaHei"/>
            </a:endParaRPr>
          </a:p>
        </p:txBody>
      </p:sp>
      <p:sp>
        <p:nvSpPr>
          <p:cNvPr id="737" name="Google Shape;737;p22"/>
          <p:cNvSpPr txBox="1"/>
          <p:nvPr/>
        </p:nvSpPr>
        <p:spPr>
          <a:xfrm>
            <a:off x="6110000" y="3450000"/>
            <a:ext cx="2460000" cy="120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每次 Apply→Verify 循环自动提炼经验：</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 记录哪些 spec 写法→高质量实现</a:t>
            </a:r>
            <a:endParaRPr b="0" sz="11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 蒸馏“Spec 最佳实践原则”</a:t>
            </a:r>
            <a:endParaRPr b="0" sz="1100">
              <a:solidFill>
                <a:srgbClr val="333333"/>
              </a:solidFill>
              <a:latin typeface="Calibri"/>
              <a:ea typeface="Calibri"/>
              <a:cs typeface="Calibri"/>
              <a:sym typeface="Calibri"/>
            </a:endParaRPr>
          </a:p>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 下次创建 spec 时自动注入原则</a:t>
            </a:r>
            <a:endParaRPr b="0" sz="1100">
              <a:solidFill>
                <a:srgbClr val="333333"/>
              </a:solidFill>
              <a:latin typeface="Calibri"/>
              <a:ea typeface="Calibri"/>
              <a:cs typeface="Calibri"/>
              <a:sym typeface="Calibri"/>
            </a:endParaRPr>
          </a:p>
        </p:txBody>
      </p:sp>
      <p:sp>
        <p:nvSpPr>
          <p:cNvPr id="738" name="Google Shape;738;p22"/>
          <p:cNvSpPr/>
          <p:nvPr/>
        </p:nvSpPr>
        <p:spPr>
          <a:xfrm>
            <a:off x="6050000" y="4800000"/>
            <a:ext cx="2580000" cy="1200000"/>
          </a:xfrm>
          <a:prstGeom prst="roundRect">
            <a:avLst>
              <a:gd fmla="val 16667" name="adj"/>
            </a:avLst>
          </a:prstGeom>
          <a:solidFill>
            <a:srgbClr val="F8F8F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9" name="Google Shape;739;p22"/>
          <p:cNvSpPr txBox="1"/>
          <p:nvPr/>
        </p:nvSpPr>
        <p:spPr>
          <a:xfrm>
            <a:off x="6110000" y="48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E86C00"/>
                </a:solidFill>
                <a:latin typeface="Microsoft YaHei"/>
                <a:ea typeface="Microsoft YaHei"/>
                <a:cs typeface="Microsoft YaHei"/>
                <a:sym typeface="Microsoft YaHei"/>
              </a:rPr>
              <a:t>Business Value</a:t>
            </a:r>
            <a:endParaRPr b="1" sz="1300">
              <a:solidFill>
                <a:srgbClr val="E86C00"/>
              </a:solidFill>
              <a:latin typeface="Microsoft YaHei"/>
              <a:ea typeface="Microsoft YaHei"/>
              <a:cs typeface="Microsoft YaHei"/>
              <a:sym typeface="Microsoft YaHei"/>
            </a:endParaRPr>
          </a:p>
        </p:txBody>
      </p:sp>
      <p:sp>
        <p:nvSpPr>
          <p:cNvPr id="740" name="Google Shape;740;p22"/>
          <p:cNvSpPr txBox="1"/>
          <p:nvPr/>
        </p:nvSpPr>
        <p:spPr>
          <a:xfrm>
            <a:off x="6110000" y="5050000"/>
            <a:ext cx="2460000" cy="768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经验积累：使用越多，spec质量越高</a:t>
            </a:r>
            <a:endParaRPr b="1" sz="1100">
              <a:solidFill>
                <a:srgbClr val="E86C00"/>
              </a:solidFill>
              <a:latin typeface="Microsoft YaHei"/>
              <a:ea typeface="Microsoft YaHei"/>
              <a:cs typeface="Microsoft YaHei"/>
              <a:sym typeface="Microsoft YaHei"/>
            </a:endParaRPr>
          </a:p>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经验沉淀为组织知识资产</a:t>
            </a:r>
            <a:endParaRPr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b="1" sz="1100">
              <a:solidFill>
                <a:srgbClr val="E86C00"/>
              </a:solidFill>
              <a:latin typeface="Calibri"/>
              <a:ea typeface="Calibri"/>
              <a:cs typeface="Calibri"/>
              <a:sym typeface="Calibri"/>
            </a:endParaRPr>
          </a:p>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有望提升后续 spec 的首次通过率</a:t>
            </a:r>
            <a:endParaRPr b="1" sz="1100">
              <a:solidFill>
                <a:srgbClr val="E86C00"/>
              </a:solidFill>
              <a:latin typeface="Calibri"/>
              <a:ea typeface="Calibri"/>
              <a:cs typeface="Calibri"/>
              <a:sym typeface="Calibri"/>
            </a:endParaRPr>
          </a:p>
        </p:txBody>
      </p:sp>
      <p:sp>
        <p:nvSpPr>
          <p:cNvPr id="741" name="Google Shape;741;p22"/>
          <p:cNvSpPr/>
          <p:nvPr/>
        </p:nvSpPr>
        <p:spPr>
          <a:xfrm>
            <a:off x="3177296" y="1300000"/>
            <a:ext cx="2700000" cy="5100000"/>
          </a:xfrm>
          <a:prstGeom prst="roundRect">
            <a:avLst>
              <a:gd fmla="val 16667" name="adj"/>
            </a:avLst>
          </a:prstGeom>
          <a:solidFill>
            <a:srgbClr val="F0F8F0"/>
          </a:solidFill>
          <a:ln cap="flat" cmpd="sng" w="19050">
            <a:solidFill>
              <a:srgbClr val="DDDDD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2" name="Google Shape;742;p22"/>
          <p:cNvSpPr/>
          <p:nvPr/>
        </p:nvSpPr>
        <p:spPr>
          <a:xfrm>
            <a:off x="3177296" y="1300000"/>
            <a:ext cx="2700000" cy="550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3" name="Google Shape;743;p22"/>
          <p:cNvSpPr txBox="1"/>
          <p:nvPr/>
        </p:nvSpPr>
        <p:spPr>
          <a:xfrm>
            <a:off x="3276981" y="1400175"/>
            <a:ext cx="2152650" cy="5530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107C10"/>
                </a:solidFill>
                <a:latin typeface="Microsoft YaHei"/>
                <a:ea typeface="Microsoft YaHei"/>
                <a:cs typeface="Microsoft YaHei"/>
                <a:sym typeface="Microsoft YaHei"/>
              </a:rPr>
              <a:t>Spec-as-Runtime</a:t>
            </a:r>
            <a:br>
              <a:rPr b="1" lang="en-US" sz="1500">
                <a:solidFill>
                  <a:srgbClr val="107C10"/>
                </a:solidFill>
                <a:latin typeface="Microsoft YaHei"/>
                <a:ea typeface="Microsoft YaHei"/>
                <a:cs typeface="Microsoft YaHei"/>
                <a:sym typeface="Microsoft YaHei"/>
              </a:rPr>
            </a:br>
            <a:r>
              <a:rPr b="1" lang="en-US" sz="1500">
                <a:solidFill>
                  <a:srgbClr val="107C10"/>
                </a:solidFill>
                <a:latin typeface="Microsoft YaHei"/>
                <a:ea typeface="Microsoft YaHei"/>
                <a:cs typeface="Microsoft YaHei"/>
                <a:sym typeface="Microsoft YaHei"/>
              </a:rPr>
              <a:t>Guardrail</a:t>
            </a:r>
            <a:endParaRPr b="1" sz="1500">
              <a:solidFill>
                <a:srgbClr val="107C10"/>
              </a:solidFill>
              <a:latin typeface="Microsoft YaHei"/>
              <a:ea typeface="Microsoft YaHei"/>
              <a:cs typeface="Microsoft YaHei"/>
              <a:sym typeface="Microsoft YaHei"/>
            </a:endParaRPr>
          </a:p>
        </p:txBody>
      </p:sp>
      <p:sp>
        <p:nvSpPr>
          <p:cNvPr id="744" name="Google Shape;744;p22"/>
          <p:cNvSpPr/>
          <p:nvPr/>
        </p:nvSpPr>
        <p:spPr>
          <a:xfrm>
            <a:off x="3237296" y="1900000"/>
            <a:ext cx="2580000" cy="1200000"/>
          </a:xfrm>
          <a:prstGeom prst="roundRect">
            <a:avLst>
              <a:gd fmla="val 16667" name="adj"/>
            </a:avLst>
          </a:prstGeom>
          <a:solidFill>
            <a:srgbClr val="FDF0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22"/>
          <p:cNvSpPr txBox="1"/>
          <p:nvPr/>
        </p:nvSpPr>
        <p:spPr>
          <a:xfrm>
            <a:off x="3297296" y="1900000"/>
            <a:ext cx="2460000" cy="23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D13438"/>
                </a:solidFill>
                <a:latin typeface="Microsoft YaHei"/>
                <a:ea typeface="Microsoft YaHei"/>
                <a:cs typeface="Microsoft YaHei"/>
                <a:sym typeface="Microsoft YaHei"/>
              </a:rPr>
              <a:t>Problem</a:t>
            </a:r>
            <a:endParaRPr b="1" sz="1300">
              <a:solidFill>
                <a:srgbClr val="D13438"/>
              </a:solidFill>
              <a:latin typeface="Microsoft YaHei"/>
              <a:ea typeface="Microsoft YaHei"/>
              <a:cs typeface="Microsoft YaHei"/>
              <a:sym typeface="Microsoft YaHei"/>
            </a:endParaRPr>
          </a:p>
        </p:txBody>
      </p:sp>
      <p:sp>
        <p:nvSpPr>
          <p:cNvPr id="746" name="Google Shape;746;p22"/>
          <p:cNvSpPr txBox="1"/>
          <p:nvPr/>
        </p:nvSpPr>
        <p:spPr>
          <a:xfrm>
            <a:off x="3297296" y="2150000"/>
            <a:ext cx="2460000" cy="5988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Apply 阶段 AI 可能潜在的偏离 spec，如果没有</a:t>
            </a:r>
            <a:endParaRPr b="0" sz="11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lang="en-US" sz="1100">
                <a:solidFill>
                  <a:srgbClr val="333333"/>
                </a:solidFill>
                <a:latin typeface="Microsoft YaHei"/>
                <a:ea typeface="Microsoft YaHei"/>
                <a:cs typeface="Microsoft YaHei"/>
                <a:sym typeface="Microsoft YaHei"/>
              </a:rPr>
              <a:t>强制约束机制，违规无法自动拦截</a:t>
            </a:r>
            <a:endParaRPr b="0" sz="1100">
              <a:solidFill>
                <a:srgbClr val="333333"/>
              </a:solidFill>
              <a:latin typeface="Microsoft YaHei"/>
              <a:ea typeface="Microsoft YaHei"/>
              <a:cs typeface="Microsoft YaHei"/>
              <a:sym typeface="Microsoft YaHei"/>
            </a:endParaRPr>
          </a:p>
        </p:txBody>
      </p:sp>
      <p:sp>
        <p:nvSpPr>
          <p:cNvPr id="747" name="Google Shape;747;p22"/>
          <p:cNvSpPr/>
          <p:nvPr/>
        </p:nvSpPr>
        <p:spPr>
          <a:xfrm>
            <a:off x="3237296" y="3200000"/>
            <a:ext cx="2580000" cy="1500000"/>
          </a:xfrm>
          <a:prstGeom prst="roundRect">
            <a:avLst>
              <a:gd fmla="val 16667" name="adj"/>
            </a:avLst>
          </a:prstGeom>
          <a:solidFill>
            <a:srgbClr val="F0F8F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8" name="Google Shape;748;p22"/>
          <p:cNvSpPr txBox="1"/>
          <p:nvPr/>
        </p:nvSpPr>
        <p:spPr>
          <a:xfrm>
            <a:off x="3297296" y="32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Potential Solution</a:t>
            </a:r>
            <a:endParaRPr b="1" sz="1300">
              <a:solidFill>
                <a:srgbClr val="107C10"/>
              </a:solidFill>
              <a:latin typeface="Microsoft YaHei"/>
              <a:ea typeface="Microsoft YaHei"/>
              <a:cs typeface="Microsoft YaHei"/>
              <a:sym typeface="Microsoft YaHei"/>
            </a:endParaRPr>
          </a:p>
        </p:txBody>
      </p:sp>
      <p:sp>
        <p:nvSpPr>
          <p:cNvPr id="749" name="Google Shape;749;p22"/>
          <p:cNvSpPr txBox="1"/>
          <p:nvPr/>
        </p:nvSpPr>
        <p:spPr>
          <a:xfrm>
            <a:off x="3297296" y="3450000"/>
            <a:ext cx="2460000" cy="120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100">
                <a:solidFill>
                  <a:srgbClr val="333333"/>
                </a:solidFill>
                <a:latin typeface="Microsoft YaHei"/>
                <a:ea typeface="Microsoft YaHei"/>
                <a:cs typeface="Microsoft YaHei"/>
                <a:sym typeface="Microsoft YaHei"/>
              </a:rPr>
              <a:t>Spec → 可执行约束编译器：</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AI 写代码时实时监控合规</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违规代码落盘前拦截</a:t>
            </a:r>
            <a:br>
              <a:rPr b="0" lang="en-US" sz="1100">
                <a:solidFill>
                  <a:srgbClr val="333333"/>
                </a:solidFill>
                <a:latin typeface="Microsoft YaHei"/>
                <a:ea typeface="Microsoft YaHei"/>
                <a:cs typeface="Microsoft YaHei"/>
                <a:sym typeface="Microsoft YaHei"/>
              </a:rPr>
            </a:br>
            <a:r>
              <a:rPr b="0" lang="en-US" sz="1100">
                <a:solidFill>
                  <a:srgbClr val="333333"/>
                </a:solidFill>
                <a:latin typeface="Microsoft YaHei"/>
                <a:ea typeface="Microsoft YaHei"/>
                <a:cs typeface="Microsoft YaHei"/>
                <a:sym typeface="Microsoft YaHei"/>
              </a:rPr>
              <a:t>• 自动生成 property-based tests</a:t>
            </a:r>
            <a:endParaRPr b="0" sz="1100">
              <a:solidFill>
                <a:srgbClr val="333333"/>
              </a:solidFill>
              <a:latin typeface="Microsoft YaHei"/>
              <a:ea typeface="Microsoft YaHei"/>
              <a:cs typeface="Microsoft YaHei"/>
              <a:sym typeface="Microsoft YaHei"/>
            </a:endParaRPr>
          </a:p>
        </p:txBody>
      </p:sp>
      <p:sp>
        <p:nvSpPr>
          <p:cNvPr id="750" name="Google Shape;750;p22"/>
          <p:cNvSpPr/>
          <p:nvPr/>
        </p:nvSpPr>
        <p:spPr>
          <a:xfrm>
            <a:off x="3237296" y="4800000"/>
            <a:ext cx="2580000" cy="1200000"/>
          </a:xfrm>
          <a:prstGeom prst="roundRect">
            <a:avLst>
              <a:gd fmla="val 16667" name="adj"/>
            </a:avLst>
          </a:prstGeom>
          <a:solidFill>
            <a:srgbClr val="F8F8F8"/>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1" name="Google Shape;751;p22"/>
          <p:cNvSpPr txBox="1"/>
          <p:nvPr/>
        </p:nvSpPr>
        <p:spPr>
          <a:xfrm>
            <a:off x="3297296" y="4800000"/>
            <a:ext cx="2460000" cy="2914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Microsoft YaHei"/>
                <a:ea typeface="Microsoft YaHei"/>
                <a:cs typeface="Microsoft YaHei"/>
                <a:sym typeface="Microsoft YaHei"/>
              </a:rPr>
              <a:t>Potential Value</a:t>
            </a:r>
            <a:endParaRPr b="1" sz="1300">
              <a:solidFill>
                <a:srgbClr val="107C10"/>
              </a:solidFill>
              <a:latin typeface="Microsoft YaHei"/>
              <a:ea typeface="Microsoft YaHei"/>
              <a:cs typeface="Microsoft YaHei"/>
              <a:sym typeface="Microsoft YaHei"/>
            </a:endParaRPr>
          </a:p>
        </p:txBody>
      </p:sp>
      <p:sp>
        <p:nvSpPr>
          <p:cNvPr id="752" name="Google Shape;752;p22"/>
          <p:cNvSpPr txBox="1"/>
          <p:nvPr/>
        </p:nvSpPr>
        <p:spPr>
          <a:xfrm>
            <a:off x="3297296" y="5050000"/>
            <a:ext cx="2460000" cy="9372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chemeClr val="dk1"/>
                </a:solidFill>
                <a:latin typeface="Microsoft YaHei"/>
                <a:ea typeface="Microsoft YaHei"/>
                <a:cs typeface="Microsoft YaHei"/>
                <a:sym typeface="Microsoft YaHei"/>
              </a:rPr>
              <a:t>范式创新：Design by Contract </a:t>
            </a:r>
            <a:br>
              <a:rPr lang="en-US" sz="1100">
                <a:solidFill>
                  <a:schemeClr val="dk1"/>
                </a:solidFill>
                <a:latin typeface="Microsoft YaHei"/>
                <a:ea typeface="Microsoft YaHei"/>
                <a:cs typeface="Microsoft YaHei"/>
                <a:sym typeface="Microsoft YaHei"/>
              </a:rPr>
            </a:br>
            <a:r>
              <a:rPr lang="en-US" sz="1100">
                <a:solidFill>
                  <a:schemeClr val="dk1"/>
                </a:solidFill>
                <a:latin typeface="Microsoft YaHei"/>
                <a:ea typeface="Microsoft YaHei"/>
                <a:cs typeface="Microsoft YaHei"/>
                <a:sym typeface="Microsoft YaHei"/>
              </a:rPr>
              <a:t>在电信/汽车/能源等安全关键行业</a:t>
            </a:r>
            <a:br>
              <a:rPr lang="en-US" sz="1100">
                <a:solidFill>
                  <a:schemeClr val="dk1"/>
                </a:solidFill>
                <a:latin typeface="Microsoft YaHei"/>
                <a:ea typeface="Microsoft YaHei"/>
                <a:cs typeface="Microsoft YaHei"/>
                <a:sym typeface="Microsoft YaHei"/>
              </a:rPr>
            </a:br>
            <a:r>
              <a:rPr lang="en-US" sz="1100">
                <a:solidFill>
                  <a:schemeClr val="dk1"/>
                </a:solidFill>
                <a:latin typeface="Microsoft YaHei"/>
                <a:ea typeface="Microsoft YaHei"/>
                <a:cs typeface="Microsoft YaHei"/>
                <a:sym typeface="Microsoft YaHei"/>
              </a:rPr>
              <a:t>预防 &gt; 追溯，使得Agentic Coding不光是可追溯性上升，安全性也同样受到重视</a:t>
            </a:r>
            <a:endParaRPr sz="1100">
              <a:solidFill>
                <a:schemeClr val="dk1"/>
              </a:solidFill>
              <a:latin typeface="Microsoft YaHei"/>
              <a:ea typeface="Microsoft YaHei"/>
              <a:cs typeface="Microsoft YaHei"/>
              <a:sym typeface="Microsoft YaHei"/>
            </a:endParaRPr>
          </a:p>
        </p:txBody>
      </p:sp>
      <p:sp>
        <p:nvSpPr>
          <p:cNvPr id="753" name="Google Shape;753;p22"/>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000">
                <a:solidFill>
                  <a:srgbClr val="999999"/>
                </a:solidFill>
                <a:latin typeface="Microsoft YaHei"/>
                <a:ea typeface="Microsoft YaHei"/>
                <a:cs typeface="Microsoft YaHei"/>
                <a:sym typeface="Microsoft YaHei"/>
              </a:rPr>
              <a:t>20/41</a:t>
            </a:r>
            <a:endParaRPr b="0" sz="1000">
              <a:solidFill>
                <a:srgbClr val="999999"/>
              </a:solidFill>
              <a:latin typeface="Microsoft YaHei"/>
              <a:ea typeface="Microsoft YaHei"/>
              <a:cs typeface="Microsoft YaHei"/>
              <a:sym typeface="Microsoft YaHei"/>
            </a:endParaRPr>
          </a:p>
        </p:txBody>
      </p:sp>
      <p:sp>
        <p:nvSpPr>
          <p:cNvPr id="754" name="Google Shape;754;p22"/>
          <p:cNvSpPr/>
          <p:nvPr/>
        </p:nvSpPr>
        <p:spPr>
          <a:xfrm>
            <a:off x="2437370" y="1280785"/>
            <a:ext cx="360000" cy="360000"/>
          </a:xfrm>
          <a:prstGeom prst="roundRect">
            <a:avLst>
              <a:gd fmla="val 16667" name="adj"/>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5" name="Google Shape;755;p22"/>
          <p:cNvSpPr txBox="1"/>
          <p:nvPr/>
        </p:nvSpPr>
        <p:spPr>
          <a:xfrm>
            <a:off x="2437370" y="1300785"/>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1</a:t>
            </a:r>
            <a:endParaRPr b="1" sz="1800">
              <a:solidFill>
                <a:srgbClr val="FFFFFF"/>
              </a:solidFill>
              <a:latin typeface="Microsoft YaHei"/>
              <a:ea typeface="Microsoft YaHei"/>
              <a:cs typeface="Microsoft YaHei"/>
              <a:sym typeface="Microsoft YaHei"/>
            </a:endParaRPr>
          </a:p>
        </p:txBody>
      </p:sp>
      <p:sp>
        <p:nvSpPr>
          <p:cNvPr id="756" name="Google Shape;756;p22"/>
          <p:cNvSpPr/>
          <p:nvPr/>
        </p:nvSpPr>
        <p:spPr>
          <a:xfrm>
            <a:off x="5265350" y="1280150"/>
            <a:ext cx="360000" cy="360000"/>
          </a:xfrm>
          <a:prstGeom prst="roundRect">
            <a:avLst>
              <a:gd fmla="val 16667" name="adj"/>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7" name="Google Shape;757;p22"/>
          <p:cNvSpPr txBox="1"/>
          <p:nvPr/>
        </p:nvSpPr>
        <p:spPr>
          <a:xfrm>
            <a:off x="5265350" y="1300150"/>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2</a:t>
            </a:r>
            <a:endParaRPr b="1" sz="1800">
              <a:solidFill>
                <a:srgbClr val="FFFFFF"/>
              </a:solidFill>
              <a:latin typeface="Microsoft YaHei"/>
              <a:ea typeface="Microsoft YaHei"/>
              <a:cs typeface="Microsoft YaHei"/>
              <a:sym typeface="Microsoft YaHei"/>
            </a:endParaRPr>
          </a:p>
        </p:txBody>
      </p:sp>
      <p:sp>
        <p:nvSpPr>
          <p:cNvPr id="758" name="Google Shape;758;p22"/>
          <p:cNvSpPr/>
          <p:nvPr/>
        </p:nvSpPr>
        <p:spPr>
          <a:xfrm>
            <a:off x="8027925" y="1261100"/>
            <a:ext cx="360000" cy="360000"/>
          </a:xfrm>
          <a:prstGeom prst="roundRect">
            <a:avLst>
              <a:gd fmla="val 16667" name="adj"/>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9" name="Google Shape;759;p22"/>
          <p:cNvSpPr txBox="1"/>
          <p:nvPr/>
        </p:nvSpPr>
        <p:spPr>
          <a:xfrm>
            <a:off x="8027925" y="1281100"/>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3</a:t>
            </a:r>
            <a:endParaRPr b="1" sz="1800">
              <a:solidFill>
                <a:srgbClr val="FFFFFF"/>
              </a:solidFill>
              <a:latin typeface="Microsoft YaHei"/>
              <a:ea typeface="Microsoft YaHei"/>
              <a:cs typeface="Microsoft YaHei"/>
              <a:sym typeface="Microsoft YaHei"/>
            </a:endParaRPr>
          </a:p>
        </p:txBody>
      </p:sp>
      <p:sp>
        <p:nvSpPr>
          <p:cNvPr id="760" name="Google Shape;760;p22"/>
          <p:cNvSpPr/>
          <p:nvPr/>
        </p:nvSpPr>
        <p:spPr>
          <a:xfrm>
            <a:off x="10947330" y="1279825"/>
            <a:ext cx="360000" cy="360000"/>
          </a:xfrm>
          <a:prstGeom prst="roundRect">
            <a:avLst>
              <a:gd fmla="val 16667" name="adj"/>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1" name="Google Shape;761;p22"/>
          <p:cNvSpPr txBox="1"/>
          <p:nvPr/>
        </p:nvSpPr>
        <p:spPr>
          <a:xfrm>
            <a:off x="10947330" y="1299825"/>
            <a:ext cx="360000" cy="340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FFFFFF"/>
                </a:solidFill>
                <a:latin typeface="Microsoft YaHei"/>
                <a:ea typeface="Microsoft YaHei"/>
                <a:cs typeface="Microsoft YaHei"/>
                <a:sym typeface="Microsoft YaHei"/>
              </a:rPr>
              <a:t>4</a:t>
            </a:r>
            <a:endParaRPr b="1" sz="1800">
              <a:solidFill>
                <a:srgbClr val="FFFFFF"/>
              </a:solidFill>
              <a:latin typeface="Microsoft YaHei"/>
              <a:ea typeface="Microsoft YaHei"/>
              <a:cs typeface="Microsoft YaHei"/>
              <a:sym typeface="Microsoft YaHe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5" name="Shape 765"/>
        <p:cNvGrpSpPr/>
        <p:nvPr/>
      </p:nvGrpSpPr>
      <p:grpSpPr>
        <a:xfrm>
          <a:off x="0" y="0"/>
          <a:ext cx="0" cy="0"/>
          <a:chOff x="0" y="0"/>
          <a:chExt cx="0" cy="0"/>
        </a:xfrm>
      </p:grpSpPr>
      <p:sp>
        <p:nvSpPr>
          <p:cNvPr id="766" name="Google Shape;766;p23"/>
          <p:cNvSpPr txBox="1"/>
          <p:nvPr/>
        </p:nvSpPr>
        <p:spPr>
          <a:xfrm>
            <a:off x="548640" y="293370"/>
            <a:ext cx="11082655"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 1：Multi-Perspective Spec Eval（多智能体多视角规格评估）</a:t>
            </a:r>
            <a:endParaRPr b="1" sz="2400">
              <a:solidFill>
                <a:srgbClr val="333333"/>
              </a:solidFill>
              <a:latin typeface="Microsoft YaHei"/>
              <a:ea typeface="Microsoft YaHei"/>
              <a:cs typeface="Microsoft YaHei"/>
              <a:sym typeface="Microsoft YaHei"/>
            </a:endParaRPr>
          </a:p>
        </p:txBody>
      </p:sp>
      <p:sp>
        <p:nvSpPr>
          <p:cNvPr id="767" name="Google Shape;767;p23"/>
          <p:cNvSpPr/>
          <p:nvPr/>
        </p:nvSpPr>
        <p:spPr>
          <a:xfrm>
            <a:off x="548640" y="777240"/>
            <a:ext cx="868680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23"/>
          <p:cNvSpPr txBox="1"/>
          <p:nvPr/>
        </p:nvSpPr>
        <p:spPr>
          <a:xfrm>
            <a:off x="548640" y="1421130"/>
            <a:ext cx="5669280" cy="355854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lang="en-US" sz="1600">
                <a:solidFill>
                  <a:srgbClr val="0078D4"/>
                </a:solidFill>
                <a:latin typeface="Microsoft YaHei"/>
                <a:ea typeface="Microsoft YaHei"/>
                <a:cs typeface="Microsoft YaHei"/>
                <a:sym typeface="Microsoft YaHei"/>
              </a:rPr>
              <a:t>现状问题</a:t>
            </a:r>
            <a:endParaRPr b="1" sz="1600">
              <a:solidFill>
                <a:srgbClr val="0078D4"/>
              </a:solidFill>
              <a:latin typeface="Microsoft YaHei"/>
              <a:ea typeface="Microsoft YaHei"/>
              <a:cs typeface="Microsoft YaHei"/>
              <a:sym typeface="Microsoft YaHei"/>
            </a:endParaRPr>
          </a:p>
          <a:p>
            <a:pPr indent="0" lvl="0" marL="0" marR="0" rtl="0" algn="l">
              <a:spcBef>
                <a:spcPts val="400"/>
              </a:spcBef>
              <a:spcAft>
                <a:spcPts val="0"/>
              </a:spcAft>
              <a:buNone/>
            </a:pPr>
            <a:r>
              <a:rPr lang="en-US" sz="1300">
                <a:solidFill>
                  <a:srgbClr val="333333"/>
                </a:solidFill>
                <a:latin typeface="Microsoft YaHei"/>
                <a:ea typeface="Microsoft YaHei"/>
                <a:cs typeface="Microsoft YaHei"/>
                <a:sym typeface="Microsoft YaHei"/>
              </a:rPr>
              <a:t>当前OpenSpec LLM 驱动的Spec质量检查依赖人工评审或单一模型实例评审，存在系统性盲区</a:t>
            </a:r>
            <a:endParaRPr sz="1300">
              <a:solidFill>
                <a:srgbClr val="333333"/>
              </a:solidFill>
              <a:latin typeface="Microsoft YaHei"/>
              <a:ea typeface="Microsoft YaHei"/>
              <a:cs typeface="Microsoft YaHei"/>
              <a:sym typeface="Microsoft YaHei"/>
            </a:endParaRPr>
          </a:p>
          <a:p>
            <a:pPr indent="0" lvl="0" marL="0" marR="0" rtl="0" algn="l">
              <a:spcBef>
                <a:spcPts val="1400"/>
              </a:spcBef>
              <a:spcAft>
                <a:spcPts val="0"/>
              </a:spcAft>
              <a:buNone/>
            </a:pPr>
            <a:r>
              <a:rPr lang="en-US" sz="1300">
                <a:solidFill>
                  <a:srgbClr val="333333"/>
                </a:solidFill>
                <a:latin typeface="Microsoft YaHei"/>
                <a:ea typeface="Microsoft YaHei"/>
                <a:cs typeface="Microsoft YaHei"/>
                <a:sym typeface="Microsoft YaHei"/>
              </a:rPr>
              <a:t>Perspective-Based Reading (PBR) 研究表明，单一视角审查难以覆盖多维缺陷类别 </a:t>
            </a:r>
            <a:endParaRPr b="0" sz="1300">
              <a:solidFill>
                <a:srgbClr val="333333"/>
              </a:solidFill>
              <a:latin typeface="Microsoft YaHei"/>
              <a:ea typeface="Microsoft YaHei"/>
              <a:cs typeface="Microsoft YaHei"/>
              <a:sym typeface="Microsoft YaHei"/>
            </a:endParaRPr>
          </a:p>
          <a:p>
            <a:pPr indent="0" lvl="0" marL="0" marR="0" rtl="0" algn="l">
              <a:spcBef>
                <a:spcPts val="1400"/>
              </a:spcBef>
              <a:spcAft>
                <a:spcPts val="0"/>
              </a:spcAft>
              <a:buNone/>
            </a:pPr>
            <a:r>
              <a:rPr b="1" lang="en-US" sz="1600">
                <a:solidFill>
                  <a:srgbClr val="0078D4"/>
                </a:solidFill>
                <a:latin typeface="Microsoft YaHei"/>
                <a:ea typeface="Microsoft YaHei"/>
                <a:cs typeface="Microsoft YaHei"/>
                <a:sym typeface="Microsoft YaHei"/>
              </a:rPr>
              <a:t>方法</a:t>
            </a:r>
            <a:endParaRPr b="1" sz="1600">
              <a:solidFill>
                <a:srgbClr val="0078D4"/>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构建多角色 Agent 审查组，在 spec 提交前执行多视角交叉验证：</a:t>
            </a:r>
            <a:endParaRPr b="0" sz="1300">
              <a:solidFill>
                <a:srgbClr val="333333"/>
              </a:solidFill>
              <a:latin typeface="Microsoft YaHei"/>
              <a:ea typeface="Microsoft YaHei"/>
              <a:cs typeface="Microsoft YaHei"/>
              <a:sym typeface="Microsoft YaHei"/>
            </a:endParaRPr>
          </a:p>
          <a:p>
            <a:pPr indent="-285750" lvl="0" marL="285750" marR="0" rtl="0" algn="l">
              <a:spcBef>
                <a:spcPts val="80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完整性审查（遗漏场景与逻辑矛盾检测）</a:t>
            </a:r>
            <a:endParaRPr b="0" sz="1300">
              <a:solidFill>
                <a:srgbClr val="333333"/>
              </a:solidFill>
              <a:latin typeface="Microsoft YaHei"/>
              <a:ea typeface="Microsoft YaHei"/>
              <a:cs typeface="Microsoft YaHei"/>
              <a:sym typeface="Microsoft YaHei"/>
            </a:endParaRPr>
          </a:p>
          <a:p>
            <a:pPr indent="-285750" lvl="0" marL="285750" marR="0" rtl="0" algn="l">
              <a:spcBef>
                <a:spcPts val="80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异常路径覆盖（错误流程与异常输入生成）</a:t>
            </a:r>
            <a:endParaRPr b="0" sz="1300">
              <a:solidFill>
                <a:srgbClr val="333333"/>
              </a:solidFill>
              <a:latin typeface="Microsoft YaHei"/>
              <a:ea typeface="Microsoft YaHei"/>
              <a:cs typeface="Microsoft YaHei"/>
              <a:sym typeface="Microsoft YaHei"/>
            </a:endParaRPr>
          </a:p>
          <a:p>
            <a:pPr indent="-285750" lvl="0" marL="285750" marR="0" rtl="0" algn="l">
              <a:spcBef>
                <a:spcPts val="80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边界条件分析（边界值与竞态条件识别）</a:t>
            </a:r>
            <a:endParaRPr b="0" sz="1300">
              <a:solidFill>
                <a:srgbClr val="333333"/>
              </a:solidFill>
              <a:latin typeface="Microsoft YaHei"/>
              <a:ea typeface="Microsoft YaHei"/>
              <a:cs typeface="Microsoft YaHei"/>
              <a:sym typeface="Microsoft YaHei"/>
            </a:endParaRPr>
          </a:p>
          <a:p>
            <a:pPr indent="-285750" lvl="0" marL="285750" marR="0" rtl="0" algn="l">
              <a:spcBef>
                <a:spcPts val="80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集成一致性检查（与已有 main specs 的隐性冲突检测）</a:t>
            </a:r>
            <a:endParaRPr b="0" sz="13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Clr>
                <a:srgbClr val="333333"/>
              </a:buClr>
              <a:buSzPts val="1300"/>
              <a:buFont typeface="Arial"/>
              <a:buNone/>
            </a:pPr>
            <a:r>
              <a:rPr b="0" lang="en-US" sz="1300">
                <a:solidFill>
                  <a:srgbClr val="333333"/>
                </a:solidFill>
                <a:latin typeface="Microsoft YaHei"/>
                <a:ea typeface="Microsoft YaHei"/>
                <a:cs typeface="Microsoft YaHei"/>
                <a:sym typeface="Microsoft YaHei"/>
              </a:rPr>
              <a:t>多轮交叉审查后输出经多视角验证的高质量 spec</a:t>
            </a:r>
            <a:endParaRPr b="0" sz="1300">
              <a:solidFill>
                <a:srgbClr val="333333"/>
              </a:solidFill>
              <a:latin typeface="Microsoft YaHei"/>
              <a:ea typeface="Microsoft YaHei"/>
              <a:cs typeface="Microsoft YaHei"/>
              <a:sym typeface="Microsoft YaHei"/>
            </a:endParaRPr>
          </a:p>
        </p:txBody>
      </p:sp>
      <p:sp>
        <p:nvSpPr>
          <p:cNvPr id="769" name="Google Shape;769;p23"/>
          <p:cNvSpPr/>
          <p:nvPr/>
        </p:nvSpPr>
        <p:spPr>
          <a:xfrm>
            <a:off x="6492240" y="1005840"/>
            <a:ext cx="4206240" cy="4389120"/>
          </a:xfrm>
          <a:prstGeom prst="roundRect">
            <a:avLst>
              <a:gd fmla="val 16667" name="adj"/>
            </a:avLst>
          </a:prstGeom>
          <a:solidFill>
            <a:srgbClr val="F5F5F5"/>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70" name="Google Shape;770;p23"/>
          <p:cNvSpPr txBox="1"/>
          <p:nvPr/>
        </p:nvSpPr>
        <p:spPr>
          <a:xfrm>
            <a:off x="6720840" y="2087880"/>
            <a:ext cx="3749040" cy="222504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lang="en-US" sz="1200">
                <a:solidFill>
                  <a:srgbClr val="333333"/>
                </a:solidFill>
                <a:latin typeface="Microsoft YaHei"/>
                <a:ea typeface="Microsoft YaHei"/>
                <a:cs typeface="Microsoft YaHei"/>
                <a:sym typeface="Microsoft YaHei"/>
              </a:rPr>
              <a:t>• Du et al. (ICML 2024): Multi-Agent Debate 提升 LLM 推理与事实准确性 [arXiv:2305.14325]</a:t>
            </a:r>
            <a:endParaRPr b="1" sz="1200">
              <a:solidFill>
                <a:srgbClr val="0078D4"/>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2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lang="en-US" sz="1200">
                <a:solidFill>
                  <a:srgbClr val="333333"/>
                </a:solidFill>
                <a:latin typeface="Microsoft YaHei"/>
                <a:ea typeface="Microsoft YaHei"/>
                <a:cs typeface="Microsoft YaHei"/>
                <a:sym typeface="Microsoft YaHei"/>
              </a:rPr>
              <a:t>• Chan et al. (ICLR 2024): ChatEval 验证多智能体辩论在文本评估中的有效性 [arXiv:2308.07201]</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333333"/>
                </a:solidFill>
                <a:latin typeface="Microsoft YaHei"/>
                <a:ea typeface="Microsoft YaHei"/>
                <a:cs typeface="Microsoft YaHei"/>
                <a:sym typeface="Microsoft YaHei"/>
              </a:rPr>
              <a:t>• Oriol et al. (RE@Next! 2025): MAD 在需求工程的初步探索，尚未与结构化 spec 结合 [arXiv:2507.05981]</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333333"/>
                </a:solidFill>
                <a:latin typeface="Microsoft YaHei"/>
                <a:ea typeface="Microsoft YaHei"/>
                <a:cs typeface="Microsoft YaHei"/>
                <a:sym typeface="Microsoft YaHei"/>
              </a:rPr>
              <a:t>• Shull et al. (IEEE Computer, 2000): PBR 多视角团队比单一视角团队多发现约 41% 缺陷，但后续复现结果存在差异</a:t>
            </a:r>
            <a:endParaRPr sz="1200">
              <a:solidFill>
                <a:srgbClr val="333333"/>
              </a:solidFill>
              <a:latin typeface="Microsoft YaHei"/>
              <a:ea typeface="Microsoft YaHei"/>
              <a:cs typeface="Microsoft YaHei"/>
              <a:sym typeface="Microsoft YaHei"/>
            </a:endParaRPr>
          </a:p>
        </p:txBody>
      </p:sp>
      <p:sp>
        <p:nvSpPr>
          <p:cNvPr id="771" name="Google Shape;771;p23"/>
          <p:cNvSpPr/>
          <p:nvPr/>
        </p:nvSpPr>
        <p:spPr>
          <a:xfrm>
            <a:off x="548640" y="5669280"/>
            <a:ext cx="1005840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72" name="Google Shape;772;p23"/>
          <p:cNvSpPr txBox="1"/>
          <p:nvPr/>
        </p:nvSpPr>
        <p:spPr>
          <a:xfrm>
            <a:off x="548640" y="576072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实施路径：Agent 角色定义 → 审查协议设计 → 多轮交叉审查引擎 → Spec 修复建议 → 效果评估 → 与 Self-Evolving 闭环</a:t>
            </a:r>
            <a:endParaRPr b="0" sz="1200">
              <a:solidFill>
                <a:srgbClr val="999999"/>
              </a:solidFill>
              <a:latin typeface="Microsoft YaHei"/>
              <a:ea typeface="Microsoft YaHei"/>
              <a:cs typeface="Microsoft YaHei"/>
              <a:sym typeface="Microsoft YaHei"/>
            </a:endParaRPr>
          </a:p>
        </p:txBody>
      </p:sp>
      <p:sp>
        <p:nvSpPr>
          <p:cNvPr id="773" name="Google Shape;773;p23"/>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21/41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7" name="Shape 777"/>
        <p:cNvGrpSpPr/>
        <p:nvPr/>
      </p:nvGrpSpPr>
      <p:grpSpPr>
        <a:xfrm>
          <a:off x="0" y="0"/>
          <a:ext cx="0" cy="0"/>
          <a:chOff x="0" y="0"/>
          <a:chExt cx="0" cy="0"/>
        </a:xfrm>
      </p:grpSpPr>
      <p:sp>
        <p:nvSpPr>
          <p:cNvPr id="778" name="Google Shape;778;p24"/>
          <p:cNvSpPr txBox="1"/>
          <p:nvPr/>
        </p:nvSpPr>
        <p:spPr>
          <a:xfrm>
            <a:off x="482600" y="203835"/>
            <a:ext cx="950976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 2：Spec-as-Runtime-Guardrail（规格即运行时护栏）</a:t>
            </a:r>
            <a:endParaRPr b="1" sz="2400">
              <a:solidFill>
                <a:srgbClr val="333333"/>
              </a:solidFill>
              <a:latin typeface="Microsoft YaHei"/>
              <a:ea typeface="Microsoft YaHei"/>
              <a:cs typeface="Microsoft YaHei"/>
              <a:sym typeface="Microsoft YaHei"/>
            </a:endParaRPr>
          </a:p>
        </p:txBody>
      </p:sp>
      <p:sp>
        <p:nvSpPr>
          <p:cNvPr id="779" name="Google Shape;779;p24"/>
          <p:cNvSpPr/>
          <p:nvPr/>
        </p:nvSpPr>
        <p:spPr>
          <a:xfrm>
            <a:off x="548640" y="777240"/>
            <a:ext cx="8686800" cy="508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0" name="Google Shape;780;p24"/>
          <p:cNvSpPr txBox="1"/>
          <p:nvPr/>
        </p:nvSpPr>
        <p:spPr>
          <a:xfrm>
            <a:off x="548640" y="1000443"/>
            <a:ext cx="5669280" cy="4399915"/>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lang="en-US" sz="1600">
                <a:solidFill>
                  <a:srgbClr val="107C10"/>
                </a:solidFill>
                <a:latin typeface="Microsoft YaHei"/>
                <a:ea typeface="Microsoft YaHei"/>
                <a:cs typeface="Microsoft YaHei"/>
                <a:sym typeface="Microsoft YaHei"/>
              </a:rPr>
              <a:t>现状问题</a:t>
            </a:r>
            <a:endParaRPr b="1" sz="1600">
              <a:solidFill>
                <a:srgbClr val="107C1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传统 Spec-Code Traceability 在实现完成后进行一致性验证。在 AI Agent 高速生成代码的场景下，事后验证导致发现偏差时已产生大量返工成本。</a:t>
            </a:r>
            <a:endParaRPr b="0" sz="13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t/>
            </a:r>
            <a:endParaRPr b="1" sz="1600">
              <a:solidFill>
                <a:srgbClr val="107C10"/>
              </a:solidFill>
              <a:latin typeface="Microsoft YaHei"/>
              <a:ea typeface="Microsoft YaHei"/>
              <a:cs typeface="Microsoft YaHei"/>
              <a:sym typeface="Microsoft YaHei"/>
            </a:endParaRPr>
          </a:p>
          <a:p>
            <a:pPr indent="0" lvl="0" marL="0" marR="0" rtl="0" algn="l">
              <a:spcBef>
                <a:spcPts val="1400"/>
              </a:spcBef>
              <a:spcAft>
                <a:spcPts val="0"/>
              </a:spcAft>
              <a:buNone/>
            </a:pPr>
            <a:r>
              <a:rPr b="1" lang="en-US" sz="1600">
                <a:solidFill>
                  <a:srgbClr val="107C10"/>
                </a:solidFill>
                <a:latin typeface="Microsoft YaHei"/>
                <a:ea typeface="Microsoft YaHei"/>
                <a:cs typeface="Microsoft YaHei"/>
                <a:sym typeface="Microsoft YaHei"/>
              </a:rPr>
              <a:t>将 Spec 从“参考文档”变为“可执行的运行时约束”：</a:t>
            </a:r>
            <a:endParaRPr b="1" sz="1600">
              <a:solidFill>
                <a:srgbClr val="107C10"/>
              </a:solidFill>
              <a:latin typeface="Microsoft YaHei"/>
              <a:ea typeface="Microsoft YaHei"/>
              <a:cs typeface="Microsoft YaHei"/>
              <a:sym typeface="Microsoft YaHei"/>
            </a:endParaRPr>
          </a:p>
          <a:p>
            <a:pPr indent="-285750" lvl="0" marL="285750" marR="0" rtl="0" algn="l">
              <a:spcBef>
                <a:spcPts val="1400"/>
              </a:spcBef>
              <a:spcAft>
                <a:spcPts val="0"/>
              </a:spcAft>
              <a:buClr>
                <a:schemeClr val="dk1"/>
              </a:buClr>
              <a:buSzPts val="1300"/>
              <a:buFont typeface="Arial"/>
              <a:buChar char="•"/>
            </a:pPr>
            <a:r>
              <a:rPr lang="en-US" sz="1300">
                <a:solidFill>
                  <a:schemeClr val="dk1"/>
                </a:solidFill>
                <a:latin typeface="Microsoft YaHei"/>
                <a:ea typeface="Microsoft YaHei"/>
                <a:cs typeface="Microsoft YaHei"/>
                <a:sym typeface="Microsoft YaHei"/>
              </a:rPr>
              <a:t>Spec→Constraint 编译：将结构化需求（如 EARS 格式）转译为 property-based test predicates 和 invariant assertions</a:t>
            </a:r>
            <a:endParaRPr sz="1300">
              <a:solidFill>
                <a:schemeClr val="dk1"/>
              </a:solidFill>
              <a:latin typeface="Microsoft YaHei"/>
              <a:ea typeface="Microsoft YaHei"/>
              <a:cs typeface="Microsoft YaHei"/>
              <a:sym typeface="Microsoft YaHei"/>
            </a:endParaRPr>
          </a:p>
          <a:p>
            <a:pPr indent="-285750" lvl="0" marL="285750" marR="0" rtl="0" algn="l">
              <a:spcBef>
                <a:spcPts val="400"/>
              </a:spcBef>
              <a:spcAft>
                <a:spcPts val="0"/>
              </a:spcAft>
              <a:buClr>
                <a:schemeClr val="dk1"/>
              </a:buClr>
              <a:buSzPts val="1300"/>
              <a:buFont typeface="Arial"/>
              <a:buChar char="•"/>
            </a:pPr>
            <a:r>
              <a:rPr lang="en-US" sz="1300">
                <a:solidFill>
                  <a:schemeClr val="dk1"/>
                </a:solidFill>
                <a:latin typeface="Microsoft YaHei"/>
                <a:ea typeface="Microsoft YaHei"/>
                <a:cs typeface="Microsoft YaHei"/>
                <a:sym typeface="Microsoft YaHei"/>
              </a:rPr>
              <a:t>Agent 行为实时监控：AI 写代码时实时分析合规性</a:t>
            </a:r>
            <a:endParaRPr sz="1300">
              <a:solidFill>
                <a:schemeClr val="dk1"/>
              </a:solidFill>
              <a:latin typeface="Microsoft YaHei"/>
              <a:ea typeface="Microsoft YaHei"/>
              <a:cs typeface="Microsoft YaHei"/>
              <a:sym typeface="Microsoft YaHei"/>
            </a:endParaRPr>
          </a:p>
          <a:p>
            <a:pPr indent="-285750" lvl="0" marL="285750" marR="0" rtl="0" algn="l">
              <a:spcBef>
                <a:spcPts val="400"/>
              </a:spcBef>
              <a:spcAft>
                <a:spcPts val="0"/>
              </a:spcAft>
              <a:buClr>
                <a:schemeClr val="dk1"/>
              </a:buClr>
              <a:buSzPts val="1300"/>
              <a:buFont typeface="Arial"/>
              <a:buChar char="•"/>
            </a:pPr>
            <a:r>
              <a:rPr lang="en-US" sz="1300">
                <a:solidFill>
                  <a:schemeClr val="dk1"/>
                </a:solidFill>
                <a:latin typeface="Microsoft YaHei"/>
                <a:ea typeface="Microsoft YaHei"/>
                <a:cs typeface="Microsoft YaHei"/>
                <a:sym typeface="Microsoft YaHei"/>
              </a:rPr>
              <a:t>违规拦截：违反 spec 的代码在save前被拦截。</a:t>
            </a:r>
            <a:endParaRPr sz="1300">
              <a:solidFill>
                <a:schemeClr val="dk1"/>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1" sz="1600">
              <a:solidFill>
                <a:srgbClr val="107C1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该思路是 Design by Contract [Meyer, 1988] 在 AI 辅助编程场景的延伸</a:t>
            </a:r>
            <a:endParaRPr b="0"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Kiro (AWS) 已验证从 EARS 格式需求生成 property-based test 的可行性</a:t>
            </a:r>
            <a:endParaRPr b="0"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Tessl、spec-kit 等工具也在探索 spec-driven development，但尚未实现运行时实时拦截。</a:t>
            </a:r>
            <a:endParaRPr b="0" sz="1300">
              <a:solidFill>
                <a:srgbClr val="333333"/>
              </a:solidFill>
              <a:latin typeface="Microsoft YaHei"/>
              <a:ea typeface="Microsoft YaHei"/>
              <a:cs typeface="Microsoft YaHei"/>
              <a:sym typeface="Microsoft YaHei"/>
            </a:endParaRPr>
          </a:p>
        </p:txBody>
      </p:sp>
      <p:sp>
        <p:nvSpPr>
          <p:cNvPr id="781" name="Google Shape;781;p24"/>
          <p:cNvSpPr/>
          <p:nvPr/>
        </p:nvSpPr>
        <p:spPr>
          <a:xfrm>
            <a:off x="6492240" y="1005840"/>
            <a:ext cx="4206240" cy="4389120"/>
          </a:xfrm>
          <a:prstGeom prst="roundRect">
            <a:avLst>
              <a:gd fmla="val 16667" name="adj"/>
            </a:avLst>
          </a:prstGeom>
          <a:solidFill>
            <a:srgbClr val="F5F5F5"/>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2" name="Google Shape;782;p24"/>
          <p:cNvSpPr txBox="1"/>
          <p:nvPr/>
        </p:nvSpPr>
        <p:spPr>
          <a:xfrm>
            <a:off x="6720840" y="2364740"/>
            <a:ext cx="3749040" cy="167132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lang="en-US" sz="1200">
                <a:solidFill>
                  <a:srgbClr val="333333"/>
                </a:solidFill>
                <a:latin typeface="Microsoft YaHei"/>
                <a:ea typeface="Microsoft YaHei"/>
                <a:cs typeface="Microsoft YaHei"/>
                <a:sym typeface="Microsoft YaHei"/>
              </a:rPr>
              <a:t>• Meyer (1988/1992): Design by Contract 理论基础 [Object-Oriented Software Construction, Prentice-Hall, 1988; IEEE Computer, 1992]</a:t>
            </a:r>
            <a:endParaRPr b="1" sz="1200">
              <a:solidFill>
                <a:srgbClr val="107C10"/>
              </a:solidFill>
              <a:latin typeface="Microsoft YaHei"/>
              <a:ea typeface="Microsoft YaHei"/>
              <a:cs typeface="Microsoft YaHei"/>
              <a:sym typeface="Microsoft YaHei"/>
            </a:endParaRPr>
          </a:p>
          <a:p>
            <a:pPr indent="0" lvl="0" marL="0" marR="0" rtl="0" algn="l">
              <a:spcBef>
                <a:spcPts val="400"/>
              </a:spcBef>
              <a:spcAft>
                <a:spcPts val="0"/>
              </a:spcAft>
              <a:buNone/>
            </a:pPr>
            <a:r>
              <a:t/>
            </a:r>
            <a:endParaRPr b="0" sz="12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lang="en-US" sz="1200">
                <a:solidFill>
                  <a:srgbClr val="333333"/>
                </a:solidFill>
                <a:latin typeface="Microsoft YaHei"/>
                <a:ea typeface="Microsoft YaHei"/>
                <a:cs typeface="Microsoft YaHei"/>
                <a:sym typeface="Microsoft YaHei"/>
              </a:rPr>
              <a:t>• EU AI Act (Reg. 2024/1689) Art.72: 要求高风险 AI 系统建立上市后持续合规监控体系</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sz="12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lang="en-US" sz="1200">
                <a:solidFill>
                  <a:srgbClr val="333333"/>
                </a:solidFill>
                <a:latin typeface="Microsoft YaHei"/>
                <a:ea typeface="Microsoft YaHei"/>
                <a:cs typeface="Microsoft YaHei"/>
                <a:sym typeface="Microsoft YaHei"/>
              </a:rPr>
              <a:t>• Kiro (AWS, GA 2025.11): 从 EARS 格式需求生成 property-based test，验证 spec→可执行测试 的可行性；Tessl、spec-kit 等也在探索此方向</a:t>
            </a:r>
            <a:endParaRPr sz="1200">
              <a:solidFill>
                <a:srgbClr val="333333"/>
              </a:solidFill>
              <a:latin typeface="Microsoft YaHei"/>
              <a:ea typeface="Microsoft YaHei"/>
              <a:cs typeface="Microsoft YaHei"/>
              <a:sym typeface="Microsoft YaHei"/>
            </a:endParaRPr>
          </a:p>
        </p:txBody>
      </p:sp>
      <p:sp>
        <p:nvSpPr>
          <p:cNvPr id="783" name="Google Shape;783;p24"/>
          <p:cNvSpPr/>
          <p:nvPr/>
        </p:nvSpPr>
        <p:spPr>
          <a:xfrm>
            <a:off x="548640" y="5669280"/>
            <a:ext cx="10058400" cy="50800"/>
          </a:xfrm>
          <a:prstGeom prst="rect">
            <a:avLst/>
          </a:prstGeom>
          <a:solidFill>
            <a:srgbClr val="107C1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4" name="Google Shape;784;p24"/>
          <p:cNvSpPr txBox="1"/>
          <p:nvPr/>
        </p:nvSpPr>
        <p:spPr>
          <a:xfrm>
            <a:off x="548640" y="576072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实施路径：Spec→Constraint 编译器 → Agent 行为监控 → 实时拦截引擎 → Property Test 自动生成 → CI/CD 集成</a:t>
            </a:r>
            <a:endParaRPr b="0" sz="1200">
              <a:solidFill>
                <a:srgbClr val="999999"/>
              </a:solidFill>
              <a:latin typeface="Microsoft YaHei"/>
              <a:ea typeface="Microsoft YaHei"/>
              <a:cs typeface="Microsoft YaHei"/>
              <a:sym typeface="Microsoft YaHei"/>
            </a:endParaRPr>
          </a:p>
        </p:txBody>
      </p:sp>
      <p:sp>
        <p:nvSpPr>
          <p:cNvPr id="785" name="Google Shape;785;p24"/>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22/41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9" name="Shape 789"/>
        <p:cNvGrpSpPr/>
        <p:nvPr/>
      </p:nvGrpSpPr>
      <p:grpSpPr>
        <a:xfrm>
          <a:off x="0" y="0"/>
          <a:ext cx="0" cy="0"/>
          <a:chOff x="0" y="0"/>
          <a:chExt cx="0" cy="0"/>
        </a:xfrm>
      </p:grpSpPr>
      <p:sp>
        <p:nvSpPr>
          <p:cNvPr id="790" name="Google Shape;790;p25"/>
          <p:cNvSpPr txBox="1"/>
          <p:nvPr/>
        </p:nvSpPr>
        <p:spPr>
          <a:xfrm>
            <a:off x="194945" y="271145"/>
            <a:ext cx="985139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 3：Self-Evolving Spec Agents（自我进化规格智能体）</a:t>
            </a:r>
            <a:endParaRPr b="1" sz="2400">
              <a:solidFill>
                <a:srgbClr val="333333"/>
              </a:solidFill>
              <a:latin typeface="Microsoft YaHei"/>
              <a:ea typeface="Microsoft YaHei"/>
              <a:cs typeface="Microsoft YaHei"/>
              <a:sym typeface="Microsoft YaHei"/>
            </a:endParaRPr>
          </a:p>
        </p:txBody>
      </p:sp>
      <p:sp>
        <p:nvSpPr>
          <p:cNvPr id="791" name="Google Shape;791;p25"/>
          <p:cNvSpPr/>
          <p:nvPr/>
        </p:nvSpPr>
        <p:spPr>
          <a:xfrm>
            <a:off x="548640" y="777240"/>
            <a:ext cx="8686800" cy="508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2" name="Google Shape;792;p25"/>
          <p:cNvSpPr txBox="1"/>
          <p:nvPr/>
        </p:nvSpPr>
        <p:spPr>
          <a:xfrm>
            <a:off x="548640" y="1382395"/>
            <a:ext cx="5029200" cy="363601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lang="en-US" sz="1600">
                <a:solidFill>
                  <a:srgbClr val="E86C00"/>
                </a:solidFill>
                <a:latin typeface="Microsoft YaHei"/>
                <a:ea typeface="Microsoft YaHei"/>
                <a:cs typeface="Microsoft YaHei"/>
                <a:sym typeface="Microsoft YaHei"/>
              </a:rPr>
              <a:t>现状问题</a:t>
            </a:r>
            <a:endParaRPr b="1" sz="1600">
              <a:solidFill>
                <a:srgbClr val="E86C0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300">
                <a:solidFill>
                  <a:srgbClr val="333333"/>
                </a:solidFill>
                <a:latin typeface="Microsoft YaHei"/>
                <a:ea typeface="Microsoft YaHei"/>
                <a:cs typeface="Microsoft YaHei"/>
                <a:sym typeface="Microsoft YaHei"/>
              </a:rPr>
              <a:t>尽管部分 AI 编程工具已引入持久化记忆（如 Copilot Memory Claude Code auto-memory），这些机制主要记录代码模式和用户偏好，缺乏从 spec 质量到 spec 编写策略的闭环反馈 </a:t>
            </a:r>
            <a:endParaRPr b="0" sz="13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b="0" sz="13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rPr b="0" lang="en-US" sz="1300">
                <a:solidFill>
                  <a:srgbClr val="333333"/>
                </a:solidFill>
                <a:latin typeface="Microsoft YaHei"/>
                <a:ea typeface="Microsoft YaHei"/>
                <a:cs typeface="Microsoft YaHei"/>
                <a:sym typeface="Microsoft YaHei"/>
              </a:rPr>
              <a:t>这些工具不会根据 哪种 spec 写法产生了高质量实现 来改进后续 spec 生成策略。</a:t>
            </a:r>
            <a:endParaRPr b="0" sz="1300">
              <a:solidFill>
                <a:srgbClr val="333333"/>
              </a:solidFill>
              <a:latin typeface="Microsoft YaHei"/>
              <a:ea typeface="Microsoft YaHei"/>
              <a:cs typeface="Microsoft YaHei"/>
              <a:sym typeface="Microsoft YaHei"/>
            </a:endParaRPr>
          </a:p>
          <a:p>
            <a:pPr indent="0" lvl="0" marL="0" marR="0" rtl="0" algn="l">
              <a:spcBef>
                <a:spcPts val="0"/>
              </a:spcBef>
              <a:spcAft>
                <a:spcPts val="0"/>
              </a:spcAft>
              <a:buNone/>
            </a:pPr>
            <a:r>
              <a:t/>
            </a:r>
            <a:endParaRPr b="0" sz="1300">
              <a:solidFill>
                <a:srgbClr val="333333"/>
              </a:solidFill>
              <a:latin typeface="Calibri"/>
              <a:ea typeface="Calibri"/>
              <a:cs typeface="Calibri"/>
              <a:sym typeface="Calibri"/>
            </a:endParaRPr>
          </a:p>
          <a:p>
            <a:pPr indent="0" lvl="0" marL="0" marR="0" rtl="0" algn="l">
              <a:spcBef>
                <a:spcPts val="0"/>
              </a:spcBef>
              <a:spcAft>
                <a:spcPts val="0"/>
              </a:spcAft>
              <a:buNone/>
            </a:pPr>
            <a:r>
              <a:rPr b="1" lang="en-US" sz="1600">
                <a:solidFill>
                  <a:srgbClr val="E86C00"/>
                </a:solidFill>
                <a:latin typeface="Microsoft YaHei"/>
                <a:ea typeface="Microsoft YaHei"/>
                <a:cs typeface="Microsoft YaHei"/>
                <a:sym typeface="Microsoft YaHei"/>
              </a:rPr>
              <a:t>方法</a:t>
            </a:r>
            <a:endParaRPr b="1" sz="1600">
              <a:solidFill>
                <a:srgbClr val="E86C00"/>
              </a:solidFill>
              <a:latin typeface="Calibri"/>
              <a:ea typeface="Calibri"/>
              <a:cs typeface="Calibri"/>
              <a:sym typeface="Calibri"/>
            </a:endParaRPr>
          </a:p>
          <a:p>
            <a:pPr indent="0" lvl="0" marL="0" marR="0" rtl="0" algn="l">
              <a:spcBef>
                <a:spcPts val="0"/>
              </a:spcBef>
              <a:spcAft>
                <a:spcPts val="0"/>
              </a:spcAft>
              <a:buNone/>
            </a:pPr>
            <a:r>
              <a:rPr b="0" lang="en-US" sz="1300">
                <a:solidFill>
                  <a:srgbClr val="333333"/>
                </a:solidFill>
                <a:latin typeface="Microsoft YaHei"/>
                <a:ea typeface="Microsoft YaHei"/>
                <a:cs typeface="Microsoft YaHei"/>
                <a:sym typeface="Microsoft YaHei"/>
              </a:rPr>
              <a:t>借鉴 experience-driven self-evolution 框架，在 OpenSpec 工作流中引入 spec 质量闭环反馈机制：</a:t>
            </a:r>
            <a:endParaRPr b="1" sz="1300">
              <a:solidFill>
                <a:srgbClr val="E86C00"/>
              </a:solidFill>
              <a:latin typeface="Microsoft YaHei"/>
              <a:ea typeface="Microsoft YaHei"/>
              <a:cs typeface="Microsoft YaHei"/>
              <a:sym typeface="Microsoft YaHei"/>
            </a:endParaRPr>
          </a:p>
          <a:p>
            <a:pPr indent="-285750" lvl="0" marL="285750" marR="0" rtl="0" algn="l">
              <a:spcBef>
                <a:spcPts val="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每次 Apply → Verify 循环，自动记录哪些 spec 写法导致了高质量实现，哪些导致了返工</a:t>
            </a:r>
            <a:endParaRPr b="0" sz="1300">
              <a:solidFill>
                <a:srgbClr val="333333"/>
              </a:solidFill>
              <a:latin typeface="Calibri"/>
              <a:ea typeface="Calibri"/>
              <a:cs typeface="Calibri"/>
              <a:sym typeface="Calibri"/>
            </a:endParaRPr>
          </a:p>
          <a:p>
            <a:pPr indent="-285750" lvl="0" marL="285750" marR="0" rtl="0" algn="l">
              <a:spcBef>
                <a:spcPts val="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蒸馏出Spec实践原则 比如：金融领域的风控 spec 必须包含 X Y Z等信息才能让 Agent正确生成code</a:t>
            </a:r>
            <a:endParaRPr b="0" sz="1300">
              <a:solidFill>
                <a:srgbClr val="333333"/>
              </a:solidFill>
              <a:latin typeface="Calibri"/>
              <a:ea typeface="Calibri"/>
              <a:cs typeface="Calibri"/>
              <a:sym typeface="Calibri"/>
            </a:endParaRPr>
          </a:p>
          <a:p>
            <a:pPr indent="-285750" lvl="0" marL="285750" marR="0" rtl="0" algn="l">
              <a:spcBef>
                <a:spcPts val="0"/>
              </a:spcBef>
              <a:spcAft>
                <a:spcPts val="0"/>
              </a:spcAft>
              <a:buClr>
                <a:srgbClr val="333333"/>
              </a:buClr>
              <a:buSzPts val="1300"/>
              <a:buFont typeface="Arial"/>
              <a:buChar char="•"/>
            </a:pPr>
            <a:r>
              <a:rPr b="0" lang="en-US" sz="1300">
                <a:solidFill>
                  <a:srgbClr val="333333"/>
                </a:solidFill>
                <a:latin typeface="Microsoft YaHei"/>
                <a:ea typeface="Microsoft YaHei"/>
                <a:cs typeface="Microsoft YaHei"/>
                <a:sym typeface="Microsoft YaHei"/>
              </a:rPr>
              <a:t>下次创建 spec 时，系统主动检索并注入相关原则</a:t>
            </a:r>
            <a:endParaRPr b="0" sz="1300">
              <a:solidFill>
                <a:srgbClr val="333333"/>
              </a:solidFill>
              <a:latin typeface="Calibri"/>
              <a:ea typeface="Calibri"/>
              <a:cs typeface="Calibri"/>
              <a:sym typeface="Calibri"/>
            </a:endParaRPr>
          </a:p>
          <a:p>
            <a:pPr indent="0" lvl="0" marL="0" marR="0" rtl="0" algn="l">
              <a:spcBef>
                <a:spcPts val="0"/>
              </a:spcBef>
              <a:spcAft>
                <a:spcPts val="0"/>
              </a:spcAft>
              <a:buNone/>
            </a:pPr>
            <a:r>
              <a:t/>
            </a:r>
            <a:endParaRPr b="0" sz="1300">
              <a:solidFill>
                <a:srgbClr val="333333"/>
              </a:solidFill>
              <a:latin typeface="Calibri"/>
              <a:ea typeface="Calibri"/>
              <a:cs typeface="Calibri"/>
              <a:sym typeface="Calibri"/>
            </a:endParaRPr>
          </a:p>
        </p:txBody>
      </p:sp>
      <p:sp>
        <p:nvSpPr>
          <p:cNvPr id="793" name="Google Shape;793;p25"/>
          <p:cNvSpPr/>
          <p:nvPr/>
        </p:nvSpPr>
        <p:spPr>
          <a:xfrm>
            <a:off x="6492240" y="1005840"/>
            <a:ext cx="4206240" cy="4389120"/>
          </a:xfrm>
          <a:prstGeom prst="roundRect">
            <a:avLst>
              <a:gd fmla="val 16667" name="adj"/>
            </a:avLst>
          </a:prstGeom>
          <a:solidFill>
            <a:srgbClr val="F5F5F5"/>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4" name="Google Shape;794;p25"/>
          <p:cNvSpPr txBox="1"/>
          <p:nvPr/>
        </p:nvSpPr>
        <p:spPr>
          <a:xfrm>
            <a:off x="548640" y="5760720"/>
            <a:ext cx="9601200" cy="5943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333333"/>
                </a:solidFill>
                <a:latin typeface="Microsoft YaHei"/>
                <a:ea typeface="Microsoft YaHei"/>
                <a:cs typeface="Microsoft YaHei"/>
                <a:sym typeface="Microsoft YaHei"/>
              </a:rPr>
              <a:t>学术依据：EvolveR [Wu et al., arXiv:2510.16079] LLM Agent 经验蒸馏自进化框架 | 自进化 Agent 综述 [Gao et al., arXiv:2507.21046; Tao et al., arXiv:2508.07407]    应用前景：经验积累效应 | 经验沉淀形成领域资产 | 与 Domain Packs 差异化互补</a:t>
            </a:r>
            <a:endParaRPr b="1" sz="1400">
              <a:solidFill>
                <a:srgbClr val="E86C00"/>
              </a:solidFill>
              <a:latin typeface="Microsoft YaHei"/>
              <a:ea typeface="Microsoft YaHei"/>
              <a:cs typeface="Microsoft YaHei"/>
              <a:sym typeface="Microsoft YaHei"/>
            </a:endParaRPr>
          </a:p>
        </p:txBody>
      </p:sp>
      <p:sp>
        <p:nvSpPr>
          <p:cNvPr id="795" name="Google Shape;795;p25"/>
          <p:cNvSpPr/>
          <p:nvPr/>
        </p:nvSpPr>
        <p:spPr>
          <a:xfrm>
            <a:off x="548640" y="5669280"/>
            <a:ext cx="10058400" cy="508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6" name="Google Shape;796;p25"/>
          <p:cNvSpPr txBox="1"/>
          <p:nvPr/>
        </p:nvSpPr>
        <p:spPr>
          <a:xfrm>
            <a:off x="548640" y="626491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实施路径：Apply/Verify 日志采集 → 经验提炼引擎 → 原则库建设 → Spec 创建时自动注入 → 效果评估与迭代</a:t>
            </a:r>
            <a:endParaRPr b="0" sz="1200">
              <a:solidFill>
                <a:srgbClr val="999999"/>
              </a:solidFill>
              <a:latin typeface="Microsoft YaHei"/>
              <a:ea typeface="Microsoft YaHei"/>
              <a:cs typeface="Microsoft YaHei"/>
              <a:sym typeface="Microsoft YaHei"/>
            </a:endParaRPr>
          </a:p>
        </p:txBody>
      </p:sp>
      <p:sp>
        <p:nvSpPr>
          <p:cNvPr id="797" name="Google Shape;797;p25"/>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23/41</a:t>
            </a:r>
            <a:endParaRPr b="0" sz="1100">
              <a:solidFill>
                <a:srgbClr val="999999"/>
              </a:solidFill>
              <a:latin typeface="Microsoft YaHei"/>
              <a:ea typeface="Microsoft YaHei"/>
              <a:cs typeface="Microsoft YaHei"/>
              <a:sym typeface="Microsoft YaHei"/>
            </a:endParaRPr>
          </a:p>
        </p:txBody>
      </p:sp>
      <p:sp>
        <p:nvSpPr>
          <p:cNvPr id="798" name="Google Shape;798;p25"/>
          <p:cNvSpPr/>
          <p:nvPr/>
        </p:nvSpPr>
        <p:spPr>
          <a:xfrm>
            <a:off x="5760720" y="960120"/>
            <a:ext cx="5486400" cy="4480560"/>
          </a:xfrm>
          <a:prstGeom prst="roundRect">
            <a:avLst>
              <a:gd fmla="val 16667" name="adj"/>
            </a:avLst>
          </a:prstGeom>
          <a:solidFill>
            <a:srgbClr val="F8F9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9" name="Google Shape;799;p25"/>
          <p:cNvSpPr txBox="1"/>
          <p:nvPr/>
        </p:nvSpPr>
        <p:spPr>
          <a:xfrm>
            <a:off x="5943600" y="1005840"/>
            <a:ext cx="2743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999999"/>
                </a:solidFill>
                <a:latin typeface="Microsoft YaHei"/>
                <a:ea typeface="Microsoft YaHei"/>
                <a:cs typeface="Microsoft YaHei"/>
                <a:sym typeface="Microsoft YaHei"/>
              </a:rPr>
              <a:t>经验积累循环示意图</a:t>
            </a:r>
            <a:endParaRPr b="1" sz="1200">
              <a:solidFill>
                <a:srgbClr val="999999"/>
              </a:solidFill>
              <a:latin typeface="Calibri"/>
              <a:ea typeface="Calibri"/>
              <a:cs typeface="Calibri"/>
              <a:sym typeface="Calibri"/>
            </a:endParaRPr>
          </a:p>
        </p:txBody>
      </p:sp>
      <p:sp>
        <p:nvSpPr>
          <p:cNvPr id="800" name="Google Shape;800;p25"/>
          <p:cNvSpPr/>
          <p:nvPr/>
        </p:nvSpPr>
        <p:spPr>
          <a:xfrm>
            <a:off x="7795260" y="1348740"/>
            <a:ext cx="1417320" cy="594360"/>
          </a:xfrm>
          <a:prstGeom prst="roundRect">
            <a:avLst>
              <a:gd fmla="val 16667" name="adj"/>
            </a:avLst>
          </a:prstGeom>
          <a:solidFill>
            <a:srgbClr val="FF8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1" name="Google Shape;801;p25"/>
          <p:cNvSpPr txBox="1"/>
          <p:nvPr/>
        </p:nvSpPr>
        <p:spPr>
          <a:xfrm>
            <a:off x="7840980" y="1367028"/>
            <a:ext cx="1325880" cy="5577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rgbClr val="FFFFFF"/>
                </a:solidFill>
                <a:latin typeface="Microsoft YaHei"/>
                <a:ea typeface="Microsoft YaHei"/>
                <a:cs typeface="Microsoft YaHei"/>
                <a:sym typeface="Microsoft YaHei"/>
              </a:rPr>
              <a:t>① 创建 Spec</a:t>
            </a:r>
            <a:endParaRPr b="1" sz="1100">
              <a:solidFill>
                <a:srgbClr val="FFFFFF"/>
              </a:solidFill>
              <a:latin typeface="Calibri"/>
              <a:ea typeface="Calibri"/>
              <a:cs typeface="Calibri"/>
              <a:sym typeface="Calibri"/>
            </a:endParaRPr>
          </a:p>
          <a:p>
            <a:pPr indent="0" lvl="0" marL="0" marR="0" rtl="0" algn="ctr">
              <a:spcBef>
                <a:spcPts val="0"/>
              </a:spcBef>
              <a:spcAft>
                <a:spcPts val="0"/>
              </a:spcAft>
              <a:buNone/>
            </a:pPr>
            <a:r>
              <a:rPr b="0" lang="en-US" sz="900">
                <a:solidFill>
                  <a:srgbClr val="EEEEEE"/>
                </a:solidFill>
                <a:latin typeface="Microsoft YaHei"/>
                <a:ea typeface="Microsoft YaHei"/>
                <a:cs typeface="Microsoft YaHei"/>
                <a:sym typeface="Microsoft YaHei"/>
              </a:rPr>
              <a:t>自动注入原则</a:t>
            </a:r>
            <a:endParaRPr b="0" sz="900">
              <a:solidFill>
                <a:srgbClr val="EEEEEE"/>
              </a:solidFill>
              <a:latin typeface="Calibri"/>
              <a:ea typeface="Calibri"/>
              <a:cs typeface="Calibri"/>
              <a:sym typeface="Calibri"/>
            </a:endParaRPr>
          </a:p>
        </p:txBody>
      </p:sp>
      <p:sp>
        <p:nvSpPr>
          <p:cNvPr id="802" name="Google Shape;802;p25"/>
          <p:cNvSpPr/>
          <p:nvPr/>
        </p:nvSpPr>
        <p:spPr>
          <a:xfrm>
            <a:off x="9143211" y="2328084"/>
            <a:ext cx="1417320" cy="594360"/>
          </a:xfrm>
          <a:prstGeom prst="roundRect">
            <a:avLst>
              <a:gd fmla="val 16667" name="adj"/>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3" name="Google Shape;803;p25"/>
          <p:cNvSpPr txBox="1"/>
          <p:nvPr/>
        </p:nvSpPr>
        <p:spPr>
          <a:xfrm>
            <a:off x="9188931" y="2346372"/>
            <a:ext cx="1325880" cy="5577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rgbClr val="FFFFFF"/>
                </a:solidFill>
                <a:latin typeface="Microsoft YaHei"/>
                <a:ea typeface="Microsoft YaHei"/>
                <a:cs typeface="Microsoft YaHei"/>
                <a:sym typeface="Microsoft YaHei"/>
              </a:rPr>
              <a:t>② Apply</a:t>
            </a:r>
            <a:endParaRPr b="1" sz="1100">
              <a:solidFill>
                <a:srgbClr val="FFFFFF"/>
              </a:solidFill>
              <a:latin typeface="Calibri"/>
              <a:ea typeface="Calibri"/>
              <a:cs typeface="Calibri"/>
              <a:sym typeface="Calibri"/>
            </a:endParaRPr>
          </a:p>
          <a:p>
            <a:pPr indent="0" lvl="0" marL="0" marR="0" rtl="0" algn="ctr">
              <a:spcBef>
                <a:spcPts val="0"/>
              </a:spcBef>
              <a:spcAft>
                <a:spcPts val="0"/>
              </a:spcAft>
              <a:buNone/>
            </a:pPr>
            <a:r>
              <a:rPr b="0" lang="en-US" sz="900">
                <a:solidFill>
                  <a:srgbClr val="EEEEEE"/>
                </a:solidFill>
                <a:latin typeface="Microsoft YaHei"/>
                <a:ea typeface="Microsoft YaHei"/>
                <a:cs typeface="Microsoft YaHei"/>
                <a:sym typeface="Microsoft YaHei"/>
              </a:rPr>
              <a:t>按 spec 实现</a:t>
            </a:r>
            <a:endParaRPr b="0" sz="900">
              <a:solidFill>
                <a:srgbClr val="EEEEEE"/>
              </a:solidFill>
              <a:latin typeface="Calibri"/>
              <a:ea typeface="Calibri"/>
              <a:cs typeface="Calibri"/>
              <a:sym typeface="Calibri"/>
            </a:endParaRPr>
          </a:p>
        </p:txBody>
      </p:sp>
      <p:sp>
        <p:nvSpPr>
          <p:cNvPr id="804" name="Google Shape;804;p25"/>
          <p:cNvSpPr/>
          <p:nvPr/>
        </p:nvSpPr>
        <p:spPr>
          <a:xfrm>
            <a:off x="8628339" y="3912695"/>
            <a:ext cx="1417320" cy="594360"/>
          </a:xfrm>
          <a:prstGeom prst="roundRect">
            <a:avLst>
              <a:gd fmla="val 16667" name="adj"/>
            </a:avLst>
          </a:prstGeom>
          <a:solidFill>
            <a:srgbClr val="2E7D32"/>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5" name="Google Shape;805;p25"/>
          <p:cNvSpPr txBox="1"/>
          <p:nvPr/>
        </p:nvSpPr>
        <p:spPr>
          <a:xfrm>
            <a:off x="8674059" y="3930983"/>
            <a:ext cx="1325880" cy="5577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rgbClr val="FFFFFF"/>
                </a:solidFill>
                <a:latin typeface="Microsoft YaHei"/>
                <a:ea typeface="Microsoft YaHei"/>
                <a:cs typeface="Microsoft YaHei"/>
                <a:sym typeface="Microsoft YaHei"/>
              </a:rPr>
              <a:t>③ Verify</a:t>
            </a:r>
            <a:endParaRPr b="1" sz="1100">
              <a:solidFill>
                <a:srgbClr val="FFFFFF"/>
              </a:solidFill>
              <a:latin typeface="Calibri"/>
              <a:ea typeface="Calibri"/>
              <a:cs typeface="Calibri"/>
              <a:sym typeface="Calibri"/>
            </a:endParaRPr>
          </a:p>
          <a:p>
            <a:pPr indent="0" lvl="0" marL="0" marR="0" rtl="0" algn="ctr">
              <a:spcBef>
                <a:spcPts val="0"/>
              </a:spcBef>
              <a:spcAft>
                <a:spcPts val="0"/>
              </a:spcAft>
              <a:buNone/>
            </a:pPr>
            <a:r>
              <a:rPr b="0" lang="en-US" sz="900">
                <a:solidFill>
                  <a:srgbClr val="EEEEEE"/>
                </a:solidFill>
                <a:latin typeface="Microsoft YaHei"/>
                <a:ea typeface="Microsoft YaHei"/>
                <a:cs typeface="Microsoft YaHei"/>
                <a:sym typeface="Microsoft YaHei"/>
              </a:rPr>
              <a:t>对照 spec 验证</a:t>
            </a:r>
            <a:endParaRPr b="0" sz="900">
              <a:solidFill>
                <a:srgbClr val="EEEEEE"/>
              </a:solidFill>
              <a:latin typeface="Calibri"/>
              <a:ea typeface="Calibri"/>
              <a:cs typeface="Calibri"/>
              <a:sym typeface="Calibri"/>
            </a:endParaRPr>
          </a:p>
        </p:txBody>
      </p:sp>
      <p:sp>
        <p:nvSpPr>
          <p:cNvPr id="806" name="Google Shape;806;p25"/>
          <p:cNvSpPr/>
          <p:nvPr/>
        </p:nvSpPr>
        <p:spPr>
          <a:xfrm>
            <a:off x="6962180" y="3912695"/>
            <a:ext cx="1417320" cy="594360"/>
          </a:xfrm>
          <a:prstGeom prst="roundRect">
            <a:avLst>
              <a:gd fmla="val 16667" name="adj"/>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7" name="Google Shape;807;p25"/>
          <p:cNvSpPr txBox="1"/>
          <p:nvPr/>
        </p:nvSpPr>
        <p:spPr>
          <a:xfrm>
            <a:off x="7007900" y="3930983"/>
            <a:ext cx="1325880" cy="5577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rgbClr val="FFFFFF"/>
                </a:solidFill>
                <a:latin typeface="Microsoft YaHei"/>
                <a:ea typeface="Microsoft YaHei"/>
                <a:cs typeface="Microsoft YaHei"/>
                <a:sym typeface="Microsoft YaHei"/>
              </a:rPr>
              <a:t>④ 记录</a:t>
            </a:r>
            <a:endParaRPr b="1" sz="1100">
              <a:solidFill>
                <a:srgbClr val="FFFFFF"/>
              </a:solidFill>
              <a:latin typeface="Calibri"/>
              <a:ea typeface="Calibri"/>
              <a:cs typeface="Calibri"/>
              <a:sym typeface="Calibri"/>
            </a:endParaRPr>
          </a:p>
          <a:p>
            <a:pPr indent="0" lvl="0" marL="0" marR="0" rtl="0" algn="ctr">
              <a:spcBef>
                <a:spcPts val="0"/>
              </a:spcBef>
              <a:spcAft>
                <a:spcPts val="0"/>
              </a:spcAft>
              <a:buNone/>
            </a:pPr>
            <a:r>
              <a:rPr b="0" lang="en-US" sz="900">
                <a:solidFill>
                  <a:srgbClr val="EEEEEE"/>
                </a:solidFill>
                <a:latin typeface="Microsoft YaHei"/>
                <a:ea typeface="Microsoft YaHei"/>
                <a:cs typeface="Microsoft YaHei"/>
                <a:sym typeface="Microsoft YaHei"/>
              </a:rPr>
              <a:t>哪些写法效果好/差</a:t>
            </a:r>
            <a:endParaRPr b="0" sz="900">
              <a:solidFill>
                <a:srgbClr val="EEEEEE"/>
              </a:solidFill>
              <a:latin typeface="Calibri"/>
              <a:ea typeface="Calibri"/>
              <a:cs typeface="Calibri"/>
              <a:sym typeface="Calibri"/>
            </a:endParaRPr>
          </a:p>
        </p:txBody>
      </p:sp>
      <p:sp>
        <p:nvSpPr>
          <p:cNvPr id="808" name="Google Shape;808;p25"/>
          <p:cNvSpPr/>
          <p:nvPr/>
        </p:nvSpPr>
        <p:spPr>
          <a:xfrm>
            <a:off x="6447308" y="2328084"/>
            <a:ext cx="1417320" cy="594360"/>
          </a:xfrm>
          <a:prstGeom prst="roundRect">
            <a:avLst>
              <a:gd fmla="val 16667" name="adj"/>
            </a:avLst>
          </a:prstGeom>
          <a:solidFill>
            <a:srgbClr val="C0392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9" name="Google Shape;809;p25"/>
          <p:cNvSpPr txBox="1"/>
          <p:nvPr/>
        </p:nvSpPr>
        <p:spPr>
          <a:xfrm>
            <a:off x="6493028" y="2346372"/>
            <a:ext cx="1325880" cy="5577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100">
                <a:solidFill>
                  <a:srgbClr val="FFFFFF"/>
                </a:solidFill>
                <a:latin typeface="Microsoft YaHei"/>
                <a:ea typeface="Microsoft YaHei"/>
                <a:cs typeface="Microsoft YaHei"/>
                <a:sym typeface="Microsoft YaHei"/>
              </a:rPr>
              <a:t>⑤ 蒸馏</a:t>
            </a:r>
            <a:endParaRPr b="1" sz="1100">
              <a:solidFill>
                <a:srgbClr val="FFFFFF"/>
              </a:solidFill>
              <a:latin typeface="Calibri"/>
              <a:ea typeface="Calibri"/>
              <a:cs typeface="Calibri"/>
              <a:sym typeface="Calibri"/>
            </a:endParaRPr>
          </a:p>
          <a:p>
            <a:pPr indent="0" lvl="0" marL="0" marR="0" rtl="0" algn="ctr">
              <a:spcBef>
                <a:spcPts val="0"/>
              </a:spcBef>
              <a:spcAft>
                <a:spcPts val="0"/>
              </a:spcAft>
              <a:buNone/>
            </a:pPr>
            <a:r>
              <a:rPr b="0" lang="en-US" sz="900">
                <a:solidFill>
                  <a:srgbClr val="EEEEEE"/>
                </a:solidFill>
                <a:latin typeface="Microsoft YaHei"/>
                <a:ea typeface="Microsoft YaHei"/>
                <a:cs typeface="Microsoft YaHei"/>
                <a:sym typeface="Microsoft YaHei"/>
              </a:rPr>
              <a:t>提炼最佳实践原则</a:t>
            </a:r>
            <a:endParaRPr b="0" sz="900">
              <a:solidFill>
                <a:srgbClr val="EEEEEE"/>
              </a:solidFill>
              <a:latin typeface="Calibri"/>
              <a:ea typeface="Calibri"/>
              <a:cs typeface="Calibri"/>
              <a:sym typeface="Calibri"/>
            </a:endParaRPr>
          </a:p>
        </p:txBody>
      </p:sp>
      <p:sp>
        <p:nvSpPr>
          <p:cNvPr id="810" name="Google Shape;810;p25"/>
          <p:cNvSpPr txBox="1"/>
          <p:nvPr/>
        </p:nvSpPr>
        <p:spPr>
          <a:xfrm>
            <a:off x="9040735" y="1998432"/>
            <a:ext cx="2743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AAAAAA"/>
                </a:solidFill>
                <a:latin typeface="Microsoft YaHei"/>
                <a:ea typeface="Microsoft YaHei"/>
                <a:cs typeface="Microsoft YaHei"/>
                <a:sym typeface="Microsoft YaHei"/>
              </a:rPr>
              <a:t>↘</a:t>
            </a:r>
            <a:endParaRPr b="1" sz="1800">
              <a:solidFill>
                <a:srgbClr val="AAAAAA"/>
              </a:solidFill>
              <a:latin typeface="Calibri"/>
              <a:ea typeface="Calibri"/>
              <a:cs typeface="Calibri"/>
              <a:sym typeface="Calibri"/>
            </a:endParaRPr>
          </a:p>
        </p:txBody>
      </p:sp>
      <p:sp>
        <p:nvSpPr>
          <p:cNvPr id="811" name="Google Shape;811;p25"/>
          <p:cNvSpPr txBox="1"/>
          <p:nvPr/>
        </p:nvSpPr>
        <p:spPr>
          <a:xfrm>
            <a:off x="9457275" y="3280410"/>
            <a:ext cx="2743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AAAAAA"/>
                </a:solidFill>
                <a:latin typeface="Microsoft YaHei"/>
                <a:ea typeface="Microsoft YaHei"/>
                <a:cs typeface="Microsoft YaHei"/>
                <a:sym typeface="Microsoft YaHei"/>
              </a:rPr>
              <a:t>↙</a:t>
            </a:r>
            <a:endParaRPr b="1" sz="1800">
              <a:solidFill>
                <a:srgbClr val="AAAAAA"/>
              </a:solidFill>
              <a:latin typeface="Calibri"/>
              <a:ea typeface="Calibri"/>
              <a:cs typeface="Calibri"/>
              <a:sym typeface="Calibri"/>
            </a:endParaRPr>
          </a:p>
        </p:txBody>
      </p:sp>
      <p:sp>
        <p:nvSpPr>
          <p:cNvPr id="812" name="Google Shape;812;p25"/>
          <p:cNvSpPr txBox="1"/>
          <p:nvPr/>
        </p:nvSpPr>
        <p:spPr>
          <a:xfrm>
            <a:off x="8366760" y="4072715"/>
            <a:ext cx="2743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AAAAAA"/>
                </a:solidFill>
                <a:latin typeface="Microsoft YaHei"/>
                <a:ea typeface="Microsoft YaHei"/>
                <a:cs typeface="Microsoft YaHei"/>
                <a:sym typeface="Microsoft YaHei"/>
              </a:rPr>
              <a:t>←</a:t>
            </a:r>
            <a:endParaRPr b="1" sz="1800">
              <a:solidFill>
                <a:srgbClr val="AAAAAA"/>
              </a:solidFill>
              <a:latin typeface="Calibri"/>
              <a:ea typeface="Calibri"/>
              <a:cs typeface="Calibri"/>
              <a:sym typeface="Calibri"/>
            </a:endParaRPr>
          </a:p>
        </p:txBody>
      </p:sp>
      <p:sp>
        <p:nvSpPr>
          <p:cNvPr id="813" name="Google Shape;813;p25"/>
          <p:cNvSpPr txBox="1"/>
          <p:nvPr/>
        </p:nvSpPr>
        <p:spPr>
          <a:xfrm>
            <a:off x="7276244" y="3280410"/>
            <a:ext cx="2743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AAAAAA"/>
                </a:solidFill>
                <a:latin typeface="Microsoft YaHei"/>
                <a:ea typeface="Microsoft YaHei"/>
                <a:cs typeface="Microsoft YaHei"/>
                <a:sym typeface="Microsoft YaHei"/>
              </a:rPr>
              <a:t>↖</a:t>
            </a:r>
            <a:endParaRPr b="1" sz="1800">
              <a:solidFill>
                <a:srgbClr val="AAAAAA"/>
              </a:solidFill>
              <a:latin typeface="Calibri"/>
              <a:ea typeface="Calibri"/>
              <a:cs typeface="Calibri"/>
              <a:sym typeface="Calibri"/>
            </a:endParaRPr>
          </a:p>
        </p:txBody>
      </p:sp>
      <p:sp>
        <p:nvSpPr>
          <p:cNvPr id="814" name="Google Shape;814;p25"/>
          <p:cNvSpPr txBox="1"/>
          <p:nvPr/>
        </p:nvSpPr>
        <p:spPr>
          <a:xfrm>
            <a:off x="7692784" y="1998432"/>
            <a:ext cx="2743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AAAAAA"/>
                </a:solidFill>
                <a:latin typeface="Microsoft YaHei"/>
                <a:ea typeface="Microsoft YaHei"/>
                <a:cs typeface="Microsoft YaHei"/>
                <a:sym typeface="Microsoft YaHei"/>
              </a:rPr>
              <a:t>↗</a:t>
            </a:r>
            <a:endParaRPr b="1" sz="1800">
              <a:solidFill>
                <a:srgbClr val="AAAAAA"/>
              </a:solidFill>
              <a:latin typeface="Calibri"/>
              <a:ea typeface="Calibri"/>
              <a:cs typeface="Calibri"/>
              <a:sym typeface="Calibri"/>
            </a:endParaRPr>
          </a:p>
        </p:txBody>
      </p:sp>
      <p:sp>
        <p:nvSpPr>
          <p:cNvPr id="815" name="Google Shape;815;p25"/>
          <p:cNvSpPr/>
          <p:nvPr/>
        </p:nvSpPr>
        <p:spPr>
          <a:xfrm>
            <a:off x="7909560" y="2560320"/>
            <a:ext cx="1188720" cy="1005840"/>
          </a:xfrm>
          <a:prstGeom prst="ellipse">
            <a:avLst/>
          </a:prstGeom>
          <a:solidFill>
            <a:srgbClr val="1A1A2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6" name="Google Shape;816;p25"/>
          <p:cNvSpPr txBox="1"/>
          <p:nvPr/>
        </p:nvSpPr>
        <p:spPr>
          <a:xfrm>
            <a:off x="7955280" y="2651760"/>
            <a:ext cx="1097280" cy="8229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300">
                <a:solidFill>
                  <a:srgbClr val="FF8C00"/>
                </a:solidFill>
                <a:latin typeface="Microsoft YaHei"/>
                <a:ea typeface="Microsoft YaHei"/>
                <a:cs typeface="Microsoft YaHei"/>
                <a:sym typeface="Microsoft YaHei"/>
              </a:rPr>
              <a:t>经验积累循环</a:t>
            </a:r>
            <a:endParaRPr b="1" sz="1300">
              <a:solidFill>
                <a:srgbClr val="FF8C00"/>
              </a:solidFill>
              <a:latin typeface="Calibri"/>
              <a:ea typeface="Calibri"/>
              <a:cs typeface="Calibri"/>
              <a:sym typeface="Calibri"/>
            </a:endParaRPr>
          </a:p>
          <a:p>
            <a:pPr indent="0" lvl="0" marL="0" marR="0" rtl="0" algn="ctr">
              <a:spcBef>
                <a:spcPts val="0"/>
              </a:spcBef>
              <a:spcAft>
                <a:spcPts val="0"/>
              </a:spcAft>
              <a:buNone/>
            </a:pPr>
            <a:r>
              <a:rPr b="0" lang="en-US" sz="1100">
                <a:solidFill>
                  <a:srgbClr val="CCCCCC"/>
                </a:solidFill>
                <a:latin typeface="Microsoft YaHei"/>
                <a:ea typeface="Microsoft YaHei"/>
                <a:cs typeface="Microsoft YaHei"/>
                <a:sym typeface="Microsoft YaHei"/>
              </a:rPr>
              <a:t>持续优化</a:t>
            </a:r>
            <a:endParaRPr b="0" sz="1100">
              <a:solidFill>
                <a:srgbClr val="CCCCCC"/>
              </a:solidFill>
              <a:latin typeface="Calibri"/>
              <a:ea typeface="Calibri"/>
              <a:cs typeface="Calibri"/>
              <a:sym typeface="Calibri"/>
            </a:endParaRPr>
          </a:p>
        </p:txBody>
      </p:sp>
      <p:sp>
        <p:nvSpPr>
          <p:cNvPr id="817" name="Google Shape;817;p25"/>
          <p:cNvSpPr txBox="1"/>
          <p:nvPr/>
        </p:nvSpPr>
        <p:spPr>
          <a:xfrm>
            <a:off x="8869680" y="4983480"/>
            <a:ext cx="22860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000">
                <a:solidFill>
                  <a:srgbClr val="999999"/>
                </a:solidFill>
                <a:latin typeface="Microsoft YaHei"/>
                <a:ea typeface="Microsoft YaHei"/>
                <a:cs typeface="Microsoft YaHei"/>
                <a:sym typeface="Microsoft YaHei"/>
              </a:rPr>
              <a:t>每个循环积累的经验提升后续 Spec 质量</a:t>
            </a:r>
            <a:endParaRPr b="0" sz="1000">
              <a:solidFill>
                <a:srgbClr val="999999"/>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1" name="Shape 821"/>
        <p:cNvGrpSpPr/>
        <p:nvPr/>
      </p:nvGrpSpPr>
      <p:grpSpPr>
        <a:xfrm>
          <a:off x="0" y="0"/>
          <a:ext cx="0" cy="0"/>
          <a:chOff x="0" y="0"/>
          <a:chExt cx="0" cy="0"/>
        </a:xfrm>
      </p:grpSpPr>
      <p:sp>
        <p:nvSpPr>
          <p:cNvPr id="822" name="Google Shape;822;p26"/>
          <p:cNvSpPr txBox="1"/>
          <p:nvPr/>
        </p:nvSpPr>
        <p:spPr>
          <a:xfrm>
            <a:off x="548640" y="274320"/>
            <a:ext cx="9502775"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 4：Domain-Specific Packs（领域规格智能包）</a:t>
            </a:r>
            <a:endParaRPr b="1" sz="2400">
              <a:solidFill>
                <a:srgbClr val="333333"/>
              </a:solidFill>
              <a:latin typeface="Microsoft YaHei"/>
              <a:ea typeface="Microsoft YaHei"/>
              <a:cs typeface="Microsoft YaHei"/>
              <a:sym typeface="Microsoft YaHei"/>
            </a:endParaRPr>
          </a:p>
        </p:txBody>
      </p:sp>
      <p:sp>
        <p:nvSpPr>
          <p:cNvPr id="823" name="Google Shape;823;p26"/>
          <p:cNvSpPr/>
          <p:nvPr/>
        </p:nvSpPr>
        <p:spPr>
          <a:xfrm>
            <a:off x="548640" y="77724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4" name="Google Shape;824;p26"/>
          <p:cNvSpPr/>
          <p:nvPr/>
        </p:nvSpPr>
        <p:spPr>
          <a:xfrm>
            <a:off x="548640" y="1051560"/>
            <a:ext cx="10058400" cy="1371600"/>
          </a:xfrm>
          <a:prstGeom prst="roundRect">
            <a:avLst>
              <a:gd fmla="val 16667" name="adj"/>
            </a:avLst>
          </a:prstGeom>
          <a:solidFill>
            <a:srgbClr val="E6F7F7"/>
          </a:solidFill>
          <a:ln cap="flat" cmpd="sng" w="12700">
            <a:solidFill>
              <a:srgbClr val="008B8B"/>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26"/>
          <p:cNvSpPr txBox="1"/>
          <p:nvPr/>
        </p:nvSpPr>
        <p:spPr>
          <a:xfrm>
            <a:off x="822960" y="1143000"/>
            <a:ext cx="9509760" cy="11201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sz="14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400">
                <a:solidFill>
                  <a:srgbClr val="333333"/>
                </a:solidFill>
                <a:latin typeface="Microsoft YaHei"/>
                <a:ea typeface="Microsoft YaHei"/>
                <a:cs typeface="Microsoft YaHei"/>
                <a:sym typeface="Microsoft YaHei"/>
              </a:rPr>
              <a:t>通用大模型擅长写代码，但不懂行业。它不知道电信系统必须符合 3GPP 标准、汽车软件必须通过 ISO 26262 认证、能源系统必须满足 IEC 62109。而我司多年积累的行业 Know-How，业务规则、合规标准、最佳实践，恰好填补了这个空白。将这些 domain knowledge 封装成结构化的 领域规格包（Domain Pack），就是把公司的隐性知识变成可复用的数字资产。</a:t>
            </a:r>
            <a:endParaRPr b="0" sz="1400">
              <a:solidFill>
                <a:srgbClr val="333333"/>
              </a:solidFill>
              <a:latin typeface="Microsoft YaHei"/>
              <a:ea typeface="Microsoft YaHei"/>
              <a:cs typeface="Microsoft YaHei"/>
              <a:sym typeface="Microsoft YaHei"/>
            </a:endParaRPr>
          </a:p>
        </p:txBody>
      </p:sp>
      <p:sp>
        <p:nvSpPr>
          <p:cNvPr id="826" name="Google Shape;826;p26"/>
          <p:cNvSpPr txBox="1"/>
          <p:nvPr/>
        </p:nvSpPr>
        <p:spPr>
          <a:xfrm>
            <a:off x="548640" y="2606040"/>
            <a:ext cx="10058400" cy="23456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008B8B"/>
                </a:solidFill>
                <a:latin typeface="Microsoft YaHei"/>
                <a:ea typeface="Microsoft YaHei"/>
                <a:cs typeface="Microsoft YaHei"/>
                <a:sym typeface="Microsoft YaHei"/>
              </a:rPr>
              <a:t>什么是 Domain Pack？</a:t>
            </a:r>
            <a:endParaRPr b="1" sz="1600">
              <a:solidFill>
                <a:srgbClr val="008B8B"/>
              </a:solidFill>
              <a:latin typeface="Microsoft YaHei"/>
              <a:ea typeface="Microsoft YaHei"/>
              <a:cs typeface="Microsoft YaHei"/>
              <a:sym typeface="Microsoft YaHei"/>
            </a:endParaRPr>
          </a:p>
          <a:p>
            <a:pPr indent="0" lvl="0" marL="0" marR="0" rtl="0" algn="l">
              <a:spcBef>
                <a:spcPts val="600"/>
              </a:spcBef>
              <a:spcAft>
                <a:spcPts val="0"/>
              </a:spcAft>
              <a:buNone/>
            </a:pPr>
            <a:r>
              <a:rPr b="0" lang="en-US" sz="1200">
                <a:solidFill>
                  <a:schemeClr val="dk1"/>
                </a:solidFill>
                <a:latin typeface="Microsoft YaHei"/>
                <a:ea typeface="Microsoft YaHei"/>
                <a:cs typeface="Microsoft YaHei"/>
                <a:sym typeface="Microsoft YaHei"/>
              </a:rPr>
              <a:t>一个 Domain Pack 本质上是一组行业专属的"规格模板 + 规则集 + 验证逻辑"，以 OpenSpec 的标准格式封装。当 AI 在生成需求规格和代码时，Domain Pack 会作为先验知识（prior knowledge）注入工作流，使 AI 的产出自动遵守该行业的规范和约束条件。</a:t>
            </a:r>
            <a:endParaRPr b="0" sz="1200">
              <a:solidFill>
                <a:schemeClr val="dk1"/>
              </a:solidFill>
              <a:latin typeface="Microsoft YaHei"/>
              <a:ea typeface="Microsoft YaHei"/>
              <a:cs typeface="Microsoft YaHei"/>
              <a:sym typeface="Microsoft YaHei"/>
            </a:endParaRPr>
          </a:p>
          <a:p>
            <a:pPr indent="0" lvl="0" marL="0" marR="0" rtl="0" algn="l">
              <a:spcBef>
                <a:spcPts val="1000"/>
              </a:spcBef>
              <a:spcAft>
                <a:spcPts val="0"/>
              </a:spcAft>
              <a:buNone/>
            </a:pPr>
            <a:r>
              <a:t/>
            </a:r>
            <a:endParaRPr b="0" sz="13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300">
                <a:solidFill>
                  <a:srgbClr val="333333"/>
                </a:solidFill>
                <a:latin typeface="Microsoft YaHei"/>
                <a:ea typeface="Microsoft YaHei"/>
                <a:cs typeface="Microsoft YaHei"/>
                <a:sym typeface="Microsoft YaHei"/>
              </a:rPr>
              <a:t>一个 Pack潜在包含的具体内容：</a:t>
            </a:r>
            <a:endParaRPr b="1"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333333"/>
                </a:solidFill>
                <a:latin typeface="Microsoft YaHei"/>
                <a:ea typeface="Microsoft YaHei"/>
                <a:cs typeface="Microsoft YaHei"/>
                <a:sym typeface="Microsoft YaHei"/>
              </a:rPr>
              <a:t>• Rules（行业规则）：如"所有交易必须经过风控引擎"、"患者数据必须加密存储"</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Spec 模板：预定义的需求规格模板，包含行业必填字段和标准结构</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Schema 定义：数据结构和接口的行业标准约束</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 验证规则（Validators）：自动检查生成的代码是否违反行业规范</a:t>
            </a:r>
            <a:endParaRPr b="0" sz="1200">
              <a:solidFill>
                <a:srgbClr val="333333"/>
              </a:solidFill>
              <a:latin typeface="Microsoft YaHei"/>
              <a:ea typeface="Microsoft YaHei"/>
              <a:cs typeface="Microsoft YaHei"/>
              <a:sym typeface="Microsoft YaHei"/>
            </a:endParaRPr>
          </a:p>
        </p:txBody>
      </p:sp>
      <p:sp>
        <p:nvSpPr>
          <p:cNvPr id="827" name="Google Shape;827;p26"/>
          <p:cNvSpPr/>
          <p:nvPr/>
        </p:nvSpPr>
        <p:spPr>
          <a:xfrm>
            <a:off x="548640" y="566928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26"/>
          <p:cNvSpPr txBox="1"/>
          <p:nvPr/>
        </p:nvSpPr>
        <p:spPr>
          <a:xfrm>
            <a:off x="548640" y="576072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类比：如果 OpenSpec 是一个"AI 建筑师"，那么 Domain Pack 就是"行业建筑规范手册"——没有它，AI 盖的房子不合规。</a:t>
            </a:r>
            <a:endParaRPr b="0" sz="1200">
              <a:solidFill>
                <a:srgbClr val="999999"/>
              </a:solidFill>
              <a:latin typeface="Microsoft YaHei"/>
              <a:ea typeface="Microsoft YaHei"/>
              <a:cs typeface="Microsoft YaHei"/>
              <a:sym typeface="Microsoft YaHei"/>
            </a:endParaRPr>
          </a:p>
        </p:txBody>
      </p:sp>
      <p:sp>
        <p:nvSpPr>
          <p:cNvPr id="829" name="Google Shape;829;p26"/>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24/41</a:t>
            </a:r>
            <a:endParaRPr b="0" sz="1100">
              <a:solidFill>
                <a:srgbClr val="999999"/>
              </a:solidFill>
              <a:latin typeface="Microsoft YaHei"/>
              <a:ea typeface="Microsoft YaHei"/>
              <a:cs typeface="Microsoft YaHei"/>
              <a:sym typeface="Microsoft YaHei"/>
            </a:endParaRPr>
          </a:p>
        </p:txBody>
      </p:sp>
      <p:sp>
        <p:nvSpPr>
          <p:cNvPr id="830" name="Google Shape;830;p26"/>
          <p:cNvSpPr txBox="1"/>
          <p:nvPr/>
        </p:nvSpPr>
        <p:spPr>
          <a:xfrm>
            <a:off x="784860" y="1096645"/>
            <a:ext cx="6096000" cy="3371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008B8B"/>
                </a:solidFill>
                <a:latin typeface="Microsoft YaHei"/>
                <a:ea typeface="Microsoft YaHei"/>
                <a:cs typeface="Microsoft YaHei"/>
                <a:sym typeface="Microsoft YaHei"/>
              </a:rPr>
              <a:t>现状问题：</a:t>
            </a:r>
            <a:endParaRPr b="1" sz="1600">
              <a:solidFill>
                <a:srgbClr val="008B8B"/>
              </a:solidFill>
              <a:latin typeface="Microsoft YaHei"/>
              <a:ea typeface="Microsoft YaHei"/>
              <a:cs typeface="Microsoft YaHei"/>
              <a:sym typeface="Microsoft YaHe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27"/>
          <p:cNvSpPr txBox="1"/>
          <p:nvPr/>
        </p:nvSpPr>
        <p:spPr>
          <a:xfrm>
            <a:off x="548640" y="274320"/>
            <a:ext cx="972947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潜在研究方向4： Domain-Specific Pack - 华为潜在行业落地机会</a:t>
            </a:r>
            <a:endParaRPr b="1" sz="2400">
              <a:solidFill>
                <a:srgbClr val="333333"/>
              </a:solidFill>
              <a:latin typeface="Microsoft YaHei"/>
              <a:ea typeface="Microsoft YaHei"/>
              <a:cs typeface="Microsoft YaHei"/>
              <a:sym typeface="Microsoft YaHei"/>
            </a:endParaRPr>
          </a:p>
        </p:txBody>
      </p:sp>
      <p:sp>
        <p:nvSpPr>
          <p:cNvPr id="836" name="Google Shape;836;p27"/>
          <p:cNvSpPr/>
          <p:nvPr/>
        </p:nvSpPr>
        <p:spPr>
          <a:xfrm>
            <a:off x="548640" y="77724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7" name="Google Shape;837;p27"/>
          <p:cNvSpPr/>
          <p:nvPr/>
        </p:nvSpPr>
        <p:spPr>
          <a:xfrm>
            <a:off x="548640" y="1097280"/>
            <a:ext cx="3108960" cy="3108960"/>
          </a:xfrm>
          <a:prstGeom prst="roundRect">
            <a:avLst>
              <a:gd fmla="val 16667" name="adj"/>
            </a:avLst>
          </a:prstGeom>
          <a:solidFill>
            <a:srgbClr val="E8F0FE"/>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27"/>
          <p:cNvSpPr txBox="1"/>
          <p:nvPr/>
        </p:nvSpPr>
        <p:spPr>
          <a:xfrm>
            <a:off x="731520" y="1234440"/>
            <a:ext cx="2743200" cy="254825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0078D4"/>
                </a:solidFill>
                <a:latin typeface="Microsoft YaHei"/>
                <a:ea typeface="Microsoft YaHei"/>
                <a:cs typeface="Microsoft YaHei"/>
                <a:sym typeface="Microsoft YaHei"/>
              </a:rPr>
              <a:t>ICT / 电信 Pack</a:t>
            </a:r>
            <a:endParaRPr b="1" sz="1500">
              <a:solidFill>
                <a:srgbClr val="0078D4"/>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为什么？</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公司在电信领域已积累了 3GPP 协议栈、网络运维、ADN 自动驾驶网络等深厚经验。这些就是现成的 domain knowledge，只需结构化封装即可变成 Pack。</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333333"/>
                </a:solidFill>
                <a:latin typeface="Microsoft YaHei"/>
                <a:ea typeface="Microsoft YaHei"/>
                <a:cs typeface="Microsoft YaHei"/>
                <a:sym typeface="Microsoft YaHei"/>
              </a:rPr>
              <a:t>Pack 潜在包含的内容：</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3GPP 协议合规条款（TS 38 系列）</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协议状态机异常分支模板</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网络功能 spec 模板（RAN/Core）</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电信安全标准合规检查</a:t>
            </a:r>
            <a:endParaRPr b="0" sz="1100">
              <a:solidFill>
                <a:srgbClr val="333333"/>
              </a:solidFill>
              <a:latin typeface="Microsoft YaHei"/>
              <a:ea typeface="Microsoft YaHei"/>
              <a:cs typeface="Microsoft YaHei"/>
              <a:sym typeface="Microsoft YaHei"/>
            </a:endParaRPr>
          </a:p>
        </p:txBody>
      </p:sp>
      <p:sp>
        <p:nvSpPr>
          <p:cNvPr id="839" name="Google Shape;839;p27"/>
          <p:cNvSpPr/>
          <p:nvPr/>
        </p:nvSpPr>
        <p:spPr>
          <a:xfrm>
            <a:off x="3931920" y="1097280"/>
            <a:ext cx="3108960" cy="310896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0" name="Google Shape;840;p27"/>
          <p:cNvSpPr txBox="1"/>
          <p:nvPr/>
        </p:nvSpPr>
        <p:spPr>
          <a:xfrm>
            <a:off x="4114800" y="1234440"/>
            <a:ext cx="2743200" cy="23787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107C10"/>
                </a:solidFill>
                <a:latin typeface="Microsoft YaHei"/>
                <a:ea typeface="Microsoft YaHei"/>
                <a:cs typeface="Microsoft YaHei"/>
                <a:sym typeface="Microsoft YaHei"/>
              </a:rPr>
              <a:t>数字能源 Pack</a:t>
            </a:r>
            <a:endParaRPr b="1" sz="1500">
              <a:solidFill>
                <a:srgbClr val="107C10"/>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市场驱动力：</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新能源并网标准日趋严格，IEC 62109/62619 合规是储能系统的准入门槛。能源企业愿意为确定性的合规方案支付高溢价。</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333333"/>
                </a:solidFill>
                <a:latin typeface="Microsoft YaHei"/>
                <a:ea typeface="Microsoft YaHei"/>
                <a:cs typeface="Microsoft YaHei"/>
                <a:sym typeface="Microsoft YaHei"/>
              </a:rPr>
              <a:t>Pack 潜在包含的内容：</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IEC 62109/62619 并网安全规则集</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构网型光储五层安全体系模板</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弱电网频率支撑策略 schema</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极端工况异常场景库</a:t>
            </a:r>
            <a:endParaRPr b="0" sz="1100">
              <a:solidFill>
                <a:srgbClr val="333333"/>
              </a:solidFill>
              <a:latin typeface="Microsoft YaHei"/>
              <a:ea typeface="Microsoft YaHei"/>
              <a:cs typeface="Microsoft YaHei"/>
              <a:sym typeface="Microsoft YaHei"/>
            </a:endParaRPr>
          </a:p>
        </p:txBody>
      </p:sp>
      <p:sp>
        <p:nvSpPr>
          <p:cNvPr id="841" name="Google Shape;841;p27"/>
          <p:cNvSpPr/>
          <p:nvPr/>
        </p:nvSpPr>
        <p:spPr>
          <a:xfrm>
            <a:off x="7315200" y="1097280"/>
            <a:ext cx="3108960" cy="3108960"/>
          </a:xfrm>
          <a:prstGeom prst="roundRect">
            <a:avLst>
              <a:gd fmla="val 16667" name="adj"/>
            </a:avLst>
          </a:prstGeom>
          <a:solidFill>
            <a:srgbClr val="FEF3E8"/>
          </a:solidFill>
          <a:ln cap="flat" cmpd="sng" w="12700">
            <a:solidFill>
              <a:srgbClr val="E86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27"/>
          <p:cNvSpPr txBox="1"/>
          <p:nvPr/>
        </p:nvSpPr>
        <p:spPr>
          <a:xfrm>
            <a:off x="7498080" y="1234440"/>
            <a:ext cx="2743200" cy="23787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E86C00"/>
                </a:solidFill>
                <a:latin typeface="Microsoft YaHei"/>
                <a:ea typeface="Microsoft YaHei"/>
                <a:cs typeface="Microsoft YaHei"/>
                <a:sym typeface="Microsoft YaHei"/>
              </a:rPr>
              <a:t>智能汽车 Pack</a:t>
            </a:r>
            <a:endParaRPr b="1" sz="1500">
              <a:solidFill>
                <a:srgbClr val="E86C00"/>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市场驱动力：</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lang="en-US" sz="1100">
                <a:solidFill>
                  <a:srgbClr val="333333"/>
                </a:solidFill>
                <a:latin typeface="Microsoft YaHei"/>
                <a:ea typeface="Microsoft YaHei"/>
                <a:cs typeface="Microsoft YaHei"/>
                <a:sym typeface="Microsoft YaHei"/>
              </a:rPr>
              <a:t>华为 MDC 已获 ASIL-D 最高功能安全认证，ADS 4 WEWA 架构积累了 6 亿公里仿真验证经验。将这些经验封装为 Pack 是自然延伸。</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333333"/>
                </a:solidFill>
                <a:latin typeface="Microsoft YaHei"/>
                <a:ea typeface="Microsoft YaHei"/>
                <a:cs typeface="Microsoft YaHei"/>
                <a:sym typeface="Microsoft YaHei"/>
              </a:rPr>
              <a:t>Pack 潜在包含的内容：</a:t>
            </a:r>
            <a:endParaRPr b="1"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ASIL 等级 spec 模板</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AUTOSAR 架构约束</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OTA 更新安全验证</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IEC 61508 工业安全标准</a:t>
            </a:r>
            <a:endParaRPr b="0" sz="1100">
              <a:solidFill>
                <a:srgbClr val="333333"/>
              </a:solidFill>
              <a:latin typeface="Microsoft YaHei"/>
              <a:ea typeface="Microsoft YaHei"/>
              <a:cs typeface="Microsoft YaHei"/>
              <a:sym typeface="Microsoft YaHei"/>
            </a:endParaRPr>
          </a:p>
        </p:txBody>
      </p:sp>
      <p:sp>
        <p:nvSpPr>
          <p:cNvPr id="843" name="Google Shape;843;p27"/>
          <p:cNvSpPr/>
          <p:nvPr/>
        </p:nvSpPr>
        <p:spPr>
          <a:xfrm>
            <a:off x="548640" y="566928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4" name="Google Shape;844;p27"/>
          <p:cNvSpPr txBox="1"/>
          <p:nvPr/>
        </p:nvSpPr>
        <p:spPr>
          <a:xfrm>
            <a:off x="548640" y="576072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落地路线：电信 Pack（Q1，积累最深）→ 智能汽车 Pack（Q2，ASIL-D 认证经验）→ 数字能源 Pack（Q3，并网安全）→ 更多业务域</a:t>
            </a:r>
            <a:endParaRPr b="0" sz="1200">
              <a:solidFill>
                <a:srgbClr val="999999"/>
              </a:solidFill>
              <a:latin typeface="Microsoft YaHei"/>
              <a:ea typeface="Microsoft YaHei"/>
              <a:cs typeface="Microsoft YaHei"/>
              <a:sym typeface="Microsoft YaHei"/>
            </a:endParaRPr>
          </a:p>
        </p:txBody>
      </p:sp>
      <p:sp>
        <p:nvSpPr>
          <p:cNvPr id="845" name="Google Shape;845;p27"/>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25/41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28"/>
          <p:cNvSpPr txBox="1"/>
          <p:nvPr/>
        </p:nvSpPr>
        <p:spPr>
          <a:xfrm>
            <a:off x="548640" y="274320"/>
            <a:ext cx="1032764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潜在研究方向4：Domain-Specific Packs-为什么是核心竞争差异化优势</a:t>
            </a:r>
            <a:endParaRPr b="1" sz="2400">
              <a:solidFill>
                <a:srgbClr val="333333"/>
              </a:solidFill>
              <a:latin typeface="Microsoft YaHei"/>
              <a:ea typeface="Microsoft YaHei"/>
              <a:cs typeface="Microsoft YaHei"/>
              <a:sym typeface="Microsoft YaHei"/>
            </a:endParaRPr>
          </a:p>
        </p:txBody>
      </p:sp>
      <p:sp>
        <p:nvSpPr>
          <p:cNvPr id="851" name="Google Shape;851;p28"/>
          <p:cNvSpPr/>
          <p:nvPr/>
        </p:nvSpPr>
        <p:spPr>
          <a:xfrm>
            <a:off x="548640" y="77724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2" name="Google Shape;852;p28"/>
          <p:cNvSpPr txBox="1"/>
          <p:nvPr/>
        </p:nvSpPr>
        <p:spPr>
          <a:xfrm>
            <a:off x="548640" y="1005840"/>
            <a:ext cx="10058400" cy="256349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400">
                <a:solidFill>
                  <a:srgbClr val="333333"/>
                </a:solidFill>
                <a:latin typeface="Microsoft YaHei"/>
                <a:ea typeface="Microsoft YaHei"/>
                <a:cs typeface="Microsoft YaHei"/>
                <a:sym typeface="Microsoft YaHei"/>
              </a:rPr>
              <a:t>差异化分析：为什么别人难以复制</a:t>
            </a:r>
            <a:endParaRPr b="1" sz="1600">
              <a:solidFill>
                <a:srgbClr val="008B8B"/>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400">
                <a:solidFill>
                  <a:srgbClr val="333333"/>
                </a:solidFill>
                <a:latin typeface="Microsoft YaHei"/>
                <a:ea typeface="Microsoft YaHei"/>
                <a:cs typeface="Microsoft YaHei"/>
                <a:sym typeface="Microsoft YaHei"/>
              </a:rPr>
              <a:t>1. Domain Knowledge 是稀缺资源</a:t>
            </a:r>
            <a:endParaRPr b="1" sz="14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lang="en-US" sz="1400">
                <a:solidFill>
                  <a:srgbClr val="333333"/>
                </a:solidFill>
                <a:latin typeface="Microsoft YaHei"/>
                <a:ea typeface="Microsoft YaHei"/>
                <a:cs typeface="Microsoft YaHei"/>
                <a:sym typeface="Microsoft YaHei"/>
              </a:rPr>
              <a:t>行业规则、合规标准、最佳实践，这些知识散布在华为行业专家的脑中、监管文件里、和多年项目经验中。它们无法通过简单的网页爬取或模型训练获得。公司已有的行业积累，就是天然的数据差异化优势。</a:t>
            </a:r>
            <a:endParaRPr sz="14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t/>
            </a:r>
            <a:endParaRPr b="0" sz="13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rPr b="1" lang="en-US" sz="1400">
                <a:solidFill>
                  <a:srgbClr val="333333"/>
                </a:solidFill>
                <a:latin typeface="Microsoft YaHei"/>
                <a:ea typeface="Microsoft YaHei"/>
                <a:cs typeface="Microsoft YaHei"/>
                <a:sym typeface="Microsoft YaHei"/>
              </a:rPr>
              <a:t>2. 先发优势带来累积效应 （呼应研究方向3)</a:t>
            </a:r>
            <a:endParaRPr b="1" sz="14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lang="en-US" sz="1400">
                <a:solidFill>
                  <a:srgbClr val="333333"/>
                </a:solidFill>
                <a:latin typeface="Microsoft YaHei"/>
                <a:ea typeface="Microsoft YaHei"/>
                <a:cs typeface="Microsoft YaHei"/>
                <a:sym typeface="Microsoft YaHei"/>
              </a:rPr>
              <a:t>第一个做出高质量电信 Pack 的团队，会吸引电信领域的用户；用户的使用反馈又会帮助改进 Pack 质量，形成"越用越好→越好越多人用"的正循环。后来者即使有技术能力，也缺乏这个初始数据积累。</a:t>
            </a:r>
            <a:endParaRPr b="0" sz="1300">
              <a:solidFill>
                <a:srgbClr val="333333"/>
              </a:solidFill>
              <a:latin typeface="Microsoft YaHei"/>
              <a:ea typeface="Microsoft YaHei"/>
              <a:cs typeface="Microsoft YaHei"/>
              <a:sym typeface="Microsoft YaHei"/>
            </a:endParaRPr>
          </a:p>
          <a:p>
            <a:pPr indent="0" lvl="0" marL="0" marR="0" rtl="0" algn="l">
              <a:spcBef>
                <a:spcPts val="1000"/>
              </a:spcBef>
              <a:spcAft>
                <a:spcPts val="0"/>
              </a:spcAft>
              <a:buNone/>
            </a:pPr>
            <a:r>
              <a:t/>
            </a:r>
            <a:endParaRPr b="0" sz="1300">
              <a:solidFill>
                <a:srgbClr val="333333"/>
              </a:solidFill>
              <a:latin typeface="Microsoft YaHei"/>
              <a:ea typeface="Microsoft YaHei"/>
              <a:cs typeface="Microsoft YaHei"/>
              <a:sym typeface="Microsoft YaHei"/>
            </a:endParaRPr>
          </a:p>
        </p:txBody>
      </p:sp>
      <p:sp>
        <p:nvSpPr>
          <p:cNvPr id="853" name="Google Shape;853;p28"/>
          <p:cNvSpPr/>
          <p:nvPr/>
        </p:nvSpPr>
        <p:spPr>
          <a:xfrm>
            <a:off x="548640" y="5669280"/>
            <a:ext cx="10058400" cy="50800"/>
          </a:xfrm>
          <a:prstGeom prst="rect">
            <a:avLst/>
          </a:prstGeom>
          <a:solidFill>
            <a:srgbClr val="008B8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4" name="Google Shape;854;p28"/>
          <p:cNvSpPr txBox="1"/>
          <p:nvPr/>
        </p:nvSpPr>
        <p:spPr>
          <a:xfrm>
            <a:off x="548640" y="5760720"/>
            <a:ext cx="10058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333333"/>
                </a:solidFill>
                <a:latin typeface="Microsoft YaHei"/>
                <a:ea typeface="Microsoft YaHei"/>
                <a:cs typeface="Microsoft YaHei"/>
                <a:sym typeface="Microsoft YaHei"/>
              </a:rPr>
              <a:t>一句话总结：AI 能力人人都有，但 domain knowledge + 结构化封装 + 合规认证 = 难以逾越的竞争差异化优势。</a:t>
            </a:r>
            <a:endParaRPr b="0" sz="1200">
              <a:solidFill>
                <a:srgbClr val="999999"/>
              </a:solidFill>
              <a:latin typeface="Microsoft YaHei"/>
              <a:ea typeface="Microsoft YaHei"/>
              <a:cs typeface="Microsoft YaHei"/>
              <a:sym typeface="Microsoft YaHei"/>
            </a:endParaRPr>
          </a:p>
        </p:txBody>
      </p:sp>
      <p:sp>
        <p:nvSpPr>
          <p:cNvPr id="855" name="Google Shape;855;p28"/>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26/41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13E"/>
        </a:solidFill>
      </p:bgPr>
    </p:bg>
    <p:spTree>
      <p:nvGrpSpPr>
        <p:cNvPr id="859" name="Shape 859"/>
        <p:cNvGrpSpPr/>
        <p:nvPr/>
      </p:nvGrpSpPr>
      <p:grpSpPr>
        <a:xfrm>
          <a:off x="0" y="0"/>
          <a:ext cx="0" cy="0"/>
          <a:chOff x="0" y="0"/>
          <a:chExt cx="0" cy="0"/>
        </a:xfrm>
      </p:grpSpPr>
      <p:sp>
        <p:nvSpPr>
          <p:cNvPr id="860" name="Google Shape;860;p29"/>
          <p:cNvSpPr txBox="1"/>
          <p:nvPr/>
        </p:nvSpPr>
        <p:spPr>
          <a:xfrm>
            <a:off x="1371600" y="1371600"/>
            <a:ext cx="822960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600">
                <a:solidFill>
                  <a:srgbClr val="FFFFFF"/>
                </a:solidFill>
                <a:latin typeface="Microsoft YaHei"/>
                <a:ea typeface="Microsoft YaHei"/>
                <a:cs typeface="Microsoft YaHei"/>
                <a:sym typeface="Microsoft YaHei"/>
              </a:rPr>
              <a:t>附录 1：量化交易系统三方深度对比</a:t>
            </a:r>
            <a:endParaRPr b="1" sz="3600">
              <a:solidFill>
                <a:srgbClr val="FFFFFF"/>
              </a:solidFill>
              <a:latin typeface="Microsoft YaHei"/>
              <a:ea typeface="Microsoft YaHei"/>
              <a:cs typeface="Microsoft YaHei"/>
              <a:sym typeface="Microsoft YaHei"/>
            </a:endParaRPr>
          </a:p>
        </p:txBody>
      </p:sp>
      <p:sp>
        <p:nvSpPr>
          <p:cNvPr id="861" name="Google Shape;861;p29"/>
          <p:cNvSpPr/>
          <p:nvPr/>
        </p:nvSpPr>
        <p:spPr>
          <a:xfrm>
            <a:off x="4114800" y="2468880"/>
            <a:ext cx="274320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2" name="Google Shape;862;p29"/>
          <p:cNvSpPr txBox="1"/>
          <p:nvPr/>
        </p:nvSpPr>
        <p:spPr>
          <a:xfrm>
            <a:off x="1371600" y="2834640"/>
            <a:ext cx="8229600" cy="2743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rgbClr val="CCCCCC"/>
                </a:solidFill>
                <a:latin typeface="Microsoft YaHei"/>
                <a:ea typeface="Microsoft YaHei"/>
                <a:cs typeface="Microsoft YaHei"/>
                <a:sym typeface="Microsoft YaHei"/>
              </a:rPr>
              <a:t>Vanilla Claude Code  vs  原生 OpenSpec  vs  OpenSpec-HW2</a:t>
            </a:r>
            <a:endParaRPr b="1" sz="1800">
              <a:solidFill>
                <a:srgbClr val="CCCCCC"/>
              </a:solidFill>
              <a:latin typeface="Microsoft YaHei"/>
              <a:ea typeface="Microsoft YaHei"/>
              <a:cs typeface="Microsoft YaHei"/>
              <a:sym typeface="Microsoft YaHei"/>
            </a:endParaRPr>
          </a:p>
          <a:p>
            <a:pPr indent="0" lvl="0" marL="0" marR="0" rtl="0" algn="ctr">
              <a:spcBef>
                <a:spcPts val="1600"/>
              </a:spcBef>
              <a:spcAft>
                <a:spcPts val="0"/>
              </a:spcAft>
              <a:buNone/>
            </a:pPr>
            <a:r>
              <a:rPr b="0" lang="en-US" sz="1400">
                <a:solidFill>
                  <a:srgbClr val="999999"/>
                </a:solidFill>
                <a:latin typeface="Microsoft YaHei"/>
                <a:ea typeface="Microsoft YaHei"/>
                <a:cs typeface="Microsoft YaHei"/>
                <a:sym typeface="Microsoft YaHei"/>
              </a:rPr>
              <a:t>A股有色金属多因子量化交易系统  |  同一需求 · 三种实现 · 逐项拆解</a:t>
            </a:r>
            <a:endParaRPr b="0" sz="1400">
              <a:solidFill>
                <a:srgbClr val="999999"/>
              </a:solidFill>
              <a:latin typeface="Microsoft YaHei"/>
              <a:ea typeface="Microsoft YaHei"/>
              <a:cs typeface="Microsoft YaHei"/>
              <a:sym typeface="Microsoft YaHei"/>
            </a:endParaRPr>
          </a:p>
          <a:p>
            <a:pPr indent="0" lvl="0" marL="0" marR="0" rtl="0" algn="ctr">
              <a:spcBef>
                <a:spcPts val="1600"/>
              </a:spcBef>
              <a:spcAft>
                <a:spcPts val="0"/>
              </a:spcAft>
              <a:buNone/>
            </a:pPr>
            <a:r>
              <a:rPr b="0" lang="en-US" sz="1300">
                <a:solidFill>
                  <a:srgbClr val="E8F5E9"/>
                </a:solidFill>
                <a:latin typeface="Microsoft YaHei"/>
                <a:ea typeface="Microsoft YaHei"/>
                <a:cs typeface="Microsoft YaHei"/>
                <a:sym typeface="Microsoft YaHei"/>
              </a:rPr>
              <a:t>OpenSpec-HW2 版：43 源码文件 · 88 测试用例 · 6 层 Protocol 架构</a:t>
            </a:r>
            <a:endParaRPr b="0" sz="1300">
              <a:solidFill>
                <a:srgbClr val="E8F5E9"/>
              </a:solidFill>
              <a:latin typeface="Microsoft YaHei"/>
              <a:ea typeface="Microsoft YaHei"/>
              <a:cs typeface="Microsoft YaHei"/>
              <a:sym typeface="Microsoft YaHei"/>
            </a:endParaRPr>
          </a:p>
          <a:p>
            <a:pPr indent="0" lvl="0" marL="0" marR="0" rtl="0" algn="ctr">
              <a:spcBef>
                <a:spcPts val="400"/>
              </a:spcBef>
              <a:spcAft>
                <a:spcPts val="0"/>
              </a:spcAft>
              <a:buNone/>
            </a:pPr>
            <a:r>
              <a:rPr b="0" lang="en-US" sz="1300">
                <a:solidFill>
                  <a:srgbClr val="E3F2FD"/>
                </a:solidFill>
                <a:latin typeface="Microsoft YaHei"/>
                <a:ea typeface="Microsoft YaHei"/>
                <a:cs typeface="Microsoft YaHei"/>
                <a:sym typeface="Microsoft YaHei"/>
              </a:rPr>
              <a:t>原生 OpenSpec 版：35 源码文件 · 67 测试用例 · 分层架构</a:t>
            </a:r>
            <a:endParaRPr b="0" sz="1300">
              <a:solidFill>
                <a:srgbClr val="E3F2FD"/>
              </a:solidFill>
              <a:latin typeface="Microsoft YaHei"/>
              <a:ea typeface="Microsoft YaHei"/>
              <a:cs typeface="Microsoft YaHei"/>
              <a:sym typeface="Microsoft YaHei"/>
            </a:endParaRPr>
          </a:p>
          <a:p>
            <a:pPr indent="0" lvl="0" marL="0" marR="0" rtl="0" algn="ctr">
              <a:spcBef>
                <a:spcPts val="400"/>
              </a:spcBef>
              <a:spcAft>
                <a:spcPts val="0"/>
              </a:spcAft>
              <a:buNone/>
            </a:pPr>
            <a:r>
              <a:rPr b="0" lang="en-US" sz="1300">
                <a:solidFill>
                  <a:srgbClr val="F0F0F0"/>
                </a:solidFill>
                <a:latin typeface="Microsoft YaHei"/>
                <a:ea typeface="Microsoft YaHei"/>
                <a:cs typeface="Microsoft YaHei"/>
                <a:sym typeface="Microsoft YaHei"/>
              </a:rPr>
              <a:t>Vanilla Claude Code 版：5-6 源码文件 · 0 测试 · 扁平结构</a:t>
            </a:r>
            <a:endParaRPr b="0" sz="1300">
              <a:solidFill>
                <a:srgbClr val="F0F0F0"/>
              </a:solidFill>
              <a:latin typeface="Microsoft YaHei"/>
              <a:ea typeface="Microsoft YaHei"/>
              <a:cs typeface="Microsoft YaHei"/>
              <a:sym typeface="Microsoft YaHei"/>
            </a:endParaRPr>
          </a:p>
        </p:txBody>
      </p:sp>
      <p:sp>
        <p:nvSpPr>
          <p:cNvPr id="863" name="Google Shape;863;p29"/>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27/41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7" name="Shape 867"/>
        <p:cNvGrpSpPr/>
        <p:nvPr/>
      </p:nvGrpSpPr>
      <p:grpSpPr>
        <a:xfrm>
          <a:off x="0" y="0"/>
          <a:ext cx="0" cy="0"/>
          <a:chOff x="0" y="0"/>
          <a:chExt cx="0" cy="0"/>
        </a:xfrm>
      </p:grpSpPr>
      <p:sp>
        <p:nvSpPr>
          <p:cNvPr id="868" name="Google Shape;868;p30"/>
          <p:cNvSpPr txBox="1"/>
          <p:nvPr/>
        </p:nvSpPr>
        <p:spPr>
          <a:xfrm>
            <a:off x="457200" y="182880"/>
            <a:ext cx="1005840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三方架构深度对比：代码组织与设计模式</a:t>
            </a:r>
            <a:endParaRPr b="1" sz="2400">
              <a:solidFill>
                <a:srgbClr val="333333"/>
              </a:solidFill>
              <a:latin typeface="Microsoft YaHei"/>
              <a:ea typeface="Microsoft YaHei"/>
              <a:cs typeface="Microsoft YaHei"/>
              <a:sym typeface="Microsoft YaHei"/>
            </a:endParaRPr>
          </a:p>
        </p:txBody>
      </p:sp>
      <p:sp>
        <p:nvSpPr>
          <p:cNvPr id="869" name="Google Shape;869;p30"/>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0" name="Google Shape;870;p30"/>
          <p:cNvSpPr/>
          <p:nvPr/>
        </p:nvSpPr>
        <p:spPr>
          <a:xfrm>
            <a:off x="457200" y="960120"/>
            <a:ext cx="3291840" cy="466344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1" name="Google Shape;871;p30"/>
          <p:cNvSpPr txBox="1"/>
          <p:nvPr/>
        </p:nvSpPr>
        <p:spPr>
          <a:xfrm>
            <a:off x="640080" y="1069848"/>
            <a:ext cx="2926080" cy="44439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787878"/>
                </a:solidFill>
                <a:latin typeface="Microsoft YaHei"/>
                <a:ea typeface="Microsoft YaHei"/>
                <a:cs typeface="Microsoft YaHei"/>
                <a:sym typeface="Microsoft YaHei"/>
              </a:rPr>
              <a:t>Vanilla Claude Code</a:t>
            </a:r>
            <a:endParaRPr b="1" sz="1500">
              <a:solidFill>
                <a:srgbClr val="787878"/>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5-6 个文件 · 扁平结构</a:t>
            </a:r>
            <a:endParaRPr b="1" sz="12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787878"/>
                </a:solidFill>
                <a:latin typeface="Microsoft YaHei"/>
                <a:ea typeface="Microsoft YaHei"/>
                <a:cs typeface="Microsoft YaHei"/>
                <a:sym typeface="Microsoft YaHei"/>
              </a:rPr>
              <a:t>文件清单</a:t>
            </a:r>
            <a:endParaRPr b="1" sz="12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main.py: 策略逻辑+数据获取 (~400行)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backtest.py: 回测引擎 (~300行)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utils.py: 工具函数 (~200行)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config.py: 硬编码配置 (~100行)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app.py: Flask Web (~200行)</a:t>
            </a:r>
            <a:endParaRPr b="0" sz="10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787878"/>
                </a:solidFill>
                <a:latin typeface="Microsoft YaHei"/>
                <a:ea typeface="Microsoft YaHei"/>
                <a:cs typeface="Microsoft YaHei"/>
                <a:sym typeface="Microsoft YaHei"/>
              </a:rPr>
              <a:t>设计模式</a:t>
            </a:r>
            <a:endParaRPr b="1" sz="12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无设计模式，过程式代码</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函数间直接调用，高耦合</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无接口抽象</a:t>
            </a:r>
            <a:endParaRPr b="0" sz="1000">
              <a:solidFill>
                <a:srgbClr val="333333"/>
              </a:solidFill>
              <a:latin typeface="Microsoft YaHei"/>
              <a:ea typeface="Microsoft YaHei"/>
              <a:cs typeface="Microsoft YaHei"/>
              <a:sym typeface="Microsoft YaHei"/>
            </a:endParaRPr>
          </a:p>
        </p:txBody>
      </p:sp>
      <p:sp>
        <p:nvSpPr>
          <p:cNvPr id="872" name="Google Shape;872;p30"/>
          <p:cNvSpPr/>
          <p:nvPr/>
        </p:nvSpPr>
        <p:spPr>
          <a:xfrm>
            <a:off x="3977640" y="960120"/>
            <a:ext cx="3291840" cy="466344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30"/>
          <p:cNvSpPr txBox="1"/>
          <p:nvPr/>
        </p:nvSpPr>
        <p:spPr>
          <a:xfrm>
            <a:off x="4160520" y="1069848"/>
            <a:ext cx="2926080" cy="44439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0078D4"/>
                </a:solidFill>
                <a:latin typeface="Microsoft YaHei"/>
                <a:ea typeface="Microsoft YaHei"/>
                <a:cs typeface="Microsoft YaHei"/>
                <a:sym typeface="Microsoft YaHei"/>
              </a:rPr>
              <a:t>原生 OpenSpec</a:t>
            </a:r>
            <a:endParaRPr b="1" sz="1500">
              <a:solidFill>
                <a:srgbClr val="0078D4"/>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35 个文件 · 分层架构</a:t>
            </a:r>
            <a:endParaRPr b="1" sz="12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0078D4"/>
                </a:solidFill>
                <a:latin typeface="Microsoft YaHei"/>
                <a:ea typeface="Microsoft YaHei"/>
                <a:cs typeface="Microsoft YaHei"/>
                <a:sym typeface="Microsoft YaHei"/>
              </a:rPr>
              <a:t>目录结构</a:t>
            </a:r>
            <a:endParaRPr b="1" sz="12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src/data/: 数据获取与存储</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src/factors/: 因子计算</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src/strategy/: 选股策略</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src/risk/: 风控 (4层)</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src/backtest/: 回测引擎</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tests/: 8 个测试文件</a:t>
            </a:r>
            <a:endParaRPr b="0" sz="10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0078D4"/>
                </a:solidFill>
                <a:latin typeface="Microsoft YaHei"/>
                <a:ea typeface="Microsoft YaHei"/>
                <a:cs typeface="Microsoft YaHei"/>
                <a:sym typeface="Microsoft YaHei"/>
              </a:rPr>
              <a:t>设计模式</a:t>
            </a:r>
            <a:endParaRPr b="1" sz="12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简单类封装 + 函数组织</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基本模块化，职责初步分离</a:t>
            </a:r>
            <a:endParaRPr b="0" sz="1000">
              <a:solidFill>
                <a:srgbClr val="333333"/>
              </a:solidFill>
              <a:latin typeface="Microsoft YaHei"/>
              <a:ea typeface="Microsoft YaHei"/>
              <a:cs typeface="Microsoft YaHei"/>
              <a:sym typeface="Microsoft YaHei"/>
            </a:endParaRPr>
          </a:p>
        </p:txBody>
      </p:sp>
      <p:sp>
        <p:nvSpPr>
          <p:cNvPr id="874" name="Google Shape;874;p30"/>
          <p:cNvSpPr/>
          <p:nvPr/>
        </p:nvSpPr>
        <p:spPr>
          <a:xfrm>
            <a:off x="7498080" y="960120"/>
            <a:ext cx="3291840" cy="466344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5" name="Google Shape;875;p30"/>
          <p:cNvSpPr txBox="1"/>
          <p:nvPr/>
        </p:nvSpPr>
        <p:spPr>
          <a:xfrm>
            <a:off x="7680960" y="1069848"/>
            <a:ext cx="2926080" cy="44439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107C10"/>
                </a:solidFill>
                <a:latin typeface="Microsoft YaHei"/>
                <a:ea typeface="Microsoft YaHei"/>
                <a:cs typeface="Microsoft YaHei"/>
                <a:sym typeface="Microsoft YaHei"/>
              </a:rPr>
              <a:t>OpenSpec-HW2</a:t>
            </a:r>
            <a:endParaRPr b="1" sz="1500">
              <a:solidFill>
                <a:srgbClr val="107C10"/>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333333"/>
                </a:solidFill>
                <a:latin typeface="Microsoft YaHei"/>
                <a:ea typeface="Microsoft YaHei"/>
                <a:cs typeface="Microsoft YaHei"/>
                <a:sym typeface="Microsoft YaHei"/>
              </a:rPr>
              <a:t>43 个文件 · 6 层 Protocol 架构</a:t>
            </a:r>
            <a:endParaRPr b="1" sz="12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107C10"/>
                </a:solidFill>
                <a:latin typeface="Microsoft YaHei"/>
                <a:ea typeface="Microsoft YaHei"/>
                <a:cs typeface="Microsoft YaHei"/>
                <a:sym typeface="Microsoft YaHei"/>
              </a:rPr>
              <a:t>6 层架构</a:t>
            </a:r>
            <a:endParaRPr b="1" sz="12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L1 数据层: 多源适配+验证器</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L2 因子层: 注册表+可扩展</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L3 选股层: 多策略组合</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L4 交易层: 订单管理+执行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L5 风控层: 4层+聚合器</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L6 回测层: 真实性检验</a:t>
            </a:r>
            <a:endParaRPr b="0" sz="10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107C10"/>
                </a:solidFill>
                <a:latin typeface="Microsoft YaHei"/>
                <a:ea typeface="Microsoft YaHei"/>
                <a:cs typeface="Microsoft YaHei"/>
                <a:sym typeface="Microsoft YaHei"/>
              </a:rPr>
              <a:t>设计模式</a:t>
            </a:r>
            <a:endParaRPr b="1" sz="12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000">
                <a:solidFill>
                  <a:srgbClr val="333333"/>
                </a:solidFill>
                <a:latin typeface="Microsoft YaHei"/>
                <a:ea typeface="Microsoft YaHei"/>
                <a:cs typeface="Microsoft YaHei"/>
                <a:sym typeface="Microsoft YaHei"/>
              </a:rPr>
              <a:t>• Protocol 接口 + 装饰器注册</a:t>
            </a:r>
            <a:endParaRPr b="0" sz="10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333333"/>
                </a:solidFill>
                <a:latin typeface="Microsoft YaHei"/>
                <a:ea typeface="Microsoft YaHei"/>
                <a:cs typeface="Microsoft YaHei"/>
                <a:sym typeface="Microsoft YaHei"/>
              </a:rPr>
              <a:t>• 依赖注入 + 外部 YAML 配置</a:t>
            </a:r>
            <a:endParaRPr b="0" sz="1000">
              <a:solidFill>
                <a:srgbClr val="333333"/>
              </a:solidFill>
              <a:latin typeface="Microsoft YaHei"/>
              <a:ea typeface="Microsoft YaHei"/>
              <a:cs typeface="Microsoft YaHei"/>
              <a:sym typeface="Microsoft YaHei"/>
            </a:endParaRPr>
          </a:p>
        </p:txBody>
      </p:sp>
      <p:sp>
        <p:nvSpPr>
          <p:cNvPr id="876" name="Google Shape;876;p30"/>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28/41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0" name="Shape 880"/>
        <p:cNvGrpSpPr/>
        <p:nvPr/>
      </p:nvGrpSpPr>
      <p:grpSpPr>
        <a:xfrm>
          <a:off x="0" y="0"/>
          <a:ext cx="0" cy="0"/>
          <a:chOff x="0" y="0"/>
          <a:chExt cx="0" cy="0"/>
        </a:xfrm>
      </p:grpSpPr>
      <p:sp>
        <p:nvSpPr>
          <p:cNvPr id="881" name="Google Shape;881;p31"/>
          <p:cNvSpPr txBox="1"/>
          <p:nvPr/>
        </p:nvSpPr>
        <p:spPr>
          <a:xfrm>
            <a:off x="457200" y="182880"/>
            <a:ext cx="1005840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风控能力三方对比：量化交易的生死线</a:t>
            </a:r>
            <a:endParaRPr b="1" sz="2400">
              <a:solidFill>
                <a:srgbClr val="333333"/>
              </a:solidFill>
              <a:latin typeface="Microsoft YaHei"/>
              <a:ea typeface="Microsoft YaHei"/>
              <a:cs typeface="Microsoft YaHei"/>
              <a:sym typeface="Microsoft YaHei"/>
            </a:endParaRPr>
          </a:p>
        </p:txBody>
      </p:sp>
      <p:sp>
        <p:nvSpPr>
          <p:cNvPr id="882" name="Google Shape;882;p31"/>
          <p:cNvSpPr/>
          <p:nvPr/>
        </p:nvSpPr>
        <p:spPr>
          <a:xfrm>
            <a:off x="485140" y="685800"/>
            <a:ext cx="10332720" cy="508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3" name="Google Shape;883;p31"/>
          <p:cNvSpPr txBox="1"/>
          <p:nvPr/>
        </p:nvSpPr>
        <p:spPr>
          <a:xfrm>
            <a:off x="457200" y="777240"/>
            <a:ext cx="10058400" cy="27559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FF0000"/>
                </a:solidFill>
                <a:latin typeface="Microsoft YaHei"/>
                <a:ea typeface="Microsoft YaHei"/>
                <a:cs typeface="Microsoft YaHei"/>
                <a:sym typeface="Microsoft YaHei"/>
              </a:rPr>
              <a:t>在量化交易中，风控能力决定了系统能否在真实市场中存活。质量差不完整的风险控制Spec意味着在市场出现罕见情况的时候爆仓</a:t>
            </a:r>
            <a:endParaRPr b="0" sz="1200">
              <a:solidFill>
                <a:srgbClr val="FF0000"/>
              </a:solidFill>
              <a:latin typeface="Microsoft YaHei"/>
              <a:ea typeface="Microsoft YaHei"/>
              <a:cs typeface="Microsoft YaHei"/>
              <a:sym typeface="Microsoft YaHei"/>
            </a:endParaRPr>
          </a:p>
        </p:txBody>
      </p:sp>
      <p:sp>
        <p:nvSpPr>
          <p:cNvPr id="884" name="Google Shape;884;p31"/>
          <p:cNvSpPr/>
          <p:nvPr/>
        </p:nvSpPr>
        <p:spPr>
          <a:xfrm>
            <a:off x="457200" y="1234440"/>
            <a:ext cx="3291840" cy="438912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31"/>
          <p:cNvSpPr txBox="1"/>
          <p:nvPr/>
        </p:nvSpPr>
        <p:spPr>
          <a:xfrm>
            <a:off x="640080" y="1325880"/>
            <a:ext cx="2926080" cy="42062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787878"/>
                </a:solidFill>
                <a:latin typeface="Microsoft YaHei"/>
                <a:ea typeface="Microsoft YaHei"/>
                <a:cs typeface="Microsoft YaHei"/>
                <a:sym typeface="Microsoft YaHei"/>
              </a:rPr>
              <a:t>Vanilla Claude Code</a:t>
            </a:r>
            <a:endParaRPr b="1" sz="1500">
              <a:solidFill>
                <a:srgbClr val="787878"/>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D13438"/>
                </a:solidFill>
                <a:latin typeface="Microsoft YaHei"/>
                <a:ea typeface="Microsoft YaHei"/>
                <a:cs typeface="Microsoft YaHei"/>
                <a:sym typeface="Microsoft YaHei"/>
              </a:rPr>
              <a:t>风控等级：初级</a:t>
            </a:r>
            <a:endParaRPr b="1" sz="1200">
              <a:solidFill>
                <a:srgbClr val="D13438"/>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300">
                <a:solidFill>
                  <a:srgbClr val="333333"/>
                </a:solidFill>
                <a:latin typeface="Microsoft YaHei"/>
                <a:ea typeface="Microsoft YaHei"/>
                <a:cs typeface="Microsoft YaHei"/>
                <a:sym typeface="Microsoft YaHei"/>
              </a:rPr>
              <a:t>仅固定止损</a:t>
            </a:r>
            <a:endParaRPr b="1"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100">
                <a:solidFill>
                  <a:srgbClr val="333333"/>
                </a:solidFill>
                <a:latin typeface="Microsoft YaHei"/>
                <a:ea typeface="Microsoft YaHei"/>
                <a:cs typeface="Microsoft YaHei"/>
                <a:sym typeface="Microsoft YaHei"/>
              </a:rPr>
              <a:t>• 硬编码止损阈值（如固定 5%）</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不随市场波动调整</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无持仓限制</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无行业集中度控制</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无异常波动检测</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D13438"/>
                </a:solidFill>
                <a:latin typeface="Microsoft YaHei"/>
                <a:ea typeface="Microsoft YaHei"/>
                <a:cs typeface="Microsoft YaHei"/>
                <a:sym typeface="Microsoft YaHei"/>
              </a:rPr>
              <a:t>风险评估</a:t>
            </a:r>
            <a:endParaRPr b="1" sz="1200">
              <a:solidFill>
                <a:srgbClr val="D1343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真实交易风险极高</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极端行情下可能爆仓</a:t>
            </a:r>
            <a:endParaRPr b="0" sz="1100">
              <a:solidFill>
                <a:srgbClr val="333333"/>
              </a:solidFill>
              <a:latin typeface="Microsoft YaHei"/>
              <a:ea typeface="Microsoft YaHei"/>
              <a:cs typeface="Microsoft YaHei"/>
              <a:sym typeface="Microsoft YaHei"/>
            </a:endParaRPr>
          </a:p>
        </p:txBody>
      </p:sp>
      <p:sp>
        <p:nvSpPr>
          <p:cNvPr id="886" name="Google Shape;886;p31"/>
          <p:cNvSpPr/>
          <p:nvPr/>
        </p:nvSpPr>
        <p:spPr>
          <a:xfrm>
            <a:off x="3977640" y="1234440"/>
            <a:ext cx="3291840" cy="438912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7" name="Google Shape;887;p31"/>
          <p:cNvSpPr txBox="1"/>
          <p:nvPr/>
        </p:nvSpPr>
        <p:spPr>
          <a:xfrm>
            <a:off x="4160520" y="1325880"/>
            <a:ext cx="2926080" cy="42062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0078D4"/>
                </a:solidFill>
                <a:latin typeface="Microsoft YaHei"/>
                <a:ea typeface="Microsoft YaHei"/>
                <a:cs typeface="Microsoft YaHei"/>
                <a:sym typeface="Microsoft YaHei"/>
              </a:rPr>
              <a:t>原生 OpenSpec</a:t>
            </a:r>
            <a:endParaRPr b="1" sz="1500">
              <a:solidFill>
                <a:srgbClr val="0078D4"/>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0078D4"/>
                </a:solidFill>
                <a:latin typeface="Microsoft YaHei"/>
                <a:ea typeface="Microsoft YaHei"/>
                <a:cs typeface="Microsoft YaHei"/>
                <a:sym typeface="Microsoft YaHei"/>
              </a:rPr>
              <a:t>风控等级：完整</a:t>
            </a:r>
            <a:endParaRPr b="1" sz="1200">
              <a:solidFill>
                <a:srgbClr val="0078D4"/>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300">
                <a:solidFill>
                  <a:srgbClr val="333333"/>
                </a:solidFill>
                <a:latin typeface="Microsoft YaHei"/>
                <a:ea typeface="Microsoft YaHei"/>
                <a:cs typeface="Microsoft YaHei"/>
                <a:sym typeface="Microsoft YaHei"/>
              </a:rPr>
              <a:t>4 层风控体系</a:t>
            </a:r>
            <a:endParaRPr b="1"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100">
                <a:solidFill>
                  <a:srgbClr val="333333"/>
                </a:solidFill>
                <a:latin typeface="Microsoft YaHei"/>
                <a:ea typeface="Microsoft YaHei"/>
                <a:cs typeface="Microsoft YaHei"/>
                <a:sym typeface="Microsoft YaHei"/>
              </a:rPr>
              <a:t>• L1 ATR 动态止损</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999999"/>
                </a:solidFill>
                <a:latin typeface="Microsoft YaHei"/>
                <a:ea typeface="Microsoft YaHei"/>
                <a:cs typeface="Microsoft YaHei"/>
                <a:sym typeface="Microsoft YaHei"/>
              </a:rPr>
              <a:t>  根据波动率自动调整止损位</a:t>
            </a:r>
            <a:endParaRPr b="0" sz="1000">
              <a:solidFill>
                <a:srgbClr val="999999"/>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L2 持仓限制</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999999"/>
                </a:solidFill>
                <a:latin typeface="Microsoft YaHei"/>
                <a:ea typeface="Microsoft YaHei"/>
                <a:cs typeface="Microsoft YaHei"/>
                <a:sym typeface="Microsoft YaHei"/>
              </a:rPr>
              <a:t>  单只上限 + 总仓位控制</a:t>
            </a:r>
            <a:endParaRPr b="0" sz="1000">
              <a:solidFill>
                <a:srgbClr val="999999"/>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L3 行业集中度控制</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999999"/>
                </a:solidFill>
                <a:latin typeface="Microsoft YaHei"/>
                <a:ea typeface="Microsoft YaHei"/>
                <a:cs typeface="Microsoft YaHei"/>
                <a:sym typeface="Microsoft YaHei"/>
              </a:rPr>
              <a:t>  避免板块过度集中</a:t>
            </a:r>
            <a:endParaRPr b="0" sz="1000">
              <a:solidFill>
                <a:srgbClr val="999999"/>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L4 异常波动检测</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000">
                <a:solidFill>
                  <a:srgbClr val="999999"/>
                </a:solidFill>
                <a:latin typeface="Microsoft YaHei"/>
                <a:ea typeface="Microsoft YaHei"/>
                <a:cs typeface="Microsoft YaHei"/>
                <a:sym typeface="Microsoft YaHei"/>
              </a:rPr>
              <a:t>  异常行情自动触发保护</a:t>
            </a:r>
            <a:endParaRPr b="0" sz="1000">
              <a:solidFill>
                <a:srgbClr val="999999"/>
              </a:solidFill>
              <a:latin typeface="Microsoft YaHei"/>
              <a:ea typeface="Microsoft YaHei"/>
              <a:cs typeface="Microsoft YaHei"/>
              <a:sym typeface="Microsoft YaHei"/>
            </a:endParaRPr>
          </a:p>
        </p:txBody>
      </p:sp>
      <p:sp>
        <p:nvSpPr>
          <p:cNvPr id="888" name="Google Shape;888;p31"/>
          <p:cNvSpPr/>
          <p:nvPr/>
        </p:nvSpPr>
        <p:spPr>
          <a:xfrm>
            <a:off x="7498080" y="1234440"/>
            <a:ext cx="3291840" cy="438912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9" name="Google Shape;889;p31"/>
          <p:cNvSpPr txBox="1"/>
          <p:nvPr/>
        </p:nvSpPr>
        <p:spPr>
          <a:xfrm>
            <a:off x="7680960" y="1325880"/>
            <a:ext cx="2926080" cy="42062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107C10"/>
                </a:solidFill>
                <a:latin typeface="Microsoft YaHei"/>
                <a:ea typeface="Microsoft YaHei"/>
                <a:cs typeface="Microsoft YaHei"/>
                <a:sym typeface="Microsoft YaHei"/>
              </a:rPr>
              <a:t>OpenSpec-HW2</a:t>
            </a:r>
            <a:endParaRPr b="1" sz="1500">
              <a:solidFill>
                <a:srgbClr val="107C10"/>
              </a:solidFill>
              <a:latin typeface="Microsoft YaHei"/>
              <a:ea typeface="Microsoft YaHei"/>
              <a:cs typeface="Microsoft YaHei"/>
              <a:sym typeface="Microsoft YaHei"/>
            </a:endParaRPr>
          </a:p>
          <a:p>
            <a:pPr indent="0" lvl="0" marL="0" marR="0" rtl="0" algn="l">
              <a:spcBef>
                <a:spcPts val="600"/>
              </a:spcBef>
              <a:spcAft>
                <a:spcPts val="0"/>
              </a:spcAft>
              <a:buNone/>
            </a:pPr>
            <a:r>
              <a:rPr b="1" lang="en-US" sz="1200">
                <a:solidFill>
                  <a:srgbClr val="107C10"/>
                </a:solidFill>
                <a:latin typeface="Microsoft YaHei"/>
                <a:ea typeface="Microsoft YaHei"/>
                <a:cs typeface="Microsoft YaHei"/>
                <a:sym typeface="Microsoft YaHei"/>
              </a:rPr>
              <a:t>风控等级：生产级</a:t>
            </a:r>
            <a:endParaRPr b="1" sz="1200">
              <a:solidFill>
                <a:srgbClr val="107C10"/>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300">
                <a:solidFill>
                  <a:srgbClr val="333333"/>
                </a:solidFill>
                <a:latin typeface="Microsoft YaHei"/>
                <a:ea typeface="Microsoft YaHei"/>
                <a:cs typeface="Microsoft YaHei"/>
                <a:sym typeface="Microsoft YaHei"/>
              </a:rPr>
              <a:t>4 层 + 聚合入口</a:t>
            </a:r>
            <a:endParaRPr b="1" sz="1300">
              <a:solidFill>
                <a:srgbClr val="333333"/>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100">
                <a:solidFill>
                  <a:srgbClr val="333333"/>
                </a:solidFill>
                <a:latin typeface="Microsoft YaHei"/>
                <a:ea typeface="Microsoft YaHei"/>
                <a:cs typeface="Microsoft YaHei"/>
                <a:sym typeface="Microsoft YaHei"/>
              </a:rPr>
              <a:t>• 包含原生全部 4 层风控</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 RiskAggregator 统一调度</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 风控规则 YAML 可配置</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 完整风控执行日志</a:t>
            </a:r>
            <a:endParaRPr b="0" sz="11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 风控事件回调机制</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107C10"/>
                </a:solidFill>
                <a:latin typeface="Microsoft YaHei"/>
                <a:ea typeface="Microsoft YaHei"/>
                <a:cs typeface="Microsoft YaHei"/>
                <a:sym typeface="Microsoft YaHei"/>
              </a:rPr>
              <a:t>增量价值</a:t>
            </a:r>
            <a:endParaRPr b="1" sz="12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统一入口让风控层可独立测试</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配置化支持快速策略调整</a:t>
            </a:r>
            <a:endParaRPr b="0" sz="1100">
              <a:solidFill>
                <a:srgbClr val="333333"/>
              </a:solidFill>
              <a:latin typeface="Microsoft YaHei"/>
              <a:ea typeface="Microsoft YaHei"/>
              <a:cs typeface="Microsoft YaHei"/>
              <a:sym typeface="Microsoft YaHei"/>
            </a:endParaRPr>
          </a:p>
        </p:txBody>
      </p:sp>
      <p:sp>
        <p:nvSpPr>
          <p:cNvPr id="890" name="Google Shape;890;p31"/>
          <p:cNvSpPr/>
          <p:nvPr/>
        </p:nvSpPr>
        <p:spPr>
          <a:xfrm>
            <a:off x="457200" y="5806440"/>
            <a:ext cx="10332720" cy="508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31"/>
          <p:cNvSpPr txBox="1"/>
          <p:nvPr/>
        </p:nvSpPr>
        <p:spPr>
          <a:xfrm>
            <a:off x="457200" y="5897880"/>
            <a:ext cx="1033272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100">
                <a:solidFill>
                  <a:srgbClr val="999999"/>
                </a:solidFill>
                <a:latin typeface="Microsoft YaHei"/>
                <a:ea typeface="Microsoft YaHei"/>
                <a:cs typeface="Microsoft YaHei"/>
                <a:sym typeface="Microsoft YaHei"/>
              </a:rPr>
              <a:t>风控能力是规格化程度差异最直观的体现：无规格 = 无风控；规格越详细，风控架构越完善</a:t>
            </a:r>
            <a:endParaRPr b="0" sz="1100">
              <a:solidFill>
                <a:srgbClr val="999999"/>
              </a:solidFill>
              <a:latin typeface="Microsoft YaHei"/>
              <a:ea typeface="Microsoft YaHei"/>
              <a:cs typeface="Microsoft YaHei"/>
              <a:sym typeface="Microsoft YaHei"/>
            </a:endParaRPr>
          </a:p>
        </p:txBody>
      </p:sp>
      <p:sp>
        <p:nvSpPr>
          <p:cNvPr id="892" name="Google Shape;892;p31"/>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29/41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32"/>
          <p:cNvSpPr txBox="1"/>
          <p:nvPr/>
        </p:nvSpPr>
        <p:spPr>
          <a:xfrm>
            <a:off x="457200" y="182880"/>
            <a:ext cx="10058400" cy="4603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回测真实性三方对比：回测结果评估</a:t>
            </a:r>
            <a:endParaRPr b="1" sz="2400">
              <a:solidFill>
                <a:srgbClr val="333333"/>
              </a:solidFill>
              <a:latin typeface="Microsoft YaHei"/>
              <a:ea typeface="Microsoft YaHei"/>
              <a:cs typeface="Microsoft YaHei"/>
              <a:sym typeface="Microsoft YaHei"/>
            </a:endParaRPr>
          </a:p>
        </p:txBody>
      </p:sp>
      <p:sp>
        <p:nvSpPr>
          <p:cNvPr id="898" name="Google Shape;898;p32"/>
          <p:cNvSpPr/>
          <p:nvPr/>
        </p:nvSpPr>
        <p:spPr>
          <a:xfrm>
            <a:off x="457200" y="685800"/>
            <a:ext cx="10332720" cy="50800"/>
          </a:xfrm>
          <a:prstGeom prst="rect">
            <a:avLst/>
          </a:prstGeom>
          <a:solidFill>
            <a:srgbClr val="E86C00"/>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9" name="Google Shape;899;p32"/>
          <p:cNvSpPr txBox="1"/>
          <p:nvPr/>
        </p:nvSpPr>
        <p:spPr>
          <a:xfrm>
            <a:off x="457200" y="777240"/>
            <a:ext cx="10058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1200">
                <a:solidFill>
                  <a:srgbClr val="999999"/>
                </a:solidFill>
                <a:latin typeface="Microsoft YaHei"/>
                <a:ea typeface="Microsoft YaHei"/>
                <a:cs typeface="Microsoft YaHei"/>
                <a:sym typeface="Microsoft YaHei"/>
              </a:rPr>
              <a:t>回测是量化策略上线前的最后一道关卡。回测越贴近真实市场，上线后的意外越少。</a:t>
            </a:r>
            <a:endParaRPr b="0" sz="1200">
              <a:solidFill>
                <a:srgbClr val="999999"/>
              </a:solidFill>
              <a:latin typeface="Microsoft YaHei"/>
              <a:ea typeface="Microsoft YaHei"/>
              <a:cs typeface="Microsoft YaHei"/>
              <a:sym typeface="Microsoft YaHei"/>
            </a:endParaRPr>
          </a:p>
        </p:txBody>
      </p:sp>
      <p:graphicFrame>
        <p:nvGraphicFramePr>
          <p:cNvPr id="900" name="Google Shape;900;p32"/>
          <p:cNvGraphicFramePr/>
          <p:nvPr/>
        </p:nvGraphicFramePr>
        <p:xfrm>
          <a:off x="457200" y="1234440"/>
          <a:ext cx="3000000" cy="3000000"/>
        </p:xfrm>
        <a:graphic>
          <a:graphicData uri="http://schemas.openxmlformats.org/drawingml/2006/table">
            <a:tbl>
              <a:tblPr bandRow="1" firstRow="1">
                <a:noFill/>
                <a:tableStyleId>{1919ADCB-30F0-46B4-BD1B-849308643872}</a:tableStyleId>
              </a:tblPr>
              <a:tblGrid>
                <a:gridCol w="2194550"/>
                <a:gridCol w="1280150"/>
                <a:gridCol w="1463050"/>
                <a:gridCol w="1463050"/>
              </a:tblGrid>
              <a:tr h="365750">
                <a:tc>
                  <a:txBody>
                    <a:bodyPr/>
                    <a:lstStyle/>
                    <a:p>
                      <a:pPr indent="0" lvl="0" marL="0" marR="0" rtl="0" algn="l">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A 股交易规则</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44444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Vanilla</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787878"/>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原生 OpenSpec</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0078D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OpenSpec-HW2</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107C10"/>
                    </a:solidFill>
                  </a:tcP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T+1 交收制度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涨跌停限制 (10%)</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印花税 / 佣金</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最小买入单位 (100股)</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停牌处理</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65750">
                <a:tc>
                  <a:txBody>
                    <a:bodyPr/>
                    <a:lstStyle/>
                    <a:p>
                      <a:pPr indent="0" lvl="0" marL="0" marR="0" rtl="0" algn="l">
                        <a:spcBef>
                          <a:spcPts val="0"/>
                        </a:spcBef>
                        <a:spcAft>
                          <a:spcPts val="0"/>
                        </a:spcAft>
                        <a:buNone/>
                      </a:pPr>
                      <a:r>
                        <a:rPr b="0" lang="en-US" sz="1100" u="none" cap="none" strike="noStrike">
                          <a:solidFill>
                            <a:srgbClr val="FF0000"/>
                          </a:solidFill>
                          <a:latin typeface="Microsoft YaHei"/>
                          <a:ea typeface="Microsoft YaHei"/>
                          <a:cs typeface="Microsoft YaHei"/>
                          <a:sym typeface="Microsoft YaHei"/>
                        </a:rPr>
                        <a:t>前视偏差检测</a:t>
                      </a:r>
                      <a:endParaRPr b="0" sz="1100" u="none" cap="none" strike="noStrike">
                        <a:solidFill>
                          <a:srgbClr val="FF0000"/>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1" lang="en-US" sz="1100" u="none" cap="none" strike="noStrike">
                          <a:solidFill>
                            <a:srgbClr val="FF0000"/>
                          </a:solidFill>
                          <a:latin typeface="Microsoft YaHei"/>
                          <a:ea typeface="Microsoft YaHei"/>
                          <a:cs typeface="Microsoft YaHei"/>
                          <a:sym typeface="Microsoft YaHei"/>
                        </a:rPr>
                        <a:t>✓</a:t>
                      </a:r>
                      <a:endParaRPr b="1" sz="1100" u="none" cap="none" strike="noStrike">
                        <a:solidFill>
                          <a:srgbClr val="FF0000"/>
                        </a:solidFill>
                        <a:latin typeface="Microsoft YaHei"/>
                        <a:ea typeface="Microsoft YaHei"/>
                        <a:cs typeface="Microsoft YaHei"/>
                        <a:sym typeface="Microsoft YaHei"/>
                      </a:endParaRPr>
                    </a:p>
                  </a:txBody>
                  <a:tcPr marT="25400" marB="25400" marR="50800" marL="50800" anchor="ctr">
                    <a:solidFill>
                      <a:srgbClr val="F8F8F8"/>
                    </a:solidFill>
                  </a:tcPr>
                </a:tc>
              </a:tr>
              <a:tr h="3657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滑点模拟</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基础</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完整</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bl>
          </a:graphicData>
        </a:graphic>
      </p:graphicFrame>
      <p:sp>
        <p:nvSpPr>
          <p:cNvPr id="901" name="Google Shape;901;p32"/>
          <p:cNvSpPr txBox="1"/>
          <p:nvPr/>
        </p:nvSpPr>
        <p:spPr>
          <a:xfrm>
            <a:off x="7132320" y="1234440"/>
            <a:ext cx="36576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333333"/>
                </a:solidFill>
                <a:latin typeface="Microsoft YaHei"/>
                <a:ea typeface="Microsoft YaHei"/>
                <a:cs typeface="Microsoft YaHei"/>
                <a:sym typeface="Microsoft YaHei"/>
              </a:rPr>
              <a:t>性能评估指标对比</a:t>
            </a:r>
            <a:endParaRPr b="1" sz="1400">
              <a:solidFill>
                <a:srgbClr val="333333"/>
              </a:solidFill>
              <a:latin typeface="Microsoft YaHei"/>
              <a:ea typeface="Microsoft YaHei"/>
              <a:cs typeface="Microsoft YaHei"/>
              <a:sym typeface="Microsoft YaHei"/>
            </a:endParaRPr>
          </a:p>
        </p:txBody>
      </p:sp>
      <p:sp>
        <p:nvSpPr>
          <p:cNvPr id="902" name="Google Shape;902;p32"/>
          <p:cNvSpPr txBox="1"/>
          <p:nvPr/>
        </p:nvSpPr>
        <p:spPr>
          <a:xfrm>
            <a:off x="7132320" y="1600200"/>
            <a:ext cx="3657600" cy="32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787878"/>
                </a:solidFill>
                <a:latin typeface="Microsoft YaHei"/>
                <a:ea typeface="Microsoft YaHei"/>
                <a:cs typeface="Microsoft YaHei"/>
                <a:sym typeface="Microsoft YaHei"/>
              </a:rPr>
              <a:t>Vanilla Claude Code</a:t>
            </a:r>
            <a:endParaRPr b="1" sz="1200">
              <a:solidFill>
                <a:srgbClr val="787878"/>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无标准化性能指标输出</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0078D4"/>
                </a:solidFill>
                <a:latin typeface="Microsoft YaHei"/>
                <a:ea typeface="Microsoft YaHei"/>
                <a:cs typeface="Microsoft YaHei"/>
                <a:sym typeface="Microsoft YaHei"/>
              </a:rPr>
              <a:t>原生 OpenSpec — 7 个指标</a:t>
            </a:r>
            <a:endParaRPr b="1" sz="1200">
              <a:solidFill>
                <a:srgbClr val="0078D4"/>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年化收益率、最大回撤、夏普比率</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胜率、盈亏比、波动率、Calmar比率</a:t>
            </a:r>
            <a:endParaRPr b="0" sz="1100">
              <a:solidFill>
                <a:srgbClr val="333333"/>
              </a:solidFill>
              <a:latin typeface="Microsoft YaHei"/>
              <a:ea typeface="Microsoft YaHei"/>
              <a:cs typeface="Microsoft YaHei"/>
              <a:sym typeface="Microsoft YaHei"/>
            </a:endParaRPr>
          </a:p>
          <a:p>
            <a:pPr indent="0" lvl="0" marL="0" marR="0" rtl="0" algn="l">
              <a:spcBef>
                <a:spcPts val="800"/>
              </a:spcBef>
              <a:spcAft>
                <a:spcPts val="0"/>
              </a:spcAft>
              <a:buNone/>
            </a:pPr>
            <a:r>
              <a:rPr b="1" lang="en-US" sz="1200">
                <a:solidFill>
                  <a:srgbClr val="107C10"/>
                </a:solidFill>
                <a:latin typeface="Microsoft YaHei"/>
                <a:ea typeface="Microsoft YaHei"/>
                <a:cs typeface="Microsoft YaHei"/>
                <a:sym typeface="Microsoft YaHei"/>
              </a:rPr>
              <a:t>OpenSpec-HW2 — 13+ 个指标</a:t>
            </a:r>
            <a:endParaRPr b="1" sz="1200">
              <a:solidFill>
                <a:srgbClr val="107C10"/>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100">
                <a:solidFill>
                  <a:srgbClr val="333333"/>
                </a:solidFill>
                <a:latin typeface="Microsoft YaHei"/>
                <a:ea typeface="Microsoft YaHei"/>
                <a:cs typeface="Microsoft YaHei"/>
                <a:sym typeface="Microsoft YaHei"/>
              </a:rPr>
              <a:t>• 上述全部 + Sortino 比率</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信息比率、Alpha、Beta</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月度收益分布、连续亏损统计</a:t>
            </a:r>
            <a:endParaRPr b="0" sz="1100">
              <a:solidFill>
                <a:srgbClr val="333333"/>
              </a:solidFill>
              <a:latin typeface="Microsoft YaHei"/>
              <a:ea typeface="Microsoft YaHei"/>
              <a:cs typeface="Microsoft YaHei"/>
              <a:sym typeface="Microsoft YaHei"/>
            </a:endParaRPr>
          </a:p>
          <a:p>
            <a:pPr indent="0" lvl="0" marL="0" marR="0" rtl="0" algn="l">
              <a:spcBef>
                <a:spcPts val="200"/>
              </a:spcBef>
              <a:spcAft>
                <a:spcPts val="0"/>
              </a:spcAft>
              <a:buNone/>
            </a:pPr>
            <a:r>
              <a:rPr b="0" lang="en-US" sz="1100">
                <a:solidFill>
                  <a:srgbClr val="333333"/>
                </a:solidFill>
                <a:latin typeface="Microsoft YaHei"/>
                <a:ea typeface="Microsoft YaHei"/>
                <a:cs typeface="Microsoft YaHei"/>
                <a:sym typeface="Microsoft YaHei"/>
              </a:rPr>
              <a:t>• 基准对比分析</a:t>
            </a:r>
            <a:endParaRPr b="0" sz="1100">
              <a:solidFill>
                <a:srgbClr val="333333"/>
              </a:solidFill>
              <a:latin typeface="Microsoft YaHei"/>
              <a:ea typeface="Microsoft YaHei"/>
              <a:cs typeface="Microsoft YaHei"/>
              <a:sym typeface="Microsoft YaHei"/>
            </a:endParaRPr>
          </a:p>
        </p:txBody>
      </p:sp>
      <p:sp>
        <p:nvSpPr>
          <p:cNvPr id="903" name="Google Shape;903;p32"/>
          <p:cNvSpPr/>
          <p:nvPr/>
        </p:nvSpPr>
        <p:spPr>
          <a:xfrm>
            <a:off x="457200" y="4434840"/>
            <a:ext cx="10332720" cy="1188720"/>
          </a:xfrm>
          <a:prstGeom prst="roundRect">
            <a:avLst>
              <a:gd fmla="val 16667" name="adj"/>
            </a:avLst>
          </a:prstGeom>
          <a:solidFill>
            <a:srgbClr val="FEF3E8"/>
          </a:solidFill>
          <a:ln cap="flat" cmpd="sng" w="12700">
            <a:solidFill>
              <a:srgbClr val="E86C0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4" name="Google Shape;904;p32"/>
          <p:cNvSpPr txBox="1"/>
          <p:nvPr/>
        </p:nvSpPr>
        <p:spPr>
          <a:xfrm>
            <a:off x="640080" y="4526280"/>
            <a:ext cx="9966960" cy="10058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E86C00"/>
                </a:solidFill>
                <a:latin typeface="Microsoft YaHei"/>
                <a:ea typeface="Microsoft YaHei"/>
                <a:cs typeface="Microsoft YaHei"/>
                <a:sym typeface="Microsoft YaHei"/>
              </a:rPr>
              <a:t>回测真实性结论</a:t>
            </a:r>
            <a:endParaRPr b="1" sz="1400">
              <a:solidFill>
                <a:srgbClr val="E86C0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333333"/>
                </a:solidFill>
                <a:latin typeface="Microsoft YaHei"/>
                <a:ea typeface="Microsoft YaHei"/>
                <a:cs typeface="Microsoft YaHei"/>
                <a:sym typeface="Microsoft YaHei"/>
              </a:rPr>
              <a:t>Vanilla 版完全忽略 A 股交易规则，回测结果无参考价值，直接上线必定亏损。</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原生 OpenSpec 版覆盖了核心 A 股规则，回测基本可信；HW2 版进一步增加了前视偏差检测和完整滑点模拟，回测结果最接近真实市场表现。</a:t>
            </a:r>
            <a:endParaRPr b="0" sz="1200">
              <a:solidFill>
                <a:srgbClr val="333333"/>
              </a:solidFill>
              <a:latin typeface="Microsoft YaHei"/>
              <a:ea typeface="Microsoft YaHei"/>
              <a:cs typeface="Microsoft YaHei"/>
              <a:sym typeface="Microsoft YaHei"/>
            </a:endParaRPr>
          </a:p>
        </p:txBody>
      </p:sp>
      <p:sp>
        <p:nvSpPr>
          <p:cNvPr id="905" name="Google Shape;905;p32"/>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30/41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9" name="Shape 909"/>
        <p:cNvGrpSpPr/>
        <p:nvPr/>
      </p:nvGrpSpPr>
      <p:grpSpPr>
        <a:xfrm>
          <a:off x="0" y="0"/>
          <a:ext cx="0" cy="0"/>
          <a:chOff x="0" y="0"/>
          <a:chExt cx="0" cy="0"/>
        </a:xfrm>
      </p:grpSpPr>
      <p:sp>
        <p:nvSpPr>
          <p:cNvPr id="910" name="Google Shape;910;p33"/>
          <p:cNvSpPr txBox="1"/>
          <p:nvPr/>
        </p:nvSpPr>
        <p:spPr>
          <a:xfrm>
            <a:off x="457200" y="182880"/>
            <a:ext cx="10058400" cy="42989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200">
                <a:solidFill>
                  <a:srgbClr val="1A1A2E"/>
                </a:solidFill>
                <a:latin typeface="Calibri"/>
                <a:ea typeface="Calibri"/>
                <a:cs typeface="Calibri"/>
                <a:sym typeface="Calibri"/>
              </a:rPr>
              <a:t>前视偏差检测详解：OpenSpec-HW2 得益于Usecase生成独有的回测真实性保障</a:t>
            </a:r>
            <a:endParaRPr b="1" sz="2200">
              <a:solidFill>
                <a:srgbClr val="1A1A2E"/>
              </a:solidFill>
              <a:latin typeface="Calibri"/>
              <a:ea typeface="Calibri"/>
              <a:cs typeface="Calibri"/>
              <a:sym typeface="Calibri"/>
            </a:endParaRPr>
          </a:p>
        </p:txBody>
      </p:sp>
      <p:sp>
        <p:nvSpPr>
          <p:cNvPr id="911" name="Google Shape;911;p33"/>
          <p:cNvSpPr/>
          <p:nvPr/>
        </p:nvSpPr>
        <p:spPr>
          <a:xfrm>
            <a:off x="457200" y="658368"/>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2" name="Google Shape;912;p33"/>
          <p:cNvSpPr txBox="1"/>
          <p:nvPr/>
        </p:nvSpPr>
        <p:spPr>
          <a:xfrm>
            <a:off x="457200" y="713232"/>
            <a:ext cx="10058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444444"/>
                </a:solidFill>
                <a:latin typeface="Calibri"/>
                <a:ea typeface="Calibri"/>
                <a:cs typeface="Calibri"/>
                <a:sym typeface="Calibri"/>
              </a:rPr>
              <a:t>前视偏差（Look-Ahead Bias）是量化回测中的经典陷阱：回测时"偷看"了当时不可能知道的未来数据，导致回测收益虚高</a:t>
            </a:r>
            <a:endParaRPr sz="1000">
              <a:solidFill>
                <a:srgbClr val="444444"/>
              </a:solidFill>
              <a:latin typeface="Calibri"/>
              <a:ea typeface="Calibri"/>
              <a:cs typeface="Calibri"/>
              <a:sym typeface="Calibri"/>
            </a:endParaRPr>
          </a:p>
        </p:txBody>
      </p:sp>
      <p:sp>
        <p:nvSpPr>
          <p:cNvPr id="913" name="Google Shape;913;p33"/>
          <p:cNvSpPr txBox="1"/>
          <p:nvPr/>
        </p:nvSpPr>
        <p:spPr>
          <a:xfrm>
            <a:off x="457200" y="1005840"/>
            <a:ext cx="5029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2C3E50"/>
                </a:solidFill>
                <a:latin typeface="Calibri"/>
                <a:ea typeface="Calibri"/>
                <a:cs typeface="Calibri"/>
                <a:sym typeface="Calibri"/>
              </a:rPr>
              <a:t>典型前视偏差场景</a:t>
            </a:r>
            <a:endParaRPr b="1" sz="1500">
              <a:solidFill>
                <a:srgbClr val="2C3E50"/>
              </a:solidFill>
              <a:latin typeface="Calibri"/>
              <a:ea typeface="Calibri"/>
              <a:cs typeface="Calibri"/>
              <a:sym typeface="Calibri"/>
            </a:endParaRPr>
          </a:p>
        </p:txBody>
      </p:sp>
      <p:sp>
        <p:nvSpPr>
          <p:cNvPr id="914" name="Google Shape;914;p33"/>
          <p:cNvSpPr txBox="1"/>
          <p:nvPr/>
        </p:nvSpPr>
        <p:spPr>
          <a:xfrm>
            <a:off x="5760720" y="1005840"/>
            <a:ext cx="3005455" cy="32194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2C3E50"/>
                </a:solidFill>
                <a:latin typeface="Calibri"/>
                <a:ea typeface="Calibri"/>
                <a:cs typeface="Calibri"/>
                <a:sym typeface="Calibri"/>
              </a:rPr>
              <a:t>OpenSpec-HW2 的防前视偏差实现</a:t>
            </a:r>
            <a:endParaRPr b="1" sz="1500">
              <a:solidFill>
                <a:srgbClr val="2C3E50"/>
              </a:solidFill>
              <a:latin typeface="Calibri"/>
              <a:ea typeface="Calibri"/>
              <a:cs typeface="Calibri"/>
              <a:sym typeface="Calibri"/>
            </a:endParaRPr>
          </a:p>
        </p:txBody>
      </p:sp>
      <p:sp>
        <p:nvSpPr>
          <p:cNvPr id="915" name="Google Shape;915;p33"/>
          <p:cNvSpPr/>
          <p:nvPr/>
        </p:nvSpPr>
        <p:spPr>
          <a:xfrm>
            <a:off x="457200" y="1325880"/>
            <a:ext cx="5029200" cy="114300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33"/>
          <p:cNvSpPr txBox="1"/>
          <p:nvPr/>
        </p:nvSpPr>
        <p:spPr>
          <a:xfrm>
            <a:off x="640080" y="1399032"/>
            <a:ext cx="4663440" cy="10058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幸存者偏差</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用今天的成分股列表回测 3 年前</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已退市的"坏股票"被排除，回测只选了活下来的赢家</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导致回测收益虚高</a:t>
            </a:r>
            <a:endParaRPr sz="900">
              <a:solidFill>
                <a:srgbClr val="444444"/>
              </a:solidFill>
              <a:latin typeface="Calibri"/>
              <a:ea typeface="Calibri"/>
              <a:cs typeface="Calibri"/>
              <a:sym typeface="Calibri"/>
            </a:endParaRPr>
          </a:p>
        </p:txBody>
      </p:sp>
      <p:sp>
        <p:nvSpPr>
          <p:cNvPr id="917" name="Google Shape;917;p33"/>
          <p:cNvSpPr/>
          <p:nvPr/>
        </p:nvSpPr>
        <p:spPr>
          <a:xfrm>
            <a:off x="457200" y="2560320"/>
            <a:ext cx="5029200" cy="100584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8" name="Google Shape;918;p33"/>
          <p:cNvSpPr txBox="1"/>
          <p:nvPr/>
        </p:nvSpPr>
        <p:spPr>
          <a:xfrm>
            <a:off x="640080" y="2633472"/>
            <a:ext cx="466344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数据泄露</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用当天收盘价决定当天是否买入</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实际交易中收盘价要到收盘后才知道</a:t>
            </a:r>
            <a:endParaRPr sz="900">
              <a:solidFill>
                <a:srgbClr val="444444"/>
              </a:solidFill>
              <a:latin typeface="Calibri"/>
              <a:ea typeface="Calibri"/>
              <a:cs typeface="Calibri"/>
              <a:sym typeface="Calibri"/>
            </a:endParaRPr>
          </a:p>
        </p:txBody>
      </p:sp>
      <p:sp>
        <p:nvSpPr>
          <p:cNvPr id="919" name="Google Shape;919;p33"/>
          <p:cNvSpPr/>
          <p:nvPr/>
        </p:nvSpPr>
        <p:spPr>
          <a:xfrm>
            <a:off x="457200" y="3657600"/>
            <a:ext cx="5029200" cy="100584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0" name="Google Shape;920;p33"/>
          <p:cNvSpPr txBox="1"/>
          <p:nvPr/>
        </p:nvSpPr>
        <p:spPr>
          <a:xfrm>
            <a:off x="640080" y="3730752"/>
            <a:ext cx="466344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未来函数</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用未来才发布的财报数据做当期因子计算</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如 Q3 财报 10 月底发布，但回测在 7 月就使用了</a:t>
            </a:r>
            <a:endParaRPr sz="900">
              <a:solidFill>
                <a:srgbClr val="444444"/>
              </a:solidFill>
              <a:latin typeface="Calibri"/>
              <a:ea typeface="Calibri"/>
              <a:cs typeface="Calibri"/>
              <a:sym typeface="Calibri"/>
            </a:endParaRPr>
          </a:p>
        </p:txBody>
      </p:sp>
      <p:sp>
        <p:nvSpPr>
          <p:cNvPr id="921" name="Google Shape;921;p33"/>
          <p:cNvSpPr/>
          <p:nvPr/>
        </p:nvSpPr>
        <p:spPr>
          <a:xfrm>
            <a:off x="5760720" y="1325880"/>
            <a:ext cx="5029200" cy="114300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2" name="Google Shape;922;p33"/>
          <p:cNvSpPr txBox="1"/>
          <p:nvPr/>
        </p:nvSpPr>
        <p:spPr>
          <a:xfrm>
            <a:off x="5943600" y="1399032"/>
            <a:ext cx="4663440" cy="10058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Point-in-time 股票池查询</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get_point_in_time_universe(date) 查询历史时点行业分类</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包含已退市 / 更名 / 转行业的股票</a:t>
            </a:r>
            <a:endParaRPr sz="900">
              <a:solidFill>
                <a:srgbClr val="444444"/>
              </a:solidFill>
              <a:latin typeface="Calibri"/>
              <a:ea typeface="Calibri"/>
              <a:cs typeface="Calibri"/>
              <a:sym typeface="Calibri"/>
            </a:endParaRPr>
          </a:p>
        </p:txBody>
      </p:sp>
      <p:sp>
        <p:nvSpPr>
          <p:cNvPr id="923" name="Google Shape;923;p33"/>
          <p:cNvSpPr/>
          <p:nvPr/>
        </p:nvSpPr>
        <p:spPr>
          <a:xfrm>
            <a:off x="5760720" y="2560320"/>
            <a:ext cx="5029200" cy="100584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33"/>
          <p:cNvSpPr txBox="1"/>
          <p:nvPr/>
        </p:nvSpPr>
        <p:spPr>
          <a:xfrm>
            <a:off x="5943600" y="2633472"/>
            <a:ext cx="466344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Spec 明确约束</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"The stock universe at each backtest date SHALL include</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only stocks classified as non-ferrous metals on that date"</a:t>
            </a:r>
            <a:endParaRPr sz="900">
              <a:solidFill>
                <a:srgbClr val="444444"/>
              </a:solidFill>
              <a:latin typeface="Calibri"/>
              <a:ea typeface="Calibri"/>
              <a:cs typeface="Calibri"/>
              <a:sym typeface="Calibri"/>
            </a:endParaRPr>
          </a:p>
        </p:txBody>
      </p:sp>
      <p:sp>
        <p:nvSpPr>
          <p:cNvPr id="925" name="Google Shape;925;p33"/>
          <p:cNvSpPr/>
          <p:nvPr/>
        </p:nvSpPr>
        <p:spPr>
          <a:xfrm>
            <a:off x="5760720" y="3657600"/>
            <a:ext cx="5029200" cy="100584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6" name="Google Shape;926;p33"/>
          <p:cNvSpPr txBox="1"/>
          <p:nvPr/>
        </p:nvSpPr>
        <p:spPr>
          <a:xfrm>
            <a:off x="5943600" y="3730752"/>
            <a:ext cx="466344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完整追溯链</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Usecases 第 6 用例第 7 步 → 驱动 Spec 增加条款</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 Design 列出 Mitigation → Code 实现函数</a:t>
            </a:r>
            <a:endParaRPr sz="900">
              <a:solidFill>
                <a:srgbClr val="444444"/>
              </a:solidFill>
              <a:latin typeface="Calibri"/>
              <a:ea typeface="Calibri"/>
              <a:cs typeface="Calibri"/>
              <a:sym typeface="Calibri"/>
            </a:endParaRPr>
          </a:p>
        </p:txBody>
      </p:sp>
      <p:sp>
        <p:nvSpPr>
          <p:cNvPr id="927" name="Google Shape;927;p33"/>
          <p:cNvSpPr/>
          <p:nvPr/>
        </p:nvSpPr>
        <p:spPr>
          <a:xfrm>
            <a:off x="457200" y="4800600"/>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33"/>
          <p:cNvSpPr/>
          <p:nvPr/>
        </p:nvSpPr>
        <p:spPr>
          <a:xfrm>
            <a:off x="457200" y="4892040"/>
            <a:ext cx="10332720" cy="105156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33"/>
          <p:cNvSpPr txBox="1"/>
          <p:nvPr/>
        </p:nvSpPr>
        <p:spPr>
          <a:xfrm>
            <a:off x="640080" y="4937760"/>
            <a:ext cx="9966960" cy="9601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Calibri"/>
                <a:ea typeface="Calibri"/>
                <a:cs typeface="Calibri"/>
                <a:sym typeface="Calibri"/>
              </a:rPr>
              <a:t>需求追溯链（Usecases → Spec → Design → Code）</a:t>
            </a:r>
            <a:endParaRPr b="1" sz="1200">
              <a:solidFill>
                <a:srgbClr val="0078D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Usecases → "系统使用当时的行业成分股（非当前成分股）以避免幸存者偏差"</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Spec (backtest) → "SHALL use point-in-time industry classification data"</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Spec (universe) → "SHALL support querying the universe as of any historical date"</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Code → src/universe/filter.py → get_point_in_time_universe() 函数</a:t>
            </a:r>
            <a:endParaRPr sz="900">
              <a:solidFill>
                <a:srgbClr val="444444"/>
              </a:solidFill>
              <a:latin typeface="Calibri"/>
              <a:ea typeface="Calibri"/>
              <a:cs typeface="Calibri"/>
              <a:sym typeface="Calibri"/>
            </a:endParaRPr>
          </a:p>
        </p:txBody>
      </p:sp>
      <p:sp>
        <p:nvSpPr>
          <p:cNvPr id="930" name="Google Shape;930;p33"/>
          <p:cNvSpPr txBox="1"/>
          <p:nvPr/>
        </p:nvSpPr>
        <p:spPr>
          <a:xfrm>
            <a:off x="457200" y="5989320"/>
            <a:ext cx="10332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FF0000"/>
                </a:solidFill>
                <a:latin typeface="Calibri"/>
                <a:ea typeface="Calibri"/>
                <a:cs typeface="Calibri"/>
                <a:sym typeface="Calibri"/>
              </a:rPr>
              <a:t>原生 OpenSpec 缺少 Usecases 步骤 → 未捕获此需求 → 代码中无防前视偏差实现。这是 Usecases 带来实质性提升的典型案例。</a:t>
            </a:r>
            <a:endParaRPr sz="1100">
              <a:solidFill>
                <a:srgbClr val="FF0000"/>
              </a:solidFill>
              <a:latin typeface="Calibri"/>
              <a:ea typeface="Calibri"/>
              <a:cs typeface="Calibri"/>
              <a:sym typeface="Calibri"/>
            </a:endParaRPr>
          </a:p>
        </p:txBody>
      </p:sp>
      <p:sp>
        <p:nvSpPr>
          <p:cNvPr id="931" name="Google Shape;931;p33"/>
          <p:cNvSpPr txBox="1"/>
          <p:nvPr/>
        </p:nvSpPr>
        <p:spPr>
          <a:xfrm>
            <a:off x="11091672"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444444"/>
                </a:solidFill>
                <a:latin typeface="Calibri"/>
                <a:ea typeface="Calibri"/>
                <a:cs typeface="Calibri"/>
                <a:sym typeface="Calibri"/>
              </a:rPr>
              <a:t>31/41</a:t>
            </a:r>
            <a:endParaRPr sz="1100">
              <a:solidFill>
                <a:srgbClr val="444444"/>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5" name="Shape 935"/>
        <p:cNvGrpSpPr/>
        <p:nvPr/>
      </p:nvGrpSpPr>
      <p:grpSpPr>
        <a:xfrm>
          <a:off x="0" y="0"/>
          <a:ext cx="0" cy="0"/>
          <a:chOff x="0" y="0"/>
          <a:chExt cx="0" cy="0"/>
        </a:xfrm>
      </p:grpSpPr>
      <p:sp>
        <p:nvSpPr>
          <p:cNvPr id="936" name="Google Shape;936;p34"/>
          <p:cNvSpPr txBox="1"/>
          <p:nvPr/>
        </p:nvSpPr>
        <p:spPr>
          <a:xfrm>
            <a:off x="457200" y="182880"/>
            <a:ext cx="100584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200">
                <a:solidFill>
                  <a:srgbClr val="1A1A2E"/>
                </a:solidFill>
                <a:latin typeface="Calibri"/>
                <a:ea typeface="Calibri"/>
                <a:cs typeface="Calibri"/>
                <a:sym typeface="Calibri"/>
              </a:rPr>
              <a:t>测试覆盖度三方深度对比：不只是数量，更是结构与深度</a:t>
            </a:r>
            <a:endParaRPr b="1" sz="2200">
              <a:solidFill>
                <a:srgbClr val="1A1A2E"/>
              </a:solidFill>
              <a:latin typeface="Calibri"/>
              <a:ea typeface="Calibri"/>
              <a:cs typeface="Calibri"/>
              <a:sym typeface="Calibri"/>
            </a:endParaRPr>
          </a:p>
        </p:txBody>
      </p:sp>
      <p:sp>
        <p:nvSpPr>
          <p:cNvPr id="937" name="Google Shape;937;p34"/>
          <p:cNvSpPr/>
          <p:nvPr/>
        </p:nvSpPr>
        <p:spPr>
          <a:xfrm>
            <a:off x="457200" y="658368"/>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8" name="Google Shape;938;p34"/>
          <p:cNvSpPr txBox="1"/>
          <p:nvPr/>
        </p:nvSpPr>
        <p:spPr>
          <a:xfrm>
            <a:off x="457200" y="658368"/>
            <a:ext cx="10058400" cy="245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444444"/>
                </a:solidFill>
                <a:latin typeface="Calibri"/>
                <a:ea typeface="Calibri"/>
                <a:cs typeface="Calibri"/>
                <a:sym typeface="Calibri"/>
              </a:rPr>
              <a:t>OpenSpec类工具依据task.md中内容生成测试，测试结构（单元/集成/端到端）、测试深度（每函数断言数）、工程规范（fixtures/conftest）共同决定测试有效性</a:t>
            </a:r>
            <a:endParaRPr sz="1000">
              <a:solidFill>
                <a:srgbClr val="444444"/>
              </a:solidFill>
              <a:latin typeface="Calibri"/>
              <a:ea typeface="Calibri"/>
              <a:cs typeface="Calibri"/>
              <a:sym typeface="Calibri"/>
            </a:endParaRPr>
          </a:p>
        </p:txBody>
      </p:sp>
      <p:sp>
        <p:nvSpPr>
          <p:cNvPr id="939" name="Google Shape;939;p34"/>
          <p:cNvSpPr/>
          <p:nvPr/>
        </p:nvSpPr>
        <p:spPr>
          <a:xfrm>
            <a:off x="457200" y="1051560"/>
            <a:ext cx="3291840" cy="365760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34"/>
          <p:cNvSpPr txBox="1"/>
          <p:nvPr/>
        </p:nvSpPr>
        <p:spPr>
          <a:xfrm>
            <a:off x="640080" y="1124712"/>
            <a:ext cx="2926080" cy="3520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Vanilla Claude Code</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测试文件：0</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测试函数：0</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测试代码：0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AI 完全跳过测试环节</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无任何单元测试</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无集成测试</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无端到端测试</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无测试框架引入</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覆盖模块：0/6</a:t>
            </a:r>
            <a:endParaRPr sz="900">
              <a:solidFill>
                <a:srgbClr val="444444"/>
              </a:solidFill>
              <a:latin typeface="Calibri"/>
              <a:ea typeface="Calibri"/>
              <a:cs typeface="Calibri"/>
              <a:sym typeface="Calibri"/>
            </a:endParaRPr>
          </a:p>
        </p:txBody>
      </p:sp>
      <p:sp>
        <p:nvSpPr>
          <p:cNvPr id="941" name="Google Shape;941;p34"/>
          <p:cNvSpPr/>
          <p:nvPr/>
        </p:nvSpPr>
        <p:spPr>
          <a:xfrm>
            <a:off x="3977639" y="1051560"/>
            <a:ext cx="3291840" cy="365760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2" name="Google Shape;942;p34"/>
          <p:cNvSpPr txBox="1"/>
          <p:nvPr/>
        </p:nvSpPr>
        <p:spPr>
          <a:xfrm>
            <a:off x="4160520" y="1124712"/>
            <a:ext cx="2926080" cy="3520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78D4"/>
                </a:solidFill>
                <a:latin typeface="Calibri"/>
                <a:ea typeface="Calibri"/>
                <a:cs typeface="Calibri"/>
                <a:sym typeface="Calibri"/>
              </a:rPr>
              <a:t>原生 OpenSpec</a:t>
            </a:r>
            <a:endParaRPr b="1" sz="1300">
              <a:solidFill>
                <a:srgbClr val="0078D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测试文件：8 个 | 测试函数：67 个</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测试代码：570 行 | 断言：98 个</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按模块覆盖（扁平，全在 tests/ 下）</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test_backtest.py: 11 函数 / 115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test_risk.py: 13 函数 / 119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test_factors.py: 12 函数 / 75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test_universe.py: 9 函数 / 45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覆盖模块：8/8（全部单元测试）</a:t>
            </a:r>
            <a:endParaRPr sz="900">
              <a:solidFill>
                <a:srgbClr val="444444"/>
              </a:solidFill>
              <a:latin typeface="Calibri"/>
              <a:ea typeface="Calibri"/>
              <a:cs typeface="Calibri"/>
              <a:sym typeface="Calibri"/>
            </a:endParaRPr>
          </a:p>
        </p:txBody>
      </p:sp>
      <p:sp>
        <p:nvSpPr>
          <p:cNvPr id="943" name="Google Shape;943;p34"/>
          <p:cNvSpPr/>
          <p:nvPr/>
        </p:nvSpPr>
        <p:spPr>
          <a:xfrm>
            <a:off x="7498079" y="1051560"/>
            <a:ext cx="3291840" cy="365760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4" name="Google Shape;944;p34"/>
          <p:cNvSpPr txBox="1"/>
          <p:nvPr/>
        </p:nvSpPr>
        <p:spPr>
          <a:xfrm>
            <a:off x="7680959" y="1124712"/>
            <a:ext cx="2926080" cy="3520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OpenSpec-HW2</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测试文件：9+1 个 | 测试函数：57 个</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测试代码：779 行 | 断言：105 个</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按模块子目录 + conftest 共享 fixtures</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test_integration.py: 6 / 195 行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backtest/test_backtest.py: 9 / 81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risk/test_risk.py: 9 / 82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strategy/test_scorer.py: 6 / 89 行</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 覆盖：7/7 + 集成测试</a:t>
            </a:r>
            <a:endParaRPr sz="900">
              <a:solidFill>
                <a:srgbClr val="444444"/>
              </a:solidFill>
              <a:latin typeface="Calibri"/>
              <a:ea typeface="Calibri"/>
              <a:cs typeface="Calibri"/>
              <a:sym typeface="Calibri"/>
            </a:endParaRPr>
          </a:p>
        </p:txBody>
      </p:sp>
      <p:sp>
        <p:nvSpPr>
          <p:cNvPr id="945" name="Google Shape;945;p34"/>
          <p:cNvSpPr/>
          <p:nvPr/>
        </p:nvSpPr>
        <p:spPr>
          <a:xfrm>
            <a:off x="457200" y="4846320"/>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6" name="Google Shape;946;p34"/>
          <p:cNvSpPr/>
          <p:nvPr/>
        </p:nvSpPr>
        <p:spPr>
          <a:xfrm>
            <a:off x="457200" y="4937760"/>
            <a:ext cx="10332720" cy="10972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7" name="Google Shape;947;p34"/>
          <p:cNvSpPr txBox="1"/>
          <p:nvPr/>
        </p:nvSpPr>
        <p:spPr>
          <a:xfrm>
            <a:off x="640080" y="4983480"/>
            <a:ext cx="9966960" cy="8813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Calibri"/>
                <a:ea typeface="Calibri"/>
                <a:cs typeface="Calibri"/>
                <a:sym typeface="Calibri"/>
              </a:rPr>
              <a:t>关键差异分析</a:t>
            </a:r>
            <a:endParaRPr b="1" sz="1200">
              <a:solidFill>
                <a:srgbClr val="0078D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① 测试结构升级：Native 扁平在 tests/ 下；HW2 按模块建子目录 + conftest.py 共享 fixtures</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② 集成测试从无到有：HW2 新增 195 行端到端集成测试（含合成数据库、完整 pipeline 验证）</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③ 测试深度 &gt; 测试数量：HW2 每函数平均 13.7 行，含更多多步骤验证</a:t>
            </a:r>
            <a:endParaRPr sz="900">
              <a:solidFill>
                <a:srgbClr val="444444"/>
              </a:solidFill>
              <a:latin typeface="Calibri"/>
              <a:ea typeface="Calibri"/>
              <a:cs typeface="Calibri"/>
              <a:sym typeface="Calibri"/>
            </a:endParaRPr>
          </a:p>
          <a:p>
            <a:pPr indent="0" lvl="0" marL="0" marR="0" rtl="0" algn="l">
              <a:spcBef>
                <a:spcPts val="100"/>
              </a:spcBef>
              <a:spcAft>
                <a:spcPts val="0"/>
              </a:spcAft>
              <a:buNone/>
            </a:pPr>
            <a:r>
              <a:rPr lang="en-US" sz="900">
                <a:solidFill>
                  <a:srgbClr val="444444"/>
                </a:solidFill>
                <a:latin typeface="Calibri"/>
                <a:ea typeface="Calibri"/>
                <a:cs typeface="Calibri"/>
                <a:sym typeface="Calibri"/>
              </a:rPr>
              <a:t>④ 数据驱动测试：HW2 集成测试用 SQLite + 合成 OHLCV 完整模拟真实数据管道</a:t>
            </a:r>
            <a:endParaRPr sz="900">
              <a:solidFill>
                <a:srgbClr val="444444"/>
              </a:solidFill>
              <a:latin typeface="Calibri"/>
              <a:ea typeface="Calibri"/>
              <a:cs typeface="Calibri"/>
              <a:sym typeface="Calibri"/>
            </a:endParaRPr>
          </a:p>
        </p:txBody>
      </p:sp>
      <p:sp>
        <p:nvSpPr>
          <p:cNvPr id="948" name="Google Shape;948;p34"/>
          <p:cNvSpPr txBox="1"/>
          <p:nvPr/>
        </p:nvSpPr>
        <p:spPr>
          <a:xfrm>
            <a:off x="11091672"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444444"/>
                </a:solidFill>
                <a:latin typeface="Calibri"/>
                <a:ea typeface="Calibri"/>
                <a:cs typeface="Calibri"/>
                <a:sym typeface="Calibri"/>
              </a:rPr>
              <a:t>32/41</a:t>
            </a:r>
            <a:endParaRPr sz="1100">
              <a:solidFill>
                <a:srgbClr val="444444"/>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35"/>
          <p:cNvSpPr txBox="1"/>
          <p:nvPr/>
        </p:nvSpPr>
        <p:spPr>
          <a:xfrm>
            <a:off x="457200" y="182880"/>
            <a:ext cx="100584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200">
                <a:solidFill>
                  <a:srgbClr val="1A1A2E"/>
                </a:solidFill>
                <a:latin typeface="Calibri"/>
                <a:ea typeface="Calibri"/>
                <a:cs typeface="Calibri"/>
                <a:sym typeface="Calibri"/>
              </a:rPr>
              <a:t>代码规模与任务分解三方深度对比：规格化如何驱动系统完整度</a:t>
            </a:r>
            <a:endParaRPr b="1" sz="2200">
              <a:solidFill>
                <a:srgbClr val="1A1A2E"/>
              </a:solidFill>
              <a:latin typeface="Calibri"/>
              <a:ea typeface="Calibri"/>
              <a:cs typeface="Calibri"/>
              <a:sym typeface="Calibri"/>
            </a:endParaRPr>
          </a:p>
        </p:txBody>
      </p:sp>
      <p:sp>
        <p:nvSpPr>
          <p:cNvPr id="954" name="Google Shape;954;p35"/>
          <p:cNvSpPr/>
          <p:nvPr/>
        </p:nvSpPr>
        <p:spPr>
          <a:xfrm>
            <a:off x="457200" y="658368"/>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55" name="Google Shape;955;p35"/>
          <p:cNvSpPr txBox="1"/>
          <p:nvPr/>
        </p:nvSpPr>
        <p:spPr>
          <a:xfrm>
            <a:off x="457200" y="658368"/>
            <a:ext cx="10058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rgbClr val="444444"/>
                </a:solidFill>
                <a:latin typeface="Calibri"/>
                <a:ea typeface="Calibri"/>
                <a:cs typeface="Calibri"/>
                <a:sym typeface="Calibri"/>
              </a:rPr>
              <a:t>相同需求描述，三种方式产出的代码规模、模块分布、任务分解粒度差异直接反映规格化程度对 AI 行为的引导效果</a:t>
            </a:r>
            <a:endParaRPr sz="1000">
              <a:solidFill>
                <a:srgbClr val="444444"/>
              </a:solidFill>
              <a:latin typeface="Calibri"/>
              <a:ea typeface="Calibri"/>
              <a:cs typeface="Calibri"/>
              <a:sym typeface="Calibri"/>
            </a:endParaRPr>
          </a:p>
        </p:txBody>
      </p:sp>
      <p:sp>
        <p:nvSpPr>
          <p:cNvPr id="956" name="Google Shape;956;p35"/>
          <p:cNvSpPr txBox="1"/>
          <p:nvPr/>
        </p:nvSpPr>
        <p:spPr>
          <a:xfrm>
            <a:off x="457200" y="96012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2C3E50"/>
                </a:solidFill>
                <a:latin typeface="Calibri"/>
                <a:ea typeface="Calibri"/>
                <a:cs typeface="Calibri"/>
                <a:sym typeface="Calibri"/>
              </a:rPr>
              <a:t>代码规模分布（含测试）</a:t>
            </a:r>
            <a:endParaRPr b="1" sz="1300">
              <a:solidFill>
                <a:srgbClr val="2C3E50"/>
              </a:solidFill>
              <a:latin typeface="Calibri"/>
              <a:ea typeface="Calibri"/>
              <a:cs typeface="Calibri"/>
              <a:sym typeface="Calibri"/>
            </a:endParaRPr>
          </a:p>
        </p:txBody>
      </p:sp>
      <p:sp>
        <p:nvSpPr>
          <p:cNvPr id="957" name="Google Shape;957;p35"/>
          <p:cNvSpPr/>
          <p:nvPr/>
        </p:nvSpPr>
        <p:spPr>
          <a:xfrm>
            <a:off x="457200" y="1234440"/>
            <a:ext cx="3291840" cy="146304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58" name="Google Shape;958;p35"/>
          <p:cNvSpPr txBox="1"/>
          <p:nvPr/>
        </p:nvSpPr>
        <p:spPr>
          <a:xfrm>
            <a:off x="640080" y="1307592"/>
            <a:ext cx="2926080" cy="1325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Vanilla: 1,194 行 · 6 文件</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data_fetcher.py       316 行</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factor_engine.py     290 行</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backtester.py           257 行</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app.py                      155 行</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单文件承担多职责，无模块化</a:t>
            </a:r>
            <a:endParaRPr sz="800">
              <a:solidFill>
                <a:srgbClr val="444444"/>
              </a:solidFill>
              <a:latin typeface="Calibri"/>
              <a:ea typeface="Calibri"/>
              <a:cs typeface="Calibri"/>
              <a:sym typeface="Calibri"/>
            </a:endParaRPr>
          </a:p>
        </p:txBody>
      </p:sp>
      <p:sp>
        <p:nvSpPr>
          <p:cNvPr id="959" name="Google Shape;959;p35"/>
          <p:cNvSpPr/>
          <p:nvPr/>
        </p:nvSpPr>
        <p:spPr>
          <a:xfrm>
            <a:off x="3977639" y="1234440"/>
            <a:ext cx="3291840" cy="146304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0" name="Google Shape;960;p35"/>
          <p:cNvSpPr txBox="1"/>
          <p:nvPr/>
        </p:nvSpPr>
        <p:spPr>
          <a:xfrm>
            <a:off x="4160520" y="1307592"/>
            <a:ext cx="2926080" cy="1325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78D4"/>
                </a:solidFill>
                <a:latin typeface="Calibri"/>
                <a:ea typeface="Calibri"/>
                <a:cs typeface="Calibri"/>
                <a:sym typeface="Calibri"/>
              </a:rPr>
              <a:t>原生 OpenSpec: 2,824 行 · 32 文件</a:t>
            </a:r>
            <a:endParaRPr b="1" sz="1300">
              <a:solidFill>
                <a:srgbClr val="0078D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src/data        512 行  数据管道</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src/backtest  423 行  回测引擎</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src/factors    314 行  因子引擎</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src/risk         207 行  风控体系</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(含 570 行测试)</a:t>
            </a:r>
            <a:endParaRPr sz="800">
              <a:solidFill>
                <a:srgbClr val="444444"/>
              </a:solidFill>
              <a:latin typeface="Calibri"/>
              <a:ea typeface="Calibri"/>
              <a:cs typeface="Calibri"/>
              <a:sym typeface="Calibri"/>
            </a:endParaRPr>
          </a:p>
        </p:txBody>
      </p:sp>
      <p:sp>
        <p:nvSpPr>
          <p:cNvPr id="961" name="Google Shape;961;p35"/>
          <p:cNvSpPr/>
          <p:nvPr/>
        </p:nvSpPr>
        <p:spPr>
          <a:xfrm>
            <a:off x="7498079" y="1234440"/>
            <a:ext cx="3291840" cy="146304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2" name="Google Shape;962;p35"/>
          <p:cNvSpPr txBox="1"/>
          <p:nvPr/>
        </p:nvSpPr>
        <p:spPr>
          <a:xfrm>
            <a:off x="7680959" y="1307592"/>
            <a:ext cx="2926080" cy="1325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HW2: 5,015 行 · 31 文件</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src/data        813 行  多源管道+验证器</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src/backtest  775 行  4 子模块引擎</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src/factors    607 行  16 因子+标准化</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src/risk         501 行  4 层+聚合</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(含 779 行测试 + 114 行 notebook)</a:t>
            </a:r>
            <a:endParaRPr sz="800">
              <a:solidFill>
                <a:srgbClr val="444444"/>
              </a:solidFill>
              <a:latin typeface="Calibri"/>
              <a:ea typeface="Calibri"/>
              <a:cs typeface="Calibri"/>
              <a:sym typeface="Calibri"/>
            </a:endParaRPr>
          </a:p>
        </p:txBody>
      </p:sp>
      <p:sp>
        <p:nvSpPr>
          <p:cNvPr id="963" name="Google Shape;963;p35"/>
          <p:cNvSpPr txBox="1"/>
          <p:nvPr/>
        </p:nvSpPr>
        <p:spPr>
          <a:xfrm>
            <a:off x="457200" y="283464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2C3E50"/>
                </a:solidFill>
                <a:latin typeface="Calibri"/>
                <a:ea typeface="Calibri"/>
                <a:cs typeface="Calibri"/>
                <a:sym typeface="Calibri"/>
              </a:rPr>
              <a:t>任务分解对比</a:t>
            </a:r>
            <a:endParaRPr b="1" sz="1300">
              <a:solidFill>
                <a:srgbClr val="2C3E50"/>
              </a:solidFill>
              <a:latin typeface="Calibri"/>
              <a:ea typeface="Calibri"/>
              <a:cs typeface="Calibri"/>
              <a:sym typeface="Calibri"/>
            </a:endParaRPr>
          </a:p>
        </p:txBody>
      </p:sp>
      <p:sp>
        <p:nvSpPr>
          <p:cNvPr id="964" name="Google Shape;964;p35"/>
          <p:cNvSpPr/>
          <p:nvPr/>
        </p:nvSpPr>
        <p:spPr>
          <a:xfrm>
            <a:off x="457200" y="3108960"/>
            <a:ext cx="3291840" cy="1097280"/>
          </a:xfrm>
          <a:prstGeom prst="roundRect">
            <a:avLst>
              <a:gd fmla="val 16667" name="adj"/>
            </a:avLst>
          </a:prstGeom>
          <a:solidFill>
            <a:srgbClr val="F0F0F0"/>
          </a:solidFill>
          <a:ln cap="flat" cmpd="sng" w="12700">
            <a:solidFill>
              <a:srgbClr val="787878"/>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5" name="Google Shape;965;p35"/>
          <p:cNvSpPr txBox="1"/>
          <p:nvPr/>
        </p:nvSpPr>
        <p:spPr>
          <a:xfrm>
            <a:off x="640080" y="3182112"/>
            <a:ext cx="2926080" cy="9601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787878"/>
                </a:solidFill>
                <a:latin typeface="Calibri"/>
                <a:ea typeface="Calibri"/>
                <a:cs typeface="Calibri"/>
                <a:sym typeface="Calibri"/>
              </a:rPr>
              <a:t>Vanilla: 0 个任务</a:t>
            </a:r>
            <a:endParaRPr b="1" sz="1300">
              <a:solidFill>
                <a:srgbClr val="787878"/>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无任何前置规划</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AI 凭自身判断决定架构</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结果：6 个文件一气呵成</a:t>
            </a:r>
            <a:endParaRPr sz="800">
              <a:solidFill>
                <a:srgbClr val="444444"/>
              </a:solidFill>
              <a:latin typeface="Calibri"/>
              <a:ea typeface="Calibri"/>
              <a:cs typeface="Calibri"/>
              <a:sym typeface="Calibri"/>
            </a:endParaRPr>
          </a:p>
        </p:txBody>
      </p:sp>
      <p:sp>
        <p:nvSpPr>
          <p:cNvPr id="966" name="Google Shape;966;p35"/>
          <p:cNvSpPr/>
          <p:nvPr/>
        </p:nvSpPr>
        <p:spPr>
          <a:xfrm>
            <a:off x="3977639" y="3108960"/>
            <a:ext cx="3291840" cy="10972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7" name="Google Shape;967;p35"/>
          <p:cNvSpPr txBox="1"/>
          <p:nvPr/>
        </p:nvSpPr>
        <p:spPr>
          <a:xfrm>
            <a:off x="4160520" y="3182112"/>
            <a:ext cx="2926080" cy="9601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0078D4"/>
                </a:solidFill>
                <a:latin typeface="Calibri"/>
                <a:ea typeface="Calibri"/>
                <a:cs typeface="Calibri"/>
                <a:sym typeface="Calibri"/>
              </a:rPr>
              <a:t>原生 OpenSpec: 44 个任务 · 10 模块</a:t>
            </a:r>
            <a:endParaRPr b="1" sz="1300">
              <a:solidFill>
                <a:srgbClr val="0078D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数据管道 6 | 股票池 4 | 因子 7</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评分 4 | 风控 5 | 择时 4</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回测 5 | 报告 4 | CLI 2 | 基建 3</a:t>
            </a:r>
            <a:endParaRPr sz="800">
              <a:solidFill>
                <a:srgbClr val="444444"/>
              </a:solidFill>
              <a:latin typeface="Calibri"/>
              <a:ea typeface="Calibri"/>
              <a:cs typeface="Calibri"/>
              <a:sym typeface="Calibri"/>
            </a:endParaRPr>
          </a:p>
        </p:txBody>
      </p:sp>
      <p:sp>
        <p:nvSpPr>
          <p:cNvPr id="968" name="Google Shape;968;p35"/>
          <p:cNvSpPr/>
          <p:nvPr/>
        </p:nvSpPr>
        <p:spPr>
          <a:xfrm>
            <a:off x="7498079" y="3108960"/>
            <a:ext cx="3291840" cy="10972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9" name="Google Shape;969;p35"/>
          <p:cNvSpPr txBox="1"/>
          <p:nvPr/>
        </p:nvSpPr>
        <p:spPr>
          <a:xfrm>
            <a:off x="7680959" y="3182112"/>
            <a:ext cx="2926080" cy="9601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107C10"/>
                </a:solidFill>
                <a:latin typeface="Calibri"/>
                <a:ea typeface="Calibri"/>
                <a:cs typeface="Calibri"/>
                <a:sym typeface="Calibri"/>
              </a:rPr>
              <a:t>HW2: 65 个任务 · 10 模块</a:t>
            </a:r>
            <a:endParaRPr b="1" sz="1300">
              <a:solidFill>
                <a:srgbClr val="107C10"/>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数据管道 8 | 股票池 6 | 因子 9</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评分 7 | 风控 6 | 择时 4</a:t>
            </a:r>
            <a:endParaRPr sz="800">
              <a:solidFill>
                <a:srgbClr val="444444"/>
              </a:solidFill>
              <a:latin typeface="Calibri"/>
              <a:ea typeface="Calibri"/>
              <a:cs typeface="Calibri"/>
              <a:sym typeface="Calibri"/>
            </a:endParaRPr>
          </a:p>
          <a:p>
            <a:pPr indent="0" lvl="0" marL="0" marR="0" rtl="0" algn="l">
              <a:spcBef>
                <a:spcPts val="200"/>
              </a:spcBef>
              <a:spcAft>
                <a:spcPts val="0"/>
              </a:spcAft>
              <a:buNone/>
            </a:pPr>
            <a:r>
              <a:rPr lang="en-US" sz="800">
                <a:solidFill>
                  <a:srgbClr val="444444"/>
                </a:solidFill>
                <a:latin typeface="Calibri"/>
                <a:ea typeface="Calibri"/>
                <a:cs typeface="Calibri"/>
                <a:sym typeface="Calibri"/>
              </a:rPr>
              <a:t>• 回测 7 | 报告 8 | 集成 5 | 基建 5</a:t>
            </a:r>
            <a:endParaRPr sz="800">
              <a:solidFill>
                <a:srgbClr val="444444"/>
              </a:solidFill>
              <a:latin typeface="Calibri"/>
              <a:ea typeface="Calibri"/>
              <a:cs typeface="Calibri"/>
              <a:sym typeface="Calibri"/>
            </a:endParaRPr>
          </a:p>
        </p:txBody>
      </p:sp>
      <p:sp>
        <p:nvSpPr>
          <p:cNvPr id="970" name="Google Shape;970;p35"/>
          <p:cNvSpPr/>
          <p:nvPr/>
        </p:nvSpPr>
        <p:spPr>
          <a:xfrm>
            <a:off x="457200" y="4343400"/>
            <a:ext cx="10332720" cy="54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71" name="Google Shape;971;p35"/>
          <p:cNvSpPr/>
          <p:nvPr/>
        </p:nvSpPr>
        <p:spPr>
          <a:xfrm>
            <a:off x="457200" y="4434840"/>
            <a:ext cx="10332720" cy="1554480"/>
          </a:xfrm>
          <a:prstGeom prst="roundRect">
            <a:avLst>
              <a:gd fmla="val 16667" name="adj"/>
            </a:avLst>
          </a:prstGeom>
          <a:solidFill>
            <a:srgbClr val="E3F2FD"/>
          </a:solidFill>
          <a:ln cap="flat" cmpd="sng" w="12700">
            <a:solidFill>
              <a:srgbClr val="0078D4"/>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72" name="Google Shape;972;p35"/>
          <p:cNvSpPr txBox="1"/>
          <p:nvPr/>
        </p:nvSpPr>
        <p:spPr>
          <a:xfrm>
            <a:off x="640080" y="4480560"/>
            <a:ext cx="996696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rgbClr val="0078D4"/>
                </a:solidFill>
                <a:latin typeface="Calibri"/>
                <a:ea typeface="Calibri"/>
                <a:cs typeface="Calibri"/>
                <a:sym typeface="Calibri"/>
              </a:rPr>
              <a:t>Usecases 步骤的增量影响</a:t>
            </a:r>
            <a:endParaRPr b="1" sz="1200">
              <a:solidFill>
                <a:srgbClr val="0078D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① 任务粒度更细：HW2 比 Native 多 21 个任务（65 vs 44，+48%），增量在数据验证器、存活偏差防护、因子 IC 跟踪等</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② 代码量增长显著：HW2 源码 4,236 行 vs Native 2,254 行（+88%），增量集中在 strategy（+248%）、risk（+142%）</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③ 模块功能密度提升：HW2 data 模块增加 DataSource Protocol + 验证器；backtest 拆分为 engine/broker/portfolio/metrics</a:t>
            </a:r>
            <a:endParaRPr sz="900">
              <a:solidFill>
                <a:srgbClr val="444444"/>
              </a:solidFill>
              <a:latin typeface="Calibri"/>
              <a:ea typeface="Calibri"/>
              <a:cs typeface="Calibri"/>
              <a:sym typeface="Calibri"/>
            </a:endParaRPr>
          </a:p>
          <a:p>
            <a:pPr indent="0" lvl="0" marL="0" marR="0" rtl="0" algn="l">
              <a:spcBef>
                <a:spcPts val="200"/>
              </a:spcBef>
              <a:spcAft>
                <a:spcPts val="0"/>
              </a:spcAft>
              <a:buNone/>
            </a:pPr>
            <a:r>
              <a:rPr lang="en-US" sz="900">
                <a:solidFill>
                  <a:srgbClr val="444444"/>
                </a:solidFill>
                <a:latin typeface="Calibri"/>
                <a:ea typeface="Calibri"/>
                <a:cs typeface="Calibri"/>
                <a:sym typeface="Calibri"/>
              </a:rPr>
              <a:t>④ 工程化产物：HW2 独有 conftest.py 共享 fixtures、demo_workflow.py 演示流程</a:t>
            </a:r>
            <a:endParaRPr sz="900">
              <a:solidFill>
                <a:srgbClr val="444444"/>
              </a:solidFill>
              <a:latin typeface="Calibri"/>
              <a:ea typeface="Calibri"/>
              <a:cs typeface="Calibri"/>
              <a:sym typeface="Calibri"/>
            </a:endParaRPr>
          </a:p>
        </p:txBody>
      </p:sp>
      <p:sp>
        <p:nvSpPr>
          <p:cNvPr id="973" name="Google Shape;973;p35"/>
          <p:cNvSpPr txBox="1"/>
          <p:nvPr/>
        </p:nvSpPr>
        <p:spPr>
          <a:xfrm>
            <a:off x="457200" y="6035040"/>
            <a:ext cx="10332720" cy="26035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FF0000"/>
                </a:solidFill>
                <a:latin typeface="Calibri"/>
                <a:ea typeface="Calibri"/>
                <a:cs typeface="Calibri"/>
                <a:sym typeface="Calibri"/>
              </a:rPr>
              <a:t>Usecases 让 AI 在编码前充分理解业务场景 → 更细的任务分解 → 更完整的模块实现 → 更高的代码量和测试质量</a:t>
            </a:r>
            <a:endParaRPr sz="1100">
              <a:solidFill>
                <a:srgbClr val="FF0000"/>
              </a:solidFill>
              <a:latin typeface="Calibri"/>
              <a:ea typeface="Calibri"/>
              <a:cs typeface="Calibri"/>
              <a:sym typeface="Calibri"/>
            </a:endParaRPr>
          </a:p>
        </p:txBody>
      </p:sp>
      <p:sp>
        <p:nvSpPr>
          <p:cNvPr id="974" name="Google Shape;974;p35"/>
          <p:cNvSpPr txBox="1"/>
          <p:nvPr/>
        </p:nvSpPr>
        <p:spPr>
          <a:xfrm>
            <a:off x="11091672"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100">
                <a:solidFill>
                  <a:srgbClr val="444444"/>
                </a:solidFill>
                <a:latin typeface="Calibri"/>
                <a:ea typeface="Calibri"/>
                <a:cs typeface="Calibri"/>
                <a:sym typeface="Calibri"/>
              </a:rPr>
              <a:t>33/41</a:t>
            </a:r>
            <a:endParaRPr sz="1100">
              <a:solidFill>
                <a:srgbClr val="444444"/>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8" name="Shape 978"/>
        <p:cNvGrpSpPr/>
        <p:nvPr/>
      </p:nvGrpSpPr>
      <p:grpSpPr>
        <a:xfrm>
          <a:off x="0" y="0"/>
          <a:ext cx="0" cy="0"/>
          <a:chOff x="0" y="0"/>
          <a:chExt cx="0" cy="0"/>
        </a:xfrm>
      </p:grpSpPr>
      <p:sp>
        <p:nvSpPr>
          <p:cNvPr id="979" name="Google Shape;979;p36"/>
          <p:cNvSpPr txBox="1"/>
          <p:nvPr/>
        </p:nvSpPr>
        <p:spPr>
          <a:xfrm>
            <a:off x="457200" y="182880"/>
            <a:ext cx="1005840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33"/>
                </a:solidFill>
                <a:latin typeface="Microsoft YaHei"/>
                <a:ea typeface="Microsoft YaHei"/>
                <a:cs typeface="Microsoft YaHei"/>
                <a:sym typeface="Microsoft YaHei"/>
              </a:rPr>
              <a:t>综合评分：三方八维度逐项打分</a:t>
            </a:r>
            <a:endParaRPr b="1" sz="2400">
              <a:solidFill>
                <a:srgbClr val="333333"/>
              </a:solidFill>
              <a:latin typeface="Microsoft YaHei"/>
              <a:ea typeface="Microsoft YaHei"/>
              <a:cs typeface="Microsoft YaHei"/>
              <a:sym typeface="Microsoft YaHei"/>
            </a:endParaRPr>
          </a:p>
        </p:txBody>
      </p:sp>
      <p:sp>
        <p:nvSpPr>
          <p:cNvPr id="980" name="Google Shape;980;p36"/>
          <p:cNvSpPr/>
          <p:nvPr/>
        </p:nvSpPr>
        <p:spPr>
          <a:xfrm>
            <a:off x="457200" y="685800"/>
            <a:ext cx="10332720" cy="50800"/>
          </a:xfrm>
          <a:prstGeom prst="rect">
            <a:avLst/>
          </a:prstGeom>
          <a:solidFill>
            <a:srgbClr val="0078D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aphicFrame>
        <p:nvGraphicFramePr>
          <p:cNvPr id="981" name="Google Shape;981;p36"/>
          <p:cNvGraphicFramePr/>
          <p:nvPr/>
        </p:nvGraphicFramePr>
        <p:xfrm>
          <a:off x="457200" y="914400"/>
          <a:ext cx="3000000" cy="3000000"/>
        </p:xfrm>
        <a:graphic>
          <a:graphicData uri="http://schemas.openxmlformats.org/drawingml/2006/table">
            <a:tbl>
              <a:tblPr bandRow="1" firstRow="1">
                <a:noFill/>
                <a:tableStyleId>{1919ADCB-30F0-46B4-BD1B-849308643872}</a:tableStyleId>
              </a:tblPr>
              <a:tblGrid>
                <a:gridCol w="1645925"/>
                <a:gridCol w="1097275"/>
                <a:gridCol w="1097275"/>
                <a:gridCol w="1097275"/>
                <a:gridCol w="5394950"/>
              </a:tblGrid>
              <a:tr h="384050">
                <a:tc>
                  <a:txBody>
                    <a:bodyPr/>
                    <a:lstStyle/>
                    <a:p>
                      <a:pPr indent="0" lvl="0" marL="0" marR="0" rtl="0" algn="l">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维度 (/10)</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44444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Vanilla</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787878"/>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原生</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0078D4"/>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HW2</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107C10"/>
                    </a:solidFill>
                  </a:tcPr>
                </a:tc>
                <a:tc>
                  <a:txBody>
                    <a:bodyPr/>
                    <a:lstStyle/>
                    <a:p>
                      <a:pPr indent="0" lvl="0" marL="0" marR="0" rtl="0" algn="ctr">
                        <a:spcBef>
                          <a:spcPts val="0"/>
                        </a:spcBef>
                        <a:spcAft>
                          <a:spcPts val="0"/>
                        </a:spcAft>
                        <a:buNone/>
                      </a:pPr>
                      <a:r>
                        <a:rPr b="1" lang="en-US" sz="1100" u="none" cap="none" strike="noStrike">
                          <a:solidFill>
                            <a:srgbClr val="FFFFFF"/>
                          </a:solidFill>
                          <a:latin typeface="Microsoft YaHei"/>
                          <a:ea typeface="Microsoft YaHei"/>
                          <a:cs typeface="Microsoft YaHei"/>
                          <a:sym typeface="Microsoft YaHei"/>
                        </a:rPr>
                        <a:t>关键差异</a:t>
                      </a:r>
                      <a:endParaRPr b="1" sz="1100" u="none" cap="none" strike="noStrike">
                        <a:solidFill>
                          <a:srgbClr val="FFFFFF"/>
                        </a:solidFill>
                        <a:latin typeface="Microsoft YaHei"/>
                        <a:ea typeface="Microsoft YaHei"/>
                        <a:cs typeface="Microsoft YaHei"/>
                        <a:sym typeface="Microsoft YaHei"/>
                      </a:endParaRPr>
                    </a:p>
                  </a:txBody>
                  <a:tcPr marT="25400" marB="25400" marR="50800" marL="50800" anchor="ctr">
                    <a:solidFill>
                      <a:srgbClr val="0078D4"/>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架构清晰度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Protocol 架构 vs 简单类 vs 扁平</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测试完备性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2</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0→67→88 测试用例</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需求完整度</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需求0条→基本覆盖→用例驱动完整覆盖（以风控为例）</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边界条件处理</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无边界处理→基本约束→完整约束建模（以回测为例）</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需求可追溯性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4</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无追溯→Spec→Usecase→Spec→Code 全链追溯</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可维护性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简单易读→模块化→YAML配置</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可扩展性</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5</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8</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改代码→基本扩展→插件式</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tc>
              </a:tr>
              <a:tr h="384050">
                <a:tc>
                  <a:txBody>
                    <a:bodyPr/>
                    <a:lstStyle/>
                    <a:p>
                      <a:pPr indent="0" lvl="0" marL="0" marR="0" rtl="0" algn="l">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开发效率</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9</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6</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7</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c>
                  <a:txBody>
                    <a:bodyPr/>
                    <a:lstStyle/>
                    <a:p>
                      <a:pPr indent="0" lvl="0" marL="0" marR="0" rtl="0" algn="ctr">
                        <a:spcBef>
                          <a:spcPts val="0"/>
                        </a:spcBef>
                        <a:spcAft>
                          <a:spcPts val="0"/>
                        </a:spcAft>
                        <a:buNone/>
                      </a:pPr>
                      <a:r>
                        <a:rPr b="0" lang="en-US" sz="1100" u="none" cap="none" strike="noStrike">
                          <a:solidFill>
                            <a:srgbClr val="333333"/>
                          </a:solidFill>
                          <a:latin typeface="Microsoft YaHei"/>
                          <a:ea typeface="Microsoft YaHei"/>
                          <a:cs typeface="Microsoft YaHei"/>
                          <a:sym typeface="Microsoft YaHei"/>
                        </a:rPr>
                        <a:t>最快交付（但质量最低）</a:t>
                      </a:r>
                      <a:endParaRPr b="0"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F8F8F8"/>
                    </a:solidFill>
                  </a:tcPr>
                </a:tc>
              </a:tr>
              <a:tr h="384050">
                <a:tc>
                  <a:txBody>
                    <a:bodyPr/>
                    <a:lstStyle/>
                    <a:p>
                      <a:pPr indent="0" lvl="0" marL="0" marR="0" rtl="0" algn="l">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合计 (/80)</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44</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56</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67</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c>
                  <a:txBody>
                    <a:bodyPr/>
                    <a:lstStyle/>
                    <a:p>
                      <a:pPr indent="0" lvl="0" marL="0" marR="0" rtl="0" algn="ctr">
                        <a:spcBef>
                          <a:spcPts val="0"/>
                        </a:spcBef>
                        <a:spcAft>
                          <a:spcPts val="0"/>
                        </a:spcAft>
                        <a:buNone/>
                      </a:pPr>
                      <a:r>
                        <a:rPr b="1" lang="en-US" sz="1100" u="none" cap="none" strike="noStrike">
                          <a:solidFill>
                            <a:srgbClr val="333333"/>
                          </a:solidFill>
                          <a:latin typeface="Microsoft YaHei"/>
                          <a:ea typeface="Microsoft YaHei"/>
                          <a:cs typeface="Microsoft YaHei"/>
                          <a:sym typeface="Microsoft YaHei"/>
                        </a:rPr>
                        <a:t>Vanilla 仅在可能开发效率领先</a:t>
                      </a:r>
                      <a:endParaRPr b="1" sz="1100" u="none" cap="none" strike="noStrike">
                        <a:solidFill>
                          <a:srgbClr val="333333"/>
                        </a:solidFill>
                        <a:latin typeface="Microsoft YaHei"/>
                        <a:ea typeface="Microsoft YaHei"/>
                        <a:cs typeface="Microsoft YaHei"/>
                        <a:sym typeface="Microsoft YaHei"/>
                      </a:endParaRPr>
                    </a:p>
                  </a:txBody>
                  <a:tcPr marT="25400" marB="25400" marR="50800" marL="50800" anchor="ctr">
                    <a:solidFill>
                      <a:srgbClr val="E0E0E0"/>
                    </a:solidFill>
                  </a:tcPr>
                </a:tc>
              </a:tr>
            </a:tbl>
          </a:graphicData>
        </a:graphic>
      </p:graphicFrame>
      <p:sp>
        <p:nvSpPr>
          <p:cNvPr id="982" name="Google Shape;982;p36"/>
          <p:cNvSpPr/>
          <p:nvPr/>
        </p:nvSpPr>
        <p:spPr>
          <a:xfrm>
            <a:off x="457200" y="4937760"/>
            <a:ext cx="10332720" cy="1097280"/>
          </a:xfrm>
          <a:prstGeom prst="roundRect">
            <a:avLst>
              <a:gd fmla="val 16667" name="adj"/>
            </a:avLst>
          </a:prstGeom>
          <a:solidFill>
            <a:srgbClr val="E8F5E9"/>
          </a:solidFill>
          <a:ln cap="flat" cmpd="sng" w="12700">
            <a:solidFill>
              <a:srgbClr val="107C1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83" name="Google Shape;983;p36"/>
          <p:cNvSpPr txBox="1"/>
          <p:nvPr/>
        </p:nvSpPr>
        <p:spPr>
          <a:xfrm>
            <a:off x="640080" y="5029200"/>
            <a:ext cx="996696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107C10"/>
                </a:solidFill>
                <a:latin typeface="Microsoft YaHei"/>
                <a:ea typeface="Microsoft YaHei"/>
                <a:cs typeface="Microsoft YaHei"/>
                <a:sym typeface="Microsoft YaHei"/>
              </a:rPr>
              <a:t>三方对比核心结论</a:t>
            </a:r>
            <a:endParaRPr b="1" sz="1400">
              <a:solidFill>
                <a:srgbClr val="107C10"/>
              </a:solidFill>
              <a:latin typeface="Microsoft YaHei"/>
              <a:ea typeface="Microsoft YaHei"/>
              <a:cs typeface="Microsoft YaHei"/>
              <a:sym typeface="Microsoft YaHei"/>
            </a:endParaRPr>
          </a:p>
          <a:p>
            <a:pPr indent="0" lvl="0" marL="0" marR="0" rtl="0" algn="l">
              <a:spcBef>
                <a:spcPts val="400"/>
              </a:spcBef>
              <a:spcAft>
                <a:spcPts val="0"/>
              </a:spcAft>
              <a:buNone/>
            </a:pPr>
            <a:r>
              <a:rPr b="0" lang="en-US" sz="1200">
                <a:solidFill>
                  <a:srgbClr val="333333"/>
                </a:solidFill>
                <a:latin typeface="Microsoft YaHei"/>
                <a:ea typeface="Microsoft YaHei"/>
                <a:cs typeface="Microsoft YaHei"/>
                <a:sym typeface="Microsoft YaHei"/>
              </a:rPr>
              <a:t>① 规格前置 = 质量保障：三者总分 44→56→67，规格化程度越高，产出质量越高</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② OpenSpec-HW2 Usecases 的增量价值：原生→HW2 的 11 分差距（56→67），完全由 Usecases 步骤驱动</a:t>
            </a:r>
            <a:endParaRPr b="0" sz="1200">
              <a:solidFill>
                <a:srgbClr val="333333"/>
              </a:solidFill>
              <a:latin typeface="Microsoft YaHei"/>
              <a:ea typeface="Microsoft YaHei"/>
              <a:cs typeface="Microsoft YaHei"/>
              <a:sym typeface="Microsoft YaHei"/>
            </a:endParaRPr>
          </a:p>
          <a:p>
            <a:pPr indent="0" lvl="0" marL="0" marR="0" rtl="0" algn="l">
              <a:spcBef>
                <a:spcPts val="300"/>
              </a:spcBef>
              <a:spcAft>
                <a:spcPts val="0"/>
              </a:spcAft>
              <a:buNone/>
            </a:pPr>
            <a:r>
              <a:rPr b="0" lang="en-US" sz="1200">
                <a:solidFill>
                  <a:srgbClr val="333333"/>
                </a:solidFill>
                <a:latin typeface="Microsoft YaHei"/>
                <a:ea typeface="Microsoft YaHei"/>
                <a:cs typeface="Microsoft YaHei"/>
                <a:sym typeface="Microsoft YaHei"/>
              </a:rPr>
              <a:t>③ 不是代码多就好：Vanilla 代码最少但最快，适合原型；企业级系统需要 HW2 级别的规格化</a:t>
            </a:r>
            <a:endParaRPr b="0" sz="1200">
              <a:solidFill>
                <a:srgbClr val="333333"/>
              </a:solidFill>
              <a:latin typeface="Microsoft YaHei"/>
              <a:ea typeface="Microsoft YaHei"/>
              <a:cs typeface="Microsoft YaHei"/>
              <a:sym typeface="Microsoft YaHei"/>
            </a:endParaRPr>
          </a:p>
        </p:txBody>
      </p:sp>
      <p:sp>
        <p:nvSpPr>
          <p:cNvPr id="984" name="Google Shape;984;p36"/>
          <p:cNvSpPr txBox="1"/>
          <p:nvPr/>
        </p:nvSpPr>
        <p:spPr>
          <a:xfrm>
            <a:off x="11094085" y="6400800"/>
            <a:ext cx="9144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100">
                <a:solidFill>
                  <a:srgbClr val="999999"/>
                </a:solidFill>
                <a:latin typeface="Microsoft YaHei"/>
                <a:ea typeface="Microsoft YaHei"/>
                <a:cs typeface="Microsoft YaHei"/>
                <a:sym typeface="Microsoft YaHei"/>
              </a:rPr>
              <a:t>34/41</a:t>
            </a:r>
            <a:endParaRPr b="0" sz="1100">
              <a:solidFill>
                <a:srgbClr val="999999"/>
              </a:solidFill>
              <a:latin typeface="Microsoft YaHei"/>
              <a:ea typeface="Microsoft YaHei"/>
              <a:cs typeface="Microsoft YaHei"/>
              <a:sym typeface="Microsoft YaHe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2026-02-24T22:00:00Z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E95AA71CD3944AFEB73BA736E01F3CBD_12</vt:lpwstr>
  </property>
  <property fmtid="{D5CDD505-2E9C-101B-9397-08002B2CF9AE}" pid="3" name="KSOProductBuildVer">
    <vt:lpwstr>1033-12.9.0.21549</vt:lpwstr>
  </property>
</Properties>
</file>