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6"/>
  </p:notesMasterIdLst>
  <p:sldIdLst>
    <p:sldId id="302" r:id="rId3"/>
    <p:sldId id="309" r:id="rId4"/>
    <p:sldId id="311" r:id="rId38"/>
    <p:sldId id="306" r:id="rId5"/>
    <p:sldId id="307" r:id="rId7"/>
    <p:sldId id="310" r:id="rId8"/>
    <p:sldId id="308" r:id="rId9"/>
    <p:sldId id="301" r:id="rId10"/>
    <p:sldId id="256" r:id="rId11"/>
    <p:sldId id="257" r:id="rId12"/>
    <p:sldId id="258" r:id="rId13"/>
    <p:sldId id="294" r:id="rId14"/>
    <p:sldId id="293" r:id="rId15"/>
    <p:sldId id="292" r:id="rId16"/>
    <p:sldId id="268" r:id="rId17"/>
    <p:sldId id="297" r:id="rId18"/>
    <p:sldId id="296" r:id="rId19"/>
    <p:sldId id="29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073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10" userDrawn="1">
          <p15:clr>
            <a:srgbClr val="A4A3A4"/>
          </p15:clr>
        </p15:guide>
        <p15:guide id="2" pos="30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919ADCB-30F0-46B4-BD1B-84930864387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210"/>
        <p:guide pos="3004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Relationship Id="rId3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添加一下原生OpenSpec的流程是什么，把Khaled的方式页加进去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5-6页数量是没问题的，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面向人 +CodeAgent协同的可信系统工程方法与框架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提一下这个OpenSpec不支持我们华为的特定要求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1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0" name="Google Shape;700;p22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4" name="Google Shape;764;p2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6" name="Google Shape;776;p24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8" name="Google Shape;788;p25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0" name="Google Shape;820;p26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3" name="Google Shape;833;p27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8" name="Google Shape;848;p28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8" name="Google Shape;858;p29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6" name="Google Shape;866;p30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9" name="Google Shape;879;p31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5" name="Google Shape;895;p32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8" name="Google Shape;908;p33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4" name="Google Shape;934;p34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1" name="Google Shape;951;p35:notes"/>
          <p:cNvSpPr/>
          <p:nvPr>
            <p:ph type="sldImg" idx="2"/>
          </p:nvPr>
        </p:nvSpPr>
        <p:spPr>
          <a:xfrm>
            <a:off x="685943" y="1143000"/>
            <a:ext cx="5486114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2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43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3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43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5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6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7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3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3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3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/>
          <p:nvPr>
            <p:ph type="ctrTitle"/>
          </p:nvPr>
        </p:nvSpPr>
        <p:spPr/>
        <p:txBody>
          <a:bodyPr/>
          <a:p>
            <a:r>
              <a:rPr lang="en-US"/>
              <a:t>Compact Ver.</a:t>
            </a:r>
            <a:endParaRPr lang="en-US"/>
          </a:p>
        </p:txBody>
      </p:sp>
      <p:sp>
        <p:nvSpPr>
          <p:cNvPr id="7" name="Subtitle 6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687070" y="1488440"/>
            <a:ext cx="3363595" cy="4591050"/>
          </a:xfrm>
          <a:prstGeom prst="roundRect">
            <a:avLst>
              <a:gd name="adj" fmla="val 4000"/>
            </a:avLst>
          </a:prstGeom>
          <a:solidFill>
            <a:srgbClr val="F0FAFA"/>
          </a:solidFill>
          <a:ln w="19050">
            <a:solidFill>
              <a:srgbClr val="008B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4572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540" y="409321"/>
            <a:ext cx="9144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</a:rPr>
              <a:t>背景与框架：Agentic Coding 与 OpenSpec</a:t>
            </a:r>
            <a:endParaRPr sz="2200" b="1">
              <a:solidFill>
                <a:srgbClr val="1A1A2E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90695" y="1313815"/>
            <a:ext cx="3528060" cy="4806315"/>
          </a:xfrm>
          <a:prstGeom prst="roundRect">
            <a:avLst>
              <a:gd name="adj" fmla="val 4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0695" y="1313815"/>
            <a:ext cx="3528060" cy="270510"/>
          </a:xfrm>
          <a:prstGeom prst="roundRect">
            <a:avLst>
              <a:gd name="adj" fmla="val 4000"/>
            </a:avLst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3720" y="1302385"/>
            <a:ext cx="2301240" cy="29591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FFFFFF"/>
                </a:solidFill>
              </a:rPr>
              <a:t>为什么需要 OpenSpec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45305" y="1578610"/>
            <a:ext cx="2410460" cy="45034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Agentic Coding 现状</a:t>
            </a:r>
            <a:endParaRPr sz="9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Claude Code 等 AI 编程工具已能自主完成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复杂的软件开发任务。但在企业环境中，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能写代码只是第一步。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endParaRPr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❌ 需求失控</a:t>
            </a:r>
            <a:endParaRPr sz="9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AI 容易自作主张添加/遗漏功能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需求只存在于聊天记录中，无法追溯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❌ 质量不稳定</a:t>
            </a:r>
            <a:endParaRPr sz="9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同样需求，不同对话产出差异大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缺乏验证标准，靠人肉 review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❌ 协作困难</a:t>
            </a:r>
            <a:endParaRPr sz="9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AI 对话上下文无法共享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多人并行修改容易冲突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❌ 知识流失</a:t>
            </a:r>
            <a:endParaRPr sz="9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决策过程随对话消失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新人接手困难，重复踩坑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endParaRPr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0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⚠ 解决了"怎么写"</a:t>
            </a:r>
            <a:endParaRPr sz="10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0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但没解决"写什么"和"写得对不对"</a:t>
            </a:r>
            <a:endParaRPr sz="10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04175" y="1302385"/>
            <a:ext cx="3470275" cy="4814570"/>
          </a:xfrm>
          <a:prstGeom prst="roundRect">
            <a:avLst>
              <a:gd name="adj" fmla="val 4000"/>
            </a:avLst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04175" y="1302385"/>
            <a:ext cx="3469640" cy="237490"/>
          </a:xfrm>
          <a:prstGeom prst="roundRect">
            <a:avLst>
              <a:gd name="adj" fmla="val 4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0" y="1290955"/>
            <a:ext cx="2572385" cy="260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OpenSpec：规格驱动的人机协同框架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58785" y="1567180"/>
            <a:ext cx="2869565" cy="455041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定位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轻量级规格驱动框架，让人和 AI 在写代码之前先达成共识</a:t>
            </a:r>
            <a:r>
              <a:rPr lang="zh-CN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，确保工程标准水平的</a:t>
            </a:r>
            <a:r>
              <a:rPr lang="en-US" altLang="zh-CN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code</a:t>
            </a:r>
            <a:r>
              <a:rPr lang="zh-CN" altLang="en-US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产出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endParaRPr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四大设计原则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流动而非僵化 — 没有阶段门控，按需推进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迭代而非瀑布 — 边做边学，持续优化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增量而非全量 — 用 Delta 记录变更，不重写整体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存量优先 — 为已有项目设计，不只给新项目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endParaRPr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项目结构（两个核心目录）</a:t>
            </a:r>
            <a:endParaRPr sz="9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openspec/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├── specs/           ← 当前行为的真相源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│   └── &lt;domain&gt;/spec.md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└── changes/         ← 提议的变更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├── proposal.md  （为什么改）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├── usecases.md  （用户场景）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├── specs/       （Delta: 增/改/删）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├── design.md    （怎么改）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   └── tasks.md     （实现清单）</a:t>
            </a:r>
            <a:endParaRPr sz="75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endParaRPr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核心创新：Delta Spec（增量规格）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不是重写整个规格，而是只描述变化：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## ADDED Requirements      ← 新增需求</a:t>
            </a:r>
            <a:endParaRPr sz="900" b="0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## MODIFIED Requirements  ← 修改需求</a:t>
            </a:r>
            <a:endParaRPr sz="900" b="0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## REMOVED Requirements   ← 删除需求</a:t>
            </a:r>
            <a:endParaRPr sz="900" b="0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每个需求附带 Given/When/Then 验证场景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归档时自动合并到主规格 → 活文档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7540" y="1329055"/>
            <a:ext cx="3452495" cy="273685"/>
          </a:xfrm>
          <a:prstGeom prst="roundRect">
            <a:avLst>
              <a:gd name="adj" fmla="val 4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550" y="1374140"/>
            <a:ext cx="3363595" cy="158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zh-CN" sz="1100" b="1">
                <a:solidFill>
                  <a:srgbClr val="FFFFFF"/>
                </a:solidFill>
                <a:ea typeface="SimSun" panose="02010600030101010101" pitchFamily="2" charset="-122"/>
              </a:rPr>
              <a:t>人</a:t>
            </a:r>
            <a:r>
              <a:rPr lang="en-US" altLang="zh-CN" sz="1100" b="1">
                <a:solidFill>
                  <a:srgbClr val="FFFFFF"/>
                </a:solidFill>
                <a:ea typeface="SimSun" panose="02010600030101010101" pitchFamily="2" charset="-122"/>
              </a:rPr>
              <a:t> +AI</a:t>
            </a:r>
            <a:r>
              <a:rPr lang="zh-CN" altLang="en-US" sz="1100" b="1">
                <a:solidFill>
                  <a:srgbClr val="FFFFFF"/>
                </a:solidFill>
                <a:ea typeface="SimSun" panose="02010600030101010101" pitchFamily="2" charset="-122"/>
              </a:rPr>
              <a:t>开发智能体</a:t>
            </a:r>
            <a:r>
              <a:rPr lang="en-US" altLang="zh-CN" sz="1100" b="1">
                <a:solidFill>
                  <a:srgbClr val="FFFFFF"/>
                </a:solidFill>
                <a:ea typeface="SimSun" panose="02010600030101010101" pitchFamily="2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ea typeface="SimSun" panose="02010600030101010101" pitchFamily="2" charset="-122"/>
              </a:rPr>
              <a:t>的工程能力建设</a:t>
            </a:r>
            <a:endParaRPr lang="zh-CN" altLang="en-US" sz="1100" b="1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4385" y="3056890"/>
            <a:ext cx="3206115" cy="22961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人与 AI 智能体</a:t>
            </a:r>
            <a:r>
              <a:rPr lang="zh-CN"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：</a:t>
            </a:r>
            <a:endParaRPr lang="zh-CN" sz="9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altLang="zh-CN" sz="90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0730" cy="548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0730" cy="45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0000"/>
            <a:ext cx="10500000" cy="4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/>
              </a:rPr>
              <a:t>工具生态洞察与 OpenSpec 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8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70000"/>
            <a:ext cx="10000000" cy="1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YaHei"/>
              </a:rPr>
              <a:t>Agentic Coding 工具横向对比  ·  OpenSpec 核心机制与工作流  ·  领域适用性预留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000" y="1100000"/>
            <a:ext cx="3200000" cy="3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000" y="1130000"/>
            <a:ext cx="3200000" cy="2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Agentic Coding 工具洞察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000" y="1420000"/>
            <a:ext cx="3200000" cy="534228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0000" y="1470000"/>
            <a:ext cx="3100000" cy="12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000" y="1470000"/>
            <a:ext cx="3100000" cy="45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000" y="1530000"/>
            <a:ext cx="3050000" cy="2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Microsoft YaHei"/>
              </a:rPr>
              <a:t>OpenSpec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000" y="1750000"/>
            <a:ext cx="3050000" cy="1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</a:rPr>
              <a:t>开源 · Anthropic 社区 · 规格驱动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000" y="1880000"/>
            <a:ext cx="3050000" cy="8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唯一覆盖完整 SE 生命周期（7 步工作流）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Delta Spec 只记录变化，不重写全部规格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归档自动合并 → 活文档，知识不丢失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Given/When/Then 验证，Spec-Code 可追溯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000" y="2760000"/>
            <a:ext cx="3100000" cy="12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0000" y="2760000"/>
            <a:ext cx="3100000" cy="45000"/>
          </a:xfrm>
          <a:prstGeom prst="rect">
            <a:avLst/>
          </a:prstGeom>
          <a:solidFill>
            <a:srgbClr val="682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000" y="2820000"/>
            <a:ext cx="3050000" cy="2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68217A"/>
                </a:solidFill>
                <a:latin typeface="Microsoft YaHei"/>
              </a:rPr>
              <a:t>GitHub Spec 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000" y="3040000"/>
            <a:ext cx="3050000" cy="1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</a:rPr>
              <a:t>GitHub 官方 · Copilot 生态 ·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000" y="3170000"/>
            <a:ext cx="3050000" cy="8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从 Issue 一键生成 Spec，与 PR 直接联动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原生 GitHub Actions 驱动，集成度最高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轻量快速，适合中小项目快速迭代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▸ 无增量管理，无跨 artifact 一致性验证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0000" y="4050000"/>
            <a:ext cx="3100000" cy="12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0000" y="4050000"/>
            <a:ext cx="3100000" cy="45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000" y="4110000"/>
            <a:ext cx="3050000" cy="2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008080"/>
                </a:solidFill>
                <a:latin typeface="Microsoft YaHei"/>
              </a:rPr>
              <a:t>Superpowers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000" y="4330000"/>
            <a:ext cx="3050000" cy="1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</a:rPr>
              <a:t>Claude Code 技能增强 · 结构化工作流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000" y="4460000"/>
            <a:ext cx="3050000" cy="8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TDD / 调试 / 代码审查 强制标准化流程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过程质量保证，有效减少低级实现失误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▸ 不管理需求规格，专注代码实现过程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可与 OpenSpec 互补：规格 + 实现双保险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000" y="5340000"/>
            <a:ext cx="3100000" cy="12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0000" y="5340000"/>
            <a:ext cx="3100000" cy="4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000" y="5400000"/>
            <a:ext cx="3050000" cy="2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Microsoft YaHei"/>
              </a:rPr>
              <a:t>Everything as Claude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000" y="5620000"/>
            <a:ext cx="3050000" cy="1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Microsoft YaHei"/>
              </a:rPr>
              <a:t>全能 CLI · 对话驱动 · 零配置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000" y="5750000"/>
            <a:ext cx="3050000" cy="8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自然语言直接驱动，零学习成本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Microsoft YaHei"/>
              </a:rPr>
              <a:t>▸ 最大灵活性，极适合快速原型和探索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▸ 需求随对话消失，无持久化知识管理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▸ 质量随 Prompt 波动，结果难以稳定复现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80000" y="1100000"/>
            <a:ext cx="8360730" cy="30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0000" y="1130000"/>
            <a:ext cx="8360730" cy="2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OpenSpec 详细介绍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80000" y="1420000"/>
            <a:ext cx="8360730" cy="304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15365" y="1470000"/>
            <a:ext cx="950000" cy="80000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15365" y="1525000"/>
            <a:ext cx="950000" cy="2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5365" y="173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为什么改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15365" y="190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改什么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0365" y="1720000"/>
            <a:ext cx="250000" cy="2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05365" y="1470000"/>
            <a:ext cx="950000" cy="800000"/>
          </a:xfrm>
          <a:prstGeom prst="round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5365" y="1525000"/>
            <a:ext cx="950000" cy="2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Specs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5365" y="173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规格定义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5365" y="190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Given/When/Then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0365" y="1720000"/>
            <a:ext cx="250000" cy="2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5365" y="1470000"/>
            <a:ext cx="950000" cy="800000"/>
          </a:xfrm>
          <a:prstGeom prst="round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5365" y="1525000"/>
            <a:ext cx="950000" cy="2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5365" y="173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技术方案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5365" y="190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架构决策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40365" y="1720000"/>
            <a:ext cx="250000" cy="2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85365" y="1470000"/>
            <a:ext cx="950000" cy="800000"/>
          </a:xfrm>
          <a:prstGeom prst="round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5365" y="1525000"/>
            <a:ext cx="950000" cy="2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Tasks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85365" y="173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实现清单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85365" y="190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可追踪进度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0365" y="1720000"/>
            <a:ext cx="250000" cy="2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75365" y="1470000"/>
            <a:ext cx="950000" cy="800000"/>
          </a:xfrm>
          <a:prstGeom prst="round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75365" y="1525000"/>
            <a:ext cx="950000" cy="2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Apply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365" y="173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AI 按清单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5365" y="190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写代码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0365" y="1720000"/>
            <a:ext cx="250000" cy="2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65365" y="1470000"/>
            <a:ext cx="950000" cy="800000"/>
          </a:xfrm>
          <a:prstGeom prst="round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65365" y="1525000"/>
            <a:ext cx="950000" cy="2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Verify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5365" y="173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验证实现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65365" y="190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匹配规格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10365" y="1720000"/>
            <a:ext cx="250000" cy="28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888888"/>
                </a:solidFill>
                <a:latin typeface="Microsoft YaHei"/>
              </a:rPr>
              <a:t>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555365" y="1470000"/>
            <a:ext cx="950000" cy="800000"/>
          </a:xfrm>
          <a:prstGeom prst="round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55365" y="1525000"/>
            <a:ext cx="950000" cy="2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Archive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55365" y="173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合并规格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55365" y="1900000"/>
            <a:ext cx="950000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归档变更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30000" y="2370000"/>
            <a:ext cx="5083652" cy="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30000" y="2380000"/>
            <a:ext cx="5083652" cy="13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Microsoft YaHei"/>
              </a:rPr>
              <a:t>定位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30000" y="2510000"/>
            <a:ext cx="5083652" cy="17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Microsoft YaHei"/>
              </a:rPr>
              <a:t>轻量级规格驱动框架，让人和 AI 在写代码之前先达成共识，确保工程标准水平的产出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30000" y="2680000"/>
            <a:ext cx="5083652" cy="13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A1A2E"/>
                </a:solidFill>
                <a:latin typeface="Microsoft YaHei"/>
              </a:rPr>
              <a:t>四大设计原则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30000" y="2810000"/>
            <a:ext cx="5083652" cy="56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</a:rPr>
              <a:t>✦ 流动而非僵化 — 没有阶段门控，按需推进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</a:rPr>
              <a:t>✦ 迭代而非瀑布 — 边做边学，持续优化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</a:rPr>
              <a:t>✦ 增量而非全量 — 用 Delta 记录变更，不重写整体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</a:rPr>
              <a:t>✦ 存量优先 — 为已有项目设计，不只给新项目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30000" y="3370000"/>
            <a:ext cx="2521826" cy="10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45000" y="3380000"/>
            <a:ext cx="2491826" cy="155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/>
              </a:rPr>
              <a:t>项目结构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45000" y="3535000"/>
            <a:ext cx="2491826" cy="865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  <a:latin typeface="Consolas"/>
              </a:rPr>
              <a:t>openspec/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├── specs/       ← 真相源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│   └── &lt;domain&gt;/spec.md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└── changes/     ← 变更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    ├── proposal.md (为什么改)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    ├── usecases.md (用户场景)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    ├── specs/      (Delta)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    ├── design.md  (怎么改)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  <a:latin typeface="Consolas"/>
              </a:rPr>
              <a:t>    └── tasks.md   (实现清单)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91826" y="3370000"/>
            <a:ext cx="2521826" cy="10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06826" y="3380000"/>
            <a:ext cx="2491826" cy="155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/>
              </a:rPr>
              <a:t>核心创新：Delta Spec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06826" y="3535000"/>
            <a:ext cx="2491826" cy="865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</a:rPr>
              <a:t>不重写全部，只描述变化：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1">
                <a:solidFill>
                  <a:srgbClr val="34A853"/>
                </a:solidFill>
                <a:latin typeface="Microsoft YaHei"/>
              </a:rPr>
              <a:t>  ADDED — 新增需求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1">
                <a:solidFill>
                  <a:srgbClr val="FBBC04"/>
                </a:solidFill>
                <a:latin typeface="Microsoft YaHei"/>
              </a:rPr>
              <a:t>  MODIFIED — 修改需求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1">
                <a:solidFill>
                  <a:srgbClr val="EA4335"/>
                </a:solidFill>
                <a:latin typeface="Microsoft YaHei"/>
              </a:rPr>
              <a:t>  REMOVED — 删除需求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</a:rPr>
              <a:t>每个需求附带 G/W/T 验证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Microsoft YaHei"/>
              </a:rPr>
              <a:t>归档时自动合并 → 活文档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63652" y="2360000"/>
            <a:ext cx="3077078" cy="28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63652" y="2400000"/>
            <a:ext cx="3077078" cy="2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领域缺陷分析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63652" y="2640000"/>
            <a:ext cx="3077078" cy="4122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63652" y="2840000"/>
            <a:ext cx="3077078" cy="30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CCCCCC"/>
                </a:solidFill>
                <a:latin typeface="Microsoft YaHei"/>
              </a:rPr>
              <a:t>待补充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13652" y="3160000"/>
            <a:ext cx="2977078" cy="155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</a:rPr>
              <a:t>OpenSpec 在我们领域的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13652" y="3340000"/>
            <a:ext cx="2977078" cy="155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</a:rPr>
              <a:t>具体缺陷与改进方向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43652" y="3620000"/>
            <a:ext cx="2917078" cy="15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Microsoft YaHei"/>
              </a:rPr>
              <a:t>·  华为方法论适配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43652" y="3790000"/>
            <a:ext cx="2917078" cy="15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Microsoft YaHei"/>
              </a:rPr>
              <a:t>·  大规模项目性能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43652" y="3960000"/>
            <a:ext cx="2917078" cy="15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Microsoft YaHei"/>
              </a:rPr>
              <a:t>·  多团队协作支持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43652" y="4130000"/>
            <a:ext cx="2917078" cy="15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Microsoft YaHei"/>
              </a:rPr>
              <a:t>·  工具链集成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43652" y="4300000"/>
            <a:ext cx="2917078" cy="15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Microsoft YaHei"/>
              </a:rPr>
              <a:t>·  安全合规要求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93652" y="6562280"/>
            <a:ext cx="3017078" cy="15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  <a:latin typeface="Microsoft YaHei"/>
              </a:rPr>
              <a:t>[ 此区域预留供后续填充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249555" y="4348480"/>
            <a:ext cx="11357610" cy="232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249555" y="1463040"/>
            <a:ext cx="10483215" cy="1537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7" name="Google Shape;147;p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31520" y="365760"/>
            <a:ext cx="91440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 工作流对比：vs 原生 OpenSpec </a:t>
            </a:r>
            <a:endParaRPr sz="1800" b="0" i="0" u="none" strike="noStrike" cap="none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31520" y="1080000"/>
            <a:ext cx="100584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</a:t>
            </a:r>
            <a:r>
              <a:rPr lang="zh-CN" alt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是</a:t>
            </a:r>
            <a:r>
              <a:rPr 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基于OpenSpec，根据Huawei实际情况</a:t>
            </a:r>
            <a:r>
              <a:rPr lang="zh-CN" alt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改进的</a:t>
            </a:r>
            <a:r>
              <a:rPr lang="en-US" sz="1495" b="0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的fork</a:t>
            </a:r>
            <a:endParaRPr sz="1495" b="0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91165" y="1400955"/>
            <a:ext cx="5000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66666"/>
                </a:solidFill>
                <a:latin typeface="Microsoft YaHei" panose="020B0503020204020204" charset="-122"/>
              </a:rPr>
              <a:t>原生 OpenSpec</a:t>
            </a:r>
            <a:endParaRPr sz="1800" b="1">
              <a:solidFill>
                <a:srgbClr val="666666"/>
              </a:solidFill>
              <a:latin typeface="Microsoft YaHei" panose="020B0503020204020204" charset="-122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1489105" y="1771770"/>
            <a:ext cx="950000" cy="800000"/>
          </a:xfrm>
          <a:prstGeom prst="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48910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Proposal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52910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为什么改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改什么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2608655" y="1771770"/>
            <a:ext cx="950000" cy="800000"/>
          </a:xfrm>
          <a:prstGeom prst="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60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Specs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64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规格定义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Given/When/Then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3698655" y="1771770"/>
            <a:ext cx="950000" cy="800000"/>
          </a:xfrm>
          <a:prstGeom prst="rect">
            <a:avLst/>
          </a:prstGeom>
          <a:solidFill>
            <a:srgbClr val="509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69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Design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73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技术方案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架构决策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4788655" y="1771770"/>
            <a:ext cx="950000" cy="800000"/>
          </a:xfrm>
          <a:prstGeom prst="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78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Tasks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82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实现清单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可追踪进度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878655" y="1771770"/>
            <a:ext cx="950000" cy="800000"/>
          </a:xfrm>
          <a:prstGeom prst="rect">
            <a:avLst/>
          </a:prstGeom>
          <a:solidFill>
            <a:srgbClr val="CC9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87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Apply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91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AI 按清单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写代码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6968655" y="1771770"/>
            <a:ext cx="950000" cy="800000"/>
          </a:xfrm>
          <a:prstGeom prst="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6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Verify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700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验证实现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匹配规格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8058655" y="1771770"/>
            <a:ext cx="950000" cy="800000"/>
          </a:xfrm>
          <a:prstGeom prst="rect">
            <a:avLst/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05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Archive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809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合并规格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归档变更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9148655" y="1771770"/>
            <a:ext cx="950000" cy="800000"/>
          </a:xfrm>
          <a:prstGeom prst="rect">
            <a:avLst/>
          </a:prstGeom>
          <a:solidFill>
            <a:srgbClr val="88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48655" y="1826770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Test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9188655" y="2031770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运行测试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验证功能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1165" y="4238785"/>
            <a:ext cx="5000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8D4"/>
                </a:solidFill>
                <a:latin typeface="Microsoft YaHei" panose="020B0503020204020204" charset="-122"/>
              </a:rPr>
              <a:t>OpenSpec-HW</a:t>
            </a:r>
            <a:endParaRPr sz="18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615980" y="4857885"/>
            <a:ext cx="950000" cy="80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1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Proposal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5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为什么改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改什么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705980" y="4857885"/>
            <a:ext cx="950000" cy="80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70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Use Cases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74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用户场景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主流程+异常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2795980" y="4857885"/>
            <a:ext cx="950000" cy="800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79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Specs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2835980" y="5117885"/>
            <a:ext cx="87000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规格</a:t>
            </a:r>
            <a:r>
              <a:rPr lang="zh-CN" sz="850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定义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Given/When/Then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3885980" y="4857885"/>
            <a:ext cx="950000" cy="8000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88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Design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92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技术方案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架构决策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4975980" y="4857885"/>
            <a:ext cx="950000" cy="80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97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Tasks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501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实现清单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可追踪进度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6065980" y="4857885"/>
            <a:ext cx="950000" cy="80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06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Apply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610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AI 按清单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写代码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7155980" y="4857885"/>
            <a:ext cx="950000" cy="8000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15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Verify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719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验证实现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匹配规格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8245980" y="4857885"/>
            <a:ext cx="950000" cy="8000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24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Archive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828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合并规格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归档变更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9335980" y="4857885"/>
            <a:ext cx="950000" cy="800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33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Test Case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9375980" y="5117885"/>
            <a:ext cx="87000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用例生成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基于</a:t>
            </a:r>
            <a:r>
              <a:rPr lang="en-US" sz="850">
                <a:solidFill>
                  <a:srgbClr val="FFFFFF"/>
                </a:solidFill>
                <a:latin typeface="Microsoft YaHei" panose="020B0503020204020204" charset="-122"/>
              </a:rPr>
              <a:t>Usecase &amp;</a:t>
            </a:r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Spec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5" name="Rectangle 204"/>
          <p:cNvSpPr/>
          <p:nvPr/>
        </p:nvSpPr>
        <p:spPr>
          <a:xfrm>
            <a:off x="10425980" y="4857885"/>
            <a:ext cx="950000" cy="8000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425980" y="4912885"/>
            <a:ext cx="9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5">
                <a:solidFill>
                  <a:srgbClr val="FFFFFF"/>
                </a:solidFill>
                <a:latin typeface="Microsoft YaHei" panose="020B0503020204020204" charset="-122"/>
              </a:rPr>
              <a:t>Test Exec</a:t>
            </a:r>
            <a:endParaRPr sz="985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0465980" y="5117885"/>
            <a:ext cx="87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执行测试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  <a:p>
            <a:pPr algn="ctr"/>
            <a:r>
              <a:rPr sz="850">
                <a:solidFill>
                  <a:srgbClr val="FFFFFF"/>
                </a:solidFill>
                <a:latin typeface="Microsoft YaHei" panose="020B0503020204020204" charset="-122"/>
              </a:rPr>
              <a:t>自动化验证</a:t>
            </a:r>
            <a:endParaRPr sz="85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2398880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350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459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568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677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786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8953655" y="203177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8888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888888"/>
              </a:solidFill>
              <a:latin typeface="Microsoft YaHei" panose="020B0503020204020204" charset="-122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151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260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369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478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587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696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805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914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10230980" y="5117885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333333"/>
                </a:solidFill>
                <a:latin typeface="Microsoft YaHei" panose="020B0503020204020204" charset="-122"/>
              </a:rPr>
              <a:t>→</a:t>
            </a:r>
            <a:endParaRPr sz="1100">
              <a:solidFill>
                <a:srgbClr val="333333"/>
              </a:solidFill>
              <a:latin typeface="Microsoft YaHei" panose="020B0503020204020204" charset="-122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1705980" y="5707885"/>
            <a:ext cx="95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5" b="1">
                <a:solidFill>
                  <a:srgbClr val="FF8C00"/>
                </a:solidFill>
                <a:latin typeface="Microsoft YaHei" panose="020B0503020204020204" charset="-122"/>
              </a:rPr>
              <a:t>▲ 新增</a:t>
            </a:r>
            <a:endParaRPr sz="785" b="1">
              <a:solidFill>
                <a:srgbClr val="FF8C00"/>
              </a:solidFill>
              <a:latin typeface="Microsoft YaHei" panose="020B0503020204020204" charset="-122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9335980" y="5707885"/>
            <a:ext cx="95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5" b="1">
                <a:solidFill>
                  <a:srgbClr val="FF8C00"/>
                </a:solidFill>
                <a:latin typeface="Microsoft YaHei" panose="020B0503020204020204" charset="-122"/>
              </a:rPr>
              <a:t>▲ 新增</a:t>
            </a:r>
            <a:endParaRPr sz="785" b="1">
              <a:solidFill>
                <a:srgbClr val="FF8C00"/>
              </a:solidFill>
              <a:latin typeface="Microsoft YaHei" panose="020B0503020204020204" charset="-122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10425980" y="5707885"/>
            <a:ext cx="95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5" b="1">
                <a:solidFill>
                  <a:srgbClr val="FF8C00"/>
                </a:solidFill>
                <a:latin typeface="Microsoft YaHei" panose="020B0503020204020204" charset="-122"/>
              </a:rPr>
              <a:t>▲ 新增</a:t>
            </a:r>
            <a:endParaRPr sz="785" b="1">
              <a:solidFill>
                <a:srgbClr val="FF8C00"/>
              </a:solidFill>
              <a:latin typeface="Microsoft YaHei" panose="020B0503020204020204" charset="-122"/>
            </a:endParaRPr>
          </a:p>
        </p:txBody>
      </p:sp>
      <p:sp>
        <p:nvSpPr>
          <p:cNvPr id="2" name="Right Brace 1"/>
          <p:cNvSpPr/>
          <p:nvPr/>
        </p:nvSpPr>
        <p:spPr>
          <a:xfrm rot="5400000">
            <a:off x="2489835" y="2048510"/>
            <a:ext cx="174625" cy="14166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ight Brace 2"/>
          <p:cNvSpPr/>
          <p:nvPr/>
        </p:nvSpPr>
        <p:spPr>
          <a:xfrm rot="16200000">
            <a:off x="2228215" y="3572510"/>
            <a:ext cx="174625" cy="2306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2691765" y="3098165"/>
            <a:ext cx="1917700" cy="11779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Placeholder for usecase screenshots</a:t>
            </a:r>
            <a:endParaRPr lang="en-US"/>
          </a:p>
        </p:txBody>
      </p:sp>
      <p:sp>
        <p:nvSpPr>
          <p:cNvPr id="6" name="Right Brace 5"/>
          <p:cNvSpPr/>
          <p:nvPr/>
        </p:nvSpPr>
        <p:spPr>
          <a:xfrm rot="16200000">
            <a:off x="10307955" y="3856990"/>
            <a:ext cx="174625" cy="17379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8808720" y="3295650"/>
            <a:ext cx="12896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新增基于</a:t>
            </a:r>
            <a:r>
              <a:rPr 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Spec/Usecase</a:t>
            </a:r>
            <a:r>
              <a:rPr lang="zh-CN" alt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的测试用例生成</a:t>
            </a:r>
            <a:endParaRPr lang="zh-CN" altLang="en-US" sz="120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7487920" y="3133090"/>
            <a:ext cx="1320800" cy="11779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Placeholder for  demo</a:t>
            </a:r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317750" y="2905760"/>
            <a:ext cx="262890" cy="1659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658350" y="2679700"/>
            <a:ext cx="700405" cy="18770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16" idx="1"/>
            <a:endCxn id="15" idx="1"/>
          </p:cNvCxnSpPr>
          <p:nvPr/>
        </p:nvCxnSpPr>
        <p:spPr>
          <a:xfrm rot="16200000" flipH="1" flipV="1">
            <a:off x="6303645" y="1991360"/>
            <a:ext cx="3175" cy="8183245"/>
          </a:xfrm>
          <a:prstGeom prst="bentConnector3">
            <a:avLst>
              <a:gd name="adj1" fmla="val 1132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603875" y="6162675"/>
            <a:ext cx="29648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新增基于需求的测试</a:t>
            </a:r>
            <a:endParaRPr lang="zh-CN" altLang="en-US" sz="120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412875" y="3245485"/>
            <a:ext cx="1101725" cy="807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新增基于华为方法论的</a:t>
            </a:r>
            <a:r>
              <a:rPr lang="en-US" altLang="zh-CN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Usecase</a:t>
            </a:r>
            <a:r>
              <a:rPr lang="zh-CN" altLang="en-US" sz="120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生成</a:t>
            </a:r>
            <a:endParaRPr lang="zh-CN" altLang="en-US" sz="120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" name="Right Brace 14"/>
          <p:cNvSpPr/>
          <p:nvPr/>
        </p:nvSpPr>
        <p:spPr>
          <a:xfrm rot="5400000">
            <a:off x="2124710" y="4841875"/>
            <a:ext cx="174625" cy="2306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 rot="5400000">
            <a:off x="10307955" y="5126355"/>
            <a:ext cx="174625" cy="17379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00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OpenSpec-HW </a:t>
            </a:r>
            <a:r>
              <a:rPr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实验综合评分：五维度 SE 质量对比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1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49020"/>
            <a:ext cx="83185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我们针对原生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Claude Code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，原生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进行了三个实验，包括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两个项目类型（量化交易 / Web Dashboard）× 两个开发阶段（初始构建 / 需求变更）× 五个 SE </a:t>
            </a:r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评估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维度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0000" y="1580200"/>
            <a:ext cx="3790000" cy="27000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实验1：A股量化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9870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000" y="1860200"/>
            <a:ext cx="36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A 股有色金属量化交易机器人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含数据获取、多因子引擎、策略评分、风控止损、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事件驱动回测、报告生成 6 大模块（~27 个源文件）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3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4310" y="2423795"/>
            <a:ext cx="9582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6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9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9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3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9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5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9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9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3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9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5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3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9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9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3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5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3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19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9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110000" y="1580200"/>
            <a:ext cx="3400000" cy="270000"/>
          </a:xfrm>
          <a:prstGeom prst="rect">
            <a:avLst/>
          </a:prstGeom>
          <a:solidFill>
            <a:srgbClr val="3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0000" y="1585200"/>
            <a:ext cx="34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实验2：A股量化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Delta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109720" y="1860550"/>
            <a:ext cx="3399790" cy="55054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0000" y="1860200"/>
            <a:ext cx="3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实验内容：在实验1基线上执行 3 项需求变更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① 波动率自适应止损（ATR 动态乘数）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② 动态再平衡频率 ③ 极端行情熔断机制（新功能）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11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59655" y="2411810"/>
            <a:ext cx="105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59655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1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4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459655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59655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1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4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459655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9655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1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4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459655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9655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11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4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459655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59655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11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4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6459655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9655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11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4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459655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59655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600000" y="1580200"/>
            <a:ext cx="3790000" cy="270000"/>
          </a:xfrm>
          <a:prstGeom prst="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60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实验3：Dashboard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600315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50000" y="1860200"/>
            <a:ext cx="369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Web Dashboard 应用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含前端交互界面、、数据可视化等功能模块，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验证结论跨项目类型通用性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760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60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890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808085" y="2423795"/>
            <a:ext cx="9709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73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056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60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63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90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90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97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05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5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60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63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90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90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97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05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60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3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890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90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97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7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05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60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63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890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0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97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7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05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5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60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63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90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90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97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105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760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63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890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90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8/25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7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7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5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24/25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230000" y="6490000"/>
            <a:ext cx="11500000" cy="3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80000" y="6505000"/>
            <a:ext cx="11200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核心结论：四组独立实验一致证明，OpenSpec-HW 在所有 SE 维度系统性领先</a:t>
            </a:r>
            <a:r>
              <a:rPr lang="en-US" sz="900" b="1">
                <a:solidFill>
                  <a:srgbClr val="1A1A2E"/>
                </a:solidFill>
                <a:latin typeface="Microsoft YaHei" panose="020B0503020204020204" charset="-122"/>
              </a:rPr>
              <a:t> </a:t>
            </a:r>
            <a:r>
              <a:rPr lang="zh-CN" sz="9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原生</a:t>
            </a:r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 Claude Code（平均 23.3 vs 6.7 / 25）</a:t>
            </a:r>
            <a:r>
              <a:rPr lang="zh-CN" sz="9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以及原生</a:t>
            </a:r>
            <a:r>
              <a:rPr lang="en-US" altLang="zh-CN" sz="9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 OpenSpec</a:t>
            </a:r>
            <a:endParaRPr lang="en-US" altLang="zh-CN" sz="1100" b="1">
              <a:solidFill>
                <a:srgbClr val="1A1A2E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差距最大：</a:t>
            </a:r>
            <a:r>
              <a:rPr sz="900" b="1">
                <a:solidFill>
                  <a:srgbClr val="0078D4"/>
                </a:solidFill>
                <a:latin typeface="Microsoft YaHei" panose="020B0503020204020204" charset="-122"/>
              </a:rPr>
              <a:t>需求规格 &amp; 维护演进（</a:t>
            </a:r>
            <a:r>
              <a:rPr lang="en-US" sz="900" b="1">
                <a:solidFill>
                  <a:srgbClr val="0078D4"/>
                </a:solidFill>
                <a:latin typeface="Microsoft YaHei" panose="020B0503020204020204" charset="-122"/>
              </a:rPr>
              <a:t>CC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OS-HW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评分</a:t>
            </a:r>
            <a:r>
              <a:rPr 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约为</a:t>
            </a:r>
            <a:r>
              <a:rPr lang="en-US" sz="900" b="1">
                <a:solidFill>
                  <a:srgbClr val="0078D4"/>
                </a:solidFill>
                <a:latin typeface="Microsoft YaHei" panose="020B0503020204020204" charset="-122"/>
              </a:rPr>
              <a:t>1</a:t>
            </a:r>
            <a:r>
              <a:rPr sz="900" b="1">
                <a:solidFill>
                  <a:srgbClr val="0078D4"/>
                </a:solidFill>
                <a:latin typeface="Microsoft YaHei" panose="020B0503020204020204" charset="-122"/>
              </a:rPr>
              <a:t>:</a:t>
            </a:r>
            <a:r>
              <a:rPr lang="en-US" sz="900" b="1">
                <a:solidFill>
                  <a:srgbClr val="0078D4"/>
                </a:solidFill>
                <a:latin typeface="Microsoft YaHei" panose="020B0503020204020204" charset="-122"/>
              </a:rPr>
              <a:t>5</a:t>
            </a:r>
            <a:r>
              <a:rPr sz="900" b="1">
                <a:solidFill>
                  <a:srgbClr val="0078D4"/>
                </a:solidFill>
                <a:latin typeface="Microsoft YaHei" panose="020B0503020204020204" charset="-122"/>
              </a:rPr>
              <a:t>）</a:t>
            </a:r>
            <a:r>
              <a:rPr 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从多项目种类（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A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股量化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/Dashboard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）和开发阶段（初始构建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需求变更）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 </a:t>
            </a:r>
            <a:r>
              <a:rPr 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证明了</a:t>
            </a:r>
            <a:r>
              <a:rPr lang="en-US" altLang="zh-CN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9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的有效性</a:t>
            </a:r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  </a:t>
            </a:r>
            <a:endParaRPr lang="zh-CN" sz="1100" b="0">
              <a:solidFill>
                <a:srgbClr val="444444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94" name="Rectangle 74"/>
          <p:cNvSpPr/>
          <p:nvPr/>
        </p:nvSpPr>
        <p:spPr>
          <a:xfrm>
            <a:off x="5409710" y="2411810"/>
            <a:ext cx="105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75"/>
          <p:cNvSpPr txBox="1"/>
          <p:nvPr/>
        </p:nvSpPr>
        <p:spPr>
          <a:xfrm>
            <a:off x="5409710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6" name="Rectangle 80"/>
          <p:cNvSpPr/>
          <p:nvPr/>
        </p:nvSpPr>
        <p:spPr>
          <a:xfrm>
            <a:off x="5409710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81"/>
          <p:cNvSpPr txBox="1"/>
          <p:nvPr/>
        </p:nvSpPr>
        <p:spPr>
          <a:xfrm>
            <a:off x="5409710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98" name="Rectangle 86"/>
          <p:cNvSpPr/>
          <p:nvPr/>
        </p:nvSpPr>
        <p:spPr>
          <a:xfrm>
            <a:off x="5409710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87"/>
          <p:cNvSpPr txBox="1"/>
          <p:nvPr/>
        </p:nvSpPr>
        <p:spPr>
          <a:xfrm>
            <a:off x="5409710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0" name="Rectangle 92"/>
          <p:cNvSpPr/>
          <p:nvPr/>
        </p:nvSpPr>
        <p:spPr>
          <a:xfrm>
            <a:off x="5409710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93"/>
          <p:cNvSpPr txBox="1"/>
          <p:nvPr/>
        </p:nvSpPr>
        <p:spPr>
          <a:xfrm>
            <a:off x="5409710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2" name="Rectangle 98"/>
          <p:cNvSpPr/>
          <p:nvPr/>
        </p:nvSpPr>
        <p:spPr>
          <a:xfrm>
            <a:off x="5409710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99"/>
          <p:cNvSpPr txBox="1"/>
          <p:nvPr/>
        </p:nvSpPr>
        <p:spPr>
          <a:xfrm>
            <a:off x="5409710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4" name="Rectangle 104"/>
          <p:cNvSpPr/>
          <p:nvPr/>
        </p:nvSpPr>
        <p:spPr>
          <a:xfrm>
            <a:off x="5409710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105"/>
          <p:cNvSpPr txBox="1"/>
          <p:nvPr/>
        </p:nvSpPr>
        <p:spPr>
          <a:xfrm>
            <a:off x="5409710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6" name="Rectangle 110"/>
          <p:cNvSpPr/>
          <p:nvPr/>
        </p:nvSpPr>
        <p:spPr>
          <a:xfrm>
            <a:off x="5409710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111"/>
          <p:cNvSpPr txBox="1"/>
          <p:nvPr/>
        </p:nvSpPr>
        <p:spPr>
          <a:xfrm>
            <a:off x="5409710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08" name="Rectangle 207"/>
          <p:cNvSpPr/>
          <p:nvPr/>
        </p:nvSpPr>
        <p:spPr>
          <a:xfrm>
            <a:off x="230000" y="4401810"/>
            <a:ext cx="11500000" cy="2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30000" y="4406810"/>
            <a:ext cx="11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实验4：Dashboard — 规格驱动测试</a:t>
            </a:r>
            <a:r>
              <a:rPr sz="900" b="0">
                <a:solidFill>
                  <a:srgbClr val="BBBBBB"/>
                </a:solidFill>
                <a:latin typeface="Microsoft YaHei" panose="020B0503020204020204" charset="-122"/>
              </a:rPr>
              <a:t>  (OS-HW Testing Workflow: gen-tests → run-tests)</a:t>
            </a:r>
            <a:endParaRPr sz="900" b="0">
              <a:solidFill>
                <a:srgbClr val="BBBBBB"/>
              </a:solidFill>
              <a:latin typeface="Microsoft YaHei" panose="020B0503020204020204" charset="-122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230000" y="4681810"/>
            <a:ext cx="11500000" cy="18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80000" y="4691810"/>
            <a:ext cx="114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实验内容：使用 OS-HW 测试工作流从 Use Case 规格自动生成测试用例（gen-tests），执行测试并追踪 Happy / Alt / Exception 三类路径覆盖率（run-tests），全流程自动化验证规格一致性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230000" y="4876810"/>
            <a:ext cx="18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30000" y="4881810"/>
            <a:ext cx="1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用例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2030000" y="4876810"/>
            <a:ext cx="7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030000" y="488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Happy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2730000" y="4876810"/>
            <a:ext cx="7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730000" y="488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Alt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3430000" y="4876810"/>
            <a:ext cx="8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430000" y="4881810"/>
            <a:ext cx="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Exception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4230000" y="4876810"/>
            <a:ext cx="700000" cy="2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230000" y="488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 panose="020B0503020204020204" charset="-122"/>
              </a:rPr>
              <a:t>覆盖率</a:t>
            </a:r>
            <a:endParaRPr sz="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230000" y="5116810"/>
            <a:ext cx="1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60000" y="511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UC-01: Drag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2030000" y="511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030000" y="511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2730000" y="511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730000" y="511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2/2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3430000" y="5116810"/>
            <a:ext cx="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30000" y="511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62828"/>
                </a:solidFill>
                <a:latin typeface="Microsoft YaHei" panose="020B0503020204020204" charset="-122"/>
              </a:rPr>
              <a:t>❌ 0/1</a:t>
            </a:r>
            <a:endParaRPr sz="75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4230000" y="511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230000" y="511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E86C00"/>
                </a:solidFill>
                <a:latin typeface="Microsoft YaHei" panose="020B0503020204020204" charset="-122"/>
              </a:rPr>
              <a:t>75%</a:t>
            </a:r>
            <a:endParaRPr sz="75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230000" y="5336810"/>
            <a:ext cx="1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60000" y="533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UC-02: Snap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2030000" y="533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030000" y="533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2730000" y="533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730000" y="533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3430000" y="5336810"/>
            <a:ext cx="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430000" y="533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4230000" y="533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230000" y="533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230000" y="5556810"/>
            <a:ext cx="1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60000" y="555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UC-03: Resize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2030000" y="555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030000" y="555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6" name="Rectangle 245"/>
          <p:cNvSpPr/>
          <p:nvPr/>
        </p:nvSpPr>
        <p:spPr>
          <a:xfrm>
            <a:off x="2730000" y="555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730000" y="555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3430000" y="5556810"/>
            <a:ext cx="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3430000" y="555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4230000" y="555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4230000" y="555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230000" y="5776810"/>
            <a:ext cx="1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60000" y="577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UC-04: Add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2030000" y="577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030000" y="577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2730000" y="577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2730000" y="577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3430000" y="5776810"/>
            <a:ext cx="8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430000" y="577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4230000" y="5776810"/>
            <a:ext cx="700000" cy="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4230000" y="577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30000" y="5996810"/>
            <a:ext cx="1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60000" y="5999810"/>
            <a:ext cx="177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444444"/>
                </a:solidFill>
                <a:latin typeface="Microsoft YaHei" panose="020B0503020204020204" charset="-122"/>
              </a:rPr>
              <a:t>UC-05: Remove Widget</a:t>
            </a:r>
            <a:endParaRPr sz="75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2030000" y="599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030000" y="599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2730000" y="599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2730000" y="599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3430000" y="5996810"/>
            <a:ext cx="8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430000" y="5999810"/>
            <a:ext cx="8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✅ 1/1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4230000" y="5996810"/>
            <a:ext cx="700000" cy="2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230000" y="5999810"/>
            <a:ext cx="700000" cy="2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Microsoft YaHei" panose="020B0503020204020204" charset="-122"/>
              </a:rPr>
              <a:t>100%</a:t>
            </a:r>
            <a:endParaRPr sz="75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230000" y="6216810"/>
            <a:ext cx="18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60000" y="6221810"/>
            <a:ext cx="177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A2E"/>
                </a:solidFill>
                <a:latin typeface="Microsoft YaHei" panose="020B0503020204020204" charset="-122"/>
              </a:rPr>
              <a:t>总计 (15/17)</a:t>
            </a:r>
            <a:endParaRPr sz="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2030000" y="6216810"/>
            <a:ext cx="7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030000" y="622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Microsoft YaHei" panose="020B0503020204020204" charset="-122"/>
              </a:rPr>
              <a:t>✅ 5/5</a:t>
            </a:r>
            <a:endParaRPr sz="8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2730000" y="6216810"/>
            <a:ext cx="7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2730000" y="622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Microsoft YaHei" panose="020B0503020204020204" charset="-122"/>
              </a:rPr>
              <a:t>✅ 6/6</a:t>
            </a:r>
            <a:endParaRPr sz="8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3430000" y="6216810"/>
            <a:ext cx="8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3430000" y="6221810"/>
            <a:ext cx="8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6C00"/>
                </a:solidFill>
                <a:latin typeface="Microsoft YaHei" panose="020B0503020204020204" charset="-122"/>
              </a:rPr>
              <a:t>4/5</a:t>
            </a:r>
            <a:endParaRPr sz="8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4230000" y="6216810"/>
            <a:ext cx="700000" cy="24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4230000" y="6221810"/>
            <a:ext cx="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E7D32"/>
                </a:solidFill>
                <a:latin typeface="Microsoft YaHei" panose="020B0503020204020204" charset="-122"/>
              </a:rPr>
              <a:t>88%</a:t>
            </a:r>
            <a:endParaRPr sz="8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2" name="Rounded Rectangle 281"/>
          <p:cNvSpPr/>
          <p:nvPr/>
        </p:nvSpPr>
        <p:spPr>
          <a:xfrm>
            <a:off x="5130000" y="4876810"/>
            <a:ext cx="6600000" cy="15800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130000" y="4906810"/>
            <a:ext cx="6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E7D32"/>
                </a:solidFill>
                <a:latin typeface="Microsoft YaHei" panose="020B0503020204020204" charset="-122"/>
              </a:rPr>
              <a:t>88%</a:t>
            </a:r>
            <a:endParaRPr sz="36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163145" y="5006150"/>
            <a:ext cx="6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Microsoft YaHei" panose="020B0503020204020204" charset="-122"/>
              </a:rPr>
              <a:t>规格路径覆盖率</a:t>
            </a:r>
            <a:endParaRPr sz="10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6232360" y="5234575"/>
            <a:ext cx="6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44444"/>
                </a:solidFill>
                <a:latin typeface="Microsoft YaHei" panose="020B0503020204020204" charset="-122"/>
              </a:rPr>
              <a:t>(15 / 17 paths covered)</a:t>
            </a:r>
            <a:endParaRPr sz="8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5330000" y="5557140"/>
            <a:ext cx="6200000" cy="15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5130000" y="5496810"/>
            <a:ext cx="3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Microsoft YaHei" panose="020B0503020204020204" charset="-122"/>
              </a:rPr>
              <a:t>44/44</a:t>
            </a:r>
            <a:endParaRPr sz="2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5130000" y="5857150"/>
            <a:ext cx="33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测试全部通过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8428095" y="5465060"/>
            <a:ext cx="33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Microsoft YaHei" panose="020B0503020204020204" charset="-122"/>
              </a:rPr>
              <a:t>20</a:t>
            </a:r>
            <a:endParaRPr sz="20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8428730" y="5857150"/>
            <a:ext cx="33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需求追踪映射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5130000" y="6141615"/>
            <a:ext cx="6600000" cy="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44444"/>
                </a:solidFill>
                <a:latin typeface="Microsoft YaHei" panose="020B0503020204020204" charset="-122"/>
              </a:rPr>
              <a:t>7 test files  ·  vitest v2.1.9  ·  3.16s runtime</a:t>
            </a:r>
            <a:endParaRPr sz="7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5129365" y="6021590"/>
            <a:ext cx="6600000" cy="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Microsoft YaHei" panose="020B0503020204020204" charset="-122"/>
              </a:rPr>
              <a:t>spec-tests.md: 14 ✅ 完整  ·  4 ⚠️ 部分  ·  2 ❌ 待补</a:t>
            </a:r>
            <a:endParaRPr sz="7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00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OpenSpec-HW </a:t>
            </a:r>
            <a:r>
              <a:rPr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实验综合评分：五维度 SE 质量对比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1000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49020"/>
            <a:ext cx="83185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我们针对原生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Claude Code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，原生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进行了三个实验，包括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两个项目类型（量化交易 / Web Dashboard）× 两个开发阶段（初始构建 / 需求变更）× 五个 SE </a:t>
            </a:r>
            <a:r>
              <a:rPr lang="zh-CN" sz="1100" b="0">
                <a:solidFill>
                  <a:srgbClr val="44444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评估</a:t>
            </a:r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维度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0000" y="1580200"/>
            <a:ext cx="3790000" cy="27000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实验1：A股量化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9870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000" y="1860200"/>
            <a:ext cx="369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A 股有色金属量化交易机器人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含数据获取、多因子引擎、策略评分、风控止损、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事件驱动回测、报告生成 6 大模块（~27 个源文件）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3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4310" y="2423795"/>
            <a:ext cx="9582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6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9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9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3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9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3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5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9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9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3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9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3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5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3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19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9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3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5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3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19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9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110000" y="1580200"/>
            <a:ext cx="3400000" cy="270000"/>
          </a:xfrm>
          <a:prstGeom prst="rect">
            <a:avLst/>
          </a:prstGeom>
          <a:solidFill>
            <a:srgbClr val="3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0000" y="1585200"/>
            <a:ext cx="340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实验2：A股量化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Delta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109720" y="1860550"/>
            <a:ext cx="3399790" cy="55054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60000" y="1860200"/>
            <a:ext cx="3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实验内容：在实验1基线上执行 3 项需求变更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① 波动率自适应止损（ATR 动态乘数）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② 动态再平衡频率 ③ 极端行情熔断机制（新功能）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11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59655" y="2411810"/>
            <a:ext cx="105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59655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1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4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459655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59655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1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4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459655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9655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1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4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459655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59655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11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4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459655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59655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11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4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6459655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9655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11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4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6459655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59655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600000" y="1580200"/>
            <a:ext cx="3790000" cy="270000"/>
          </a:xfrm>
          <a:prstGeom prst="rect">
            <a:avLst/>
          </a:prstGeom>
          <a:solidFill>
            <a:srgbClr val="66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600000" y="1585200"/>
            <a:ext cx="3790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charset="-122"/>
              </a:rPr>
              <a:t>实验3：Dashboard — </a:t>
            </a: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</a:rPr>
              <a:t>Baseline</a:t>
            </a:r>
            <a:r>
              <a:rPr lang="zh-CN" altLang="en-US" sz="1100" b="1">
                <a:solidFill>
                  <a:srgbClr val="FFFFFF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开发</a:t>
            </a:r>
            <a:endParaRPr lang="zh-CN" altLang="en-US" sz="1100" b="1">
              <a:solidFill>
                <a:srgbClr val="FFFFFF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600315" y="1850390"/>
            <a:ext cx="3790315" cy="561975"/>
          </a:xfrm>
          <a:prstGeom prst="rect">
            <a:avLst/>
          </a:prstGeom>
          <a:solidFill>
            <a:srgbClr val="F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50000" y="1860200"/>
            <a:ext cx="369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实验内容：从零构建 Web Dashboard 应用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含前端交互界面、、数据可视化等功能模块，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  <a:p>
            <a:pPr algn="l"/>
            <a:r>
              <a:rPr sz="800" b="0">
                <a:solidFill>
                  <a:srgbClr val="555555"/>
                </a:solidFill>
                <a:latin typeface="Microsoft YaHei" panose="020B0503020204020204" charset="-122"/>
              </a:rPr>
              <a:t>验证结论跨项目类型通用性</a:t>
            </a:r>
            <a:endParaRPr sz="8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7600000" y="2411810"/>
            <a:ext cx="1300000" cy="285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600000" y="2423810"/>
            <a:ext cx="13000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评估</a:t>
            </a:r>
            <a:r>
              <a:rPr lang="en-US" sz="900" b="1">
                <a:solidFill>
                  <a:srgbClr val="FFFFFF"/>
                </a:solidFill>
                <a:latin typeface="Microsoft YaHei" panose="020B0503020204020204" charset="-122"/>
              </a:rPr>
              <a:t>SE</a:t>
            </a:r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维度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8900000" y="2411810"/>
            <a:ext cx="83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808085" y="2423795"/>
            <a:ext cx="97091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9730000" y="2411810"/>
            <a:ext cx="830000" cy="285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OpenSpec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10560000" y="2411810"/>
            <a:ext cx="830000" cy="285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60000" y="2423810"/>
            <a:ext cx="83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OS-HW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7600000" y="269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630000" y="270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890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90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973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73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10560000" y="269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560000" y="269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600000" y="296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630000" y="297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890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90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973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3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0560000" y="296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60000" y="296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600000" y="323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30000" y="324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890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90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973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73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10560000" y="323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60000" y="323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600000" y="3506810"/>
            <a:ext cx="130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630000" y="351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890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0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973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73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10560000" y="3506810"/>
            <a:ext cx="83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560000" y="350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600000" y="3776810"/>
            <a:ext cx="130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630000" y="3781810"/>
            <a:ext cx="12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8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90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90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973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3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10560000" y="3776810"/>
            <a:ext cx="83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60000" y="3778810"/>
            <a:ext cx="83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7600000" y="4046810"/>
            <a:ext cx="130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630000" y="4054810"/>
            <a:ext cx="126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Microsoft YaHei" panose="020B0503020204020204" charset="-122"/>
              </a:rPr>
              <a:t>总分</a:t>
            </a:r>
            <a:endParaRPr sz="9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890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90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8/25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73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73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19/25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560000" y="4046810"/>
            <a:ext cx="83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60000" y="4048810"/>
            <a:ext cx="83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24/25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230000" y="4401810"/>
            <a:ext cx="3790000" cy="9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30000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30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230000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Claude Code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493333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6C00"/>
                </a:solidFill>
                <a:latin typeface="Microsoft YaHei" panose="020B0503020204020204" charset="-122"/>
              </a:rPr>
              <a:t>19</a:t>
            </a:r>
            <a:endParaRPr sz="30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1493333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OpenSpec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2756666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3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2756666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OS-HW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4110000" y="4401810"/>
            <a:ext cx="3400000" cy="9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694960" y="4433875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3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760365" y="4933715"/>
            <a:ext cx="1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OS-HW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4159635" y="443324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30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199005" y="4933080"/>
            <a:ext cx="1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Claude Code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7600000" y="4401810"/>
            <a:ext cx="3790000" cy="9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600000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  <a:latin typeface="Microsoft YaHei" panose="020B0503020204020204" charset="-122"/>
              </a:rPr>
              <a:t>8</a:t>
            </a:r>
            <a:endParaRPr sz="30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7600000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Claude Code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8863333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86C00"/>
                </a:solidFill>
                <a:latin typeface="Microsoft YaHei" panose="020B0503020204020204" charset="-122"/>
              </a:rPr>
              <a:t>19</a:t>
            </a:r>
            <a:endParaRPr sz="30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8863333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OpenSpec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10126666" y="4421810"/>
            <a:ext cx="126333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Microsoft YaHei" panose="020B0503020204020204" charset="-122"/>
              </a:rPr>
              <a:t>24</a:t>
            </a:r>
            <a:endParaRPr sz="30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10126666" y="4931810"/>
            <a:ext cx="1263333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  <a:latin typeface="Microsoft YaHei" panose="020B0503020204020204" charset="-122"/>
              </a:rPr>
              <a:t>/ 25  OS-HW</a:t>
            </a:r>
            <a:endParaRPr sz="9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230000" y="5361810"/>
            <a:ext cx="11500000" cy="65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80000" y="5386810"/>
            <a:ext cx="1120000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核心结论：三组独立实验一致证明，OpenSpec-HW 在所有 SE 维度系统性领先</a:t>
            </a:r>
            <a:r>
              <a:rPr lang="en-US" sz="1100" b="1">
                <a:solidFill>
                  <a:srgbClr val="1A1A2E"/>
                </a:solidFill>
                <a:latin typeface="Microsoft YaHei" panose="020B0503020204020204" charset="-122"/>
              </a:rPr>
              <a:t> </a:t>
            </a:r>
            <a:r>
              <a:rPr lang="zh-CN" sz="11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原生</a:t>
            </a:r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 Claude Code（平均 23.3 vs 6.7 / 25）</a:t>
            </a:r>
            <a:r>
              <a:rPr lang="zh-CN" sz="11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以及原生</a:t>
            </a:r>
            <a:r>
              <a:rPr lang="en-US" altLang="zh-CN" sz="1100" b="1">
                <a:solidFill>
                  <a:srgbClr val="1A1A2E"/>
                </a:solidFill>
                <a:latin typeface="Microsoft YaHei" panose="020B0503020204020204" charset="-122"/>
                <a:ea typeface="SimSun" panose="02010600030101010101" pitchFamily="2" charset="-122"/>
              </a:rPr>
              <a:t> OpenSpec</a:t>
            </a:r>
            <a:endParaRPr lang="en-US" altLang="zh-CN" sz="1100" b="1">
              <a:solidFill>
                <a:srgbClr val="1A1A2E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  <a:p>
            <a:pPr algn="l"/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差距最大：</a:t>
            </a: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需求规格 &amp; 维护演进（</a:t>
            </a:r>
            <a:r>
              <a:rPr lang="en-US" sz="1100" b="1">
                <a:solidFill>
                  <a:srgbClr val="0078D4"/>
                </a:solidFill>
                <a:latin typeface="Microsoft YaHei" panose="020B0503020204020204" charset="-122"/>
              </a:rPr>
              <a:t>CC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和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OS-HW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评分</a:t>
            </a:r>
            <a:r>
              <a:rPr 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约为</a:t>
            </a:r>
            <a:r>
              <a:rPr lang="en-US" sz="1100" b="1">
                <a:solidFill>
                  <a:srgbClr val="0078D4"/>
                </a:solidFill>
                <a:latin typeface="Microsoft YaHei" panose="020B0503020204020204" charset="-122"/>
              </a:rPr>
              <a:t>1</a:t>
            </a: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:</a:t>
            </a:r>
            <a:r>
              <a:rPr lang="en-US" sz="1100" b="1">
                <a:solidFill>
                  <a:srgbClr val="0078D4"/>
                </a:solidFill>
                <a:latin typeface="Microsoft YaHei" panose="020B0503020204020204" charset="-122"/>
              </a:rPr>
              <a:t>5</a:t>
            </a:r>
            <a:r>
              <a:rPr sz="1100" b="1">
                <a:solidFill>
                  <a:srgbClr val="0078D4"/>
                </a:solidFill>
                <a:latin typeface="Microsoft YaHei" panose="020B0503020204020204" charset="-122"/>
              </a:rPr>
              <a:t>）</a:t>
            </a:r>
            <a:r>
              <a:rPr 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从多项目种类（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A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股量化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/Dashboard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）和开发阶段（初始构建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/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需求变更）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 </a:t>
            </a:r>
            <a:r>
              <a:rPr 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证明了</a:t>
            </a:r>
            <a:r>
              <a:rPr lang="en-US" altLang="zh-CN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OpenSpec-HW</a:t>
            </a:r>
            <a:r>
              <a:rPr lang="zh-CN" altLang="en-US" sz="1100" b="1">
                <a:solidFill>
                  <a:srgbClr val="0078D4"/>
                </a:solidFill>
                <a:latin typeface="Microsoft YaHei" panose="020B0503020204020204" charset="-122"/>
                <a:ea typeface="SimSun" panose="02010600030101010101" pitchFamily="2" charset="-122"/>
              </a:rPr>
              <a:t>的有效性</a:t>
            </a:r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  </a:t>
            </a:r>
            <a:endParaRPr lang="zh-CN" sz="1100" b="0">
              <a:solidFill>
                <a:srgbClr val="444444"/>
              </a:solidFill>
              <a:latin typeface="Microsoft YaHei" panose="020B0503020204020204" charset="-122"/>
              <a:ea typeface="SimSun" panose="02010600030101010101" pitchFamily="2" charset="-122"/>
            </a:endParaRPr>
          </a:p>
        </p:txBody>
      </p:sp>
      <p:sp>
        <p:nvSpPr>
          <p:cNvPr id="194" name="Rectangle 74"/>
          <p:cNvSpPr/>
          <p:nvPr/>
        </p:nvSpPr>
        <p:spPr>
          <a:xfrm>
            <a:off x="5409710" y="2411810"/>
            <a:ext cx="1050000" cy="285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75"/>
          <p:cNvSpPr txBox="1"/>
          <p:nvPr/>
        </p:nvSpPr>
        <p:spPr>
          <a:xfrm>
            <a:off x="5409710" y="2423810"/>
            <a:ext cx="105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 panose="020B0503020204020204" charset="-122"/>
              </a:rPr>
              <a:t>Claude Code</a:t>
            </a:r>
            <a:endParaRPr sz="9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6" name="Rectangle 80"/>
          <p:cNvSpPr/>
          <p:nvPr/>
        </p:nvSpPr>
        <p:spPr>
          <a:xfrm>
            <a:off x="5409710" y="269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81"/>
          <p:cNvSpPr txBox="1"/>
          <p:nvPr/>
        </p:nvSpPr>
        <p:spPr>
          <a:xfrm>
            <a:off x="5409710" y="269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198" name="Rectangle 86"/>
          <p:cNvSpPr/>
          <p:nvPr/>
        </p:nvSpPr>
        <p:spPr>
          <a:xfrm>
            <a:off x="5409710" y="296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87"/>
          <p:cNvSpPr txBox="1"/>
          <p:nvPr/>
        </p:nvSpPr>
        <p:spPr>
          <a:xfrm>
            <a:off x="5409710" y="296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0" name="Rectangle 92"/>
          <p:cNvSpPr/>
          <p:nvPr/>
        </p:nvSpPr>
        <p:spPr>
          <a:xfrm>
            <a:off x="5409710" y="323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93"/>
          <p:cNvSpPr txBox="1"/>
          <p:nvPr/>
        </p:nvSpPr>
        <p:spPr>
          <a:xfrm>
            <a:off x="5409710" y="323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2" name="Rectangle 98"/>
          <p:cNvSpPr/>
          <p:nvPr/>
        </p:nvSpPr>
        <p:spPr>
          <a:xfrm>
            <a:off x="5409710" y="3506810"/>
            <a:ext cx="1050000" cy="2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99"/>
          <p:cNvSpPr txBox="1"/>
          <p:nvPr/>
        </p:nvSpPr>
        <p:spPr>
          <a:xfrm>
            <a:off x="5409710" y="350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4" name="Rectangle 104"/>
          <p:cNvSpPr/>
          <p:nvPr/>
        </p:nvSpPr>
        <p:spPr>
          <a:xfrm>
            <a:off x="5409710" y="3776810"/>
            <a:ext cx="1050000" cy="2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105"/>
          <p:cNvSpPr txBox="1"/>
          <p:nvPr/>
        </p:nvSpPr>
        <p:spPr>
          <a:xfrm>
            <a:off x="5409710" y="3778810"/>
            <a:ext cx="105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06" name="Rectangle 110"/>
          <p:cNvSpPr/>
          <p:nvPr/>
        </p:nvSpPr>
        <p:spPr>
          <a:xfrm>
            <a:off x="5409710" y="4046810"/>
            <a:ext cx="1050000" cy="295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111"/>
          <p:cNvSpPr txBox="1"/>
          <p:nvPr/>
        </p:nvSpPr>
        <p:spPr>
          <a:xfrm>
            <a:off x="5409710" y="4048810"/>
            <a:ext cx="105000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6/25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>
            <p:custDataLst>
              <p:tags r:id="rId1"/>
            </p:custDataLst>
          </p:nvPr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505904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</a:rPr>
              <a:t>OpenSpec-HW </a:t>
            </a:r>
            <a:r>
              <a:rPr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</a:rPr>
              <a:t>潜在研究方向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201930" y="658495"/>
            <a:ext cx="5856605" cy="2600960"/>
          </a:xfrm>
          <a:prstGeom prst="roundRect">
            <a:avLst>
              <a:gd name="adj" fmla="val 4000"/>
            </a:avLst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201930" y="658368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75082" y="616268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1</a:t>
            </a:r>
            <a:r>
              <a:rPr sz="1100" b="1">
                <a:solidFill>
                  <a:srgbClr val="FFFFFF"/>
                </a:solidFill>
              </a:rPr>
              <a:t>   Multi-Perspective Spec Eval（多智能体多视角规格评估）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56540" y="895985"/>
            <a:ext cx="5746750" cy="2362835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当前 Spec 质量检查依赖人工评审或单一模型实例评审，存在系统性盲区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Perspective-Based Reading (PBR) 研究表明，单一视角审查难以覆盖多维缺陷类别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构建多角色 Agent 审查组，在 spec 提交前执行多视角交叉验证：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完整性审查（遗漏场景与逻辑矛盾检测）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异常路径覆盖（错误流程与异常输入生成）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边界条件分析（边界值与竞态条件识别）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集成一致性检查（与已有 main specs 的隐性冲突检测）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多轮交叉审查后输出经多视角验证的高质量 spec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核心价值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PBR 多视角团队比单一视角多发现 ~41% 缺陷（Shull, IEEE 2000）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可与方向 3 Self-Evolving 形成审查学习闭环</a:t>
            </a:r>
            <a:endParaRPr sz="9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6168390" y="658495"/>
            <a:ext cx="5856605" cy="2600325"/>
          </a:xfrm>
          <a:prstGeom prst="roundRect">
            <a:avLst>
              <a:gd name="adj" fmla="val 4000"/>
            </a:avLst>
          </a:prstGeom>
          <a:solidFill>
            <a:srgbClr val="EF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6168390" y="658368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241542" y="616268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2</a:t>
            </a:r>
            <a:r>
              <a:rPr sz="1100" b="1">
                <a:solidFill>
                  <a:srgbClr val="FFFFFF"/>
                </a:solidFill>
              </a:rPr>
              <a:t>   Spec-as-Runtime Guardrail（规格即运行时护栏）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223000" y="923290"/>
            <a:ext cx="5746750" cy="2193925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传统 Spec-Code 一致性在实现完成后验证，AI 高速生成代码场景下事后验证返工成本高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将 Spec 从"参考文档"变为"可执行的运行时约束"，缺乏强制约束机制违规无法拦截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Design by Contract (Meyer, 1988) 在 AI 辅助编程场景的延伸：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Spec→Constraint 编译：结构化需求（EARS 格式）→ property-based predicates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Agent 行为实时监控：AI 写代码时实时分析合规性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违规拦截：违反 spec 的代码在 save 前被拦截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自动生成 property-based tests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核心价值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Kiro (AWS, GA 2025) 已验证 EARS→property test 可行性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EU AI Act Art.72 要求高风险 AI 系统建立持续合规监控体系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安全关键行业（电信/汽车/能源）预防 &gt; 追溯</a:t>
            </a:r>
            <a:endParaRPr sz="9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201930" y="3450590"/>
            <a:ext cx="5856605" cy="2468880"/>
          </a:xfrm>
          <a:prstGeom prst="roundRect">
            <a:avLst>
              <a:gd name="adj" fmla="val 4000"/>
            </a:avLst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>
            <p:custDataLst>
              <p:tags r:id="rId11"/>
            </p:custDataLst>
          </p:nvPr>
        </p:nvSpPr>
        <p:spPr>
          <a:xfrm>
            <a:off x="201930" y="3450844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275082" y="3408743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3</a:t>
            </a:r>
            <a:r>
              <a:rPr sz="1100" b="1">
                <a:solidFill>
                  <a:srgbClr val="FFFFFF"/>
                </a:solidFill>
              </a:rPr>
              <a:t>   Self-Evolving Spec Agents（自我进化规格智能体）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256540" y="3716020"/>
            <a:ext cx="5746750" cy="220345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现有 AI 记忆（Copilot Memory、Claude Code auto-memory）仅记录代码模式和用户偏好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缺乏从 spec 质量到 spec 编写策略的闭环反馈，同类项目反复犯相同错误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借鉴 experience-driven self-evolution 框架，引入 spec 质量闭环反馈：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每次 Apply→Verify 循环，记录哪些 spec 写法→高质量实现，哪些→返工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蒸馏</a:t>
            </a:r>
            <a:r>
              <a:rPr lang="zh-CN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华为</a:t>
            </a:r>
            <a:r>
              <a:rPr lang="zh-CN"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业务</a:t>
            </a:r>
            <a:r>
              <a:rPr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级</a:t>
            </a:r>
            <a:r>
              <a:rPr sz="900" b="0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Spec</a:t>
            </a:r>
            <a:r>
              <a:rPr sz="900" b="0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900" b="1" i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最佳实践原则</a:t>
            </a:r>
            <a:r>
              <a:rPr lang="en-US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9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→ </a:t>
            </a:r>
            <a:r>
              <a:rPr lang="zh-CN" sz="9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更进一步蒸馏华为</a:t>
            </a:r>
            <a:r>
              <a:rPr lang="zh-CN" sz="9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个人级</a:t>
            </a:r>
            <a:r>
              <a:rPr lang="en-US" altLang="zh-CN" sz="9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Spec</a:t>
            </a:r>
            <a:r>
              <a:rPr lang="zh-CN" altLang="en-US" sz="900" b="1" i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最佳实践原则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创建 spec 时系统主动检索并注入相关原则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核心价值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经验积累效应：使用越多，spec 质量越高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经验沉淀为可复用的组织知识资产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与 Domain Packs 差异化互补：Pack = 行业通识，Self-Evolving = 项目经验</a:t>
            </a:r>
            <a:r>
              <a:rPr lang="zh-CN" sz="9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，互相补充</a:t>
            </a:r>
            <a:endParaRPr sz="9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4"/>
            </p:custDataLst>
          </p:nvPr>
        </p:nvSpPr>
        <p:spPr>
          <a:xfrm>
            <a:off x="6168390" y="3451225"/>
            <a:ext cx="5856605" cy="2468245"/>
          </a:xfrm>
          <a:prstGeom prst="roundRect">
            <a:avLst>
              <a:gd name="adj" fmla="val 4000"/>
            </a:avLst>
          </a:prstGeom>
          <a:solidFill>
            <a:srgbClr val="EB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15"/>
            </p:custDataLst>
          </p:nvPr>
        </p:nvSpPr>
        <p:spPr>
          <a:xfrm>
            <a:off x="6168390" y="3451479"/>
            <a:ext cx="5856732" cy="237744"/>
          </a:xfrm>
          <a:prstGeom prst="roundRect">
            <a:avLst>
              <a:gd name="adj" fmla="val 4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6"/>
            </p:custDataLst>
          </p:nvPr>
        </p:nvSpPr>
        <p:spPr>
          <a:xfrm>
            <a:off x="6241542" y="3409378"/>
            <a:ext cx="5710428" cy="321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4</a:t>
            </a:r>
            <a:r>
              <a:rPr sz="1100" b="1">
                <a:solidFill>
                  <a:srgbClr val="FFFFFF"/>
                </a:solidFill>
              </a:rPr>
              <a:t>   Domain-Specific Packs（领域规格智能包）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7"/>
            </p:custDataLst>
          </p:nvPr>
        </p:nvSpPr>
        <p:spPr>
          <a:xfrm>
            <a:off x="6223000" y="3716655"/>
            <a:ext cx="5746750" cy="2350770"/>
          </a:xfrm>
          <a:prstGeom prst="rect">
            <a:avLst/>
          </a:prstGeom>
          <a:noFill/>
        </p:spPr>
        <p:txBody>
          <a:bodyPr wrap="square" lIns="36576" tIns="18288" rIns="36576" bIns="18288"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现状问题</a:t>
            </a:r>
            <a:endParaRPr sz="900" b="1">
              <a:solidFill>
                <a:srgbClr val="C039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通用大模型不懂行业：</a:t>
            </a:r>
            <a:r>
              <a:rPr lang="zh-CN"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比如</a:t>
            </a: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电信须符合 3GPP、汽车须通过 ISO 26262、能源须满足 IEC 62109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生成的 spec 缺乏行业深度与合规性，公司多年行业积累恰好填补空白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lang="zh-CN"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潜在</a:t>
            </a:r>
            <a:r>
              <a:rPr sz="900" b="1">
                <a:solidFill>
                  <a:srgbClr val="1B7A2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方法</a:t>
            </a:r>
            <a:endParaRPr sz="900" b="1">
              <a:solidFill>
                <a:srgbClr val="1B7A2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将行业 Know-How 封装为 Domain Packs（规格模板 + 规则集 + 验证逻辑）：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Rules（行业规则）+ Spec 模板（必填字段与标准结构）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Schema 约束 + 验证规则（Validators）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AI 生成 spec/code 时自动注入行业先验知识</a:t>
            </a:r>
            <a:endParaRPr sz="9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差异化价值</a:t>
            </a:r>
            <a:endParaRPr sz="9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行业 Know-How 是稀缺资源，无法通过网页爬取或模型训练获得</a:t>
            </a:r>
            <a:endParaRPr sz="9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✦ 先发优势 → 累积效应：越用越好 → 越好越多人用 → 竞争壁垒</a:t>
            </a:r>
            <a:endParaRPr sz="9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行业落地</a:t>
            </a:r>
            <a:endParaRPr sz="9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ICT：3GPP 协议合规 + 网络功能 spec 模板 </a:t>
            </a:r>
            <a:r>
              <a:rPr lang="en-US"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|</a:t>
            </a:r>
            <a:r>
              <a:rPr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汽车：ASIL 等级模板 + AUTOSAR 约束</a:t>
            </a:r>
            <a:r>
              <a:rPr lang="en-US"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|</a:t>
            </a:r>
            <a:r>
              <a:rPr sz="800" b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能源：IEC 62109/62619 并网安全 + 极端工况场景库</a:t>
            </a:r>
            <a:endParaRPr sz="8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209415" y="2316480"/>
            <a:ext cx="2013585" cy="902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Bef>
                <a:spcPts val="0"/>
              </a:spcBef>
              <a:spcAft>
                <a:spcPts val="0"/>
              </a:spcAft>
            </a:pPr>
            <a:endParaRPr lang="en-US"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173355" y="6011545"/>
            <a:ext cx="11851640" cy="650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OpenSpec</a:t>
            </a:r>
            <a:r>
              <a:rPr lang="zh-CN" altLang="en-US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研究潜在为华为不同领域的业务提供需求，设计，测评等支持</a:t>
            </a:r>
            <a:r>
              <a:rPr lang="en-US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 </a:t>
            </a:r>
            <a:r>
              <a:rPr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→ </a:t>
            </a:r>
            <a:r>
              <a:rPr lang="zh-CN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未来更进一步为生产线</a:t>
            </a:r>
            <a:r>
              <a:rPr lang="en-US" altLang="zh-CN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人员提供个性化的</a:t>
            </a:r>
            <a:r>
              <a:rPr lang="en-US" altLang="zh-CN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Agentic Codeing Assistant</a:t>
            </a:r>
            <a:endParaRPr lang="en-US" altLang="zh-CN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p>
            <a:r>
              <a:rPr lang="en-US"/>
              <a:t>Archive</a:t>
            </a:r>
            <a:endParaRPr lang="en-US"/>
          </a:p>
        </p:txBody>
      </p:sp>
      <p:sp>
        <p:nvSpPr>
          <p:cNvPr id="3" name="Subtitle 2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317740" y="2476500"/>
            <a:ext cx="6096000" cy="889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5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学术依据</a:t>
            </a:r>
            <a:r>
              <a:rPr lang="en-US" sz="5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1</a:t>
            </a:r>
            <a:endParaRPr sz="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Du et al. (ICML'24) Multi-Agent Debate 提升推理准确性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Chan et al. (ICLR'24) ChatEval 多智能体辩论评估有效性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Oriol et al. (RE@Next!'25) MAD 在需求工程的初步探索</a:t>
            </a:r>
            <a:endParaRPr sz="40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学术依据</a:t>
            </a:r>
            <a:r>
              <a:rPr lang="en-US"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2</a:t>
            </a:r>
            <a:endParaRPr sz="4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Meyer (1988/1992) Design by Contract 理论基础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Kiro (AWS, GA 2025) EARS→test 验证 | Tessl、spec-kit 也在探索此方向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学术依据</a:t>
            </a:r>
            <a:r>
              <a:rPr lang="en-US" sz="4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3</a:t>
            </a:r>
            <a:endParaRPr sz="4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EvolveR (Wu et al., arXiv:2510.16079) LLM Agent 经验蒸馏自进化框架</a:t>
            </a:r>
            <a:endParaRPr sz="400" b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自进化 Agent 综述 (Gao et al., arXiv:2507.21046; Tao et al., arXiv:2508.07407)</a:t>
            </a:r>
            <a:endParaRPr lang="en-US" sz="40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73025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371600" y="1645920"/>
            <a:ext cx="91440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规范化 Agentic Coding 的系统工程支持</a:t>
            </a:r>
            <a:endParaRPr sz="2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71600" y="2658110"/>
            <a:ext cx="914400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基于 Claude Code 的企业级 AI 辅助开发规范化研究</a:t>
            </a: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Lead：Ou Wei </a:t>
            </a: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Member：Khaled, Zhifei</a:t>
            </a: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666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技术研究汇报  |  2026年2月</a:t>
            </a:r>
            <a:endParaRPr sz="1200" b="0" i="0" u="none" strike="noStrike" cap="none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1/41</a:t>
            </a:r>
            <a:endParaRPr sz="1000" b="0" i="0" u="none" strike="noStrike" cap="none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背景：Agentic Coding 正在改变软件开发</a:t>
            </a:r>
            <a:endParaRPr lang="en-US" sz="2800" b="1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731520" y="1280160"/>
            <a:ext cx="10058400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Claude Code 等 AI 编程工具已经能够自主完成复杂的软件开发任务。</a:t>
            </a:r>
            <a:endParaRPr lang="en-US" sz="16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但在企业环境中，能写代码只是第一步 但是更关键的是写对的代码</a:t>
            </a:r>
            <a:endParaRPr lang="en-US" sz="16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31520" y="2743200"/>
            <a:ext cx="2560320" cy="3200400"/>
          </a:xfrm>
          <a:prstGeom prst="rect">
            <a:avLst/>
          </a:prstGeom>
          <a:solidFill>
            <a:srgbClr val="FDE8E8"/>
          </a:solidFill>
          <a:ln w="19050" cap="flat" cmpd="sng">
            <a:solidFill>
              <a:srgbClr val="D1343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需求失控</a:t>
            </a:r>
            <a:endParaRPr lang="en-US" sz="2000" b="1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144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AI 容易自作主张添加/遗漏功能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需求只存在于聊天记录中，无法追溯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3474720" y="2743200"/>
            <a:ext cx="2560320" cy="3200400"/>
          </a:xfrm>
          <a:prstGeom prst="rect">
            <a:avLst/>
          </a:prstGeom>
          <a:solidFill>
            <a:srgbClr val="FFF3E0"/>
          </a:solidFill>
          <a:ln w="19050" cap="flat" cmpd="sng">
            <a:solidFill>
              <a:srgbClr val="E86C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6576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质量不稳定</a:t>
            </a:r>
            <a:endParaRPr lang="en-US" sz="2000" b="1" i="0" u="none" strike="noStrike" cap="none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6576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同样的需求，不同对话产出差异大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缺乏验证标准，靠人肉 review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217920" y="2743200"/>
            <a:ext cx="2560320" cy="3200400"/>
          </a:xfrm>
          <a:prstGeom prst="rect">
            <a:avLst/>
          </a:prstGeom>
          <a:solidFill>
            <a:srgbClr val="E8F4FD"/>
          </a:solidFill>
          <a:ln w="1905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4008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协作困难</a:t>
            </a:r>
            <a:endParaRPr lang="en-US" sz="20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4008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一个人的 AI 对话上下文无法共享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多人并行修改容易冲突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961120" y="2743200"/>
            <a:ext cx="2560320" cy="3200400"/>
          </a:xfrm>
          <a:prstGeom prst="rect">
            <a:avLst/>
          </a:prstGeom>
          <a:solidFill>
            <a:srgbClr val="F5F5F5"/>
          </a:solidFill>
          <a:ln w="19050" cap="flat" cmpd="sng">
            <a:solidFill>
              <a:srgbClr val="44444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1440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知识流失</a:t>
            </a:r>
            <a:endParaRPr lang="en-US" sz="2000" b="1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9144000" y="3657600"/>
            <a:ext cx="21945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为什么做、怎么做的决策过程随对话消失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新人接手困难，重复踩坑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31520" y="6217920"/>
            <a:ext cx="10058400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Claude Code 解决了怎么写，但没有解决写什么和写得对不对</a:t>
            </a:r>
            <a:endParaRPr lang="en-US" sz="1500" b="1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8888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3/49</a:t>
            </a:r>
            <a:endParaRPr lang="en-US" sz="1100" b="0" i="0" u="none" strike="noStrike" cap="none">
              <a:solidFill>
                <a:srgbClr val="88888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731520" y="365760"/>
            <a:ext cx="1124585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 人机协同开发的系统开发框架</a:t>
            </a:r>
            <a:endParaRPr lang="en-US" sz="2800" b="1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 是一个轻量级的规格驱动框架，让人和 AI 在写代码之前先达成共识。</a:t>
            </a:r>
            <a:endParaRPr lang="en-US" sz="16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7315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8686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流动而非僵化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8686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没有阶段门控，按需推进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4747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6118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迭代而非瀑布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36118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边做边学，持续优化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2179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3550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增量而非全量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63550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用 Delta 记录变更，不重写整体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8961120" y="2103120"/>
            <a:ext cx="2560320" cy="109728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09828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存量优先</a:t>
            </a:r>
            <a:endParaRPr lang="en-US" sz="1500" b="1" i="0" u="none" strike="noStrike" cap="none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098280" y="2651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为已有项目设计，不是只给新项目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项目结构（两个核心目录）</a:t>
            </a:r>
            <a:endParaRPr lang="en-US" sz="1600" b="1" i="0" u="none" strike="noStrike" cap="none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31520" y="402336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openspec/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specs/              ← 当前行为的真相源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└── &lt;domain&gt;/spec.md    （按领域组织的需求）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└── changes/            ← 提议的变更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├── &lt;change-name&gt;/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proposal.md     （为什么改）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usecases.md     （用户场景）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specs/          （Delta: 增/改/删）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├── design.md       （怎么改）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│   └── tasks.md        （实现清单）</a:t>
            </a:r>
            <a:b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 cap="none">
                <a:solidFill>
                  <a:srgbClr val="44444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└── archive/            （已完成变更的归档）</a:t>
            </a:r>
            <a:endParaRPr lang="en-US" sz="1100" b="0" i="0" u="none" strike="noStrike" cap="none">
              <a:solidFill>
                <a:srgbClr val="444444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583680" y="3749039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核心创新：Delta Spec（增量规格）</a:t>
            </a:r>
            <a:endParaRPr lang="en-US" sz="1500" b="1" i="0" u="none" strike="noStrike" cap="none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583680" y="4206240"/>
            <a:ext cx="4663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不是重写整个规格，而是只描述变化：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## ADDED Requirements      ← 新增需求</a:t>
            </a:r>
            <a:endParaRPr lang="en-US" sz="1200" b="0" i="0" u="none" strike="noStrike" cap="none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## MODIFIED Requirements  ← 修改需求</a:t>
            </a:r>
            <a:endParaRPr lang="en-US" sz="1200" b="0" i="0" u="none" strike="noStrike" cap="none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## REMOVED Requirements   ← 删除需求</a:t>
            </a:r>
            <a:endParaRPr lang="en-US" sz="1200" b="0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每个需求附带 Given/When/Then 验证场景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4444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归档时自动合并到主规格 → 活文档</a:t>
            </a:r>
            <a:endParaRPr lang="en-US" sz="1300" b="0" i="0" u="none" strike="noStrike" cap="none">
              <a:solidFill>
                <a:srgbClr val="44444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8888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4/49</a:t>
            </a:r>
            <a:endParaRPr lang="en-US" sz="1100" b="0" i="0" u="none" strike="noStrike" cap="none">
              <a:solidFill>
                <a:srgbClr val="88888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实验1 - 初始构建实验：三方软件工程质量五维度评估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80000"/>
            <a:ext cx="10058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Microsoft YaHei" panose="020B0503020204020204" charset="-122"/>
              </a:rPr>
              <a:t>同一量化交易需求，分别用 Vanilla Claude Code、原生 OpenSpec、OpenSpec-HW 构建，评估五个软件工程维度</a:t>
            </a:r>
            <a:endParaRPr sz="15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550000"/>
            <a:ext cx="210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评估维度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00000" y="1550000"/>
            <a:ext cx="246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0000" y="156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A: Vanilla Claude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00000" y="1550000"/>
            <a:ext cx="246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0000" y="156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B: 原生 OpenSpec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00000" y="1550000"/>
            <a:ext cx="2460000" cy="37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0000" y="156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C: OpenSpec-HW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1920000"/>
            <a:ext cx="21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3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600000" y="192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0000" y="193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00000" y="192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0000" y="193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600000" y="192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0" y="193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2290000"/>
            <a:ext cx="21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0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00000" y="229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0000" y="230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100000" y="229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0000" y="230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00000" y="229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0000" y="230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57200" y="2660000"/>
            <a:ext cx="21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67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600000" y="266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0000" y="267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100000" y="266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0000" y="267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600000" y="266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0000" y="267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" y="3030000"/>
            <a:ext cx="210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04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600000" y="303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0000" y="304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100000" y="303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00000" y="304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3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600000" y="3030000"/>
            <a:ext cx="24600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0000" y="304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57200" y="3400000"/>
            <a:ext cx="210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41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600000" y="340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00000" y="341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100000" y="340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00000" y="341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C00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600000" y="3400000"/>
            <a:ext cx="2460000" cy="37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0000" y="341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57200" y="3770000"/>
            <a:ext cx="210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378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总分 (满分25)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600000" y="377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00000" y="378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100000" y="377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00000" y="378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C00"/>
                </a:solidFill>
                <a:latin typeface="Microsoft YaHei" panose="020B0503020204020204" charset="-122"/>
              </a:rPr>
              <a:t>19</a:t>
            </a:r>
            <a:endParaRPr sz="13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600000" y="377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00000" y="378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57200" y="4140000"/>
            <a:ext cx="210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155000"/>
            <a:ext cx="21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平均分 (满分5)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2600000" y="414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00000" y="415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1.2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100000" y="414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00000" y="415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C00"/>
                </a:solidFill>
                <a:latin typeface="Microsoft YaHei" panose="020B0503020204020204" charset="-122"/>
              </a:rPr>
              <a:t>3.8</a:t>
            </a:r>
            <a:endParaRPr sz="13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600000" y="4140000"/>
            <a:ext cx="2460000" cy="37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00000" y="4155000"/>
            <a:ext cx="246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4.6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65760" y="4650000"/>
            <a:ext cx="11430000" cy="58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4680000"/>
            <a:ext cx="1106424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核心结论：OpenSpec-HW 的规格驱动工作流在所有维度全面领先 Vanilla Claude Code（23 vs 6），差距最大在需求/设计/维护（5:1）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65760" y="5400000"/>
            <a:ext cx="3580000" cy="125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5760" y="5450000"/>
            <a:ext cx="34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Project A: Vanilla Claude Code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45760" y="5750000"/>
            <a:ext cx="34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6 个 Python 文件，0 测试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0 规格文档，0 设计文档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总分：6/25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4045760" y="5400000"/>
            <a:ext cx="3580000" cy="1250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25760" y="5450000"/>
            <a:ext cx="34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C00"/>
                </a:solidFill>
                <a:latin typeface="Microsoft YaHei" panose="020B0503020204020204" charset="-122"/>
              </a:rPr>
              <a:t>Project B: 原生 OpenSpec</a:t>
            </a:r>
            <a:endParaRPr sz="12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125760" y="5750000"/>
            <a:ext cx="34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28 个 Python 文件，58 个测试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16 个规格文档（600行）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总分：19/25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725760" y="5400000"/>
            <a:ext cx="3580000" cy="125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05760" y="5450000"/>
            <a:ext cx="34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Microsoft YaHei" panose="020B0503020204020204" charset="-122"/>
              </a:rPr>
              <a:t>Project C: OpenSpec-HW</a:t>
            </a:r>
            <a:endParaRPr sz="12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805760" y="5750000"/>
            <a:ext cx="342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27 个 Python 文件，56 个测试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24 个规格文档（1634行）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总分：23/25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5485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实验1 - 初始构建结果：五维度逐项对比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0000"/>
            <a:ext cx="2560320" cy="4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0000"/>
            <a:ext cx="256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对比维度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17520" y="1180000"/>
            <a:ext cx="3840480" cy="42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10000"/>
            <a:ext cx="38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OpenSpec-HW（C）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0" y="1180000"/>
            <a:ext cx="3840480" cy="42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210000"/>
            <a:ext cx="38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Vanilla Claude Code（A）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98480" y="1180000"/>
            <a:ext cx="1097280" cy="4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121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评分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600000"/>
            <a:ext cx="256032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160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60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98480" y="1600000"/>
            <a:ext cx="10972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200" y="161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需求与规格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97520" y="160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8 个规格文档 + 用例文档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38 需求 + 56 场景 (WHEN/THEN)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38000" y="160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个规格文档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无需求、无用例、无 API 规格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2020000"/>
            <a:ext cx="256032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17520" y="202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02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0" y="2020000"/>
            <a:ext cx="10972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200" y="203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设计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97520" y="202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254 行设计文档 + 8 个架构决策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Protocol/ABC/Adapter 设计模式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8000" y="202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行设计文档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OOP、无抽象、逻辑重复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698480" y="205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2440000"/>
            <a:ext cx="256032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244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244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98480" y="2440000"/>
            <a:ext cx="10972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200" y="245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实现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97520" y="244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3909 行 / 7 个包 / type hints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YAML 配置 + CLI + 优雅降级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38000" y="244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1200 行 / 6 个平铺文件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type hints、print 调试、代码重复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698480" y="247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2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2860000"/>
            <a:ext cx="256032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17520" y="286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2860000"/>
            <a:ext cx="38404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98480" y="2860000"/>
            <a:ext cx="109728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200" y="287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验证确认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97520" y="286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56 个测试 + 集成测试（779 行）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边界/异常覆盖 + conftest 复用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38000" y="286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个测试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pytest / CI / linting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698480" y="289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3280000"/>
            <a:ext cx="256032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17520" y="328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0" y="3280000"/>
            <a:ext cx="38404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98480" y="3280000"/>
            <a:ext cx="109728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200" y="3290000"/>
            <a:ext cx="24803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Microsoft YaHei" panose="020B0503020204020204" charset="-122"/>
              </a:rPr>
              <a:t>维护演进</a:t>
            </a:r>
            <a:endParaRPr sz="11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097520" y="328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README + 变更归档 + 活文档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插件架构 + Protocol 扩展点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38000" y="3285000"/>
            <a:ext cx="37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README / 无文档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无扩展点、硬编码配置、无日志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98480" y="3310000"/>
            <a:ext cx="10972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5760" y="3780000"/>
            <a:ext cx="11430000" cy="6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800000"/>
            <a:ext cx="110642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关键发现：OpenSpec 的规格驱动流程使 AI 在编码前先建立需求共识，从而在设计、测试、维护各环节产生系统性提升。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  <a:p>
            <a:pPr algn="l"/>
            <a:r>
              <a:rPr sz="1300" b="0">
                <a:solidFill>
                  <a:srgbClr val="444444"/>
                </a:solidFill>
                <a:latin typeface="Microsoft YaHei" panose="020B0503020204020204" charset="-122"/>
              </a:rPr>
              <a:t>无 OpenSpec 时，AI 跳过了需求分析直接写代码，导致零测试、零文档、架构混乱的「能跑但不可维护」的结果。</a:t>
            </a:r>
            <a:endParaRPr sz="13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实验1 - 关键发现与分析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0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7200" y="1280000"/>
            <a:ext cx="400000" cy="40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200" y="13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01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7200" y="130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规格驱动 = 全维度提升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200" y="175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OpenSpec 项目在所有 5 个维度均显著领先。结构化的 proposal→specs→design→tasks 工作流确保需求在编码前被明确捕获。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87200" y="120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7200" y="1280000"/>
            <a:ext cx="400000" cy="4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7200" y="13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02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7200" y="130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Microsoft YaHei" panose="020B0503020204020204" charset="-122"/>
              </a:rPr>
              <a:t>有 Spec 才有 Test</a:t>
            </a:r>
            <a:endParaRPr sz="14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87200" y="175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OpenSpec-HW 的 WHEN/THEN 场景直接映射为测试用例（56 个），实现需求→测试的可追溯性。无 Spec 的项目测试为 0。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17200" y="120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97200" y="1280000"/>
            <a:ext cx="400000" cy="40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7200" y="13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03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67200" y="130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C00"/>
                </a:solidFill>
                <a:latin typeface="Microsoft YaHei" panose="020B0503020204020204" charset="-122"/>
              </a:rPr>
              <a:t>设计文档驱动架构质量</a:t>
            </a:r>
            <a:endParaRPr sz="14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7200" y="175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有设计文档的项目采用 Protocol/ABC/Adapter 等模式，模块化清晰。无设计文档的项目出现逻辑重复、紧耦合。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57200" y="303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37200" y="3110000"/>
            <a:ext cx="400000" cy="400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7200" y="313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04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07200" y="313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  <a:latin typeface="Microsoft YaHei" panose="020B0503020204020204" charset="-122"/>
              </a:rPr>
              <a:t>维护差距最为显著</a:t>
            </a:r>
            <a:endParaRPr sz="1400" b="1">
              <a:solidFill>
                <a:srgbClr val="9C27B0"/>
              </a:solidFill>
              <a:latin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57200" y="358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OpenSpec-HW 的变更归档、活文档、插件架构使系统可持续演进。无 OpenSpec 的项目任何修改都面临回归风险。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987200" y="3030000"/>
            <a:ext cx="3500000" cy="170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7200" y="3110000"/>
            <a:ext cx="400000" cy="40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7200" y="313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 panose="020B0503020204020204" charset="-122"/>
              </a:rPr>
              <a:t>05</a:t>
            </a:r>
            <a:endParaRPr sz="18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37200" y="3130000"/>
            <a:ext cx="287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Microsoft YaHei" panose="020B0503020204020204" charset="-122"/>
              </a:rPr>
              <a:t>实现质量差距相对最小</a:t>
            </a:r>
            <a:endParaRPr sz="14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87200" y="3580000"/>
            <a:ext cx="3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三个项目都能产出可运行的量化交易系统，说明 AI 编码能力本身已足够。差距在于「写对的代码」而非「能写代码」。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5100000"/>
            <a:ext cx="11430000" cy="50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30000"/>
            <a:ext cx="1106424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总结：OpenSpec 解决的不是「AI 能不能写代码」的问题，而是「AI 写的代码是否符合工程标准」的问题。从 6/25 到 23/25 的提升证明了规格驱动开发的系统性价值。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731520" y="365760"/>
            <a:ext cx="982980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实验2- 需求变更实验：OpenSpec-HW2 的迭代维护优势</a:t>
            </a:r>
            <a:endParaRPr sz="28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731520" y="1062355"/>
            <a:ext cx="10058400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前面展示了初始构建的对比。但软件 80% 的成本在维护阶段需求变更时，Vanilla Claude Code和Openspec类SDD工具差距更大。故设计了以下实验，</a:t>
            </a:r>
            <a:r>
              <a:rPr lang="en-US" sz="1600" b="1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详见Demo</a:t>
            </a:r>
            <a:endParaRPr sz="16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457200" y="1920240"/>
            <a:ext cx="5303520" cy="1920240"/>
          </a:xfrm>
          <a:prstGeom prst="rect">
            <a:avLst/>
          </a:prstGeom>
          <a:solidFill>
            <a:srgbClr val="FDF2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594360" y="1965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67E2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实验场景</a:t>
            </a:r>
            <a:endParaRPr sz="1800" b="1">
              <a:solidFill>
                <a:srgbClr val="E67E22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594360" y="237744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2024 年有色金属市场剧烈波动，铜价暴涨暴跌。</a:t>
            </a:r>
            <a:endParaRPr sz="14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客户反馈：固定参数风控策略反应太迟钝，多次在大幅</a:t>
            </a:r>
            <a:endParaRPr sz="14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回撤后才触发止损。产品经理提出 3 项需求变更。</a:t>
            </a:r>
            <a:endParaRPr sz="14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6035040" y="1920240"/>
            <a:ext cx="5486400" cy="192024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6217920" y="1965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三项需求变更</a:t>
            </a:r>
            <a:endParaRPr sz="18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6217920" y="237744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1. 波动率自适应止损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 低波动收紧 → 高波动放宽，避免固定参数的迟钝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2. 动态再平衡频率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 正常月度 → 高波动双周 → 极端波动周度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3. 极端行情熔断机制（全新功能）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 单日跌3%减半仓 | 跌5%全清仓 | 恢复需连续回升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457200" y="4114800"/>
            <a:ext cx="5303520" cy="18288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594360" y="4160520"/>
            <a:ext cx="502920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E7D3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 方法</a:t>
            </a:r>
            <a:endParaRPr sz="1600" b="1">
              <a:solidFill>
                <a:srgbClr val="2E7D32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594360" y="4572000"/>
            <a:ext cx="5029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proposal → usecases → delta specs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→ design → tasks → 逐项实现代码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生成 6 个 artifact 文档（636行），确保编码前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完成影响分析和边界场景识别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6035040" y="4114800"/>
            <a:ext cx="5486400" cy="1828800"/>
          </a:xfrm>
          <a:prstGeom prst="rect">
            <a:avLst/>
          </a:prstGeom>
          <a:solidFill>
            <a:srgbClr val="FFEBE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6217920" y="4160520"/>
            <a:ext cx="512064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6282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 方法</a:t>
            </a:r>
            <a:endParaRPr sz="1600" b="1">
              <a:solidFill>
                <a:srgbClr val="C6282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6217920" y="4572000"/>
            <a:ext cx="5120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直接拿到需求文档 → 让 AI 编码实现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不使用任何规格框架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模拟vibe coding最常见的 拿到需求直接写代码 方式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无 spec、无 design、无 task 分解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>
            <a:off x="548640" y="61714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关键选题：跨风控/回测/策略/配置 4 个模块，同时涉及修改现有功能和新增全新功能，最能体现迭代维护的复杂性</a:t>
            </a:r>
            <a:endParaRPr sz="1300" b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88888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11/41</a:t>
            </a:r>
            <a:endParaRPr sz="1100" b="0">
              <a:solidFill>
                <a:srgbClr val="88888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实验2 - 需求变更实验：五维度软件工程质量评估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0000"/>
            <a:ext cx="105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Microsoft YaHei" panose="020B0503020204020204" charset="-122"/>
              </a:rPr>
              <a:t>同一基线系统 + 同一需求变更，分别用 OpenSpec-HW 与 Vanilla Claude Code 实现，独立评估五个 SE 维度</a:t>
            </a:r>
            <a:endParaRPr sz="14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500000"/>
            <a:ext cx="303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评估维度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00000" y="1500000"/>
            <a:ext cx="256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0000" y="15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OpenSpec-HW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000" y="1500000"/>
            <a:ext cx="256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0" y="15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Vanilla Claude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0" y="1500000"/>
            <a:ext cx="2560000" cy="38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0" y="15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差距分析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1880000"/>
            <a:ext cx="303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9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1. 需求与规格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00000" y="188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0000" y="18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000" y="188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000" y="18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00000" y="188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18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规格文档 636 行 vs 0 行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2260000"/>
            <a:ext cx="303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27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2. 设计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00000" y="226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00000" y="22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000" y="226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000" y="22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00000" y="226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0000" y="22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模块化 vs 单文件膨胀 62%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2640000"/>
            <a:ext cx="303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65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3. 实现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00000" y="264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00000" y="265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000" y="264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000" y="265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2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000000" y="264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0000" y="265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类型安全 + 日志 vs 无类型/print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31520" y="3020000"/>
            <a:ext cx="303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03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4. 验证与确认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00000" y="302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00000" y="303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4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00000" y="302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000" y="303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000000" y="3020000"/>
            <a:ext cx="2560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0000" y="303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31 个测试 vs 0 个测试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31520" y="3400000"/>
            <a:ext cx="303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41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 panose="020B0503020204020204" charset="-122"/>
              </a:rPr>
              <a:t>5. 维护与演进</a:t>
            </a:r>
            <a:endParaRPr sz="1200" b="0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800000" y="340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00000" y="34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 panose="020B0503020204020204" charset="-122"/>
              </a:rPr>
              <a:t>5</a:t>
            </a:r>
            <a:endParaRPr sz="12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00000" y="340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000" y="34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 panose="020B0503020204020204" charset="-122"/>
              </a:rPr>
              <a:t>1</a:t>
            </a:r>
            <a:endParaRPr sz="12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000000" y="3400000"/>
            <a:ext cx="2560000" cy="3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0000" y="341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78D4"/>
                </a:solidFill>
                <a:latin typeface="Microsoft YaHei" panose="020B0503020204020204" charset="-122"/>
              </a:rPr>
              <a:t>YAML配置+归档 vs 硬编码</a:t>
            </a:r>
            <a:endParaRPr sz="1200" b="0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31520" y="3780000"/>
            <a:ext cx="303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79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总分（满分 25）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800000" y="378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00000" y="37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23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400000" y="378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000" y="37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6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000000" y="378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0000" y="379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OpenSpec-HW 领先 +17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31520" y="4160000"/>
            <a:ext cx="303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178000"/>
            <a:ext cx="303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平均分（满分 5）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800000" y="416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00000" y="41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4.6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400000" y="416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000" y="41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1.2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000000" y="4160000"/>
            <a:ext cx="2560000" cy="38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00000" y="4178000"/>
            <a:ext cx="256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差距 3.8 倍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48640" y="5050000"/>
            <a:ext cx="5400000" cy="145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0000" y="511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Microsoft YaHei" panose="020B0503020204020204" charset="-122"/>
              </a:rPr>
              <a:t>OpenSpec-HW 方法</a:t>
            </a:r>
            <a:endParaRPr sz="14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00000" y="5430000"/>
            <a:ext cx="515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6 个 artifact 文档（636行）+ 10 个边界场景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3 个新模块 + 31 个新测试 + 19 个配置参数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变更分布在 7 个文件，职责隔离清晰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T+1 冲突、渐进恢复、频率切换全覆盖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98640" y="5050000"/>
            <a:ext cx="5400000" cy="145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48640" y="5110000"/>
            <a:ext cx="5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Microsoft YaHei" panose="020B0503020204020204" charset="-122"/>
              </a:rPr>
              <a:t>Vanilla Claude Code 方法</a:t>
            </a:r>
            <a:endParaRPr sz="14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248640" y="5430000"/>
            <a:ext cx="515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0 个规格文档 + 仅 2 个边界场景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0 个新模块、0 个测试，仅改 2 个文件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backtester.py 膨胀 62%（257→416 行）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444444"/>
                </a:solidFill>
                <a:latin typeface="Microsoft YaHei" panose="020B0503020204020204" charset="-122"/>
              </a:rPr>
              <a:t>遗漏 T+1 冲突、渐进恢复、频率切换</a:t>
            </a:r>
            <a:endParaRPr sz="11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实验2 - 需求变更结果：五维度逐项对比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2400000" cy="4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0000"/>
            <a:ext cx="24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对比维度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0000" y="1150000"/>
            <a:ext cx="3760000" cy="4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0000" y="1180000"/>
            <a:ext cx="37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OpenSpec-HW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00000" y="1150000"/>
            <a:ext cx="3760000" cy="44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0000" y="1180000"/>
            <a:ext cx="37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Vanilla Claude Code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00000" y="1150000"/>
            <a:ext cx="1097280" cy="44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0" y="118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 panose="020B0503020204020204" charset="-122"/>
              </a:rPr>
              <a:t>评分</a:t>
            </a:r>
            <a:endParaRPr sz="13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1590000"/>
            <a:ext cx="240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00000" y="159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00000" y="159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00000" y="1590000"/>
            <a:ext cx="109728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200" y="160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需求与规格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80000" y="159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proposal+usecases+specs+design+tasks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10 个边界场景 + 636 行 artifact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80000" y="159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个规格文档、0 个用例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仅靠 requirement_change.md 直接编码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00000" y="162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2030000"/>
            <a:ext cx="24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0000" y="203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0000" y="203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00000" y="2030000"/>
            <a:ext cx="109728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200" y="204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设计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80000" y="203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 新模块隔离 + CircuitBreakerState 状态机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向后兼容（volatility_ratio 可选参数）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80000" y="203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全部逻辑塞入 run_backtest() 单函数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内联 if/elif、无状态机、硬编码阈值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00000" y="206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2470000"/>
            <a:ext cx="240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0000" y="247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00000" y="247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00000" y="2470000"/>
            <a:ext cx="109728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200" y="248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实现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80000" y="247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type hints + logging + 防御编程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dataclass 结构化 + YAML 配置 19 参数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0000" y="247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无 type hints、print 调试、1e-9 硬编码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止损用百分比而非 ATR（偏离需求）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00000" y="250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2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2910000"/>
            <a:ext cx="24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00000" y="291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00000" y="2910000"/>
            <a:ext cx="376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00000" y="2910000"/>
            <a:ext cx="109728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200" y="292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验证确认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80000" y="291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31 新测试（边界值 + 状态转换 + T+1）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测试方法名映射用例（test_UC1_1 等）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80000" y="291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个测试、0 测试基础设施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三个关键边界场景完全遗漏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00000" y="294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4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3350000"/>
            <a:ext cx="240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00000" y="335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00000" y="3350000"/>
            <a:ext cx="376000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500000" y="3350000"/>
            <a:ext cx="1097280" cy="4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200" y="3360000"/>
            <a:ext cx="23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维护演进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980000" y="335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变更归档 + delta specs + 可追溯链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2E7D32"/>
                </a:solidFill>
                <a:latin typeface="Microsoft YaHei" panose="020B0503020204020204" charset="-122"/>
              </a:rPr>
              <a:t>新增 4 维度只需改 YAML + 新模块</a:t>
            </a:r>
            <a:endParaRPr sz="1000" b="0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80000" y="3355000"/>
            <a:ext cx="366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0 文档、0 设计记录、无变更历史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C62828"/>
                </a:solidFill>
                <a:latin typeface="Microsoft YaHei" panose="020B0503020204020204" charset="-122"/>
              </a:rPr>
              <a:t>任何修改需读懂 416 行单函数</a:t>
            </a:r>
            <a:endParaRPr sz="1000" b="0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00000" y="3380000"/>
            <a:ext cx="10972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8D4"/>
                </a:solidFill>
                <a:latin typeface="Microsoft YaHei" panose="020B0503020204020204" charset="-122"/>
              </a:rPr>
              <a:t>5 vs 1</a:t>
            </a:r>
            <a:endParaRPr sz="14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65760" y="3850000"/>
            <a:ext cx="11430000" cy="6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870000"/>
            <a:ext cx="1106424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icrosoft YaHei" panose="020B0503020204020204" charset="-122"/>
              </a:rPr>
              <a:t>核心结论：需求变更场景下差距比初始构建更大。OpenSpec 的 usecases 阶段强制识别边界场景（10 vs 2），是质量差异的根源。</a:t>
            </a:r>
            <a:endParaRPr sz="1200" b="1">
              <a:solidFill>
                <a:srgbClr val="1A1A2E"/>
              </a:solidFill>
              <a:latin typeface="Microsoft YaHei" panose="020B0503020204020204" charset="-122"/>
            </a:endParaRPr>
          </a:p>
          <a:p>
            <a:pPr algn="l"/>
            <a:r>
              <a:rPr sz="1200" b="0">
                <a:solidFill>
                  <a:srgbClr val="444444"/>
                </a:solidFill>
                <a:latin typeface="Microsoft YaHei" panose="020B0503020204020204" charset="-122"/>
              </a:rPr>
              <a:t>Vanilla Claude 跳过需求分析直接编码，导致 3 个关键边界遗漏（T+1 冲突、渐进恢复、频率切换），且产生单文件膨胀的技术债。</a:t>
            </a:r>
            <a:endParaRPr sz="12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Microsoft YaHei" panose="020B0503020204020204" charset="-122"/>
              </a:rPr>
              <a:t>实验2 - 关键发现：需求变更中的工程质量差异</a:t>
            </a:r>
            <a:endParaRPr sz="28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972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000" y="120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0000" y="1260000"/>
            <a:ext cx="360000" cy="360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000" y="127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0000" y="127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4"/>
                </a:solidFill>
                <a:latin typeface="Microsoft YaHei" panose="020B0503020204020204" charset="-122"/>
              </a:rPr>
              <a:t>边界场景发现：10 vs 2</a:t>
            </a:r>
            <a:endParaRPr sz="1300" b="1">
              <a:solidFill>
                <a:srgbClr val="0078D4"/>
              </a:solidFill>
              <a:latin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0000" y="164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的 usecases 阶段系统性枚举了 10 个边界场景（含 T+1 冲突、熔断恢复中断、频率切换等），Vanilla Claude 仅识别 2 个，遗漏 3 个关键场景。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0000" y="236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000" y="2420000"/>
            <a:ext cx="360000" cy="36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000" y="243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0000" y="243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 panose="020B0503020204020204" charset="-122"/>
              </a:rPr>
              <a:t>模块化 vs 单文件膨胀</a:t>
            </a:r>
            <a:endParaRPr sz="1300" b="1">
              <a:solidFill>
                <a:srgbClr val="2E7D32"/>
              </a:solidFill>
              <a:latin typeface="Microsoft YaHe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0000" y="280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创建 3 个新模块（volatility/circuit_breaker/stop_loss），变更分布 7 个文件。Vanilla Claude 将全部逻辑塞入 backtester.py，单文件膨胀 62%。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0000" y="352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000" y="3580000"/>
            <a:ext cx="360000" cy="36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000" y="359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0000" y="359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C00"/>
                </a:solidFill>
                <a:latin typeface="Microsoft YaHei" panose="020B0503020204020204" charset="-122"/>
              </a:rPr>
              <a:t>需求偏离：止损实现不符规格</a:t>
            </a:r>
            <a:endParaRPr sz="1300" b="1">
              <a:solidFill>
                <a:srgbClr val="E86C00"/>
              </a:solidFill>
              <a:latin typeface="Microsoft YaHei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0000" y="396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需求要求 ATR-based 自适应止损（1.5x/2.0x/2.5x ATR 乘数），Vanilla Claude 实现为简单百分比止损（-6%/-8%/-10%），偏离了原始需求规格。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0000" y="4680000"/>
            <a:ext cx="5200000" cy="1080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000" y="4740000"/>
            <a:ext cx="360000" cy="36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000" y="4755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0000" y="4750000"/>
            <a:ext cx="46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Microsoft YaHei" panose="020B0503020204020204" charset="-122"/>
              </a:rPr>
              <a:t>零测试 = 零信心</a:t>
            </a:r>
            <a:endParaRPr sz="13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0000" y="5120000"/>
            <a:ext cx="50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产出 31 个测试覆盖状态转换、边界值和 T+1。Vanilla Claude 零测试——量化交易系统的数值正确性直接影响资金安全，零测试是致命缺陷。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00000" y="1200000"/>
            <a:ext cx="5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Microsoft YaHei" panose="020B0503020204020204" charset="-122"/>
              </a:rPr>
              <a:t>Vanilla Claude 遗漏的 3 个关键边界场景</a:t>
            </a:r>
            <a:endParaRPr sz="14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00000" y="1600000"/>
            <a:ext cx="5700000" cy="110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0000" y="164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T+1 结算冲突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00000" y="1940000"/>
            <a:ext cx="5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熔断触发全清仓时，当日买入的股票因 T+1 规则无法卖出。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在 usecases 阶段即识别此冲突，设计了延迟卖出队列。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Vanilla Claude 完全未考虑，熔断日可能产生非法交易指令。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800000" y="2770000"/>
            <a:ext cx="5700000" cy="110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0000" y="281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渐进恢复机制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00000" y="3110000"/>
            <a:ext cx="5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L2 熔断后恢复应分阶段（L2→recovering→normal），而非一步跳回满仓。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设计了 4 状态状态机，含恢复中断（新下跌重置计数器）。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Vanilla Claude 直接从清仓跳回满仓，可能在市场未稳定时重新满仓。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800000" y="3940000"/>
            <a:ext cx="5700000" cy="1100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0000" y="3980000"/>
            <a:ext cx="5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Microsoft YaHei" panose="020B0503020204020204" charset="-122"/>
              </a:rPr>
              <a:t>再平衡频率切换</a:t>
            </a:r>
            <a:endParaRPr sz="1200" b="1">
              <a:solidFill>
                <a:srgbClr val="C62828"/>
              </a:solidFill>
              <a:latin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00000" y="4280000"/>
            <a:ext cx="5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月度→双周→周度切换时，需处理月中状态变更和计时器重置。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OpenSpec 用例明确定义了频率切换的过渡规则。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  <a:p>
            <a:pPr algn="l"/>
            <a:r>
              <a:rPr sz="1000" b="0">
                <a:solidFill>
                  <a:srgbClr val="444444"/>
                </a:solidFill>
                <a:latin typeface="Microsoft YaHei" panose="020B0503020204020204" charset="-122"/>
              </a:rPr>
              <a:t>Vanilla Claude 仅用简单天数计数器，频率切换时可能跳过再平衡。</a:t>
            </a:r>
            <a:endParaRPr sz="1000" b="0">
              <a:solidFill>
                <a:srgbClr val="444444"/>
              </a:solidFill>
              <a:latin typeface="Microsoft YaHei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5760" y="5850000"/>
            <a:ext cx="11430000" cy="500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80000"/>
            <a:ext cx="1106424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Microsoft YaHei" panose="020B0503020204020204" charset="-122"/>
              </a:rPr>
              <a:t>结论：需求变更场景放大了规格驱动开发的优势。边界场景覆盖率（10:2）是质量差异的核心驱动力——有 spec 才能发现边界，有边界才能写对代码。</a:t>
            </a:r>
            <a:endParaRPr sz="1300" b="1">
              <a:solidFill>
                <a:srgbClr val="1A1A2E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2"/>
          <p:cNvSpPr/>
          <p:nvPr/>
        </p:nvSpPr>
        <p:spPr>
          <a:xfrm>
            <a:off x="0" y="0"/>
            <a:ext cx="1219136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3" name="Google Shape;703;p22"/>
          <p:cNvSpPr txBox="1"/>
          <p:nvPr/>
        </p:nvSpPr>
        <p:spPr>
          <a:xfrm>
            <a:off x="457200" y="228600"/>
            <a:ext cx="8229600" cy="49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Openspec-HW2（或类似工具平台）潜在的研究方向</a:t>
            </a:r>
            <a:endParaRPr sz="2600" b="1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457200" y="667512"/>
            <a:ext cx="9144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350000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0F5FF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350000" y="1300000"/>
            <a:ext cx="2700000" cy="550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7" name="Google Shape;707;p22"/>
          <p:cNvSpPr txBox="1"/>
          <p:nvPr/>
        </p:nvSpPr>
        <p:spPr>
          <a:xfrm>
            <a:off x="450215" y="1400175"/>
            <a:ext cx="211010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Multi-Perspective</a:t>
            </a:r>
            <a:b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</a:b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Eval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410000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9" name="Google Shape;709;p22"/>
          <p:cNvSpPr txBox="1"/>
          <p:nvPr/>
        </p:nvSpPr>
        <p:spPr>
          <a:xfrm>
            <a:off x="470000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0" name="Google Shape;710;p22"/>
          <p:cNvSpPr txBox="1"/>
          <p:nvPr/>
        </p:nvSpPr>
        <p:spPr>
          <a:xfrm>
            <a:off x="469900" y="215011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检查依赖人工或单一 AI 评审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单一视角存在系统性盲区（PBR 研究证实）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410000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2" name="Google Shape;712;p22"/>
          <p:cNvSpPr txBox="1"/>
          <p:nvPr/>
        </p:nvSpPr>
        <p:spPr>
          <a:xfrm>
            <a:off x="470000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3" name="Google Shape;713;p22"/>
          <p:cNvSpPr txBox="1"/>
          <p:nvPr/>
        </p:nvSpPr>
        <p:spPr>
          <a:xfrm>
            <a:off x="450215" y="3449955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多角色 Agent 审查组，交叉验证：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完整性（遗漏场景与逻辑矛盾）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异常路径（错误流程与异常输入）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边界条件（边界值与竞态条件）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集成一致性（与 main specs 冲突）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410000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5" name="Google Shape;715;p22"/>
          <p:cNvSpPr txBox="1"/>
          <p:nvPr/>
        </p:nvSpPr>
        <p:spPr>
          <a:xfrm>
            <a:off x="470000" y="48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Value</a:t>
            </a:r>
            <a:endParaRPr sz="13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6" name="Google Shape;716;p22"/>
          <p:cNvSpPr txBox="1"/>
          <p:nvPr/>
        </p:nvSpPr>
        <p:spPr>
          <a:xfrm>
            <a:off x="470000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多视角可多发现 ~41% 缺陷（PBR 研究）</a:t>
            </a:r>
            <a:endParaRPr sz="11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学术验证：ICML'24 + ICLR'24</a:t>
            </a:r>
            <a:endParaRPr sz="11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与 Self-Evolving 形成审查—学习闭环</a:t>
            </a:r>
            <a:endParaRPr sz="11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8802704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0F8F8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8802704" y="1300000"/>
            <a:ext cx="2700000" cy="550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9" name="Google Shape;719;p22"/>
          <p:cNvSpPr txBox="1"/>
          <p:nvPr/>
        </p:nvSpPr>
        <p:spPr>
          <a:xfrm>
            <a:off x="8902954" y="1400175"/>
            <a:ext cx="195008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Domain-Specific Packs</a:t>
            </a:r>
            <a:endParaRPr sz="15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8862704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1" name="Google Shape;721;p22"/>
          <p:cNvSpPr txBox="1"/>
          <p:nvPr/>
        </p:nvSpPr>
        <p:spPr>
          <a:xfrm>
            <a:off x="8922704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2" name="Google Shape;722;p22"/>
          <p:cNvSpPr txBox="1"/>
          <p:nvPr/>
        </p:nvSpPr>
        <p:spPr>
          <a:xfrm>
            <a:off x="8922704" y="21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通用大模型不懂行业规范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3GPP / ISO 26262 / IEC 62109 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缺乏行业深度与合规性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8862704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4" name="Google Shape;724;p22"/>
          <p:cNvSpPr txBox="1"/>
          <p:nvPr/>
        </p:nvSpPr>
        <p:spPr>
          <a:xfrm>
            <a:off x="8922704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5" name="Google Shape;725;p22"/>
          <p:cNvSpPr txBox="1"/>
          <p:nvPr/>
        </p:nvSpPr>
        <p:spPr>
          <a:xfrm>
            <a:off x="8922704" y="3450000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行业 Know-How 封装为 Domain Packs：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行业规则 + Spec 模板（必填字段）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Schema 约束 + 验证规则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AI 生成 spec 时自动注入先验知识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8862704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7" name="Google Shape;727;p22"/>
          <p:cNvSpPr txBox="1"/>
          <p:nvPr/>
        </p:nvSpPr>
        <p:spPr>
          <a:xfrm>
            <a:off x="8922704" y="48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Business Value</a:t>
            </a:r>
            <a:endParaRPr sz="13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8" name="Google Shape;728;p22"/>
          <p:cNvSpPr txBox="1"/>
          <p:nvPr/>
        </p:nvSpPr>
        <p:spPr>
          <a:xfrm>
            <a:off x="8922704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Know-How 稀缺，无法通过训练获得</a:t>
            </a:r>
            <a:endParaRPr sz="11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先发优势 → 累积效应 → 竞争壁垒</a:t>
            </a:r>
            <a:endParaRPr sz="11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路线：电信(Q1)→汽车(Q2)→能源(Q3)</a:t>
            </a:r>
            <a:endParaRPr sz="11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5990000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FF5E6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0" name="Google Shape;730;p22"/>
          <p:cNvSpPr/>
          <p:nvPr/>
        </p:nvSpPr>
        <p:spPr>
          <a:xfrm>
            <a:off x="5990000" y="1300000"/>
            <a:ext cx="2700000" cy="550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1" name="Google Shape;731;p22"/>
          <p:cNvSpPr txBox="1"/>
          <p:nvPr/>
        </p:nvSpPr>
        <p:spPr>
          <a:xfrm>
            <a:off x="6090285" y="1400175"/>
            <a:ext cx="203009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Self-Evolving</a:t>
            </a:r>
            <a:b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</a:br>
            <a: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Agents</a:t>
            </a:r>
            <a:endParaRPr sz="15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6050000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3" name="Google Shape;733;p22"/>
          <p:cNvSpPr txBox="1"/>
          <p:nvPr/>
        </p:nvSpPr>
        <p:spPr>
          <a:xfrm>
            <a:off x="6110000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4" name="Google Shape;734;p22"/>
          <p:cNvSpPr txBox="1"/>
          <p:nvPr/>
        </p:nvSpPr>
        <p:spPr>
          <a:xfrm>
            <a:off x="6110000" y="21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现有 AI 记忆仅记录代码模式和偏好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缺乏 spec 质量→编写策略的闭环反馈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质量不随使用量提升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5" name="Google Shape;735;p22"/>
          <p:cNvSpPr/>
          <p:nvPr/>
        </p:nvSpPr>
        <p:spPr>
          <a:xfrm>
            <a:off x="6050000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6" name="Google Shape;736;p22"/>
          <p:cNvSpPr txBox="1"/>
          <p:nvPr/>
        </p:nvSpPr>
        <p:spPr>
          <a:xfrm>
            <a:off x="6110000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7" name="Google Shape;737;p22"/>
          <p:cNvSpPr txBox="1"/>
          <p:nvPr/>
        </p:nvSpPr>
        <p:spPr>
          <a:xfrm>
            <a:off x="6110000" y="3450000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借鉴 self-evolution 框架：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Apply→Verify 记录写法与质量关联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蒸馏 Spec 最佳实践原则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创建 spec 时自动检索注入原则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38" name="Google Shape;738;p22"/>
          <p:cNvSpPr/>
          <p:nvPr/>
        </p:nvSpPr>
        <p:spPr>
          <a:xfrm>
            <a:off x="6050000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9" name="Google Shape;739;p22"/>
          <p:cNvSpPr txBox="1"/>
          <p:nvPr/>
        </p:nvSpPr>
        <p:spPr>
          <a:xfrm>
            <a:off x="6110000" y="48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Business Value</a:t>
            </a:r>
            <a:endParaRPr sz="13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0" name="Google Shape;740;p22"/>
          <p:cNvSpPr txBox="1"/>
          <p:nvPr/>
        </p:nvSpPr>
        <p:spPr>
          <a:xfrm>
            <a:off x="6110000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积累效应：使用越多，质量越高</a:t>
            </a:r>
            <a:endParaRPr sz="11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经验沉淀为组织知识资产</a:t>
            </a:r>
            <a:endParaRPr sz="11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与 Domain Packs 互补（通识 vs 经验）</a:t>
            </a:r>
            <a:endParaRPr sz="11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1" name="Google Shape;741;p22"/>
          <p:cNvSpPr/>
          <p:nvPr/>
        </p:nvSpPr>
        <p:spPr>
          <a:xfrm>
            <a:off x="3177296" y="1300000"/>
            <a:ext cx="2700000" cy="51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 w="19050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2" name="Google Shape;742;p22"/>
          <p:cNvSpPr/>
          <p:nvPr/>
        </p:nvSpPr>
        <p:spPr>
          <a:xfrm>
            <a:off x="3177296" y="1300000"/>
            <a:ext cx="2700000" cy="55000"/>
          </a:xfrm>
          <a:prstGeom prst="rect">
            <a:avLst/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3" name="Google Shape;743;p22"/>
          <p:cNvSpPr txBox="1"/>
          <p:nvPr/>
        </p:nvSpPr>
        <p:spPr>
          <a:xfrm>
            <a:off x="3276981" y="1400175"/>
            <a:ext cx="2152650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Spec-as-Runtime</a:t>
            </a:r>
            <a:b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</a:b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Guardrail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4" name="Google Shape;744;p22"/>
          <p:cNvSpPr/>
          <p:nvPr/>
        </p:nvSpPr>
        <p:spPr>
          <a:xfrm>
            <a:off x="3237296" y="19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DF0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5" name="Google Shape;745;p22"/>
          <p:cNvSpPr txBox="1"/>
          <p:nvPr/>
        </p:nvSpPr>
        <p:spPr>
          <a:xfrm>
            <a:off x="3297296" y="1900000"/>
            <a:ext cx="246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Problem</a:t>
            </a:r>
            <a:endParaRPr sz="13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6" name="Google Shape;746;p22"/>
          <p:cNvSpPr txBox="1"/>
          <p:nvPr/>
        </p:nvSpPr>
        <p:spPr>
          <a:xfrm>
            <a:off x="3297296" y="21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AI 高速生成代码，事后验证返工成本高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无强制约束，违规代码无法实时拦截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3237296" y="3200000"/>
            <a:ext cx="2580000" cy="1500000"/>
          </a:xfrm>
          <a:prstGeom prst="roundRect">
            <a:avLst>
              <a:gd name="adj" fmla="val 16667"/>
            </a:avLst>
          </a:prstGeom>
          <a:solidFill>
            <a:srgbClr val="F0F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8" name="Google Shape;748;p22"/>
          <p:cNvSpPr txBox="1"/>
          <p:nvPr/>
        </p:nvSpPr>
        <p:spPr>
          <a:xfrm>
            <a:off x="3297296" y="32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Solution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9" name="Google Shape;749;p22"/>
          <p:cNvSpPr txBox="1"/>
          <p:nvPr/>
        </p:nvSpPr>
        <p:spPr>
          <a:xfrm>
            <a:off x="3297296" y="3450000"/>
            <a:ext cx="245973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 从参考文档 → 可执行运行时约束：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Spec→Constraint 编译（EARS 格式）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AI 编码时实时合规监控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违规代码落盘前拦截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3237296" y="4800000"/>
            <a:ext cx="2580000" cy="120000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1" name="Google Shape;751;p22"/>
          <p:cNvSpPr txBox="1"/>
          <p:nvPr/>
        </p:nvSpPr>
        <p:spPr>
          <a:xfrm>
            <a:off x="3297296" y="4800000"/>
            <a:ext cx="2460000" cy="291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Potential Value</a:t>
            </a:r>
            <a:endParaRPr sz="13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2" name="Google Shape;752;p22"/>
          <p:cNvSpPr txBox="1"/>
          <p:nvPr/>
        </p:nvSpPr>
        <p:spPr>
          <a:xfrm>
            <a:off x="3297296" y="5050000"/>
            <a:ext cx="245973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Kiro (AWS) 已验证技术可行性</a:t>
            </a: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EU AI Act Art.72 驱动合规需求</a:t>
            </a: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Design by Contract：预防 &gt; 追溯</a:t>
            </a: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3" name="Google Shape;753;p22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20/41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4" name="Google Shape;754;p22"/>
          <p:cNvSpPr/>
          <p:nvPr/>
        </p:nvSpPr>
        <p:spPr>
          <a:xfrm>
            <a:off x="2437370" y="1280785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5" name="Google Shape;755;p22"/>
          <p:cNvSpPr txBox="1"/>
          <p:nvPr/>
        </p:nvSpPr>
        <p:spPr>
          <a:xfrm>
            <a:off x="2437370" y="1300785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6" name="Google Shape;756;p22"/>
          <p:cNvSpPr/>
          <p:nvPr/>
        </p:nvSpPr>
        <p:spPr>
          <a:xfrm>
            <a:off x="5265350" y="1280150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7" name="Google Shape;757;p22"/>
          <p:cNvSpPr txBox="1"/>
          <p:nvPr/>
        </p:nvSpPr>
        <p:spPr>
          <a:xfrm>
            <a:off x="5265350" y="1300150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8" name="Google Shape;758;p22"/>
          <p:cNvSpPr/>
          <p:nvPr/>
        </p:nvSpPr>
        <p:spPr>
          <a:xfrm>
            <a:off x="8027925" y="1261100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9" name="Google Shape;759;p22"/>
          <p:cNvSpPr txBox="1"/>
          <p:nvPr/>
        </p:nvSpPr>
        <p:spPr>
          <a:xfrm>
            <a:off x="8027925" y="1281100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60" name="Google Shape;760;p22"/>
          <p:cNvSpPr/>
          <p:nvPr/>
        </p:nvSpPr>
        <p:spPr>
          <a:xfrm>
            <a:off x="10947330" y="1279825"/>
            <a:ext cx="360000" cy="360000"/>
          </a:xfrm>
          <a:prstGeom prst="roundRect">
            <a:avLst>
              <a:gd name="adj" fmla="val 16667"/>
            </a:avLst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1" name="Google Shape;761;p22"/>
          <p:cNvSpPr txBox="1"/>
          <p:nvPr/>
        </p:nvSpPr>
        <p:spPr>
          <a:xfrm>
            <a:off x="10947330" y="1299825"/>
            <a:ext cx="36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3"/>
          <p:cNvSpPr txBox="1"/>
          <p:nvPr/>
        </p:nvSpPr>
        <p:spPr>
          <a:xfrm>
            <a:off x="548640" y="293370"/>
            <a:ext cx="1108265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1：Multi-Perspective Spec Eval（多智能体多视角规格评估）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548640" y="777240"/>
            <a:ext cx="86868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8" name="Google Shape;768;p23"/>
          <p:cNvSpPr txBox="1"/>
          <p:nvPr/>
        </p:nvSpPr>
        <p:spPr>
          <a:xfrm>
            <a:off x="548640" y="1421130"/>
            <a:ext cx="5669280" cy="355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</a:t>
            </a:r>
            <a:endParaRPr sz="16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当前OpenSpec LLM 驱动的Spec质量检查依赖人工评审或单一模型实例评审，存在系统性盲区</a:t>
            </a:r>
            <a:endParaRPr sz="13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Perspective-Based Reading (PBR) 研究表明，单一视角审查难以覆盖多维缺陷类别 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方法</a:t>
            </a:r>
            <a:endParaRPr sz="16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构建多角色 Agent 审查组，在 spec 提交前执行多视角交叉验证：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完整性审查（遗漏场景与逻辑矛盾检测）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异常路径覆盖（错误流程与异常输入生成）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边界条件分析（边界值与竞态条件识别）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集成一致性检查（与已有 main specs 的隐性冲突检测）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多轮交叉审查后输出经多视角验证的高质量 spec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6492240" y="1005840"/>
            <a:ext cx="4206240" cy="4389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0" name="Google Shape;770;p23"/>
          <p:cNvSpPr txBox="1"/>
          <p:nvPr/>
        </p:nvSpPr>
        <p:spPr>
          <a:xfrm>
            <a:off x="6720840" y="2087880"/>
            <a:ext cx="3749040" cy="222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Du et al. (ICML 2024): Multi-Agent Debate 提升 LLM 推理与事实准确性 [arXiv:2305.14325]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Chan et al. (ICLR 2024): ChatEval 验证多智能体辩论在文本评估中的有效性 [arXiv:2308.07201]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Oriol et al. (RE@Next! 2025): MAD 在需求工程的初步探索，尚未与结构化 spec 结合 [arXiv:2507.05981]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Shull et al. (IEEE Computer, 2000): PBR 多视角团队比单一视角团队多发现约 41% 缺陷，但后续复现结果存在差异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2" name="Google Shape;772;p23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实施路径：Agent 角色定义 → 审查协议设计 → 多轮交叉审查引擎 → Spec 修复建议 → 效果评估 → 与 Self-Evolving 闭环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73" name="Google Shape;773;p23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21/41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4"/>
          <p:cNvSpPr txBox="1"/>
          <p:nvPr/>
        </p:nvSpPr>
        <p:spPr>
          <a:xfrm>
            <a:off x="482600" y="203835"/>
            <a:ext cx="950976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2：Spec-as-Runtime-Guardrail（规格即运行时护栏）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548640" y="777240"/>
            <a:ext cx="8686800" cy="50800"/>
          </a:xfrm>
          <a:prstGeom prst="rect">
            <a:avLst/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0" name="Google Shape;780;p24"/>
          <p:cNvSpPr txBox="1"/>
          <p:nvPr/>
        </p:nvSpPr>
        <p:spPr>
          <a:xfrm>
            <a:off x="548640" y="1000443"/>
            <a:ext cx="5669280" cy="439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</a:t>
            </a: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传统 Spec-Code Traceability 在实现完成后进行一致性验证。在 AI Agent 高速生成代码的场景下，事后验证导致发现偏差时已产生大量返工成本。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将 Spec 从“参考文档”变为“可执行的运行时约束”：</a:t>
            </a: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Spec→Constraint 编译：将结构化需求（如 EARS 格式）转译为 property-based test predicates 和 invariant assertions</a:t>
            </a:r>
            <a:endParaRPr sz="13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Agent 行为实时监控：AI 写代码时实时分析合规性</a:t>
            </a:r>
            <a:endParaRPr sz="13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</a:pPr>
            <a:r>
              <a:rPr lang="en-US" sz="13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违规拦截：违反 spec 的代码在save前被拦截。</a:t>
            </a:r>
            <a:endParaRPr sz="13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6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该思路是 Design by Contract [Meyer, 1988] 在 AI 辅助编程场景的延伸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Kiro (AWS) 已验证从 EARS 格式需求生成 property-based test 的可行性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Tessl、spec-kit 等工具也在探索 spec-driven development，但尚未实现运行时实时拦截。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6492240" y="1005840"/>
            <a:ext cx="4206240" cy="4389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2" name="Google Shape;782;p24"/>
          <p:cNvSpPr txBox="1"/>
          <p:nvPr/>
        </p:nvSpPr>
        <p:spPr>
          <a:xfrm>
            <a:off x="6720840" y="2364740"/>
            <a:ext cx="3749040" cy="167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Meyer (1988/1992): Design by Contract 理论基础 [Object-Oriented Software Construction, Prentice-Hall, 1988; IEEE Computer, 1992]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EU AI Act (Reg. 2024/1689) Art.72: 要求高风险 AI 系统建立上市后持续合规监控体系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Kiro (AWS, GA 2025.11): 从 EARS 格式需求生成 property-based test，验证 spec→可执行测试 的可行性；Tessl、spec-kit 等也在探索此方向</a:t>
            </a:r>
            <a:endParaRPr sz="12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107C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4" name="Google Shape;784;p24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实施路径：Spec→Constraint 编译器 → Agent 行为监控 → 实时拦截引擎 → Property Test 自动生成 → CI/CD 集成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85" name="Google Shape;785;p24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22/41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5"/>
          <p:cNvSpPr txBox="1"/>
          <p:nvPr/>
        </p:nvSpPr>
        <p:spPr>
          <a:xfrm>
            <a:off x="194945" y="271145"/>
            <a:ext cx="985139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3：Self-Evolving Spec Agents（自我进化规格智能体）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1" name="Google Shape;791;p25"/>
          <p:cNvSpPr/>
          <p:nvPr/>
        </p:nvSpPr>
        <p:spPr>
          <a:xfrm>
            <a:off x="548640" y="777240"/>
            <a:ext cx="868680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2" name="Google Shape;792;p25"/>
          <p:cNvSpPr txBox="1"/>
          <p:nvPr/>
        </p:nvSpPr>
        <p:spPr>
          <a:xfrm>
            <a:off x="548640" y="1382395"/>
            <a:ext cx="5029200" cy="3636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</a:t>
            </a:r>
            <a:endParaRPr sz="16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尽管部分 AI 编程工具已引入持久化记忆（如 Copilot Memory Claude Code auto-memory），这些机制主要记录代码模式和用户偏好，缺乏从 spec 质量到 spec 编写策略的闭环反馈 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这些工具不会根据 哪种 spec 写法产生了高质量实现 来改进后续 spec 生成策略。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方法</a:t>
            </a:r>
            <a:endParaRPr sz="1600" b="1">
              <a:solidFill>
                <a:srgbClr val="E86C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借鉴 experience-driven self-evolution 框架，在 OpenSpec 工作流中引入 spec 质量闭环反馈机制：</a:t>
            </a:r>
            <a:endParaRPr sz="13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每次 Apply → Verify 循环，自动记录哪些 spec 写法导致了高质量实现，哪些导致了返工</a:t>
            </a: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蒸馏出Spec实践原则 比如：金融领域的风控 spec 必须包含 X Y Z等信息才能让 Agent正确生成code</a:t>
            </a: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 panose="020B0604020202020204"/>
              <a:buChar char="•"/>
            </a:pPr>
            <a:r>
              <a:rPr lang="en-US" sz="13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下次创建 spec 时，系统主动检索并注入相关原则</a:t>
            </a: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3" name="Google Shape;793;p25"/>
          <p:cNvSpPr/>
          <p:nvPr/>
        </p:nvSpPr>
        <p:spPr>
          <a:xfrm>
            <a:off x="6492240" y="1005840"/>
            <a:ext cx="4206240" cy="4389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4" name="Google Shape;794;p25"/>
          <p:cNvSpPr txBox="1"/>
          <p:nvPr/>
        </p:nvSpPr>
        <p:spPr>
          <a:xfrm>
            <a:off x="548640" y="576072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学术依据：EvolveR [Wu et al., arXiv:2510.16079] LLM Agent 经验蒸馏自进化框架 | 自进化 Agent 综述 [Gao et al., arXiv:2507.21046; Tao et al., arXiv:2508.07407]    应用前景：经验积累效应 | 经验沉淀形成领域资产 | 与 Domain Packs 差异化互补</a:t>
            </a:r>
            <a:endParaRPr sz="14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5" name="Google Shape;795;p25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6" name="Google Shape;796;p25"/>
          <p:cNvSpPr txBox="1"/>
          <p:nvPr/>
        </p:nvSpPr>
        <p:spPr>
          <a:xfrm>
            <a:off x="548640" y="626491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实施路径：Apply/Verify 日志采集 → 经验提炼引擎 → 原则库建设 → Spec 创建时自动注入 → 效果评估与迭代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7" name="Google Shape;797;p25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23/41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5760720" y="960120"/>
            <a:ext cx="5486400" cy="448056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9" name="Google Shape;799;p25"/>
          <p:cNvSpPr txBox="1"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经验积累循环示意图</a:t>
            </a:r>
            <a:endParaRPr sz="1200" b="1">
              <a:solidFill>
                <a:srgbClr val="9999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7795260" y="1348740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1" name="Google Shape;801;p25"/>
          <p:cNvSpPr txBox="1"/>
          <p:nvPr/>
        </p:nvSpPr>
        <p:spPr>
          <a:xfrm>
            <a:off x="7840980" y="1367028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① 创建 Spec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自动注入原则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9143211" y="2328084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3" name="Google Shape;803;p25"/>
          <p:cNvSpPr txBox="1"/>
          <p:nvPr/>
        </p:nvSpPr>
        <p:spPr>
          <a:xfrm>
            <a:off x="9188931" y="2346372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② Apply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按 spec 实现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8628339" y="3912695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5" name="Google Shape;805;p25"/>
          <p:cNvSpPr txBox="1"/>
          <p:nvPr/>
        </p:nvSpPr>
        <p:spPr>
          <a:xfrm>
            <a:off x="8674059" y="3930983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③ Verify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对照 spec 验证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6962180" y="3912695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7" name="Google Shape;807;p25"/>
          <p:cNvSpPr txBox="1"/>
          <p:nvPr/>
        </p:nvSpPr>
        <p:spPr>
          <a:xfrm>
            <a:off x="7007900" y="3930983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④ 记录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哪些写法效果好/差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6447308" y="2328084"/>
            <a:ext cx="1417320" cy="59436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9" name="Google Shape;809;p25"/>
          <p:cNvSpPr txBox="1"/>
          <p:nvPr/>
        </p:nvSpPr>
        <p:spPr>
          <a:xfrm>
            <a:off x="6493028" y="2346372"/>
            <a:ext cx="1325880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⑤ 蒸馏</a:t>
            </a:r>
            <a:endParaRPr sz="11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EEEEE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提炼最佳实践原则</a:t>
            </a:r>
            <a:endParaRPr sz="900" b="0">
              <a:solidFill>
                <a:srgbClr val="EEEEE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0" name="Google Shape;810;p25"/>
          <p:cNvSpPr txBox="1"/>
          <p:nvPr/>
        </p:nvSpPr>
        <p:spPr>
          <a:xfrm>
            <a:off x="9040735" y="1998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↘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1" name="Google Shape;811;p25"/>
          <p:cNvSpPr txBox="1"/>
          <p:nvPr/>
        </p:nvSpPr>
        <p:spPr>
          <a:xfrm>
            <a:off x="9457275" y="328041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↙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2" name="Google Shape;812;p25"/>
          <p:cNvSpPr txBox="1"/>
          <p:nvPr/>
        </p:nvSpPr>
        <p:spPr>
          <a:xfrm>
            <a:off x="8366760" y="4072715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←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3" name="Google Shape;813;p25"/>
          <p:cNvSpPr txBox="1"/>
          <p:nvPr/>
        </p:nvSpPr>
        <p:spPr>
          <a:xfrm>
            <a:off x="7276244" y="328041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↖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4" name="Google Shape;814;p25"/>
          <p:cNvSpPr txBox="1"/>
          <p:nvPr/>
        </p:nvSpPr>
        <p:spPr>
          <a:xfrm>
            <a:off x="7692784" y="1998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AAAAA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↗</a:t>
            </a:r>
            <a:endParaRPr sz="1800" b="1">
              <a:solidFill>
                <a:srgbClr val="AAAAA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5" name="Google Shape;815;p25"/>
          <p:cNvSpPr/>
          <p:nvPr/>
        </p:nvSpPr>
        <p:spPr>
          <a:xfrm>
            <a:off x="7909560" y="2560320"/>
            <a:ext cx="1188720" cy="1005840"/>
          </a:xfrm>
          <a:prstGeom prst="ellipse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6" name="Google Shape;816;p25"/>
          <p:cNvSpPr txBox="1"/>
          <p:nvPr/>
        </p:nvSpPr>
        <p:spPr>
          <a:xfrm>
            <a:off x="7955280" y="265176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8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经验积累循环</a:t>
            </a:r>
            <a:endParaRPr sz="1300" b="1">
              <a:solidFill>
                <a:srgbClr val="FF8C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CCCC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持续优化</a:t>
            </a:r>
            <a:endParaRPr sz="1100" b="0">
              <a:solidFill>
                <a:srgbClr val="CCCCCC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7" name="Google Shape;817;p25"/>
          <p:cNvSpPr txBox="1"/>
          <p:nvPr/>
        </p:nvSpPr>
        <p:spPr>
          <a:xfrm>
            <a:off x="8869680" y="4983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每个循环积累的经验提升后续 Spec 质量</a:t>
            </a:r>
            <a:endParaRPr sz="1000" b="0">
              <a:solidFill>
                <a:srgbClr val="9999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6"/>
          <p:cNvSpPr txBox="1"/>
          <p:nvPr/>
        </p:nvSpPr>
        <p:spPr>
          <a:xfrm>
            <a:off x="548640" y="274320"/>
            <a:ext cx="95027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 4：Domain-Specific Packs（领域规格智能包）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3" name="Google Shape;823;p26"/>
          <p:cNvSpPr/>
          <p:nvPr/>
        </p:nvSpPr>
        <p:spPr>
          <a:xfrm>
            <a:off x="548640" y="77724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548640" y="1051560"/>
            <a:ext cx="10058400" cy="1371600"/>
          </a:xfrm>
          <a:prstGeom prst="roundRect">
            <a:avLst>
              <a:gd name="adj" fmla="val 16667"/>
            </a:avLst>
          </a:prstGeom>
          <a:solidFill>
            <a:srgbClr val="E6F7F7"/>
          </a:solidFill>
          <a:ln w="12700" cap="flat" cmpd="sng">
            <a:solidFill>
              <a:srgbClr val="008B8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5" name="Google Shape;825;p26"/>
          <p:cNvSpPr txBox="1"/>
          <p:nvPr/>
        </p:nvSpPr>
        <p:spPr>
          <a:xfrm>
            <a:off x="822960" y="1143000"/>
            <a:ext cx="9509760" cy="1120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通用大模型擅长写代码，但不懂行业。它不知道电信系统必须符合 3GPP 标准、汽车软件必须通过 ISO 26262 认证、能源系统必须满足 IEC 62109。而我司多年积累的行业 Know-How，业务规则、合规标准、最佳实践，恰好填补了这个空白。将这些 domain knowledge 封装成结构化的 领域规格包（Domain Pack），就是把公司的隐性知识变成可复用的数字资产。</a:t>
            </a:r>
            <a:endParaRPr sz="14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6" name="Google Shape;826;p26"/>
          <p:cNvSpPr txBox="1"/>
          <p:nvPr/>
        </p:nvSpPr>
        <p:spPr>
          <a:xfrm>
            <a:off x="548640" y="2606040"/>
            <a:ext cx="10058400" cy="2345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什么是 Domain Pack？</a:t>
            </a:r>
            <a:endParaRPr sz="16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一个 Domain Pack 本质上是一组行业专属的"规格模板 + 规则集 + 验证逻辑"，以 OpenSpec 的标准格式封装。当 AI 在生成需求规格和代码时，Domain Pack 会作为先验知识（prior knowledge）注入工作流，使 AI 的产出自动遵守该行业的规范和约束条件。</a:t>
            </a:r>
            <a:endParaRPr sz="1200" b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一个 Pack潜在包含的具体内容：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Rules（行业规则）：如"所有交易必须经过风控引擎"、"患者数据必须加密存储"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Spec 模板：预定义的需求规格模板，包含行业必填字段和标准结构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Schema 定义：数据结构和接口的行业标准约束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验证规则（Validators）：自动检查生成的代码是否违反行业规范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7" name="Google Shape;827;p26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8" name="Google Shape;828;p26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类比：如果 OpenSpec 是一个"AI 建筑师"，那么 Domain Pack 就是"行业建筑规范手册"——没有它，AI 盖的房子不合规。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9" name="Google Shape;829;p26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24/41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30" name="Google Shape;830;p26"/>
          <p:cNvSpPr txBox="1"/>
          <p:nvPr/>
        </p:nvSpPr>
        <p:spPr>
          <a:xfrm>
            <a:off x="784860" y="1096645"/>
            <a:ext cx="609600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8B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现状问题：</a:t>
            </a:r>
            <a:endParaRPr sz="16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7"/>
          <p:cNvSpPr txBox="1"/>
          <p:nvPr/>
        </p:nvSpPr>
        <p:spPr>
          <a:xfrm>
            <a:off x="548640" y="274320"/>
            <a:ext cx="972947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潜在研究方向4： Domain-Specific Pack - 华为潜在行业落地机会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548640" y="77724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7" name="Google Shape;837;p27"/>
          <p:cNvSpPr/>
          <p:nvPr/>
        </p:nvSpPr>
        <p:spPr>
          <a:xfrm>
            <a:off x="548640" y="1097280"/>
            <a:ext cx="3108960" cy="310896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8" name="Google Shape;838;p27"/>
          <p:cNvSpPr txBox="1"/>
          <p:nvPr/>
        </p:nvSpPr>
        <p:spPr>
          <a:xfrm>
            <a:off x="731520" y="1234440"/>
            <a:ext cx="2743200" cy="254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ICT / 电信 Pack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为什么？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公司在电信领域已积累了 3GPP 协议栈、网络运维、ADN 自动驾驶网络等深厚经验。这些就是现成的 domain knowledge，只需结构化封装即可变成 Pack。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Pack 潜在包含的内容：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3GPP 协议合规条款（TS 38 系列）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协议状态机异常分支模板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网络功能 spec 模板（RAN/Core）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电信安全标准合规检查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3931920" y="1097280"/>
            <a:ext cx="3108960" cy="310896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0" name="Google Shape;840;p27"/>
          <p:cNvSpPr txBox="1"/>
          <p:nvPr/>
        </p:nvSpPr>
        <p:spPr>
          <a:xfrm>
            <a:off x="4114800" y="1234440"/>
            <a:ext cx="2743200" cy="237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数字能源 Pack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市场驱动力：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新能源并网标准日趋严格，IEC 62109/62619 合规是储能系统的准入门槛。能源企业愿意为确定性的合规方案支付高溢价。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Pack 潜在包含的内容：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IEC 62109/62619 并网安全规则集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构网型光储五层安全体系模板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弱电网频率支撑策略 schema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极端工况异常场景库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41" name="Google Shape;841;p27"/>
          <p:cNvSpPr/>
          <p:nvPr/>
        </p:nvSpPr>
        <p:spPr>
          <a:xfrm>
            <a:off x="7315200" y="1097280"/>
            <a:ext cx="3108960" cy="3108960"/>
          </a:xfrm>
          <a:prstGeom prst="roundRect">
            <a:avLst>
              <a:gd name="adj" fmla="val 16667"/>
            </a:avLst>
          </a:prstGeom>
          <a:solidFill>
            <a:srgbClr val="FEF3E8"/>
          </a:solidFill>
          <a:ln w="12700" cap="flat" cmpd="sng">
            <a:solidFill>
              <a:srgbClr val="E86C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2" name="Google Shape;842;p27"/>
          <p:cNvSpPr txBox="1"/>
          <p:nvPr/>
        </p:nvSpPr>
        <p:spPr>
          <a:xfrm>
            <a:off x="7498080" y="1234440"/>
            <a:ext cx="2743200" cy="237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智能汽车 Pack</a:t>
            </a:r>
            <a:endParaRPr sz="15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市场驱动力：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华为 MDC 已获 ASIL-D 最高功能安全认证，ADS 4 WEWA 架构积累了 6 亿公里仿真验证经验。将这些经验封装为 Pack 是自然延伸。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Pack 潜在包含的内容：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ASIL 等级 spec 模板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AUTOSAR 架构约束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OTA 更新安全验证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IEC 61508 工业安全标准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43" name="Google Shape;843;p27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4" name="Google Shape;844;p27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落地路线：电信 Pack（Q1，积累最深）→ 智能汽车 Pack（Q2，ASIL-D 认证经验）→ 数字能源 Pack（Q3，并网安全）→ 更多业务域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45" name="Google Shape;845;p27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25/41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8"/>
          <p:cNvSpPr txBox="1"/>
          <p:nvPr/>
        </p:nvSpPr>
        <p:spPr>
          <a:xfrm>
            <a:off x="548640" y="274320"/>
            <a:ext cx="103276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潜在研究方向4：Domain-Specific Packs-为什么是核心竞争差异化优势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548640" y="77724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2" name="Google Shape;852;p28"/>
          <p:cNvSpPr txBox="1"/>
          <p:nvPr/>
        </p:nvSpPr>
        <p:spPr>
          <a:xfrm>
            <a:off x="548640" y="1005840"/>
            <a:ext cx="10058400" cy="256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差异化分析：为什么别人难以复制</a:t>
            </a:r>
            <a:endParaRPr sz="1600" b="1">
              <a:solidFill>
                <a:srgbClr val="008B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1. Domain Knowledge 是稀缺资源</a:t>
            </a:r>
            <a:endParaRPr sz="1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行业规则、合规标准、最佳实践，这些知识散布在华为行业专家的脑中、监管文件里、和多年项目经验中。它们无法通过简单的网页爬取或模型训练获得。公司已有的行业积累，就是天然的数据差异化优势。</a:t>
            </a:r>
            <a:endParaRPr sz="140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2. 先发优势带来累积效应 （呼应研究方向3)</a:t>
            </a:r>
            <a:endParaRPr sz="1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第一个做出高质量电信 Pack 的团队，会吸引电信领域的用户；用户的使用反馈又会帮助改进 Pack 质量，形成"越用越好→越好越多人用"的正循环。后来者即使有技术能力，也缺乏这个初始数据积累。</a:t>
            </a: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548640" y="5669280"/>
            <a:ext cx="10058400" cy="50800"/>
          </a:xfrm>
          <a:prstGeom prst="rect">
            <a:avLst/>
          </a:prstGeom>
          <a:solidFill>
            <a:srgbClr val="008B8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4" name="Google Shape;854;p28"/>
          <p:cNvSpPr txBox="1"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一句话总结：AI 能力人人都有，但 domain knowledge + 结构化封装 + 合规认证 = 难以逾越的竞争差异化优势。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55" name="Google Shape;855;p28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26/41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29"/>
          <p:cNvSpPr txBox="1"/>
          <p:nvPr/>
        </p:nvSpPr>
        <p:spPr>
          <a:xfrm>
            <a:off x="13716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附录 1：量化交易系统三方深度对比</a:t>
            </a:r>
            <a:endParaRPr sz="3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61" name="Google Shape;861;p29"/>
          <p:cNvSpPr/>
          <p:nvPr/>
        </p:nvSpPr>
        <p:spPr>
          <a:xfrm>
            <a:off x="4114800" y="2468880"/>
            <a:ext cx="274320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2" name="Google Shape;862;p29"/>
          <p:cNvSpPr txBox="1"/>
          <p:nvPr/>
        </p:nvSpPr>
        <p:spPr>
          <a:xfrm>
            <a:off x="1371600" y="283464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CCCC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  vs  原生 OpenSpec  vs  OpenSpec-HW2</a:t>
            </a:r>
            <a:endParaRPr sz="1800" b="1">
              <a:solidFill>
                <a:srgbClr val="CCCCC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A股有色金属多因子量化交易系统  |  同一需求 · 三种实现 · 逐项拆解</a:t>
            </a:r>
            <a:endParaRPr sz="14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E8F5E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 版：43 源码文件 · 88 测试用例 · 6 层 Protocol 架构</a:t>
            </a:r>
            <a:endParaRPr sz="1300" b="0">
              <a:solidFill>
                <a:srgbClr val="E8F5E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E3F2F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 版：35 源码文件 · 67 测试用例 · 分层架构</a:t>
            </a:r>
            <a:endParaRPr sz="1300" b="0">
              <a:solidFill>
                <a:srgbClr val="E3F2F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F0F0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 版：5-6 源码文件 · 0 测试 · 扁平结构</a:t>
            </a:r>
            <a:endParaRPr sz="1300" b="0">
              <a:solidFill>
                <a:srgbClr val="F0F0F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63" name="Google Shape;863;p29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27/41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0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三方架构深度对比：代码组织与设计模式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69" name="Google Shape;869;p30"/>
          <p:cNvSpPr/>
          <p:nvPr/>
        </p:nvSpPr>
        <p:spPr>
          <a:xfrm>
            <a:off x="457200" y="685800"/>
            <a:ext cx="10332720" cy="508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457200" y="960120"/>
            <a:ext cx="3291840" cy="46634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1" name="Google Shape;871;p30"/>
          <p:cNvSpPr txBox="1"/>
          <p:nvPr/>
        </p:nvSpPr>
        <p:spPr>
          <a:xfrm>
            <a:off x="640080" y="1069848"/>
            <a:ext cx="2926080" cy="444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</a:t>
            </a:r>
            <a:endParaRPr sz="15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5-6 个文件 · 扁平结构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文件清单</a:t>
            </a:r>
            <a:endParaRPr sz="12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main.py: 策略逻辑+数据获取 (~400行)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backtest.py: 回测引擎 (~300行)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utils.py: 工具函数 (~200行)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config.py: 硬编码配置 (~100行)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app.py: Flask Web (~200行)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设计模式</a:t>
            </a:r>
            <a:endParaRPr sz="12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无设计模式，过程式代码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函数间直接调用，高耦合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无接口抽象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72" name="Google Shape;872;p30"/>
          <p:cNvSpPr/>
          <p:nvPr/>
        </p:nvSpPr>
        <p:spPr>
          <a:xfrm>
            <a:off x="3977640" y="960120"/>
            <a:ext cx="3291840" cy="46634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3" name="Google Shape;873;p30"/>
          <p:cNvSpPr txBox="1"/>
          <p:nvPr/>
        </p:nvSpPr>
        <p:spPr>
          <a:xfrm>
            <a:off x="4160520" y="1069848"/>
            <a:ext cx="2926080" cy="444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35 个文件 · 分层架构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目录结构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src/data/: 数据获取与存储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src/factors/: 因子计算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src/strategy/: 选股策略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src/risk/: 风控 (4层)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src/backtest/: 回测引擎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tests/: 8 个测试文件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设计模式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简单类封装 + 函数组织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基本模块化，职责初步分离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7498080" y="960120"/>
            <a:ext cx="3291840" cy="46634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5" name="Google Shape;875;p30"/>
          <p:cNvSpPr txBox="1"/>
          <p:nvPr/>
        </p:nvSpPr>
        <p:spPr>
          <a:xfrm>
            <a:off x="7680960" y="1069848"/>
            <a:ext cx="2926080" cy="444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43 个文件 · 6 层 Protocol 架构</a:t>
            </a:r>
            <a:endParaRPr sz="12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6 层架构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L1 数据层: 多源适配+验证器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L2 因子层: 注册表+可扩展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L3 选股层: 多策略组合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L4 交易层: 订单管理+执行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L5 风控层: 4层+聚合器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L6 回测层: 真实性检验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设计模式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Protocol 接口 + 装饰器注册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依赖注入 + 外部 YAML 配置</a:t>
            </a:r>
            <a:endParaRPr sz="10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76" name="Google Shape;876;p30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28/41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1"/>
          <p:cNvSpPr txBox="1"/>
          <p:nvPr/>
        </p:nvSpPr>
        <p:spPr>
          <a:xfrm>
            <a:off x="457200" y="1828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风控能力三方对比：量化交易的生死线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2" name="Google Shape;882;p31"/>
          <p:cNvSpPr/>
          <p:nvPr/>
        </p:nvSpPr>
        <p:spPr>
          <a:xfrm>
            <a:off x="485140" y="685800"/>
            <a:ext cx="1033272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3" name="Google Shape;883;p31"/>
          <p:cNvSpPr txBox="1"/>
          <p:nvPr/>
        </p:nvSpPr>
        <p:spPr>
          <a:xfrm>
            <a:off x="457200" y="777240"/>
            <a:ext cx="10058400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在量化交易中，风控能力决定了系统能否在真实市场中存活。质量差不完整的风险控制Spec意味着在市场出现罕见情况的时候爆仓</a:t>
            </a:r>
            <a:endParaRPr sz="1200" b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4" name="Google Shape;884;p31"/>
          <p:cNvSpPr/>
          <p:nvPr/>
        </p:nvSpPr>
        <p:spPr>
          <a:xfrm>
            <a:off x="457200" y="1234440"/>
            <a:ext cx="3291840" cy="43891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5" name="Google Shape;885;p31"/>
          <p:cNvSpPr txBox="1"/>
          <p:nvPr/>
        </p:nvSpPr>
        <p:spPr>
          <a:xfrm>
            <a:off x="640080" y="1325880"/>
            <a:ext cx="292608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</a:t>
            </a:r>
            <a:endParaRPr sz="15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风控等级：初级</a:t>
            </a:r>
            <a:endParaRPr sz="12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仅固定止损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硬编码止损阈值（如固定 5%）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不随市场波动调整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无持仓限制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无行业集中度控制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无异常波动检测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D1343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风险评估</a:t>
            </a:r>
            <a:endParaRPr sz="1200" b="1">
              <a:solidFill>
                <a:srgbClr val="D1343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真实交易风险极高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极端行情下可能爆仓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6" name="Google Shape;886;p31"/>
          <p:cNvSpPr/>
          <p:nvPr/>
        </p:nvSpPr>
        <p:spPr>
          <a:xfrm>
            <a:off x="3977640" y="1234440"/>
            <a:ext cx="3291840" cy="438912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7" name="Google Shape;887;p31"/>
          <p:cNvSpPr txBox="1"/>
          <p:nvPr/>
        </p:nvSpPr>
        <p:spPr>
          <a:xfrm>
            <a:off x="4160520" y="1325880"/>
            <a:ext cx="292608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</a:t>
            </a:r>
            <a:endParaRPr sz="15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风控等级：完整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 层风控体系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L1 ATR 动态止损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根据波动率自动调整止损位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L2 持仓限制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单只上限 + 总仓位控制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L3 行业集中度控制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避免板块过度集中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L4 异常波动检测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异常行情自动触发保护</a:t>
            </a:r>
            <a:endParaRPr sz="10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8" name="Google Shape;888;p31"/>
          <p:cNvSpPr/>
          <p:nvPr/>
        </p:nvSpPr>
        <p:spPr>
          <a:xfrm>
            <a:off x="7498080" y="1234440"/>
            <a:ext cx="3291840" cy="438912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9" name="Google Shape;889;p31"/>
          <p:cNvSpPr txBox="1"/>
          <p:nvPr/>
        </p:nvSpPr>
        <p:spPr>
          <a:xfrm>
            <a:off x="7680960" y="1325880"/>
            <a:ext cx="292608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</a:t>
            </a:r>
            <a:endParaRPr sz="15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风控等级：生产级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 层 + 聚合入口</a:t>
            </a:r>
            <a:endParaRPr sz="13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包含原生全部 4 层风控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RiskAggregator 统一调度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风控规则 YAML 可配置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完整风控执行日志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+ 风控事件回调机制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增量价值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统一入口让风控层可独立测试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配置化支持快速策略调整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90" name="Google Shape;890;p31"/>
          <p:cNvSpPr/>
          <p:nvPr/>
        </p:nvSpPr>
        <p:spPr>
          <a:xfrm>
            <a:off x="457200" y="5806440"/>
            <a:ext cx="1033272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1" name="Google Shape;891;p31"/>
          <p:cNvSpPr txBox="1"/>
          <p:nvPr/>
        </p:nvSpPr>
        <p:spPr>
          <a:xfrm>
            <a:off x="457200" y="589788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风控能力是规格化程度差异最直观的体现：无规格 = 无风控；规格越详细，风控架构越完善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92" name="Google Shape;892;p31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29/41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 txBox="1"/>
          <p:nvPr/>
        </p:nvSpPr>
        <p:spPr>
          <a:xfrm>
            <a:off x="457200" y="182880"/>
            <a:ext cx="100584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回测真实性三方对比：回测结果评估</a:t>
            </a:r>
            <a:endParaRPr sz="2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98" name="Google Shape;898;p32"/>
          <p:cNvSpPr/>
          <p:nvPr/>
        </p:nvSpPr>
        <p:spPr>
          <a:xfrm>
            <a:off x="457200" y="685800"/>
            <a:ext cx="10332720" cy="50800"/>
          </a:xfrm>
          <a:prstGeom prst="rect">
            <a:avLst/>
          </a:prstGeom>
          <a:solidFill>
            <a:srgbClr val="E86C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9" name="Google Shape;899;p32"/>
          <p:cNvSpPr txBox="1"/>
          <p:nvPr/>
        </p:nvSpPr>
        <p:spPr>
          <a:xfrm>
            <a:off x="457200" y="7772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回测是量化策略上线前的最后一道关卡。回测越贴近真实市场，上线后的意外越少。</a:t>
            </a:r>
            <a:endParaRPr sz="12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graphicFrame>
        <p:nvGraphicFramePr>
          <p:cNvPr id="900" name="Google Shape;900;p32"/>
          <p:cNvGraphicFramePr/>
          <p:nvPr/>
        </p:nvGraphicFramePr>
        <p:xfrm>
          <a:off x="457200" y="1234440"/>
          <a:ext cx="6400800" cy="3000000"/>
        </p:xfrm>
        <a:graphic>
          <a:graphicData uri="http://schemas.openxmlformats.org/drawingml/2006/table">
            <a:tbl>
              <a:tblPr firstRow="1" bandRow="1">
                <a:noFill/>
                <a:tableStyleId>{1919ADCB-30F0-46B4-BD1B-849308643872}</a:tableStyleId>
              </a:tblPr>
              <a:tblGrid>
                <a:gridCol w="2194550"/>
                <a:gridCol w="1280150"/>
                <a:gridCol w="1463050"/>
                <a:gridCol w="1463050"/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A 股交易规则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Vanilla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7878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原生 OpenSpec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OpenSpec-HW2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107C1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T+1 交收制度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涨跌停限制 (10%)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印花税 / 佣金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最小买入单位 (100股)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停牌处理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FF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前视偏差检测</a:t>
                      </a:r>
                      <a:endParaRPr sz="1100" b="0" u="none" strike="noStrike" cap="none">
                        <a:solidFill>
                          <a:srgbClr val="FF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✓</a:t>
                      </a:r>
                      <a:endParaRPr sz="1100" b="1" u="none" strike="noStrike" cap="none">
                        <a:solidFill>
                          <a:srgbClr val="FF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>
                    <a:solidFill>
                      <a:srgbClr val="F8F8F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滑点模拟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✗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基础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333333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  <a:sym typeface="Microsoft YaHei" panose="020B0503020204020204" charset="-122"/>
                        </a:rPr>
                        <a:t>完整</a:t>
                      </a:r>
                      <a:endParaRPr sz="1100" b="0" u="none" strike="noStrike" cap="none">
                        <a:solidFill>
                          <a:srgbClr val="333333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  <a:sym typeface="Microsoft YaHei" panose="020B0503020204020204" charset="-122"/>
                      </a:endParaRPr>
                    </a:p>
                  </a:txBody>
                  <a:tcPr marL="50800" marR="50800" marT="25400" marB="25400" anchor="ctr"/>
                </a:tc>
              </a:tr>
            </a:tbl>
          </a:graphicData>
        </a:graphic>
      </p:graphicFrame>
      <p:sp>
        <p:nvSpPr>
          <p:cNvPr id="901" name="Google Shape;901;p32"/>
          <p:cNvSpPr txBox="1"/>
          <p:nvPr/>
        </p:nvSpPr>
        <p:spPr>
          <a:xfrm>
            <a:off x="713232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性能评估指标对比</a:t>
            </a:r>
            <a:endParaRPr sz="1400" b="1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02" name="Google Shape;902;p32"/>
          <p:cNvSpPr txBox="1"/>
          <p:nvPr/>
        </p:nvSpPr>
        <p:spPr>
          <a:xfrm>
            <a:off x="7132320" y="160020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878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Claude Code</a:t>
            </a:r>
            <a:endParaRPr sz="1200" b="1">
              <a:solidFill>
                <a:srgbClr val="7878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无标准化性能指标输出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 — 7 个指标</a:t>
            </a:r>
            <a:endParaRPr sz="1200" b="1">
              <a:solidFill>
                <a:srgbClr val="0078D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年化收益率、最大回撤、夏普比率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胜率、盈亏比、波动率、Calmar比率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7C1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OpenSpec-HW2 — 13+ 个指标</a:t>
            </a:r>
            <a:endParaRPr sz="1200" b="1">
              <a:solidFill>
                <a:srgbClr val="107C1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上述全部 + Sortino 比率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信息比率、Alpha、Beta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月度收益分布、连续亏损统计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• 基准对比分析</a:t>
            </a:r>
            <a:endParaRPr sz="11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03" name="Google Shape;903;p32"/>
          <p:cNvSpPr/>
          <p:nvPr/>
        </p:nvSpPr>
        <p:spPr>
          <a:xfrm>
            <a:off x="457200" y="4434840"/>
            <a:ext cx="10332720" cy="1188720"/>
          </a:xfrm>
          <a:prstGeom prst="roundRect">
            <a:avLst>
              <a:gd name="adj" fmla="val 16667"/>
            </a:avLst>
          </a:prstGeom>
          <a:solidFill>
            <a:srgbClr val="FEF3E8"/>
          </a:solidFill>
          <a:ln w="12700" cap="flat" cmpd="sng">
            <a:solidFill>
              <a:srgbClr val="E86C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4" name="Google Shape;904;p32"/>
          <p:cNvSpPr txBox="1"/>
          <p:nvPr/>
        </p:nvSpPr>
        <p:spPr>
          <a:xfrm>
            <a:off x="640080" y="4526280"/>
            <a:ext cx="99669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E86C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回测真实性结论</a:t>
            </a:r>
            <a:endParaRPr sz="1400" b="1">
              <a:solidFill>
                <a:srgbClr val="E86C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Vanilla 版完全忽略 A 股交易规则，回测结果无参考价值，直接上线必定亏损。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原生 OpenSpec 版覆盖了核心 A 股规则，回测基本可信；HW2 版进一步增加了前视偏差检测和完整滑点模拟，回测结果最接近真实市场表现。</a:t>
            </a:r>
            <a:endParaRPr sz="1200" b="0">
              <a:solidFill>
                <a:srgbClr val="333333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05" name="Google Shape;905;p32"/>
          <p:cNvSpPr txBox="1"/>
          <p:nvPr/>
        </p:nvSpPr>
        <p:spPr>
          <a:xfrm>
            <a:off x="11094085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99999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30/41</a:t>
            </a:r>
            <a:endParaRPr sz="1100" b="0">
              <a:solidFill>
                <a:srgbClr val="99999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3"/>
          <p:cNvSpPr txBox="1"/>
          <p:nvPr/>
        </p:nvSpPr>
        <p:spPr>
          <a:xfrm>
            <a:off x="457200" y="182880"/>
            <a:ext cx="10058400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前视偏差检测详解：OpenSpec-HW2 得益于Usecase生成独有的回测真实性保障</a:t>
            </a:r>
            <a:endParaRPr sz="2200" b="1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1" name="Google Shape;911;p33"/>
          <p:cNvSpPr/>
          <p:nvPr/>
        </p:nvSpPr>
        <p:spPr>
          <a:xfrm>
            <a:off x="457200" y="658368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2" name="Google Shape;912;p33"/>
          <p:cNvSpPr txBox="1"/>
          <p:nvPr/>
        </p:nvSpPr>
        <p:spPr>
          <a:xfrm>
            <a:off x="457200" y="71323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前视偏差（Look-Ahead Bias）是量化回测中的经典陷阱：回测时"偷看"了当时不可能知道的未来数据，导致回测收益虚高</a:t>
            </a:r>
            <a:endParaRPr sz="10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3" name="Google Shape;913;p3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典型前视偏差场景</a:t>
            </a:r>
            <a:endParaRPr sz="15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4" name="Google Shape;914;p33"/>
          <p:cNvSpPr txBox="1"/>
          <p:nvPr/>
        </p:nvSpPr>
        <p:spPr>
          <a:xfrm>
            <a:off x="5760720" y="1005840"/>
            <a:ext cx="3005455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OpenSpec-HW2 的防前视偏差实现</a:t>
            </a:r>
            <a:endParaRPr sz="15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5" name="Google Shape;915;p33"/>
          <p:cNvSpPr/>
          <p:nvPr/>
        </p:nvSpPr>
        <p:spPr>
          <a:xfrm>
            <a:off x="457200" y="1325880"/>
            <a:ext cx="5029200" cy="11430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6" name="Google Shape;916;p33"/>
          <p:cNvSpPr txBox="1"/>
          <p:nvPr/>
        </p:nvSpPr>
        <p:spPr>
          <a:xfrm>
            <a:off x="640080" y="1399032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幸存者偏差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用今天的成分股列表回测 3 年前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已退市的"坏股票"被排除，回测只选了活下来的赢家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导致回测收益虚高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7" name="Google Shape;917;p33"/>
          <p:cNvSpPr/>
          <p:nvPr/>
        </p:nvSpPr>
        <p:spPr>
          <a:xfrm>
            <a:off x="457200" y="256032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8" name="Google Shape;918;p33"/>
          <p:cNvSpPr txBox="1"/>
          <p:nvPr/>
        </p:nvSpPr>
        <p:spPr>
          <a:xfrm>
            <a:off x="640080" y="263347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数据泄露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用当天收盘价决定当天是否买入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实际交易中收盘价要到收盘后才知道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9" name="Google Shape;919;p33"/>
          <p:cNvSpPr/>
          <p:nvPr/>
        </p:nvSpPr>
        <p:spPr>
          <a:xfrm>
            <a:off x="457200" y="365760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0" name="Google Shape;920;p33"/>
          <p:cNvSpPr txBox="1"/>
          <p:nvPr/>
        </p:nvSpPr>
        <p:spPr>
          <a:xfrm>
            <a:off x="640080" y="373075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未来函数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用未来才发布的财报数据做当期因子计算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如 Q3 财报 10 月底发布，但回测在 7 月就使用了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5760720" y="1325880"/>
            <a:ext cx="5029200" cy="11430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2" name="Google Shape;922;p33"/>
          <p:cNvSpPr txBox="1"/>
          <p:nvPr/>
        </p:nvSpPr>
        <p:spPr>
          <a:xfrm>
            <a:off x="5943600" y="1399032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Point-in-time 股票池查询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get_point_in_time_universe(date) 查询历史时点行业分类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包含已退市 / 更名 / 转行业的股票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5760720" y="256032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4" name="Google Shape;924;p33"/>
          <p:cNvSpPr txBox="1"/>
          <p:nvPr/>
        </p:nvSpPr>
        <p:spPr>
          <a:xfrm>
            <a:off x="5943600" y="263347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 明确约束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"The stock universe at each backtest date SHALL include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only stocks classified as non-ferrous metals on that date"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5760720" y="3657600"/>
            <a:ext cx="5029200" cy="10058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6" name="Google Shape;926;p33"/>
          <p:cNvSpPr txBox="1"/>
          <p:nvPr/>
        </p:nvSpPr>
        <p:spPr>
          <a:xfrm>
            <a:off x="5943600" y="373075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完整追溯链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Usecases 第 6 用例第 7 步 → 驱动 Spec 增加条款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→ Design 列出 Mitigation → Code 实现函数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7" name="Google Shape;927;p33"/>
          <p:cNvSpPr/>
          <p:nvPr/>
        </p:nvSpPr>
        <p:spPr>
          <a:xfrm>
            <a:off x="457200" y="4800600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457200" y="4892040"/>
            <a:ext cx="10332720" cy="105156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9" name="Google Shape;929;p33"/>
          <p:cNvSpPr txBox="1"/>
          <p:nvPr/>
        </p:nvSpPr>
        <p:spPr>
          <a:xfrm>
            <a:off x="640080" y="4937760"/>
            <a:ext cx="99669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需求追溯链（Usecases → Spec → Design → Code）</a:t>
            </a:r>
            <a:endParaRPr sz="12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Usecases → "系统使用当时的行业成分股（非当前成分股）以避免幸存者偏差"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 (backtest) → "SHALL use point-in-time industry classification data"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 (universe) → "SHALL support querying the universe as of any historical date"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→ src/universe/filter.py → get_point_in_time_universe() 函数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0" name="Google Shape;930;p33"/>
          <p:cNvSpPr txBox="1"/>
          <p:nvPr/>
        </p:nvSpPr>
        <p:spPr>
          <a:xfrm>
            <a:off x="457200" y="59893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 缺少 Usecases 步骤 → 未捕获此需求 → 代码中无防前视偏差实现。这是 Usecases 带来实质性提升的典型案例。</a:t>
            </a:r>
            <a:endParaRPr sz="110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1" name="Google Shape;931;p33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31/41</a:t>
            </a:r>
            <a:endParaRPr sz="11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4"/>
          <p:cNvSpPr txBox="1"/>
          <p:nvPr/>
        </p:nvSpPr>
        <p:spPr>
          <a:xfrm>
            <a:off x="457200" y="182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测试覆盖度三方深度对比：不只是数量，更是结构与深度</a:t>
            </a:r>
            <a:endParaRPr sz="2200" b="1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7" name="Google Shape;937;p34"/>
          <p:cNvSpPr/>
          <p:nvPr/>
        </p:nvSpPr>
        <p:spPr>
          <a:xfrm>
            <a:off x="457200" y="658368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8" name="Google Shape;938;p34"/>
          <p:cNvSpPr txBox="1"/>
          <p:nvPr/>
        </p:nvSpPr>
        <p:spPr>
          <a:xfrm>
            <a:off x="457200" y="658368"/>
            <a:ext cx="1005840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OpenSpec类工具依据task.md中内容生成测试，测试结构（单元/集成/端到端）、测试深度（每函数断言数）、工程规范（fixtures/conftest）共同决定测试有效性</a:t>
            </a:r>
            <a:endParaRPr sz="10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9" name="Google Shape;939;p34"/>
          <p:cNvSpPr/>
          <p:nvPr/>
        </p:nvSpPr>
        <p:spPr>
          <a:xfrm>
            <a:off x="457200" y="1051560"/>
            <a:ext cx="3291840" cy="36576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0" name="Google Shape;940;p34"/>
          <p:cNvSpPr txBox="1"/>
          <p:nvPr/>
        </p:nvSpPr>
        <p:spPr>
          <a:xfrm>
            <a:off x="640080" y="1124712"/>
            <a:ext cx="292608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Vanilla Claude Code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测试文件：0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测试函数：0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测试代码：0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AI 完全跳过测试环节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无任何单元测试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无集成测试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无端到端测试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无测试框架引入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覆盖模块：0/6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1" name="Google Shape;941;p34"/>
          <p:cNvSpPr/>
          <p:nvPr/>
        </p:nvSpPr>
        <p:spPr>
          <a:xfrm>
            <a:off x="3977639" y="1051560"/>
            <a:ext cx="3291840" cy="365760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2" name="Google Shape;942;p34"/>
          <p:cNvSpPr txBox="1"/>
          <p:nvPr/>
        </p:nvSpPr>
        <p:spPr>
          <a:xfrm>
            <a:off x="4160520" y="1124712"/>
            <a:ext cx="292608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</a:t>
            </a:r>
            <a:endParaRPr sz="13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测试文件：8 个 | 测试函数：67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测试代码：570 行 | 断言：98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按模块覆盖（扁平，全在 tests/ 下）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test_backtest.py: 11 函数 / 115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test_risk.py: 13 函数 / 119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test_factors.py: 12 函数 / 75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test_universe.py: 9 函数 / 45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覆盖模块：8/8（全部单元测试）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3" name="Google Shape;943;p34"/>
          <p:cNvSpPr/>
          <p:nvPr/>
        </p:nvSpPr>
        <p:spPr>
          <a:xfrm>
            <a:off x="7498079" y="1051560"/>
            <a:ext cx="3291840" cy="3657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4" name="Google Shape;944;p34"/>
          <p:cNvSpPr txBox="1"/>
          <p:nvPr/>
        </p:nvSpPr>
        <p:spPr>
          <a:xfrm>
            <a:off x="7680959" y="1124712"/>
            <a:ext cx="292608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OpenSpec-HW2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测试文件：9+1 个 | 测试函数：57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测试代码：779 行 | 断言：105 个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按模块子目录 + conftest 共享 fixtures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test_integration.py: 6 / 195 行 ★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backtest/test_backtest.py: 9 / 81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risk/test_risk.py: 9 / 82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strategy/test_scorer.py: 6 / 89 行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覆盖：7/7 + 集成测试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5" name="Google Shape;945;p34"/>
          <p:cNvSpPr/>
          <p:nvPr/>
        </p:nvSpPr>
        <p:spPr>
          <a:xfrm>
            <a:off x="457200" y="4846320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6" name="Google Shape;946;p34"/>
          <p:cNvSpPr/>
          <p:nvPr/>
        </p:nvSpPr>
        <p:spPr>
          <a:xfrm>
            <a:off x="457200" y="4937760"/>
            <a:ext cx="10332720" cy="10972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7" name="Google Shape;947;p34"/>
          <p:cNvSpPr txBox="1"/>
          <p:nvPr/>
        </p:nvSpPr>
        <p:spPr>
          <a:xfrm>
            <a:off x="640080" y="4983480"/>
            <a:ext cx="9966960" cy="8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关键差异分析</a:t>
            </a:r>
            <a:endParaRPr sz="12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① 测试结构升级：Native 扁平在 tests/ 下；HW2 按模块建子目录 + conftest.py 共享 fixtures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② 集成测试从无到有：HW2 新增 195 行端到端集成测试（含合成数据库、完整 pipeline 验证）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③ 测试深度 &gt; 测试数量：HW2 每函数平均 13.7 行，含更多多步骤验证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④ 数据驱动测试：HW2 集成测试用 SQLite + 合成 OHLCV 完整模拟真实数据管道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8" name="Google Shape;948;p34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32/41</a:t>
            </a:r>
            <a:endParaRPr sz="11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5"/>
          <p:cNvSpPr txBox="1"/>
          <p:nvPr/>
        </p:nvSpPr>
        <p:spPr>
          <a:xfrm>
            <a:off x="457200" y="182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1A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代码规模与任务分解三方深度对比：规格化如何驱动系统完整度</a:t>
            </a:r>
            <a:endParaRPr sz="2200" b="1">
              <a:solidFill>
                <a:srgbClr val="1A1A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4" name="Google Shape;954;p35"/>
          <p:cNvSpPr/>
          <p:nvPr/>
        </p:nvSpPr>
        <p:spPr>
          <a:xfrm>
            <a:off x="457200" y="658368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5" name="Google Shape;955;p35"/>
          <p:cNvSpPr txBox="1"/>
          <p:nvPr/>
        </p:nvSpPr>
        <p:spPr>
          <a:xfrm>
            <a:off x="457200" y="6583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相同需求描述，三种方式产出的代码规模、模块分布、任务分解粒度差异直接反映规格化程度对 AI 行为的引导效果</a:t>
            </a:r>
            <a:endParaRPr sz="10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6" name="Google Shape;956;p35"/>
          <p:cNvSpPr txBox="1"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代码规模分布（含测试）</a:t>
            </a:r>
            <a:endParaRPr sz="13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7" name="Google Shape;957;p35"/>
          <p:cNvSpPr/>
          <p:nvPr/>
        </p:nvSpPr>
        <p:spPr>
          <a:xfrm>
            <a:off x="457200" y="1234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8" name="Google Shape;958;p35"/>
          <p:cNvSpPr txBox="1"/>
          <p:nvPr/>
        </p:nvSpPr>
        <p:spPr>
          <a:xfrm>
            <a:off x="640080" y="1307592"/>
            <a:ext cx="29260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Vanilla: 1,194 行 · 6 文件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data_fetcher.py       316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factor_engine.py     290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backtester.py           257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app.py                      155 行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单文件承担多职责，无模块化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9" name="Google Shape;959;p35"/>
          <p:cNvSpPr/>
          <p:nvPr/>
        </p:nvSpPr>
        <p:spPr>
          <a:xfrm>
            <a:off x="3977639" y="1234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0" name="Google Shape;960;p35"/>
          <p:cNvSpPr txBox="1"/>
          <p:nvPr/>
        </p:nvSpPr>
        <p:spPr>
          <a:xfrm>
            <a:off x="4160520" y="1307592"/>
            <a:ext cx="29260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OpenSpec: 2,824 行 · 32 文件</a:t>
            </a:r>
            <a:endParaRPr sz="13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src/data        512 行  数据管道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src/backtest  423 行  回测引擎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src/factors    314 行  因子引擎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src/risk         207 行  风控体系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(含 570 行测试)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1" name="Google Shape;961;p35"/>
          <p:cNvSpPr/>
          <p:nvPr/>
        </p:nvSpPr>
        <p:spPr>
          <a:xfrm>
            <a:off x="7498079" y="1234440"/>
            <a:ext cx="3291840" cy="14630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2" name="Google Shape;962;p35"/>
          <p:cNvSpPr txBox="1"/>
          <p:nvPr/>
        </p:nvSpPr>
        <p:spPr>
          <a:xfrm>
            <a:off x="7680959" y="1307592"/>
            <a:ext cx="292608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HW2: 5,015 行 · 31 文件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src/data        813 行  多源管道+验证器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src/backtest  775 行  4 子模块引擎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src/factors    607 行  16 因子+标准化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src/risk         501 行  4 层+聚合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(含 779 行测试 + 114 行 notebook)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3" name="Google Shape;963;p35"/>
          <p:cNvSpPr txBox="1"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3E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任务分解对比</a:t>
            </a:r>
            <a:endParaRPr sz="1300" b="1">
              <a:solidFill>
                <a:srgbClr val="2C3E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4" name="Google Shape;964;p35"/>
          <p:cNvSpPr/>
          <p:nvPr/>
        </p:nvSpPr>
        <p:spPr>
          <a:xfrm>
            <a:off x="457200" y="3108960"/>
            <a:ext cx="3291840" cy="109728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 cap="flat" cmpd="sng">
            <a:solidFill>
              <a:srgbClr val="78787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5" name="Google Shape;965;p35"/>
          <p:cNvSpPr txBox="1"/>
          <p:nvPr/>
        </p:nvSpPr>
        <p:spPr>
          <a:xfrm>
            <a:off x="640080" y="3182112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78787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Vanilla: 0 个任务</a:t>
            </a:r>
            <a:endParaRPr sz="1300" b="1">
              <a:solidFill>
                <a:srgbClr val="78787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无任何前置规划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AI 凭自身判断决定架构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结果：6 个文件一气呵成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6" name="Google Shape;966;p35"/>
          <p:cNvSpPr/>
          <p:nvPr/>
        </p:nvSpPr>
        <p:spPr>
          <a:xfrm>
            <a:off x="3977639" y="3108960"/>
            <a:ext cx="3291840" cy="10972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7" name="Google Shape;967;p35"/>
          <p:cNvSpPr txBox="1"/>
          <p:nvPr/>
        </p:nvSpPr>
        <p:spPr>
          <a:xfrm>
            <a:off x="4160520" y="3182112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原生 OpenSpec: 44 个任务 · 10 模块</a:t>
            </a:r>
            <a:endParaRPr sz="13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数据管道 6 | 股票池 4 | 因子 7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评分 4 | 风控 5 | 择时 4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回测 5 | 报告 4 | CLI 2 | 基建 3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8" name="Google Shape;968;p35"/>
          <p:cNvSpPr/>
          <p:nvPr/>
        </p:nvSpPr>
        <p:spPr>
          <a:xfrm>
            <a:off x="7498079" y="3108960"/>
            <a:ext cx="3291840" cy="109728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 cap="flat" cmpd="sng">
            <a:solidFill>
              <a:srgbClr val="107C1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9" name="Google Shape;969;p35"/>
          <p:cNvSpPr txBox="1"/>
          <p:nvPr/>
        </p:nvSpPr>
        <p:spPr>
          <a:xfrm>
            <a:off x="7680959" y="3182112"/>
            <a:ext cx="29260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07C1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HW2: 65 个任务 · 10 模块</a:t>
            </a:r>
            <a:endParaRPr sz="1300" b="1">
              <a:solidFill>
                <a:srgbClr val="107C1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数据管道 8 | 股票池 6 | 因子 9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评分 7 | 风控 6 | 择时 4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回测 7 | 报告 8 | 集成 5 | 基建 5</a:t>
            </a:r>
            <a:endParaRPr sz="8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0" name="Google Shape;970;p35"/>
          <p:cNvSpPr/>
          <p:nvPr/>
        </p:nvSpPr>
        <p:spPr>
          <a:xfrm>
            <a:off x="457200" y="4343400"/>
            <a:ext cx="10332720" cy="5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1" name="Google Shape;971;p35"/>
          <p:cNvSpPr/>
          <p:nvPr/>
        </p:nvSpPr>
        <p:spPr>
          <a:xfrm>
            <a:off x="457200" y="4434840"/>
            <a:ext cx="10332720" cy="155448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 w="12700" cap="flat" cmpd="sng">
            <a:solidFill>
              <a:srgbClr val="0078D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2" name="Google Shape;972;p35"/>
          <p:cNvSpPr txBox="1"/>
          <p:nvPr/>
        </p:nvSpPr>
        <p:spPr>
          <a:xfrm>
            <a:off x="640080" y="4480560"/>
            <a:ext cx="99669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8D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Usecases 步骤的增量影响</a:t>
            </a:r>
            <a:endParaRPr sz="1200" b="1">
              <a:solidFill>
                <a:srgbClr val="0078D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① 任务粒度更细：HW2 比 Native 多 21 个任务（65 vs 44，+48%），增量在数据验证器、存活偏差防护、因子 IC 跟踪等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② 代码量增长显著：HW2 源码 4,236 行 vs Native 2,254 行（+88%），增量集中在 strategy（+248%）、risk（+142%）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③ 模块功能密度提升：HW2 data 模块增加 DataSource Protocol + 验证器；backtest 拆分为 engine/broker/portfolio/metrics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④ 工程化产物：HW2 独有 conftest.py 共享 fixtures、demo_workflow.py 演示流程</a:t>
            </a:r>
            <a:endParaRPr sz="9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3" name="Google Shape;973;p35"/>
          <p:cNvSpPr txBox="1"/>
          <p:nvPr/>
        </p:nvSpPr>
        <p:spPr>
          <a:xfrm>
            <a:off x="457200" y="6035040"/>
            <a:ext cx="1033272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Usecases 让 AI 在编码前充分理解业务场景 → 更细的任务分解 → 更完整的模块实现 → 更高的代码量和测试质量</a:t>
            </a:r>
            <a:endParaRPr sz="110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4" name="Google Shape;974;p35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33/41</a:t>
            </a:r>
            <a:endParaRPr sz="1100">
              <a:solidFill>
                <a:srgbClr val="44444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88.16,&quot;left&quot;:0,&quot;top&quot;:51.839999999999996,&quot;width&quot;:959.76}"/>
</p:tagLst>
</file>

<file path=ppt/tags/tag2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3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4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5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6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7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8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9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0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1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2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3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4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5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6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ags/tag17.xml><?xml version="1.0" encoding="utf-8"?>
<p:tagLst xmlns:p="http://schemas.openxmlformats.org/presentationml/2006/main">
  <p:tag name="KSO_WM_DIAGRAM_VIRTUALLY_FRAME" val="{&quot;height&quot;:491.475,&quot;left&quot;:1.5,&quot;top&quot;:48.525,&quot;width&quot;:959.76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21267</Words>
  <Application>WPS Presentation</Application>
  <PresentationFormat/>
  <Paragraphs>1862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SimSun</vt:lpstr>
      <vt:lpstr>Wingdings</vt:lpstr>
      <vt:lpstr>Arial</vt:lpstr>
      <vt:lpstr>Calibri</vt:lpstr>
      <vt:lpstr>Microsoft YaHei</vt:lpstr>
      <vt:lpstr>Consolas</vt:lpstr>
      <vt:lpstr>Arial Unicode MS</vt:lpstr>
      <vt:lpstr>Office Theme</vt:lpstr>
      <vt:lpstr>Compact Ver.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Archive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Zhifei Dou</cp:lastModifiedBy>
  <cp:revision>66</cp:revision>
  <dcterms:created xsi:type="dcterms:W3CDTF">2026-02-26T00:15:00Z</dcterms:created>
  <dcterms:modified xsi:type="dcterms:W3CDTF">2026-02-26T18:39:14Z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E95AA71CD3944AFEB73BA736E01F3CBD_12</vt:lpwstr>
  </property>
  <property fmtid="{D5CDD505-2E9C-101B-9397-08002B2CF9AE}" pid="3" name="KSOProductBuildVer">
    <vt:lpwstr>1033-12.9.0.21549</vt:lpwstr>
  </property>
</Properties>
</file>