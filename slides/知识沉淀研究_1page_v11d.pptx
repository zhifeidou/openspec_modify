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6"/>
  </p:handoutMasterIdLst>
  <p:sldIdLst>
    <p:sldId id="257" r:id="rId3"/>
    <p:sldId id="258" r:id="rId4"/>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92"/>
        <p:guide pos="281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6514" y="1143000"/>
            <a:ext cx="5484971"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7.xml"/><Relationship Id="rId20" Type="http://schemas.openxmlformats.org/officeDocument/2006/relationships/image" Target="../media/image4.png"/><Relationship Id="rId2" Type="http://schemas.openxmlformats.org/officeDocument/2006/relationships/tags" Target="../tags/tag2.xml"/><Relationship Id="rId19" Type="http://schemas.openxmlformats.org/officeDocument/2006/relationships/image" Target="../media/image3.png"/><Relationship Id="rId18" Type="http://schemas.openxmlformats.org/officeDocument/2006/relationships/image" Target="../media/image2.png"/><Relationship Id="rId17" Type="http://schemas.openxmlformats.org/officeDocument/2006/relationships/image" Target="../media/image1.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4" Type="http://schemas.openxmlformats.org/officeDocument/2006/relationships/slideLayout" Target="../slideLayouts/slideLayout7.xml"/><Relationship Id="rId13" Type="http://schemas.openxmlformats.org/officeDocument/2006/relationships/image" Target="../media/image5.png"/><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228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37160"/>
            <a:ext cx="9144000" cy="368300"/>
          </a:xfrm>
          <a:prstGeom prst="rect">
            <a:avLst/>
          </a:prstGeom>
          <a:noFill/>
        </p:spPr>
        <p:txBody>
          <a:bodyPr wrap="square">
            <a:spAutoFit/>
          </a:bodyPr>
          <a:lstStyle/>
          <a:p>
            <a:pPr>
              <a:spcBef>
                <a:spcPts val="0"/>
              </a:spcBef>
              <a:spcAft>
                <a:spcPts val="0"/>
              </a:spcAft>
            </a:pPr>
            <a:r>
              <a:rPr lang="zh-CN" sz="1800" b="1">
                <a:solidFill>
                  <a:srgbClr val="2D2D2D"/>
                </a:solidFill>
                <a:latin typeface="Microsoft YaHei" panose="020B0503020204020204" charset="-122"/>
              </a:rPr>
              <a:t>人</a:t>
            </a:r>
            <a:r>
              <a:rPr lang="en-US" altLang="zh-CN" sz="1800" b="1">
                <a:solidFill>
                  <a:srgbClr val="2D2D2D"/>
                </a:solidFill>
                <a:latin typeface="Microsoft YaHei" panose="020B0503020204020204" charset="-122"/>
              </a:rPr>
              <a:t>-Code Agent</a:t>
            </a:r>
            <a:r>
              <a:rPr lang="zh-CN" altLang="en-US" sz="1800" b="1">
                <a:solidFill>
                  <a:srgbClr val="2D2D2D"/>
                </a:solidFill>
                <a:latin typeface="Microsoft YaHei" panose="020B0503020204020204" charset="-122"/>
              </a:rPr>
              <a:t>协同</a:t>
            </a:r>
            <a:r>
              <a:rPr sz="1800" b="1">
                <a:solidFill>
                  <a:srgbClr val="2D2D2D"/>
                </a:solidFill>
                <a:latin typeface="Microsoft YaHei" panose="020B0503020204020204" charset="-122"/>
              </a:rPr>
              <a:t>知识沉淀的形态、范式与生命周期管理</a:t>
            </a:r>
            <a:r>
              <a:rPr lang="zh-CN" sz="1800" b="1">
                <a:solidFill>
                  <a:srgbClr val="2D2D2D"/>
                </a:solidFill>
                <a:latin typeface="Microsoft YaHei" panose="020B0503020204020204" charset="-122"/>
              </a:rPr>
              <a:t>洞察</a:t>
            </a:r>
            <a:endParaRPr lang="zh-CN" sz="1800" b="1">
              <a:solidFill>
                <a:srgbClr val="2D2D2D"/>
              </a:solidFill>
              <a:latin typeface="Microsoft YaHei" panose="020B0503020204020204" charset="-122"/>
            </a:endParaRPr>
          </a:p>
        </p:txBody>
      </p:sp>
      <p:sp>
        <p:nvSpPr>
          <p:cNvPr id="7" name="Rectangle 6"/>
          <p:cNvSpPr/>
          <p:nvPr>
            <p:custDataLst>
              <p:tags r:id="rId1"/>
            </p:custDataLst>
          </p:nvPr>
        </p:nvSpPr>
        <p:spPr>
          <a:xfrm>
            <a:off x="275590" y="598170"/>
            <a:ext cx="3749040" cy="5499100"/>
          </a:xfrm>
          <a:prstGeom prst="rect">
            <a:avLst/>
          </a:prstGeom>
          <a:solidFill>
            <a:srgbClr val="EBF3FE"/>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custDataLst>
              <p:tags r:id="rId2"/>
            </p:custDataLst>
          </p:nvPr>
        </p:nvSpPr>
        <p:spPr>
          <a:xfrm>
            <a:off x="275590" y="598170"/>
            <a:ext cx="3749039" cy="237744"/>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3"/>
            </p:custDataLst>
          </p:nvPr>
        </p:nvSpPr>
        <p:spPr>
          <a:xfrm>
            <a:off x="385318" y="61645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a:t>
            </a:r>
            <a:r>
              <a:rPr lang="en-US" sz="1000" b="1">
                <a:solidFill>
                  <a:srgbClr val="FFFFFF"/>
                </a:solidFill>
                <a:latin typeface="Microsoft YaHei" panose="020B0503020204020204" charset="-122"/>
                <a:ea typeface="Microsoft YaHei" panose="020B0503020204020204" charset="-122"/>
                <a:cs typeface="Microsoft YaHei" panose="020B0503020204020204" charset="-122"/>
              </a:rPr>
              <a:t>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a:t>
            </a:r>
            <a:r>
              <a:rPr sz="1000" b="1">
                <a:solidFill>
                  <a:srgbClr val="FFFFFF"/>
                </a:solidFill>
                <a:latin typeface="Microsoft YaHei" panose="020B0503020204020204" charset="-122"/>
                <a:ea typeface="Microsoft YaHei" panose="020B0503020204020204" charset="-122"/>
                <a:cs typeface="Microsoft YaHei" panose="020B0503020204020204" charset="-122"/>
              </a:rPr>
              <a:t>知识沉淀形态</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11" name="TextBox 10"/>
          <p:cNvSpPr txBox="1"/>
          <p:nvPr>
            <p:custDataLst>
              <p:tags r:id="rId4"/>
            </p:custDataLst>
          </p:nvPr>
        </p:nvSpPr>
        <p:spPr>
          <a:xfrm>
            <a:off x="333883" y="861568"/>
            <a:ext cx="3529583" cy="4276725"/>
          </a:xfrm>
          <a:prstGeom prst="rect">
            <a:avLst/>
          </a:prstGeom>
          <a:noFill/>
        </p:spPr>
        <p:txBody>
          <a:bodyPr wrap="square">
            <a:spAutoFit/>
          </a:bodyPr>
          <a:lstStyle/>
          <a:p>
            <a:pPr>
              <a:spcBef>
                <a:spcPts val="0"/>
              </a:spcBef>
              <a:spcAft>
                <a:spcPts val="0"/>
              </a:spcAft>
            </a:pPr>
            <a:r>
              <a:rPr lang="zh-CN" sz="800" b="0">
                <a:solidFill>
                  <a:srgbClr val="2D2D2D"/>
                </a:solidFill>
                <a:latin typeface="Microsoft YaHei" panose="020B0503020204020204" charset="-122"/>
                <a:ea typeface="Microsoft YaHei" panose="020B0503020204020204" charset="-122"/>
                <a:cs typeface="Microsoft YaHei" panose="020B0503020204020204" charset="-122"/>
              </a:rPr>
              <a:t>在人与</a:t>
            </a:r>
            <a:r>
              <a:rPr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协同过程中</a:t>
            </a:r>
            <a:r>
              <a:rPr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已有研究的</a:t>
            </a:r>
            <a:r>
              <a:rPr sz="800" b="0">
                <a:solidFill>
                  <a:srgbClr val="2D2D2D"/>
                </a:solidFill>
                <a:latin typeface="Microsoft YaHei" panose="020B0503020204020204" charset="-122"/>
                <a:ea typeface="Microsoft YaHei" panose="020B0503020204020204" charset="-122"/>
                <a:cs typeface="Microsoft YaHei" panose="020B0503020204020204" charset="-122"/>
              </a:rPr>
              <a:t>知识沉淀的形态呈现出从低抽象到高抽象的谱系:</a:t>
            </a:r>
            <a:endParaRPr sz="900">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① 原始轨迹 (ExpeL, JARVIS-1)</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Agent与</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人、环境</a:t>
            </a:r>
            <a:r>
              <a:rPr sz="800" b="0">
                <a:solidFill>
                  <a:srgbClr val="2D2D2D"/>
                </a:solidFill>
                <a:latin typeface="Microsoft YaHei" panose="020B0503020204020204" charset="-122"/>
                <a:ea typeface="Microsoft YaHei" panose="020B0503020204020204" charset="-122"/>
                <a:cs typeface="Microsoft YaHei" panose="020B0503020204020204" charset="-122"/>
              </a:rPr>
              <a:t>交互的完整行动序列, 包含成功和失败两类轨</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JARVIS-1扩展为多模态轨迹, 同时存储视觉截图和文本计划。</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666666"/>
                </a:solidFill>
                <a:latin typeface="Microsoft YaHei" panose="020B0503020204020204" charset="-122"/>
                <a:ea typeface="Microsoft YaHei" panose="020B0503020204020204" charset="-122"/>
                <a:cs typeface="Microsoft YaHei" panose="020B0503020204020204" charset="-122"/>
              </a:rPr>
              <a:t>下文</a:t>
            </a:r>
            <a:r>
              <a:rPr lang="zh-CN" sz="800" b="0">
                <a:solidFill>
                  <a:srgbClr val="666666"/>
                </a:solidFill>
                <a:latin typeface="Microsoft YaHei" panose="020B0503020204020204" charset="-122"/>
                <a:ea typeface="Microsoft YaHei" panose="020B0503020204020204" charset="-122"/>
                <a:cs typeface="Microsoft YaHei" panose="020B0503020204020204" charset="-122"/>
              </a:rPr>
              <a:t>较为</a:t>
            </a:r>
            <a:r>
              <a:rPr sz="800" b="0">
                <a:solidFill>
                  <a:srgbClr val="666666"/>
                </a:solidFill>
                <a:latin typeface="Microsoft YaHei" panose="020B0503020204020204" charset="-122"/>
                <a:ea typeface="Microsoft YaHei" panose="020B0503020204020204" charset="-122"/>
                <a:cs typeface="Microsoft YaHei" panose="020B0503020204020204" charset="-122"/>
              </a:rPr>
              <a:t>丰富, 但</a:t>
            </a:r>
            <a:r>
              <a:rPr lang="zh-CN" sz="800" b="0">
                <a:solidFill>
                  <a:srgbClr val="666666"/>
                </a:solidFill>
                <a:latin typeface="Microsoft YaHei" panose="020B0503020204020204" charset="-122"/>
                <a:ea typeface="Microsoft YaHei" panose="020B0503020204020204" charset="-122"/>
                <a:cs typeface="Microsoft YaHei" panose="020B0503020204020204" charset="-122"/>
              </a:rPr>
              <a:t>也导致了知识</a:t>
            </a:r>
            <a:r>
              <a:rPr sz="800" b="0">
                <a:solidFill>
                  <a:srgbClr val="666666"/>
                </a:solidFill>
                <a:latin typeface="Microsoft YaHei" panose="020B0503020204020204" charset="-122"/>
                <a:ea typeface="Microsoft YaHei" panose="020B0503020204020204" charset="-122"/>
                <a:cs typeface="Microsoft YaHei" panose="020B0503020204020204" charset="-122"/>
              </a:rPr>
              <a:t>检索效率低, 直接</a:t>
            </a:r>
            <a:r>
              <a:rPr lang="zh-CN" sz="800" b="0">
                <a:solidFill>
                  <a:srgbClr val="666666"/>
                </a:solidFill>
                <a:latin typeface="Microsoft YaHei" panose="020B0503020204020204" charset="-122"/>
                <a:ea typeface="Microsoft YaHei" panose="020B0503020204020204" charset="-122"/>
                <a:cs typeface="Microsoft YaHei" panose="020B0503020204020204" charset="-122"/>
              </a:rPr>
              <a:t>复用</a:t>
            </a:r>
            <a:r>
              <a:rPr sz="800" b="0">
                <a:solidFill>
                  <a:srgbClr val="666666"/>
                </a:solidFill>
                <a:latin typeface="Microsoft YaHei" panose="020B0503020204020204" charset="-122"/>
                <a:ea typeface="Microsoft YaHei" panose="020B0503020204020204" charset="-122"/>
                <a:cs typeface="Microsoft YaHei" panose="020B0503020204020204" charset="-122"/>
              </a:rPr>
              <a:t>成本高。</a:t>
            </a: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② 自然语言反思 (Reflexion, NeurIPS 2023)</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Agent在任务失败后</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总结</a:t>
            </a:r>
            <a:r>
              <a:rPr sz="800" b="0">
                <a:solidFill>
                  <a:srgbClr val="2D2D2D"/>
                </a:solidFill>
                <a:latin typeface="Microsoft YaHei" panose="020B0503020204020204" charset="-122"/>
                <a:ea typeface="Microsoft YaHei" panose="020B0503020204020204" charset="-122"/>
                <a:cs typeface="Microsoft YaHei" panose="020B0503020204020204" charset="-122"/>
              </a:rPr>
              <a:t>哪里出了错以及下次如何改进的简短文本。</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sz="800" b="0">
                <a:solidFill>
                  <a:srgbClr val="2D2D2D"/>
                </a:solidFill>
                <a:latin typeface="Microsoft YaHei" panose="020B0503020204020204" charset="-122"/>
                <a:ea typeface="Microsoft YaHei" panose="020B0503020204020204" charset="-122"/>
                <a:cs typeface="Microsoft YaHei" panose="020B0503020204020204" charset="-122"/>
              </a:rPr>
              <a:t>输出形式无格式约束</a:t>
            </a:r>
            <a:r>
              <a:rPr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不需要额外的解析步骤即可注入到</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中复用</a:t>
            </a:r>
            <a:r>
              <a:rPr sz="800" b="0">
                <a:solidFill>
                  <a:srgbClr val="2D2D2D"/>
                </a:solidFill>
                <a:latin typeface="Microsoft YaHei" panose="020B0503020204020204" charset="-122"/>
                <a:ea typeface="Microsoft YaHei" panose="020B0503020204020204" charset="-122"/>
                <a:cs typeface="Microsoft YaHei" panose="020B0503020204020204" charset="-122"/>
              </a:rPr>
              <a:t>, 但</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难以高效系统化检索</a:t>
            </a:r>
            <a:r>
              <a:rPr sz="800" b="0">
                <a:solidFill>
                  <a:srgbClr val="2D2D2D"/>
                </a:solidFill>
                <a:latin typeface="Microsoft YaHei" panose="020B0503020204020204" charset="-122"/>
                <a:ea typeface="Microsoft YaHei" panose="020B0503020204020204" charset="-122"/>
                <a:cs typeface="Microsoft YaHei" panose="020B0503020204020204" charset="-122"/>
              </a:rPr>
              <a:t>。</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③ 蒸馏规则/洞察 (ExpeL/EvolveR)</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ExpeL: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对比同类任务的成功和失败记录</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归纳出通用的经验规律。</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EvolveR: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在</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ExpeL</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的基础之上进一步给每条规律打分</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后续任务中表现差的淘汰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表现好的保留并根据新结果修订。</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④ 条件化指南 (AutoGuide, NeurIPS 2024)</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完成任务后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自动将经验总结为</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适用场景</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操作建议</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键值对。</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比纯文本更精确</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新任务时先识别当前场景</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再匹配对应的经验注入。</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⑤ 工作流模板 (AWM, ICML 2025)</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反复执行类似任务后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将重复出现的操作归纳为可复用模板。</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下次遇到类似任务时直接调用整个步骤序列</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不再需要从头摸索。</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⑥ 可执行</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代码</a:t>
            </a:r>
            <a:r>
              <a:rPr sz="800" b="1">
                <a:solidFill>
                  <a:srgbClr val="2D2D2D"/>
                </a:solidFill>
                <a:latin typeface="Microsoft YaHei" panose="020B0503020204020204" charset="-122"/>
                <a:ea typeface="Microsoft YaHei" panose="020B0503020204020204" charset="-122"/>
                <a:cs typeface="Microsoft YaHei" panose="020B0503020204020204" charset="-122"/>
              </a:rPr>
              <a:t> (Voyager/LILO)</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将成功完成任务的操作过程直接存储为代码函数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下次遇到相同需求时直接调用。</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存储形式是代码而非自然语言</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执行较为精确但复用环境受限。</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⑦ 结构化经验卡片 (MemGovern, 2026)</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自动将项目的历史</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bug</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报告和修复记录整理为标准卡片</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每张卡片包含问题描述和报错特征</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用于搜索匹配</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以及根本原因和修复方案</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用于参考解决</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12" name="Rectangle 11"/>
          <p:cNvSpPr/>
          <p:nvPr>
            <p:custDataLst>
              <p:tags r:id="rId5"/>
            </p:custDataLst>
          </p:nvPr>
        </p:nvSpPr>
        <p:spPr>
          <a:xfrm>
            <a:off x="4134485" y="3072130"/>
            <a:ext cx="3749040" cy="3025140"/>
          </a:xfrm>
          <a:prstGeom prst="rect">
            <a:avLst/>
          </a:prstGeom>
          <a:solidFill>
            <a:srgbClr val="F5F0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custDataLst>
              <p:tags r:id="rId6"/>
            </p:custDataLst>
          </p:nvPr>
        </p:nvSpPr>
        <p:spPr>
          <a:xfrm>
            <a:off x="4134357" y="3072130"/>
            <a:ext cx="3749039" cy="237744"/>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7"/>
            </p:custDataLst>
          </p:nvPr>
        </p:nvSpPr>
        <p:spPr>
          <a:xfrm>
            <a:off x="4244086" y="309041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a:t>
            </a:r>
            <a:r>
              <a:rPr lang="zh-CN" sz="1000" b="1">
                <a:solidFill>
                  <a:srgbClr val="FFFFFF"/>
                </a:solidFill>
                <a:latin typeface="Microsoft YaHei" panose="020B0503020204020204" charset="-122"/>
                <a:ea typeface="Microsoft YaHei" panose="020B0503020204020204" charset="-122"/>
                <a:cs typeface="Microsoft YaHei" panose="020B0503020204020204" charset="-122"/>
              </a:rPr>
              <a:t>知识</a:t>
            </a:r>
            <a:r>
              <a:rPr sz="1000" b="1">
                <a:solidFill>
                  <a:srgbClr val="FFFFFF"/>
                </a:solidFill>
                <a:latin typeface="Microsoft YaHei" panose="020B0503020204020204" charset="-122"/>
                <a:ea typeface="Microsoft YaHei" panose="020B0503020204020204" charset="-122"/>
                <a:cs typeface="Microsoft YaHei" panose="020B0503020204020204" charset="-122"/>
              </a:rPr>
              <a:t>生命周期管理</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16" name="TextBox 15"/>
          <p:cNvSpPr txBox="1"/>
          <p:nvPr>
            <p:custDataLst>
              <p:tags r:id="rId8"/>
            </p:custDataLst>
          </p:nvPr>
        </p:nvSpPr>
        <p:spPr>
          <a:xfrm>
            <a:off x="4148455" y="3311525"/>
            <a:ext cx="3702050" cy="2707005"/>
          </a:xfrm>
          <a:prstGeom prst="rect">
            <a:avLst/>
          </a:prstGeom>
          <a:noFill/>
        </p:spPr>
        <p:txBody>
          <a:bodyPr wrap="square">
            <a:spAutoFit/>
          </a:bodyPr>
          <a:lstStyle/>
          <a:p>
            <a:pPr fontAlgn="auto">
              <a:lnSpc>
                <a:spcPts val="1200"/>
              </a:lnSpc>
              <a:spcBef>
                <a:spcPts val="0"/>
              </a:spcBef>
              <a:spcAft>
                <a:spcPts val="0"/>
              </a:spcAft>
            </a:pPr>
            <a:r>
              <a:rPr lang="zh-CN" sz="800" b="1">
                <a:solidFill>
                  <a:srgbClr val="2D2D2D"/>
                </a:solidFill>
                <a:latin typeface="Microsoft YaHei" panose="020B0503020204020204" charset="-122"/>
                <a:ea typeface="Microsoft YaHei" panose="020B0503020204020204" charset="-122"/>
                <a:cs typeface="Microsoft YaHei" panose="020B0503020204020204" charset="-122"/>
              </a:rPr>
              <a:t>知识的</a:t>
            </a:r>
            <a:r>
              <a:rPr sz="800" b="1">
                <a:solidFill>
                  <a:srgbClr val="2D2D2D"/>
                </a:solidFill>
                <a:latin typeface="Microsoft YaHei" panose="020B0503020204020204" charset="-122"/>
                <a:ea typeface="Microsoft YaHei" panose="020B0503020204020204" charset="-122"/>
                <a:cs typeface="Microsoft YaHei" panose="020B0503020204020204" charset="-122"/>
              </a:rPr>
              <a:t>新增</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机制</a:t>
            </a:r>
            <a:r>
              <a:rPr sz="800" b="1">
                <a:solidFill>
                  <a:srgbClr val="2D2D2D"/>
                </a:solidFill>
                <a:latin typeface="Microsoft YaHei" panose="020B0503020204020204" charset="-122"/>
                <a:ea typeface="Microsoft YaHei" panose="020B0503020204020204" charset="-122"/>
                <a:cs typeface="Microsoft YaHei" panose="020B0503020204020204" charset="-122"/>
              </a:rPr>
              <a:t>:</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自动验证入库</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完成任务后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由另一个</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判断是否真正成功</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只有确认成功的经验才存入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(Voyager)</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批量整理入库</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一批任务完成后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统一扫描所有代码</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将重复片段提取为公共函数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(LILO)</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对话提取入库</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人与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对话后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从对话中提取关键事实</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与已有记忆去重后存入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(Mem0)</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sz="800" b="1">
                <a:solidFill>
                  <a:srgbClr val="2D2D2D"/>
                </a:solidFill>
                <a:latin typeface="Microsoft YaHei" panose="020B0503020204020204" charset="-122"/>
                <a:ea typeface="Microsoft YaHei" panose="020B0503020204020204" charset="-122"/>
                <a:cs typeface="Microsoft YaHei" panose="020B0503020204020204" charset="-122"/>
              </a:rPr>
              <a:t>知识的</a:t>
            </a:r>
            <a:r>
              <a:rPr sz="800" b="1">
                <a:solidFill>
                  <a:srgbClr val="2D2D2D"/>
                </a:solidFill>
                <a:latin typeface="Microsoft YaHei" panose="020B0503020204020204" charset="-122"/>
                <a:ea typeface="Microsoft YaHei" panose="020B0503020204020204" charset="-122"/>
                <a:cs typeface="Microsoft YaHei" panose="020B0503020204020204" charset="-122"/>
              </a:rPr>
              <a:t>更新与演化:</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关联更新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存入新记忆时</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检查已有记忆</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将旧记忆更新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(A-MEM)</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质量淘汰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定期对已有知识整合</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并根据复用效果打分</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低分淘汰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(EvolveR)</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endParaRPr sz="8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sz="800" b="1">
                <a:solidFill>
                  <a:srgbClr val="2D2D2D"/>
                </a:solidFill>
                <a:latin typeface="Microsoft YaHei" panose="020B0503020204020204" charset="-122"/>
                <a:ea typeface="Microsoft YaHei" panose="020B0503020204020204" charset="-122"/>
                <a:cs typeface="Microsoft YaHei" panose="020B0503020204020204" charset="-122"/>
              </a:rPr>
              <a:t>知识的</a:t>
            </a:r>
            <a:r>
              <a:rPr sz="800" b="1">
                <a:solidFill>
                  <a:srgbClr val="2D2D2D"/>
                </a:solidFill>
                <a:latin typeface="Microsoft YaHei" panose="020B0503020204020204" charset="-122"/>
                <a:ea typeface="Microsoft YaHei" panose="020B0503020204020204" charset="-122"/>
                <a:cs typeface="Microsoft YaHei" panose="020B0503020204020204" charset="-122"/>
              </a:rPr>
              <a:t>删除与过期:</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自然衰减</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记忆有强度值</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每次被使用则加分</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长期未使用则自动减分直至删除</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(SAGE)</a:t>
            </a:r>
            <a:endParaRPr lang="en-US" altLang="en-US" sz="800" b="0">
              <a:solidFill>
                <a:srgbClr val="666666"/>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引用失效</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使用前检查记忆中引用的代码位置是否仍存在</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失效则删除</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(Copilot Memory)</a:t>
            </a:r>
            <a:endParaRPr lang="en-US" altLang="en-US" sz="800" b="0">
              <a:solidFill>
                <a:srgbClr val="666666"/>
              </a:solidFill>
              <a:latin typeface="Microsoft YaHei" panose="020B0503020204020204" charset="-122"/>
              <a:ea typeface="Microsoft YaHei" panose="020B0503020204020204" charset="-122"/>
              <a:cs typeface="Microsoft YaHei" panose="020B0503020204020204" charset="-122"/>
            </a:endParaRPr>
          </a:p>
        </p:txBody>
      </p:sp>
      <p:sp>
        <p:nvSpPr>
          <p:cNvPr id="17" name="Rectangle 16"/>
          <p:cNvSpPr/>
          <p:nvPr>
            <p:custDataLst>
              <p:tags r:id="rId9"/>
            </p:custDataLst>
          </p:nvPr>
        </p:nvSpPr>
        <p:spPr>
          <a:xfrm>
            <a:off x="7993380" y="3072130"/>
            <a:ext cx="3749040" cy="3022600"/>
          </a:xfrm>
          <a:prstGeom prst="rect">
            <a:avLst/>
          </a:prstGeom>
          <a:solidFill>
            <a:srgbClr val="E6F4EA"/>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custDataLst>
              <p:tags r:id="rId10"/>
            </p:custDataLst>
          </p:nvPr>
        </p:nvSpPr>
        <p:spPr>
          <a:xfrm>
            <a:off x="7993126" y="3072130"/>
            <a:ext cx="3749039" cy="237744"/>
          </a:xfrm>
          <a:prstGeom prst="rect">
            <a:avLst/>
          </a:prstGeom>
          <a:solidFill>
            <a:srgbClr val="0D7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custDataLst>
              <p:tags r:id="rId11"/>
            </p:custDataLst>
          </p:nvPr>
        </p:nvSpPr>
        <p:spPr>
          <a:xfrm>
            <a:off x="8030463" y="306755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现有</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Code Agent</a:t>
            </a:r>
            <a:r>
              <a:rPr sz="1000" b="1">
                <a:solidFill>
                  <a:srgbClr val="FFFFFF"/>
                </a:solidFill>
                <a:latin typeface="Microsoft YaHei" panose="020B0503020204020204" charset="-122"/>
                <a:ea typeface="Microsoft YaHei" panose="020B0503020204020204" charset="-122"/>
                <a:cs typeface="Microsoft YaHei" panose="020B0503020204020204" charset="-122"/>
              </a:rPr>
              <a:t>的知识沉淀实践</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21" name="TextBox 20"/>
          <p:cNvSpPr txBox="1"/>
          <p:nvPr>
            <p:custDataLst>
              <p:tags r:id="rId12"/>
            </p:custDataLst>
          </p:nvPr>
        </p:nvSpPr>
        <p:spPr>
          <a:xfrm>
            <a:off x="8020050" y="3346450"/>
            <a:ext cx="3529330" cy="2570480"/>
          </a:xfrm>
          <a:prstGeom prst="rect">
            <a:avLst/>
          </a:prstGeom>
          <a:noFill/>
        </p:spPr>
        <p:txBody>
          <a:bodyPr wrap="square">
            <a:noAutofit/>
          </a:bodyPr>
          <a:lstStyle/>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GitHub Copilot Memory </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工作过程中自动提取仓库级洞察（如数据库连接模式）</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每条记忆附带代码位置引用，使用前自动验证引用是否与当前代码一致</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28</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天未被使用的记忆自动删除；被验证复用的记忆会刷新存储</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记忆按仓库隔离，非按用户隔离，同仓库所有有权限的用户共享记忆</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记忆跨</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Copilot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功能共享：</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coding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发现的知识可被</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code review</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使用，</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code review</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的知识也可以被</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coding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读取</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Claude Code + Auto Memory (Anthropic)</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Markdown</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记忆层次</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Enterprise →User (~/.claude/CLAUDE.md) → Project(./CLAUDE.md, Git</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版控</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 Sub-directory,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覆盖由宽到窄。</a:t>
            </a:r>
            <a:endParaRPr lang="zh-CN" altLang="en-US" sz="80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Auto Memory</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在交互中自动提取稳定模式与惯例</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按主题存储为独立</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Markdown</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文件</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如</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patterns.md, debugging.md)</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a:t>
            </a:r>
            <a:endParaRPr lang="en-US" altLang="en-US" sz="80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核心记忆</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(MEMORY.md</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前</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200</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行</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自动注入每次会话的</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system prompt,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实现跨会话复用</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也支持用户主动告知即时写入。</a:t>
            </a:r>
            <a:endParaRPr sz="80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100"/>
              </a:lnSpc>
              <a:spcBef>
                <a:spcPts val="0"/>
              </a:spcBef>
              <a:spcAft>
                <a:spcPts val="0"/>
              </a:spcAft>
            </a:pPr>
            <a:endParaRPr sz="80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100"/>
              </a:lnSpc>
              <a:spcBef>
                <a:spcPts val="0"/>
              </a:spcBef>
              <a:spcAft>
                <a:spcPts val="0"/>
              </a:spcAft>
            </a:pP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p:txBody>
      </p:sp>
      <p:sp>
        <p:nvSpPr>
          <p:cNvPr id="22" name="Rectangle 21"/>
          <p:cNvSpPr/>
          <p:nvPr/>
        </p:nvSpPr>
        <p:spPr>
          <a:xfrm>
            <a:off x="265430" y="6151880"/>
            <a:ext cx="11466830" cy="5918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310" y="6189980"/>
            <a:ext cx="11101070" cy="587375"/>
          </a:xfrm>
          <a:prstGeom prst="rect">
            <a:avLst/>
          </a:prstGeom>
          <a:noFill/>
        </p:spPr>
        <p:txBody>
          <a:bodyPr wrap="square">
            <a:noAutofit/>
          </a:bodyPr>
          <a:lstStyle/>
          <a:p>
            <a:pPr>
              <a:spcBef>
                <a:spcPts val="0"/>
              </a:spcBef>
              <a:spcAft>
                <a:spcPts val="0"/>
              </a:spcAft>
            </a:pPr>
            <a:r>
              <a:rPr lang="zh-CN" sz="900" b="1">
                <a:solidFill>
                  <a:srgbClr val="FFFFFF"/>
                </a:solidFill>
                <a:latin typeface="Microsoft YaHei" panose="020B0503020204020204" charset="-122"/>
              </a:rPr>
              <a:t>人</a:t>
            </a:r>
            <a:r>
              <a:rPr lang="en-US" altLang="zh-CN" sz="900" b="1">
                <a:solidFill>
                  <a:srgbClr val="FFFFFF"/>
                </a:solidFill>
                <a:latin typeface="Microsoft YaHei" panose="020B0503020204020204" charset="-122"/>
              </a:rPr>
              <a:t>-Code Agent</a:t>
            </a:r>
            <a:r>
              <a:rPr lang="zh-CN" altLang="en-US" sz="900" b="1">
                <a:solidFill>
                  <a:srgbClr val="FFFFFF"/>
                </a:solidFill>
                <a:latin typeface="Microsoft YaHei" panose="020B0503020204020204" charset="-122"/>
              </a:rPr>
              <a:t>协作</a:t>
            </a:r>
            <a:r>
              <a:rPr lang="zh-CN" sz="900" b="1">
                <a:solidFill>
                  <a:srgbClr val="FFFFFF"/>
                </a:solidFill>
                <a:latin typeface="Microsoft YaHei" panose="020B0503020204020204" charset="-122"/>
              </a:rPr>
              <a:t>知识沉淀洞察总结</a:t>
            </a:r>
            <a:r>
              <a:rPr sz="900" b="1">
                <a:solidFill>
                  <a:srgbClr val="FFFFFF"/>
                </a:solidFill>
                <a:latin typeface="Microsoft YaHei" panose="020B0503020204020204" charset="-122"/>
              </a:rPr>
              <a:t>: </a:t>
            </a:r>
            <a:r>
              <a:rPr lang="zh-CN" sz="900" b="1">
                <a:solidFill>
                  <a:srgbClr val="FFFFFF"/>
                </a:solidFill>
                <a:latin typeface="Microsoft YaHei" panose="020B0503020204020204" charset="-122"/>
              </a:rPr>
              <a:t>学术界已有针对人和</a:t>
            </a:r>
            <a:r>
              <a:rPr lang="en-US" altLang="zh-CN" sz="900" b="1">
                <a:solidFill>
                  <a:srgbClr val="FFFFFF"/>
                </a:solidFill>
                <a:latin typeface="Microsoft YaHei" panose="020B0503020204020204" charset="-122"/>
              </a:rPr>
              <a:t>General Agent</a:t>
            </a:r>
            <a:r>
              <a:rPr lang="zh-CN" altLang="en-US" sz="900" b="1">
                <a:solidFill>
                  <a:srgbClr val="FFFFFF"/>
                </a:solidFill>
                <a:latin typeface="Microsoft YaHei" panose="020B0503020204020204" charset="-122"/>
              </a:rPr>
              <a:t>交互过程中的知识沉淀的形态和生命周期管理初步探索，但是截止目前并未给出一种在真实软件工程场景中端到端可用的知识沉淀框架。现有工作各自解决了局部问题，形态抽象、生命周期管理、跨会话复用，但缺少将三者作为一个系统工程问题统一设计的视角。一个可靠的知识沉淀系统不仅需要知道记住什么，更需要回答存储的知识什么时候需要淘汰、如何验证、怎样与开发流程中的用例</a:t>
            </a:r>
            <a:r>
              <a:rPr lang="en-US" altLang="en-US" sz="900" b="1">
                <a:solidFill>
                  <a:srgbClr val="FFFFFF"/>
                </a:solidFill>
                <a:latin typeface="Microsoft YaHei" panose="020B0503020204020204" charset="-122"/>
              </a:rPr>
              <a:t>-</a:t>
            </a:r>
            <a:r>
              <a:rPr lang="zh-CN" altLang="en-US" sz="900" b="1">
                <a:solidFill>
                  <a:srgbClr val="FFFFFF"/>
                </a:solidFill>
                <a:latin typeface="Microsoft YaHei" panose="020B0503020204020204" charset="-122"/>
              </a:rPr>
              <a:t>规格</a:t>
            </a:r>
            <a:r>
              <a:rPr lang="en-US" altLang="en-US" sz="900" b="1">
                <a:solidFill>
                  <a:srgbClr val="FFFFFF"/>
                </a:solidFill>
                <a:latin typeface="Microsoft YaHei" panose="020B0503020204020204" charset="-122"/>
              </a:rPr>
              <a:t>-</a:t>
            </a:r>
            <a:r>
              <a:rPr lang="zh-CN" altLang="en-US" sz="900" b="1">
                <a:solidFill>
                  <a:srgbClr val="FFFFFF"/>
                </a:solidFill>
                <a:latin typeface="Microsoft YaHei" panose="020B0503020204020204" charset="-122"/>
              </a:rPr>
              <a:t>测试因果链对齐，这些本质上应作为一个系统工程问题，而非单纯的知识存储形式问题。</a:t>
            </a:r>
            <a:endParaRPr lang="zh-CN" altLang="en-US" sz="900" b="1">
              <a:solidFill>
                <a:srgbClr val="FFFFFF"/>
              </a:solidFill>
              <a:latin typeface="Microsoft YaHei" panose="020B0503020204020204" charset="-122"/>
            </a:endParaRPr>
          </a:p>
          <a:p>
            <a:pPr>
              <a:spcBef>
                <a:spcPts val="0"/>
              </a:spcBef>
              <a:spcAft>
                <a:spcPts val="0"/>
              </a:spcAft>
            </a:pPr>
            <a:endParaRPr sz="900" b="0">
              <a:solidFill>
                <a:srgbClr val="FFFFFF"/>
              </a:solidFill>
              <a:latin typeface="Microsoft YaHei" panose="020B0503020204020204" charset="-122"/>
            </a:endParaRPr>
          </a:p>
        </p:txBody>
      </p:sp>
      <p:sp>
        <p:nvSpPr>
          <p:cNvPr id="31" name="Rectangle 16"/>
          <p:cNvSpPr/>
          <p:nvPr>
            <p:custDataLst>
              <p:tags r:id="rId13"/>
            </p:custDataLst>
          </p:nvPr>
        </p:nvSpPr>
        <p:spPr>
          <a:xfrm>
            <a:off x="4138930" y="600710"/>
            <a:ext cx="7603490" cy="2376170"/>
          </a:xfrm>
          <a:prstGeom prst="rect">
            <a:avLst/>
          </a:prstGeom>
          <a:solidFill>
            <a:srgbClr val="FFF0F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17"/>
          <p:cNvSpPr/>
          <p:nvPr>
            <p:custDataLst>
              <p:tags r:id="rId14"/>
            </p:custDataLst>
          </p:nvPr>
        </p:nvSpPr>
        <p:spPr>
          <a:xfrm>
            <a:off x="4138930" y="600710"/>
            <a:ext cx="7603490" cy="231775"/>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19"/>
          <p:cNvSpPr txBox="1"/>
          <p:nvPr>
            <p:custDataLst>
              <p:tags r:id="rId15"/>
            </p:custDataLst>
          </p:nvPr>
        </p:nvSpPr>
        <p:spPr>
          <a:xfrm>
            <a:off x="4212590" y="600075"/>
            <a:ext cx="7232650" cy="213360"/>
          </a:xfrm>
          <a:prstGeom prst="rect">
            <a:avLst/>
          </a:prstGeom>
          <a:noFill/>
        </p:spPr>
        <p:txBody>
          <a:bodyPr wrap="square">
            <a:noAutofit/>
          </a:bodyPr>
          <a:lstStyle/>
          <a:p>
            <a:pPr>
              <a:spcBef>
                <a:spcPts val="0"/>
              </a:spcBef>
              <a:spcAft>
                <a:spcPts val="0"/>
              </a:spcAft>
            </a:pP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en-US" sz="1000" b="1">
                <a:solidFill>
                  <a:srgbClr val="FFFFFF"/>
                </a:solidFill>
                <a:latin typeface="Microsoft YaHei" panose="020B0503020204020204" charset="-122"/>
                <a:ea typeface="Microsoft YaHei" panose="020B0503020204020204" charset="-122"/>
                <a:cs typeface="Microsoft YaHei" panose="020B0503020204020204" charset="-122"/>
              </a:rPr>
              <a:t>-Code 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协同中潜在可沉淀的知识种类</a:t>
            </a:r>
            <a:endParaRPr lang="zh-CN" altLang="en-US"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35" name="TextBox 20"/>
          <p:cNvSpPr txBox="1"/>
          <p:nvPr>
            <p:custDataLst>
              <p:tags r:id="rId16"/>
            </p:custDataLst>
          </p:nvPr>
        </p:nvSpPr>
        <p:spPr>
          <a:xfrm>
            <a:off x="4148455" y="791210"/>
            <a:ext cx="4777740" cy="2013585"/>
          </a:xfrm>
          <a:prstGeom prst="rect">
            <a:avLst/>
          </a:prstGeom>
          <a:noFill/>
        </p:spPr>
        <p:txBody>
          <a:bodyPr wrap="square">
            <a:noAutofit/>
          </a:bodyPr>
          <a:lstStyle/>
          <a:p>
            <a:pPr indent="0" fontAlgn="auto">
              <a:lnSpc>
                <a:spcPts val="1200"/>
              </a:lnSpc>
              <a:spcBef>
                <a:spcPts val="0"/>
              </a:spcBef>
              <a:spcAft>
                <a:spcPts val="0"/>
              </a:spcAft>
            </a:pPr>
            <a:r>
              <a:rPr lang="zh-CN" altLang="en-US" sz="800" b="1">
                <a:solidFill>
                  <a:srgbClr val="2D2D2D"/>
                </a:solidFill>
                <a:latin typeface="Microsoft YaHei" panose="020B0503020204020204" charset="-122"/>
                <a:ea typeface="Microsoft YaHei" panose="020B0503020204020204" charset="-122"/>
                <a:cs typeface="Microsoft YaHei" panose="020B0503020204020204" charset="-122"/>
              </a:rPr>
              <a:t>潜在可沉淀的知识种类：</a:t>
            </a:r>
            <a:endParaRPr lang="en-US" altLang="en-US"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①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项目结构与环境：技术栈版本、目录结构、项目专属领域知识</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（光通信、智驾等）</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②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编码规范与风格：命名约定、模式偏好（如</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ES modules</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）、文件组织规则</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③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用例与需求意图：业务场景描述、用户故事、功能边界、验收标准、需求间的依赖与优先级</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④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规格与设计约束：接口定义、数据模型、字段约束、协议要求、非功能性需求</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⑤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测试用例与测试结果：覆盖场景、边界条件、期望行为、实际通过率、失败模式与回归记录</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⑥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跨文件隐含依赖：配置同步关系、前后端参数契约</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⑦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调试策略：常见报错的归因路径、复现步骤、第三方库的常见隐含行为</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⑧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设计决策理由：架构约束的业务背景、某些决策带来的技术债</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⑨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人</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-Code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交互协作偏好：开发者希望</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先规划还是直接写、解释详略</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⑩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隐性知识：何时该抽象何时该直写、代码异味直觉、</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bug</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定位的方向感</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①②</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sym typeface="+mn-ea"/>
              </a:rPr>
              <a:t>⑦⑧</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sym typeface="+mn-ea"/>
              </a:rPr>
              <a:t>已被初步</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覆盖但依赖人工编写检查；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③④⑤</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是开发流程的工件，可以被</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OpenSpec</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等系统工程框架记录沉淀；</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⑥</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可以初步被</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Copilot Memory</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等自动发现；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⑨⑩</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尚无系统性沉淀框架。</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pic>
        <p:nvPicPr>
          <p:cNvPr id="37" name="Picture 36"/>
          <p:cNvPicPr>
            <a:picLocks noChangeAspect="1"/>
          </p:cNvPicPr>
          <p:nvPr/>
        </p:nvPicPr>
        <p:blipFill>
          <a:blip r:embed="rId17"/>
          <a:stretch>
            <a:fillRect/>
          </a:stretch>
        </p:blipFill>
        <p:spPr>
          <a:xfrm>
            <a:off x="508635" y="5175250"/>
            <a:ext cx="3088005" cy="847725"/>
          </a:xfrm>
          <a:prstGeom prst="rect">
            <a:avLst/>
          </a:prstGeom>
          <a:effectLst>
            <a:outerShdw blurRad="50800" dist="38100" dir="2700000" algn="tl" rotWithShape="0">
              <a:prstClr val="black">
                <a:alpha val="40000"/>
              </a:prstClr>
            </a:outerShdw>
          </a:effectLst>
        </p:spPr>
      </p:pic>
      <p:pic>
        <p:nvPicPr>
          <p:cNvPr id="40" name="Picture 39"/>
          <p:cNvPicPr/>
          <p:nvPr/>
        </p:nvPicPr>
        <p:blipFill>
          <a:blip r:embed="rId18"/>
          <a:stretch>
            <a:fillRect/>
          </a:stretch>
        </p:blipFill>
        <p:spPr>
          <a:xfrm>
            <a:off x="9401810" y="3346450"/>
            <a:ext cx="224155" cy="175260"/>
          </a:xfrm>
          <a:prstGeom prst="rect">
            <a:avLst/>
          </a:prstGeom>
        </p:spPr>
      </p:pic>
      <p:pic>
        <p:nvPicPr>
          <p:cNvPr id="41" name="Picture 40"/>
          <p:cNvPicPr/>
          <p:nvPr/>
        </p:nvPicPr>
        <p:blipFill>
          <a:blip r:embed="rId19"/>
          <a:stretch>
            <a:fillRect/>
          </a:stretch>
        </p:blipFill>
        <p:spPr>
          <a:xfrm>
            <a:off x="10252075" y="4577080"/>
            <a:ext cx="194945" cy="175895"/>
          </a:xfrm>
          <a:prstGeom prst="rect">
            <a:avLst/>
          </a:prstGeom>
        </p:spPr>
      </p:pic>
      <p:pic>
        <p:nvPicPr>
          <p:cNvPr id="131" name="Picture 130"/>
          <p:cNvPicPr>
            <a:picLocks noChangeAspect="1"/>
          </p:cNvPicPr>
          <p:nvPr/>
        </p:nvPicPr>
        <p:blipFill>
          <a:blip r:embed="rId20"/>
          <a:stretch>
            <a:fillRect/>
          </a:stretch>
        </p:blipFill>
        <p:spPr>
          <a:xfrm>
            <a:off x="8839200" y="901700"/>
            <a:ext cx="2820670" cy="201485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228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871" y="133350"/>
            <a:ext cx="9144000" cy="368300"/>
          </a:xfrm>
          <a:prstGeom prst="rect">
            <a:avLst/>
          </a:prstGeom>
          <a:noFill/>
        </p:spPr>
        <p:txBody>
          <a:bodyPr wrap="square">
            <a:spAutoFit/>
          </a:bodyPr>
          <a:lstStyle/>
          <a:p>
            <a:pPr>
              <a:spcBef>
                <a:spcPts val="0"/>
              </a:spcBef>
              <a:spcAft>
                <a:spcPts val="0"/>
              </a:spcAft>
            </a:pPr>
            <a:r>
              <a:rPr lang="zh-CN" sz="1800" b="1">
                <a:solidFill>
                  <a:srgbClr val="2D2D2D"/>
                </a:solidFill>
                <a:latin typeface="Microsoft YaHei" panose="020B0503020204020204" charset="-122"/>
              </a:rPr>
              <a:t>人</a:t>
            </a:r>
            <a:r>
              <a:rPr lang="en-US" altLang="zh-CN" sz="1800" b="1">
                <a:solidFill>
                  <a:srgbClr val="2D2D2D"/>
                </a:solidFill>
                <a:latin typeface="Microsoft YaHei" panose="020B0503020204020204" charset="-122"/>
              </a:rPr>
              <a:t>-Code Agent</a:t>
            </a:r>
            <a:r>
              <a:rPr lang="zh-CN" altLang="en-US" sz="1800" b="1">
                <a:solidFill>
                  <a:srgbClr val="2D2D2D"/>
                </a:solidFill>
                <a:latin typeface="Microsoft YaHei" panose="020B0503020204020204" charset="-122"/>
              </a:rPr>
              <a:t>协同中</a:t>
            </a:r>
            <a:r>
              <a:rPr sz="1800" b="1">
                <a:solidFill>
                  <a:srgbClr val="2D2D2D"/>
                </a:solidFill>
                <a:latin typeface="Microsoft YaHei" panose="020B0503020204020204" charset="-122"/>
              </a:rPr>
              <a:t>沉淀</a:t>
            </a:r>
            <a:r>
              <a:rPr lang="zh-CN" sz="1800" b="1">
                <a:solidFill>
                  <a:srgbClr val="2D2D2D"/>
                </a:solidFill>
                <a:latin typeface="Microsoft YaHei" panose="020B0503020204020204" charset="-122"/>
              </a:rPr>
              <a:t>后的</a:t>
            </a:r>
            <a:r>
              <a:rPr sz="1800" b="1">
                <a:solidFill>
                  <a:srgbClr val="2D2D2D"/>
                </a:solidFill>
                <a:latin typeface="Microsoft YaHei" panose="020B0503020204020204" charset="-122"/>
              </a:rPr>
              <a:t>知识的检索、注入与</a:t>
            </a:r>
            <a:r>
              <a:rPr lang="zh-CN" sz="1800" b="1">
                <a:solidFill>
                  <a:srgbClr val="2D2D2D"/>
                </a:solidFill>
                <a:latin typeface="Microsoft YaHei" panose="020B0503020204020204" charset="-122"/>
              </a:rPr>
              <a:t>反馈洞察</a:t>
            </a:r>
            <a:endParaRPr lang="zh-CN" sz="1800" b="1">
              <a:solidFill>
                <a:srgbClr val="2D2D2D"/>
              </a:solidFill>
              <a:latin typeface="Microsoft YaHei" panose="020B0503020204020204" charset="-122"/>
            </a:endParaRPr>
          </a:p>
        </p:txBody>
      </p:sp>
      <p:sp>
        <p:nvSpPr>
          <p:cNvPr id="7" name="Rectangle 6"/>
          <p:cNvSpPr/>
          <p:nvPr>
            <p:custDataLst>
              <p:tags r:id="rId1"/>
            </p:custDataLst>
          </p:nvPr>
        </p:nvSpPr>
        <p:spPr>
          <a:xfrm>
            <a:off x="269240" y="610235"/>
            <a:ext cx="3749040" cy="5330190"/>
          </a:xfrm>
          <a:prstGeom prst="rect">
            <a:avLst/>
          </a:prstGeom>
          <a:solidFill>
            <a:srgbClr val="EBF3FE"/>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8" name="Rectangle 7"/>
          <p:cNvSpPr/>
          <p:nvPr>
            <p:custDataLst>
              <p:tags r:id="rId2"/>
            </p:custDataLst>
          </p:nvPr>
        </p:nvSpPr>
        <p:spPr>
          <a:xfrm>
            <a:off x="274320" y="578485"/>
            <a:ext cx="3749039" cy="237744"/>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0" name="TextBox 9"/>
          <p:cNvSpPr txBox="1"/>
          <p:nvPr>
            <p:custDataLst>
              <p:tags r:id="rId3"/>
            </p:custDataLst>
          </p:nvPr>
        </p:nvSpPr>
        <p:spPr>
          <a:xfrm>
            <a:off x="274193" y="57073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rPr>
              <a:t>知识沉淀后的复用的</a:t>
            </a:r>
            <a:r>
              <a:rPr sz="1000" b="1">
                <a:solidFill>
                  <a:srgbClr val="FFFFFF"/>
                </a:solidFill>
                <a:latin typeface="Microsoft YaHei" panose="020B0503020204020204" charset="-122"/>
                <a:ea typeface="Microsoft YaHei" panose="020B0503020204020204" charset="-122"/>
              </a:rPr>
              <a:t>检索匹配机制</a:t>
            </a:r>
            <a:endParaRPr sz="1000" b="1">
              <a:solidFill>
                <a:srgbClr val="FFFFFF"/>
              </a:solidFill>
              <a:latin typeface="Microsoft YaHei" panose="020B0503020204020204" charset="-122"/>
              <a:ea typeface="Microsoft YaHei" panose="020B0503020204020204" charset="-122"/>
            </a:endParaRPr>
          </a:p>
        </p:txBody>
      </p:sp>
      <p:sp>
        <p:nvSpPr>
          <p:cNvPr id="11" name="TextBox 10"/>
          <p:cNvSpPr txBox="1"/>
          <p:nvPr>
            <p:custDataLst>
              <p:tags r:id="rId4"/>
            </p:custDataLst>
          </p:nvPr>
        </p:nvSpPr>
        <p:spPr>
          <a:xfrm>
            <a:off x="274320" y="843280"/>
            <a:ext cx="3529330" cy="3937000"/>
          </a:xfrm>
          <a:prstGeom prst="rect">
            <a:avLst/>
          </a:prstGeom>
          <a:noFill/>
        </p:spPr>
        <p:txBody>
          <a:bodyPr wrap="square">
            <a:noAutofit/>
          </a:bodyPr>
          <a:lstStyle/>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语义嵌入检索 (Voyager, A-MEM)</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altLang="en-US" sz="800">
                <a:latin typeface="Microsoft YaHei" panose="020B0503020204020204" charset="-122"/>
                <a:ea typeface="Microsoft YaHei" panose="020B0503020204020204" charset="-122"/>
                <a:cs typeface="Microsoft YaHei" panose="020B0503020204020204" charset="-122"/>
              </a:rPr>
              <a:t>较为基础的检索匹配方法。</a:t>
            </a:r>
            <a:endParaRPr lang="zh-CN" altLang="en-US" sz="800">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a:latin typeface="Microsoft YaHei" panose="020B0503020204020204" charset="-122"/>
                <a:ea typeface="Microsoft YaHei" panose="020B0503020204020204" charset="-122"/>
                <a:cs typeface="Microsoft YaHei" panose="020B0503020204020204" charset="-122"/>
              </a:rPr>
              <a:t>将知识转化为向量表示，通过语义相似度匹配检索相关内容。</a:t>
            </a:r>
            <a:r>
              <a:rPr lang="en-US" altLang="en-US" sz="800">
                <a:latin typeface="Microsoft YaHei" panose="020B0503020204020204" charset="-122"/>
                <a:ea typeface="Microsoft YaHei" panose="020B0503020204020204" charset="-122"/>
                <a:cs typeface="Microsoft YaHei" panose="020B0503020204020204" charset="-122"/>
              </a:rPr>
              <a:t>Voyager</a:t>
            </a:r>
            <a:r>
              <a:rPr lang="zh-CN" altLang="en-US" sz="800">
                <a:latin typeface="Microsoft YaHei" panose="020B0503020204020204" charset="-122"/>
                <a:ea typeface="Microsoft YaHei" panose="020B0503020204020204" charset="-122"/>
                <a:cs typeface="Microsoft YaHei" panose="020B0503020204020204" charset="-122"/>
              </a:rPr>
              <a:t>使用</a:t>
            </a:r>
            <a:r>
              <a:rPr lang="en-US" altLang="en-US" sz="800">
                <a:latin typeface="Microsoft YaHei" panose="020B0503020204020204" charset="-122"/>
                <a:ea typeface="Microsoft YaHei" panose="020B0503020204020204" charset="-122"/>
                <a:cs typeface="Microsoft YaHei" panose="020B0503020204020204" charset="-122"/>
              </a:rPr>
              <a:t>GPT-3.5</a:t>
            </a:r>
            <a:r>
              <a:rPr lang="zh-CN" altLang="en-US" sz="800">
                <a:latin typeface="Microsoft YaHei" panose="020B0503020204020204" charset="-122"/>
                <a:ea typeface="Microsoft YaHei" panose="020B0503020204020204" charset="-122"/>
                <a:cs typeface="Microsoft YaHei" panose="020B0503020204020204" charset="-122"/>
              </a:rPr>
              <a:t>生成技能描述的</a:t>
            </a:r>
            <a:r>
              <a:rPr lang="en-US" altLang="en-US" sz="800">
                <a:latin typeface="Microsoft YaHei" panose="020B0503020204020204" charset="-122"/>
                <a:ea typeface="Microsoft YaHei" panose="020B0503020204020204" charset="-122"/>
                <a:cs typeface="Microsoft YaHei" panose="020B0503020204020204" charset="-122"/>
              </a:rPr>
              <a:t>embedding</a:t>
            </a:r>
            <a:r>
              <a:rPr lang="zh-CN" altLang="en-US" sz="800">
                <a:latin typeface="Microsoft YaHei" panose="020B0503020204020204" charset="-122"/>
                <a:ea typeface="Microsoft YaHei" panose="020B0503020204020204" charset="-122"/>
                <a:cs typeface="Microsoft YaHei" panose="020B0503020204020204" charset="-122"/>
              </a:rPr>
              <a:t>进行匹配</a:t>
            </a:r>
            <a:endParaRPr lang="zh-CN" altLang="en-US" sz="800">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a:latin typeface="Microsoft YaHei" panose="020B0503020204020204" charset="-122"/>
                <a:ea typeface="Microsoft YaHei" panose="020B0503020204020204" charset="-122"/>
                <a:cs typeface="Microsoft YaHei" panose="020B0503020204020204" charset="-122"/>
              </a:rPr>
              <a:t>A-MEM</a:t>
            </a:r>
            <a:r>
              <a:rPr lang="zh-CN" altLang="en-US" sz="800">
                <a:latin typeface="Microsoft YaHei" panose="020B0503020204020204" charset="-122"/>
                <a:ea typeface="Microsoft YaHei" panose="020B0503020204020204" charset="-122"/>
                <a:cs typeface="Microsoft YaHei" panose="020B0503020204020204" charset="-122"/>
              </a:rPr>
              <a:t>通过向量数据库</a:t>
            </a:r>
            <a:r>
              <a:rPr lang="en-US" altLang="en-US" sz="800">
                <a:latin typeface="Microsoft YaHei" panose="020B0503020204020204" charset="-122"/>
                <a:ea typeface="Microsoft YaHei" panose="020B0503020204020204" charset="-122"/>
                <a:cs typeface="Microsoft YaHei" panose="020B0503020204020204" charset="-122"/>
              </a:rPr>
              <a:t>ChromaDB</a:t>
            </a:r>
            <a:r>
              <a:rPr lang="zh-CN" altLang="en-US" sz="800">
                <a:latin typeface="Microsoft YaHei" panose="020B0503020204020204" charset="-122"/>
                <a:ea typeface="Microsoft YaHei" panose="020B0503020204020204" charset="-122"/>
                <a:cs typeface="Microsoft YaHei" panose="020B0503020204020204" charset="-122"/>
              </a:rPr>
              <a:t>存储和检索记忆片段</a:t>
            </a:r>
            <a:endParaRPr lang="zh-CN" altLang="en-US" sz="8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lang="zh-CN" altLang="en-US"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条件触发检索 (Self-RAG, DRAGIN)</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解决每次生成时都盲目进行检索的问题。</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Self-RAG</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训练</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LLM</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使用四种反射</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token</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自适应判断当前是否需要检索、检索结果是否相关和有用</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DRAGIN</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只在模型</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Confidence</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较低时触发检索。但检索仍依赖语义嵌入等基础方法</a:t>
            </a:r>
            <a:r>
              <a:rPr sz="800" b="0">
                <a:solidFill>
                  <a:srgbClr val="2D2D2D"/>
                </a:solidFill>
                <a:latin typeface="Microsoft YaHei" panose="020B0503020204020204" charset="-122"/>
                <a:ea typeface="Microsoft YaHei" panose="020B0503020204020204" charset="-122"/>
                <a:cs typeface="Microsoft YaHei" panose="020B0503020204020204" charset="-122"/>
              </a:rPr>
              <a:t>。</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图检索 (GraphRAG, Think-on-Graph)</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GraphRAG (Microsoft): 从文本提取知识图谱并分层结构化。</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Think-on-Graph: Agent在知识图谱上迭代beam search。</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上下文匹配 (AutoGuide)</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AutoGuide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不依赖语义相似度，先识别当前任务属于哪一类情境（如</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配置错误</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"API</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调用失败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等），再从按类型组织的知识沉淀中精确匹配对应的指南。相比模糊的相似度匹配，分类后的精确查找准确率更高。</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混合检索 (Mem0, M-RAG)</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Mem0结合向量相似度检索和图子图检索, 并通过重排序优化。</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M-RAG将知识聚类为语义分区, 由双Agent选择和精细内容。</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en-US" altLang="zh-CN" sz="800" b="1">
                <a:solidFill>
                  <a:srgbClr val="2D2D2D"/>
                </a:solidFill>
                <a:latin typeface="Microsoft YaHei" panose="020B0503020204020204" charset="-122"/>
                <a:ea typeface="Microsoft YaHei" panose="020B0503020204020204" charset="-122"/>
                <a:cs typeface="Microsoft YaHei" panose="020B0503020204020204" charset="-122"/>
              </a:rPr>
              <a:t>Gap</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：现有目前洞察到的检索方法均针对代码片段设计，对规格需求、设计决策、调试经验、协作偏好等非代码知识的检索尚无系统性方案</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12" name="Rectangle 11"/>
          <p:cNvSpPr/>
          <p:nvPr>
            <p:custDataLst>
              <p:tags r:id="rId5"/>
            </p:custDataLst>
          </p:nvPr>
        </p:nvSpPr>
        <p:spPr>
          <a:xfrm>
            <a:off x="4133215" y="601345"/>
            <a:ext cx="3749040" cy="2421890"/>
          </a:xfrm>
          <a:prstGeom prst="rect">
            <a:avLst/>
          </a:prstGeom>
          <a:solidFill>
            <a:srgbClr val="F5F0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3" name="Rectangle 12"/>
          <p:cNvSpPr/>
          <p:nvPr>
            <p:custDataLst>
              <p:tags r:id="rId6"/>
            </p:custDataLst>
          </p:nvPr>
        </p:nvSpPr>
        <p:spPr>
          <a:xfrm>
            <a:off x="4133087" y="578485"/>
            <a:ext cx="3749039" cy="237744"/>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5" name="TextBox 14"/>
          <p:cNvSpPr txBox="1"/>
          <p:nvPr>
            <p:custDataLst>
              <p:tags r:id="rId7"/>
            </p:custDataLst>
          </p:nvPr>
        </p:nvSpPr>
        <p:spPr>
          <a:xfrm>
            <a:off x="4132961" y="589153"/>
            <a:ext cx="3566159" cy="245110"/>
          </a:xfrm>
          <a:prstGeom prst="rect">
            <a:avLst/>
          </a:prstGeom>
          <a:noFill/>
        </p:spPr>
        <p:txBody>
          <a:bodyPr wrap="square">
            <a:spAutoFit/>
          </a:bodyPr>
          <a:lstStyle/>
          <a:p>
            <a:pPr>
              <a:spcBef>
                <a:spcPts val="0"/>
              </a:spcBef>
              <a:spcAft>
                <a:spcPts val="0"/>
              </a:spcAft>
            </a:pPr>
            <a:r>
              <a:rPr sz="1000" b="1">
                <a:solidFill>
                  <a:srgbClr val="FFFFFF"/>
                </a:solidFill>
                <a:latin typeface="Microsoft YaHei" panose="020B0503020204020204" charset="-122"/>
                <a:ea typeface="Microsoft YaHei" panose="020B0503020204020204" charset="-122"/>
              </a:rPr>
              <a:t>知识注入</a:t>
            </a:r>
            <a:r>
              <a:rPr lang="zh-CN" sz="1000" b="1">
                <a:solidFill>
                  <a:srgbClr val="FFFFFF"/>
                </a:solidFill>
                <a:latin typeface="Microsoft YaHei" panose="020B0503020204020204" charset="-122"/>
                <a:ea typeface="Microsoft YaHei" panose="020B0503020204020204" charset="-122"/>
              </a:rPr>
              <a:t>方法</a:t>
            </a:r>
            <a:r>
              <a:rPr lang="en-US" sz="1000" b="1">
                <a:solidFill>
                  <a:srgbClr val="FFFFFF"/>
                </a:solidFill>
                <a:latin typeface="Microsoft YaHei" panose="020B0503020204020204" charset="-122"/>
                <a:ea typeface="Microsoft YaHei" panose="020B0503020204020204" charset="-122"/>
              </a:rPr>
              <a:t>,</a:t>
            </a:r>
            <a:r>
              <a:rPr lang="zh-CN" altLang="en-US" sz="1000" b="1">
                <a:solidFill>
                  <a:srgbClr val="FFFFFF"/>
                </a:solidFill>
                <a:latin typeface="Microsoft YaHei" panose="020B0503020204020204" charset="-122"/>
                <a:ea typeface="Microsoft YaHei" panose="020B0503020204020204" charset="-122"/>
              </a:rPr>
              <a:t>冲突检测与质量保障</a:t>
            </a:r>
            <a:endParaRPr lang="zh-CN" altLang="en-US" sz="1000" b="1">
              <a:solidFill>
                <a:srgbClr val="FFFFFF"/>
              </a:solidFill>
              <a:latin typeface="Microsoft YaHei" panose="020B0503020204020204" charset="-122"/>
              <a:ea typeface="Microsoft YaHei" panose="020B0503020204020204" charset="-122"/>
            </a:endParaRPr>
          </a:p>
        </p:txBody>
      </p:sp>
      <p:sp>
        <p:nvSpPr>
          <p:cNvPr id="16" name="TextBox 15"/>
          <p:cNvSpPr txBox="1"/>
          <p:nvPr>
            <p:custDataLst>
              <p:tags r:id="rId8"/>
            </p:custDataLst>
          </p:nvPr>
        </p:nvSpPr>
        <p:spPr>
          <a:xfrm>
            <a:off x="4243070" y="871220"/>
            <a:ext cx="3529330" cy="2133600"/>
          </a:xfrm>
          <a:prstGeom prst="rect">
            <a:avLst/>
          </a:prstGeom>
          <a:noFill/>
        </p:spPr>
        <p:txBody>
          <a:bodyPr wrap="square">
            <a:noAutofit/>
          </a:bodyPr>
          <a:lstStyle/>
          <a:p>
            <a:pPr indent="0" fontAlgn="auto">
              <a:lnSpc>
                <a:spcPts val="1200"/>
              </a:lnSpc>
              <a:spcBef>
                <a:spcPts val="0"/>
              </a:spcBef>
              <a:spcAft>
                <a:spcPts val="0"/>
              </a:spcAft>
            </a:pPr>
            <a:r>
              <a:rPr sz="900" b="1">
                <a:solidFill>
                  <a:srgbClr val="2D2D2D"/>
                </a:solidFill>
                <a:latin typeface="Microsoft YaHei" panose="020B0503020204020204" charset="-122"/>
                <a:ea typeface="Microsoft YaHei" panose="020B0503020204020204" charset="-122"/>
                <a:cs typeface="Microsoft YaHei" panose="020B0503020204020204" charset="-122"/>
              </a:rPr>
              <a:t>注入</a:t>
            </a:r>
            <a:r>
              <a:rPr lang="zh-CN" sz="900" b="1">
                <a:solidFill>
                  <a:srgbClr val="2D2D2D"/>
                </a:solidFill>
                <a:latin typeface="Microsoft YaHei" panose="020B0503020204020204" charset="-122"/>
                <a:ea typeface="Microsoft YaHei" panose="020B0503020204020204" charset="-122"/>
                <a:cs typeface="Microsoft YaHei" panose="020B0503020204020204" charset="-122"/>
              </a:rPr>
              <a:t>方法：</a:t>
            </a: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In-context示例注入</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几乎所有</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左边的工作</a:t>
            </a:r>
            <a:r>
              <a:rPr sz="800" b="0">
                <a:solidFill>
                  <a:srgbClr val="2D2D2D"/>
                </a:solidFill>
                <a:latin typeface="Microsoft YaHei" panose="020B0503020204020204" charset="-122"/>
                <a:ea typeface="Microsoft YaHei" panose="020B0503020204020204" charset="-122"/>
                <a:cs typeface="Microsoft YaHei" panose="020B0503020204020204" charset="-122"/>
              </a:rPr>
              <a:t>(Voyager, ExpeL, AWM, Reflexion, A-MEM)</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sz="800" b="0">
                <a:solidFill>
                  <a:srgbClr val="2D2D2D"/>
                </a:solidFill>
                <a:latin typeface="Microsoft YaHei" panose="020B0503020204020204" charset="-122"/>
                <a:ea typeface="Microsoft YaHei" panose="020B0503020204020204" charset="-122"/>
                <a:cs typeface="Microsoft YaHei" panose="020B0503020204020204" charset="-122"/>
              </a:rPr>
              <a:t>均采用: 将检索到的记忆直接放入</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提示词</a:t>
            </a:r>
            <a:r>
              <a:rPr sz="800" b="0">
                <a:solidFill>
                  <a:srgbClr val="2D2D2D"/>
                </a:solidFill>
                <a:latin typeface="Microsoft YaHei" panose="020B0503020204020204" charset="-122"/>
                <a:ea typeface="Microsoft YaHei" panose="020B0503020204020204" charset="-122"/>
                <a:cs typeface="Microsoft YaHei" panose="020B0503020204020204" charset="-122"/>
              </a:rPr>
              <a:t>作为</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少样本</a:t>
            </a:r>
            <a:r>
              <a:rPr sz="800" b="0">
                <a:solidFill>
                  <a:srgbClr val="2D2D2D"/>
                </a:solidFill>
                <a:latin typeface="Microsoft YaHei" panose="020B0503020204020204" charset="-122"/>
                <a:ea typeface="Microsoft YaHei" panose="020B0503020204020204" charset="-122"/>
                <a:cs typeface="Microsoft YaHei" panose="020B0503020204020204" charset="-122"/>
              </a:rPr>
              <a:t>示例。</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好处是较为</a:t>
            </a:r>
            <a:r>
              <a:rPr sz="800" b="0">
                <a:solidFill>
                  <a:schemeClr val="tx1"/>
                </a:solidFill>
                <a:latin typeface="Microsoft YaHei" panose="020B0503020204020204" charset="-122"/>
                <a:ea typeface="Microsoft YaHei" panose="020B0503020204020204" charset="-122"/>
                <a:cs typeface="Microsoft YaHei" panose="020B0503020204020204" charset="-122"/>
              </a:rPr>
              <a:t>简单直接, 但受限于</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大模型本身</a:t>
            </a:r>
            <a:r>
              <a:rPr sz="800" b="0">
                <a:solidFill>
                  <a:schemeClr val="tx1"/>
                </a:solidFill>
                <a:latin typeface="Microsoft YaHei" panose="020B0503020204020204" charset="-122"/>
                <a:ea typeface="Microsoft YaHei" panose="020B0503020204020204" charset="-122"/>
                <a:cs typeface="Microsoft YaHei" panose="020B0503020204020204" charset="-122"/>
              </a:rPr>
              <a:t>上下文窗口大小。</a:t>
            </a: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系统提示注入</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MemGPT: Core Memory始终放在system prompt中。</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Claude Code: MEMORY.md前200行自动加载到每次会话。</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参数化注入 (</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尚未成熟</a:t>
            </a:r>
            <a:r>
              <a:rPr sz="800" b="1">
                <a:solidFill>
                  <a:srgbClr val="2D2D2D"/>
                </a:solidFill>
                <a:latin typeface="Microsoft YaHei" panose="020B0503020204020204" charset="-122"/>
                <a:ea typeface="Microsoft YaHei" panose="020B0503020204020204" charset="-122"/>
                <a:cs typeface="Microsoft YaHei" panose="020B0503020204020204" charset="-122"/>
              </a:rPr>
              <a:t>)</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Parametric RAG (SIGIR 2025): 将外部知识直接注入LLM的前馈网络(FFN), 避免上下文窗口限制。</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17" name="Rectangle 16"/>
          <p:cNvSpPr/>
          <p:nvPr>
            <p:custDataLst>
              <p:tags r:id="rId9"/>
            </p:custDataLst>
          </p:nvPr>
        </p:nvSpPr>
        <p:spPr>
          <a:xfrm>
            <a:off x="7992110" y="578485"/>
            <a:ext cx="3749040" cy="2442845"/>
          </a:xfrm>
          <a:prstGeom prst="rect">
            <a:avLst/>
          </a:prstGeom>
          <a:solidFill>
            <a:srgbClr val="FFF0F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8" name="Rectangle 17"/>
          <p:cNvSpPr/>
          <p:nvPr>
            <p:custDataLst>
              <p:tags r:id="rId10"/>
            </p:custDataLst>
          </p:nvPr>
        </p:nvSpPr>
        <p:spPr>
          <a:xfrm>
            <a:off x="7991856" y="578485"/>
            <a:ext cx="3749039" cy="23774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20" name="TextBox 19"/>
          <p:cNvSpPr txBox="1"/>
          <p:nvPr>
            <p:custDataLst>
              <p:tags r:id="rId11"/>
            </p:custDataLst>
          </p:nvPr>
        </p:nvSpPr>
        <p:spPr>
          <a:xfrm>
            <a:off x="8101583" y="596773"/>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知识反馈</a:t>
            </a:r>
            <a:endParaRPr lang="zh-CN" altLang="en-US"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21" name="TextBox 20"/>
          <p:cNvSpPr txBox="1"/>
          <p:nvPr>
            <p:custDataLst>
              <p:tags r:id="rId12"/>
            </p:custDataLst>
          </p:nvPr>
        </p:nvSpPr>
        <p:spPr>
          <a:xfrm>
            <a:off x="7992110" y="831850"/>
            <a:ext cx="3731895" cy="2059305"/>
          </a:xfrm>
          <a:prstGeom prst="rect">
            <a:avLst/>
          </a:prstGeom>
          <a:noFill/>
        </p:spPr>
        <p:txBody>
          <a:bodyPr wrap="square">
            <a:noAutofit/>
          </a:bodyPr>
          <a:lstStyle/>
          <a:p>
            <a:pPr fontAlgn="auto">
              <a:lnSpc>
                <a:spcPts val="1200"/>
              </a:lnSpc>
              <a:spcBef>
                <a:spcPts val="0"/>
              </a:spcBef>
              <a:spcAft>
                <a:spcPts val="0"/>
              </a:spcAft>
            </a:pPr>
            <a:r>
              <a:rPr lang="zh-CN" altLang="en-US" sz="900" b="1">
                <a:solidFill>
                  <a:srgbClr val="2D2D2D"/>
                </a:solidFill>
                <a:latin typeface="Microsoft YaHei" panose="020B0503020204020204" charset="-122"/>
                <a:ea typeface="Microsoft YaHei" panose="020B0503020204020204" charset="-122"/>
                <a:cs typeface="Microsoft YaHei" panose="020B0503020204020204" charset="-122"/>
              </a:rPr>
              <a:t>根据知识沉淀进行验证与反馈</a:t>
            </a:r>
            <a:endParaRPr lang="zh-CN" altLang="en-US" sz="9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单轮验证</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反馈</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SpecGen (ICSE 2025): LLM生成</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Spec</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规格</a:t>
            </a:r>
            <a:r>
              <a:rPr sz="800" b="0">
                <a:solidFill>
                  <a:srgbClr val="2D2D2D"/>
                </a:solidFill>
                <a:latin typeface="Microsoft YaHei" panose="020B0503020204020204" charset="-122"/>
                <a:ea typeface="Microsoft YaHei" panose="020B0503020204020204" charset="-122"/>
                <a:cs typeface="Microsoft YaHei" panose="020B0503020204020204" charset="-122"/>
              </a:rPr>
              <a:t>, 形式化验证器检查,失败信息反馈到LLM重新生成。385程序中279个成功。</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Voyager: 代码生成, </a:t>
            </a:r>
            <a:r>
              <a:rPr sz="800" b="0">
                <a:solidFill>
                  <a:schemeClr val="tx1"/>
                </a:solidFill>
                <a:latin typeface="Microsoft YaHei" panose="020B0503020204020204" charset="-122"/>
                <a:ea typeface="Microsoft YaHei" panose="020B0503020204020204" charset="-122"/>
                <a:cs typeface="Microsoft YaHei" panose="020B0503020204020204" charset="-122"/>
              </a:rPr>
              <a:t>执行, 错误反馈, 修复, 成功后入库。</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虽然自动化程度较高</a:t>
            </a:r>
            <a:r>
              <a:rPr sz="800" b="0">
                <a:solidFill>
                  <a:schemeClr val="tx1"/>
                </a:solidFill>
                <a:latin typeface="Microsoft YaHei" panose="020B0503020204020204" charset="-122"/>
                <a:ea typeface="Microsoft YaHei" panose="020B0503020204020204" charset="-122"/>
                <a:cs typeface="Microsoft YaHei" panose="020B0503020204020204" charset="-122"/>
              </a:rPr>
              <a:t>但不跨会话, </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反馈有限导致能学习改进的内容也有限</a:t>
            </a:r>
            <a:r>
              <a:rPr sz="800" b="0">
                <a:solidFill>
                  <a:schemeClr val="tx1"/>
                </a:solidFill>
                <a:latin typeface="Microsoft YaHei" panose="020B0503020204020204" charset="-122"/>
                <a:ea typeface="Microsoft YaHei" panose="020B0503020204020204" charset="-122"/>
                <a:cs typeface="Microsoft YaHei" panose="020B0503020204020204" charset="-122"/>
              </a:rPr>
              <a:t>。</a:t>
            </a: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跨任务经验提炼</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ExpeL (AAAI 2024): </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sz="800" b="0">
                <a:solidFill>
                  <a:srgbClr val="2D2D2D"/>
                </a:solidFill>
                <a:latin typeface="Microsoft YaHei" panose="020B0503020204020204" charset="-122"/>
                <a:ea typeface="Microsoft YaHei" panose="020B0503020204020204" charset="-122"/>
                <a:cs typeface="Microsoft YaHei" panose="020B0503020204020204" charset="-122"/>
              </a:rPr>
              <a:t>从成功/失败轨迹对中提取通用洞察,</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sz="800" b="0">
                <a:solidFill>
                  <a:srgbClr val="2D2D2D"/>
                </a:solidFill>
                <a:latin typeface="Microsoft YaHei" panose="020B0503020204020204" charset="-122"/>
                <a:ea typeface="Microsoft YaHei" panose="020B0503020204020204" charset="-122"/>
                <a:cs typeface="Microsoft YaHei" panose="020B0503020204020204" charset="-122"/>
              </a:rPr>
              <a:t>实现跨任务迁移学习(如从HotpotQA到FEVER的迁移)。</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EvolveR:</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执行的成功和失败轨迹中收集经验，将多条相似经验蒸馏为通用化的条件规，新任务时检索匹配的规则注入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，再根据规则实际使用效果通过</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GRPO</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强化学习进化。表现好的规则强化保留，表现差的淘汰。</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22" name="Rectangle 21"/>
          <p:cNvSpPr/>
          <p:nvPr/>
        </p:nvSpPr>
        <p:spPr>
          <a:xfrm>
            <a:off x="262255" y="6045835"/>
            <a:ext cx="11466576"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23" name="TextBox 22"/>
          <p:cNvSpPr txBox="1"/>
          <p:nvPr/>
        </p:nvSpPr>
        <p:spPr>
          <a:xfrm>
            <a:off x="331470" y="6061710"/>
            <a:ext cx="11100816" cy="645160"/>
          </a:xfrm>
          <a:prstGeom prst="rect">
            <a:avLst/>
          </a:prstGeom>
          <a:noFill/>
        </p:spPr>
        <p:txBody>
          <a:bodyPr wrap="square">
            <a:spAutoFit/>
          </a:bodyPr>
          <a:lstStyle/>
          <a:p>
            <a:pPr>
              <a:spcBef>
                <a:spcPts val="0"/>
              </a:spcBef>
              <a:spcAft>
                <a:spcPts val="0"/>
              </a:spcAft>
            </a:pPr>
            <a:r>
              <a:rPr sz="900" b="1">
                <a:solidFill>
                  <a:srgbClr val="FFFFFF"/>
                </a:solidFill>
                <a:latin typeface="Microsoft YaHei" panose="020B0503020204020204" charset="-122"/>
              </a:rPr>
              <a:t>总结: </a:t>
            </a:r>
            <a:endParaRPr lang="en-US" altLang="zh-CN" sz="900" b="0">
              <a:solidFill>
                <a:srgbClr val="FFFFFF"/>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900" b="0">
                <a:solidFill>
                  <a:srgbClr val="FFFFFF"/>
                </a:solidFill>
                <a:latin typeface="Microsoft YaHei" panose="020B0503020204020204" charset="-122"/>
              </a:rPr>
              <a:t>知识的沉淀与复用潜在可以为人-Code Agent协同的系统工程框架提供三方面支撑: </a:t>
            </a:r>
            <a:r>
              <a:rPr lang="zh-CN" sz="900" b="0">
                <a:solidFill>
                  <a:srgbClr val="FFFFFF"/>
                </a:solidFill>
                <a:latin typeface="Microsoft YaHei" panose="020B0503020204020204" charset="-122"/>
              </a:rPr>
              <a:t>以</a:t>
            </a:r>
            <a:r>
              <a:rPr lang="en-US" altLang="zh-CN" sz="900" b="0">
                <a:solidFill>
                  <a:srgbClr val="FFFFFF"/>
                </a:solidFill>
                <a:latin typeface="Microsoft YaHei" panose="020B0503020204020204" charset="-122"/>
              </a:rPr>
              <a:t>Openspec-HW</a:t>
            </a:r>
            <a:r>
              <a:rPr lang="zh-CN" altLang="en-US" sz="900" b="0">
                <a:solidFill>
                  <a:srgbClr val="FFFFFF"/>
                </a:solidFill>
                <a:latin typeface="Microsoft YaHei" panose="020B0503020204020204" charset="-122"/>
              </a:rPr>
              <a:t>为例</a:t>
            </a:r>
            <a:r>
              <a:rPr sz="900" b="0">
                <a:solidFill>
                  <a:srgbClr val="FFFFFF"/>
                </a:solidFill>
                <a:latin typeface="Microsoft YaHei" panose="020B0503020204020204" charset="-122"/>
              </a:rPr>
              <a:t>检索与注入机制使领域标准、历史Spec模式等知识能在编写和实现阶段被自动匹配和复用; 反馈闭环使Spec→实现→测试的结果回流为Spec编写质量的经验积累; 生命周期管理使过时的经验被及时淘汰、冲突的知识被检测和解决。但现有检索和注入机制主要面向代码片段, 对规格需求、设计决策、领域标准等非代码知识的支持仍是空白, 这是将知识沉淀融入系统工程框架</a:t>
            </a:r>
            <a:r>
              <a:rPr lang="zh-CN" sz="900" b="0">
                <a:solidFill>
                  <a:srgbClr val="FFFFFF"/>
                </a:solidFill>
                <a:latin typeface="Microsoft YaHei" panose="020B0503020204020204" charset="-122"/>
              </a:rPr>
              <a:t>潜在</a:t>
            </a:r>
            <a:r>
              <a:rPr sz="900" b="0">
                <a:solidFill>
                  <a:srgbClr val="FFFFFF"/>
                </a:solidFill>
                <a:latin typeface="Microsoft YaHei" panose="020B0503020204020204" charset="-122"/>
              </a:rPr>
              <a:t>需要解决的问题。</a:t>
            </a:r>
            <a:endParaRPr sz="900" b="0">
              <a:solidFill>
                <a:srgbClr val="FFFFFF"/>
              </a:solidFill>
              <a:latin typeface="Microsoft YaHei" panose="020B0503020204020204" charset="-122"/>
            </a:endParaRPr>
          </a:p>
        </p:txBody>
      </p:sp>
      <p:sp>
        <p:nvSpPr>
          <p:cNvPr id="24" name="Rectangle 23"/>
          <p:cNvSpPr/>
          <p:nvPr/>
        </p:nvSpPr>
        <p:spPr>
          <a:xfrm>
            <a:off x="4133215" y="3122930"/>
            <a:ext cx="7607935" cy="2820670"/>
          </a:xfrm>
          <a:prstGeom prst="rect">
            <a:avLst/>
          </a:prstGeom>
          <a:solidFill>
            <a:srgbClr val="E0F2F1"/>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33087" y="3122930"/>
            <a:ext cx="7607808" cy="23774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42816" y="3141218"/>
            <a:ext cx="7424928" cy="245110"/>
          </a:xfrm>
          <a:prstGeom prst="rect">
            <a:avLst/>
          </a:prstGeom>
          <a:noFill/>
        </p:spPr>
        <p:txBody>
          <a:bodyPr wrap="square">
            <a:spAutoFit/>
          </a:bodyPr>
          <a:lstStyle/>
          <a:p>
            <a:pPr>
              <a:spcBef>
                <a:spcPts val="0"/>
              </a:spcBef>
              <a:spcAft>
                <a:spcPts val="0"/>
              </a:spcAft>
            </a:pPr>
            <a:r>
              <a:rPr sz="1000" b="1">
                <a:solidFill>
                  <a:srgbClr val="FFFFFF"/>
                </a:solidFill>
                <a:latin typeface="Microsoft YaHei" panose="020B0503020204020204" charset="-122"/>
                <a:ea typeface="Microsoft YaHei" panose="020B0503020204020204" charset="-122"/>
                <a:cs typeface="Microsoft YaHei" panose="020B0503020204020204" charset="-122"/>
              </a:rPr>
              <a:t>以OpenSpec</a:t>
            </a:r>
            <a:r>
              <a:rPr lang="en-US" sz="1000" b="1">
                <a:solidFill>
                  <a:srgbClr val="FFFFFF"/>
                </a:solidFill>
                <a:latin typeface="Microsoft YaHei" panose="020B0503020204020204" charset="-122"/>
                <a:ea typeface="Microsoft YaHei" panose="020B0503020204020204" charset="-122"/>
                <a:cs typeface="Microsoft YaHei" panose="020B0503020204020204" charset="-122"/>
              </a:rPr>
              <a:t>-HW</a:t>
            </a:r>
            <a:r>
              <a:rPr sz="1000" b="1">
                <a:solidFill>
                  <a:srgbClr val="FFFFFF"/>
                </a:solidFill>
                <a:latin typeface="Microsoft YaHei" panose="020B0503020204020204" charset="-122"/>
                <a:ea typeface="Microsoft YaHei" panose="020B0503020204020204" charset="-122"/>
                <a:cs typeface="Microsoft YaHei" panose="020B0503020204020204" charset="-122"/>
              </a:rPr>
              <a:t>为例: 知识沉淀与复用如何</a:t>
            </a:r>
            <a:r>
              <a:rPr lang="zh-CN" sz="1000" b="1">
                <a:solidFill>
                  <a:srgbClr val="FFFFFF"/>
                </a:solidFill>
                <a:latin typeface="Microsoft YaHei" panose="020B0503020204020204" charset="-122"/>
                <a:ea typeface="Microsoft YaHei" panose="020B0503020204020204" charset="-122"/>
                <a:cs typeface="Microsoft YaHei" panose="020B0503020204020204" charset="-122"/>
              </a:rPr>
              <a:t>潜在</a:t>
            </a:r>
            <a:r>
              <a:rPr sz="1000" b="1">
                <a:solidFill>
                  <a:srgbClr val="FFFFFF"/>
                </a:solidFill>
                <a:latin typeface="Microsoft YaHei" panose="020B0503020204020204" charset="-122"/>
                <a:ea typeface="Microsoft YaHei" panose="020B0503020204020204" charset="-122"/>
                <a:cs typeface="Microsoft YaHei" panose="020B0503020204020204" charset="-122"/>
              </a:rPr>
              <a:t>服务</a:t>
            </a:r>
            <a:r>
              <a:rPr lang="zh-CN"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-Code 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协同的</a:t>
            </a:r>
            <a:r>
              <a:rPr sz="1000" b="1">
                <a:solidFill>
                  <a:srgbClr val="FFFFFF"/>
                </a:solidFill>
                <a:latin typeface="Microsoft YaHei" panose="020B0503020204020204" charset="-122"/>
                <a:ea typeface="Microsoft YaHei" panose="020B0503020204020204" charset="-122"/>
                <a:cs typeface="Microsoft YaHei" panose="020B0503020204020204" charset="-122"/>
              </a:rPr>
              <a:t>系统工程框架</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28" name="TextBox 27"/>
          <p:cNvSpPr txBox="1"/>
          <p:nvPr/>
        </p:nvSpPr>
        <p:spPr>
          <a:xfrm>
            <a:off x="4100195" y="3378835"/>
            <a:ext cx="5281930" cy="2553335"/>
          </a:xfrm>
          <a:prstGeom prst="rect">
            <a:avLst/>
          </a:prstGeom>
          <a:noFill/>
        </p:spPr>
        <p:txBody>
          <a:bodyPr wrap="square">
            <a:spAutoFit/>
          </a:bodyPr>
          <a:lstStyle/>
          <a:p>
            <a:pPr indent="0" fontAlgn="auto">
              <a:lnSpc>
                <a:spcPts val="1200"/>
              </a:lnSpc>
              <a:spcBef>
                <a:spcPts val="0"/>
              </a:spcBef>
              <a:spcAft>
                <a:spcPts val="0"/>
              </a:spcAft>
            </a:pPr>
            <a:r>
              <a:rPr sz="850" b="1">
                <a:solidFill>
                  <a:schemeClr val="tx1"/>
                </a:solidFill>
                <a:latin typeface="Microsoft YaHei" panose="020B0503020204020204" charset="-122"/>
                <a:ea typeface="Microsoft YaHei" panose="020B0503020204020204" charset="-122"/>
                <a:cs typeface="Microsoft YaHei" panose="020B0503020204020204" charset="-122"/>
              </a:rPr>
              <a:t>① Spec质量反馈: 从测试结果中沉淀编写经验</a:t>
            </a:r>
            <a:endParaRPr sz="850" b="1">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OpenSpec</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-HW</a:t>
            </a:r>
            <a:r>
              <a:rPr sz="800" b="0">
                <a:solidFill>
                  <a:schemeClr val="tx1"/>
                </a:solidFill>
                <a:latin typeface="Microsoft YaHei" panose="020B0503020204020204" charset="-122"/>
                <a:ea typeface="Microsoft YaHei" panose="020B0503020204020204" charset="-122"/>
                <a:cs typeface="Microsoft YaHei" panose="020B0503020204020204" charset="-122"/>
              </a:rPr>
              <a:t>的核心知识是</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Usecase</a:t>
            </a:r>
            <a:r>
              <a:rPr lang="zh-CN" altLang="en-US" sz="800" b="0">
                <a:solidFill>
                  <a:schemeClr val="tx1"/>
                </a:solidFill>
                <a:latin typeface="Microsoft YaHei" panose="020B0503020204020204" charset="-122"/>
                <a:ea typeface="Microsoft YaHei" panose="020B0503020204020204" charset="-122"/>
                <a:cs typeface="Microsoft YaHei" panose="020B0503020204020204" charset="-122"/>
              </a:rPr>
              <a:t>和</a:t>
            </a:r>
            <a:r>
              <a:rPr sz="800" b="0">
                <a:solidFill>
                  <a:schemeClr val="tx1"/>
                </a:solidFill>
                <a:latin typeface="Microsoft YaHei" panose="020B0503020204020204" charset="-122"/>
                <a:ea typeface="Microsoft YaHei" panose="020B0503020204020204" charset="-122"/>
                <a:cs typeface="Microsoft YaHei" panose="020B0503020204020204" charset="-122"/>
              </a:rPr>
              <a:t>Spec。</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Agent根据</a:t>
            </a:r>
            <a:r>
              <a:rPr lang="en-US" sz="800">
                <a:latin typeface="Microsoft YaHei" panose="020B0503020204020204" charset="-122"/>
                <a:ea typeface="Microsoft YaHei" panose="020B0503020204020204" charset="-122"/>
                <a:cs typeface="Microsoft YaHei" panose="020B0503020204020204" charset="-122"/>
                <a:sym typeface="+mn-ea"/>
              </a:rPr>
              <a:t>Usecase</a:t>
            </a:r>
            <a:r>
              <a:rPr lang="zh-CN" altLang="en-US" sz="800">
                <a:latin typeface="Microsoft YaHei" panose="020B0503020204020204" charset="-122"/>
                <a:ea typeface="Microsoft YaHei" panose="020B0503020204020204" charset="-122"/>
                <a:cs typeface="Microsoft YaHei" panose="020B0503020204020204" charset="-122"/>
                <a:sym typeface="+mn-ea"/>
              </a:rPr>
              <a:t>和</a:t>
            </a:r>
            <a:r>
              <a:rPr sz="800">
                <a:latin typeface="Microsoft YaHei" panose="020B0503020204020204" charset="-122"/>
                <a:ea typeface="Microsoft YaHei" panose="020B0503020204020204" charset="-122"/>
                <a:cs typeface="Microsoft YaHei" panose="020B0503020204020204" charset="-122"/>
                <a:sym typeface="+mn-ea"/>
              </a:rPr>
              <a:t>Spec</a:t>
            </a:r>
            <a:r>
              <a:rPr sz="800" b="0">
                <a:solidFill>
                  <a:schemeClr val="tx1"/>
                </a:solidFill>
                <a:latin typeface="Microsoft YaHei" panose="020B0503020204020204" charset="-122"/>
                <a:ea typeface="Microsoft YaHei" panose="020B0503020204020204" charset="-122"/>
                <a:cs typeface="Microsoft YaHei" panose="020B0503020204020204" charset="-122"/>
              </a:rPr>
              <a:t>实现代码并测试, 但测试通过或失败的结果没有反馈回</a:t>
            </a:r>
            <a:r>
              <a:rPr lang="en-US" sz="800">
                <a:latin typeface="Microsoft YaHei" panose="020B0503020204020204" charset="-122"/>
                <a:ea typeface="Microsoft YaHei" panose="020B0503020204020204" charset="-122"/>
                <a:cs typeface="Microsoft YaHei" panose="020B0503020204020204" charset="-122"/>
                <a:sym typeface="+mn-ea"/>
              </a:rPr>
              <a:t>Usecase</a:t>
            </a:r>
            <a:r>
              <a:rPr lang="zh-CN" altLang="en-US" sz="800">
                <a:latin typeface="Microsoft YaHei" panose="020B0503020204020204" charset="-122"/>
                <a:ea typeface="Microsoft YaHei" panose="020B0503020204020204" charset="-122"/>
                <a:cs typeface="Microsoft YaHei" panose="020B0503020204020204" charset="-122"/>
                <a:sym typeface="+mn-ea"/>
              </a:rPr>
              <a:t>和</a:t>
            </a:r>
            <a:r>
              <a:rPr sz="800">
                <a:latin typeface="Microsoft YaHei" panose="020B0503020204020204" charset="-122"/>
                <a:ea typeface="Microsoft YaHei" panose="020B0503020204020204" charset="-122"/>
                <a:cs typeface="Microsoft YaHei" panose="020B0503020204020204" charset="-122"/>
                <a:sym typeface="+mn-ea"/>
              </a:rPr>
              <a:t>Spec</a:t>
            </a:r>
            <a:r>
              <a:rPr sz="800" b="0">
                <a:solidFill>
                  <a:schemeClr val="tx1"/>
                </a:solidFill>
                <a:latin typeface="Microsoft YaHei" panose="020B0503020204020204" charset="-122"/>
                <a:ea typeface="Microsoft YaHei" panose="020B0503020204020204" charset="-122"/>
                <a:cs typeface="Microsoft YaHei" panose="020B0503020204020204" charset="-122"/>
              </a:rPr>
              <a:t>质量层面。</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sz="800" b="0">
                <a:solidFill>
                  <a:schemeClr val="tx1"/>
                </a:solidFill>
                <a:latin typeface="Microsoft YaHei" panose="020B0503020204020204" charset="-122"/>
                <a:ea typeface="Microsoft YaHei" panose="020B0503020204020204" charset="-122"/>
                <a:cs typeface="Microsoft YaHei" panose="020B0503020204020204" charset="-122"/>
              </a:rPr>
              <a:t>潜在</a:t>
            </a:r>
            <a:r>
              <a:rPr sz="800" b="0">
                <a:solidFill>
                  <a:schemeClr val="tx1"/>
                </a:solidFill>
                <a:latin typeface="Microsoft YaHei" panose="020B0503020204020204" charset="-122"/>
                <a:ea typeface="Microsoft YaHei" panose="020B0503020204020204" charset="-122"/>
                <a:cs typeface="Microsoft YaHei" panose="020B0503020204020204" charset="-122"/>
              </a:rPr>
              <a:t>机会: 追踪</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Usecase/</a:t>
            </a:r>
            <a:r>
              <a:rPr sz="800" b="0">
                <a:solidFill>
                  <a:schemeClr val="tx1"/>
                </a:solidFill>
                <a:latin typeface="Microsoft YaHei" panose="020B0503020204020204" charset="-122"/>
                <a:ea typeface="Microsoft YaHei" panose="020B0503020204020204" charset="-122"/>
                <a:cs typeface="Microsoft YaHei" panose="020B0503020204020204" charset="-122"/>
              </a:rPr>
              <a:t>Spec→实现→测试的</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过程</a:t>
            </a:r>
            <a:r>
              <a:rPr sz="800" b="0">
                <a:solidFill>
                  <a:schemeClr val="tx1"/>
                </a:solidFill>
                <a:latin typeface="Microsoft YaHei" panose="020B0503020204020204" charset="-122"/>
                <a:ea typeface="Microsoft YaHei" panose="020B0503020204020204" charset="-122"/>
                <a:cs typeface="Microsoft YaHei" panose="020B0503020204020204" charset="-122"/>
              </a:rPr>
              <a:t>, 记录每个</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Usecase/</a:t>
            </a:r>
            <a:r>
              <a:rPr sz="800" b="0">
                <a:solidFill>
                  <a:schemeClr val="tx1"/>
                </a:solidFill>
                <a:latin typeface="Microsoft YaHei" panose="020B0503020204020204" charset="-122"/>
                <a:ea typeface="Microsoft YaHei" panose="020B0503020204020204" charset="-122"/>
                <a:cs typeface="Microsoft YaHei" panose="020B0503020204020204" charset="-122"/>
              </a:rPr>
              <a:t>Spec的实现成功率, 提炼什么写法的</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Usecase/</a:t>
            </a:r>
            <a:r>
              <a:rPr sz="800" b="0">
                <a:solidFill>
                  <a:schemeClr val="tx1"/>
                </a:solidFill>
                <a:latin typeface="Microsoft YaHei" panose="020B0503020204020204" charset="-122"/>
                <a:ea typeface="Microsoft YaHei" panose="020B0503020204020204" charset="-122"/>
                <a:cs typeface="Microsoft YaHei" panose="020B0503020204020204" charset="-122"/>
              </a:rPr>
              <a:t>Spec更容易被</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Code </a:t>
            </a:r>
            <a:r>
              <a:rPr sz="800" b="0">
                <a:solidFill>
                  <a:schemeClr val="tx1"/>
                </a:solidFill>
                <a:latin typeface="Microsoft YaHei" panose="020B0503020204020204" charset="-122"/>
                <a:ea typeface="Microsoft YaHei" panose="020B0503020204020204" charset="-122"/>
                <a:cs typeface="Microsoft YaHei" panose="020B0503020204020204" charset="-122"/>
              </a:rPr>
              <a:t>Agent正确实现的</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范式</a:t>
            </a:r>
            <a:r>
              <a:rPr sz="800" b="0">
                <a:solidFill>
                  <a:schemeClr val="tx1"/>
                </a:solidFill>
                <a:latin typeface="Microsoft YaHei" panose="020B0503020204020204" charset="-122"/>
                <a:ea typeface="Microsoft YaHei" panose="020B0503020204020204" charset="-122"/>
                <a:cs typeface="Microsoft YaHei" panose="020B0503020204020204" charset="-122"/>
              </a:rPr>
              <a:t>。</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100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50" b="1">
                <a:solidFill>
                  <a:schemeClr val="tx1"/>
                </a:solidFill>
                <a:latin typeface="Microsoft YaHei" panose="020B0503020204020204" charset="-122"/>
                <a:ea typeface="Microsoft YaHei" panose="020B0503020204020204" charset="-122"/>
                <a:cs typeface="Microsoft YaHei" panose="020B0503020204020204" charset="-122"/>
              </a:rPr>
              <a:t>② 领域知识的条件检索与注入</a:t>
            </a:r>
            <a:endParaRPr sz="850" b="1">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项目涉及特定行业(光通信、智驾等), 每个行业有自己的标准和约束(如3GPP、ISO 26262)。</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现状: 这些领域知识完全依赖用户手动提供, Agent无法主动获取。</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sz="800" b="0">
                <a:solidFill>
                  <a:schemeClr val="tx1"/>
                </a:solidFill>
                <a:latin typeface="Microsoft YaHei" panose="020B0503020204020204" charset="-122"/>
                <a:ea typeface="Microsoft YaHei" panose="020B0503020204020204" charset="-122"/>
                <a:cs typeface="Microsoft YaHei" panose="020B0503020204020204" charset="-122"/>
              </a:rPr>
              <a:t>潜在</a:t>
            </a:r>
            <a:r>
              <a:rPr sz="800" b="0">
                <a:solidFill>
                  <a:schemeClr val="tx1"/>
                </a:solidFill>
                <a:latin typeface="Microsoft YaHei" panose="020B0503020204020204" charset="-122"/>
                <a:ea typeface="Microsoft YaHei" panose="020B0503020204020204" charset="-122"/>
                <a:cs typeface="Microsoft YaHei" panose="020B0503020204020204" charset="-122"/>
              </a:rPr>
              <a:t>机会: Agent识别当前Spec所属领域后, 自动从领域知识库检索相关标准条目, 注入Agent上下文辅助Spec编写和代码实现。</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100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50" b="1">
                <a:solidFill>
                  <a:schemeClr val="tx1"/>
                </a:solidFill>
                <a:latin typeface="Microsoft YaHei" panose="020B0503020204020204" charset="-122"/>
                <a:ea typeface="Microsoft YaHei" panose="020B0503020204020204" charset="-122"/>
                <a:cs typeface="Microsoft YaHei" panose="020B0503020204020204" charset="-122"/>
              </a:rPr>
              <a:t>③ 跨项目Spec模式复用</a:t>
            </a:r>
            <a:endParaRPr sz="850" b="1">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不同项目中存在大量相似的Spec模式(如CRUD接口规格、认证授权规格、消息队列规格</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等</a:t>
            </a:r>
            <a:r>
              <a:rPr sz="800" b="0">
                <a:solidFill>
                  <a:schemeClr val="tx1"/>
                </a:solidFill>
                <a:latin typeface="Microsoft YaHei" panose="020B0503020204020204" charset="-122"/>
                <a:ea typeface="Microsoft YaHei" panose="020B0503020204020204" charset="-122"/>
                <a:cs typeface="Microsoft YaHei" panose="020B0503020204020204" charset="-122"/>
              </a:rPr>
              <a:t>), 每次都从零编写。</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sz="800" b="0">
                <a:solidFill>
                  <a:schemeClr val="tx1"/>
                </a:solidFill>
                <a:latin typeface="Microsoft YaHei" panose="020B0503020204020204" charset="-122"/>
                <a:ea typeface="Microsoft YaHei" panose="020B0503020204020204" charset="-122"/>
                <a:cs typeface="Microsoft YaHei" panose="020B0503020204020204" charset="-122"/>
              </a:rPr>
              <a:t>潜在</a:t>
            </a:r>
            <a:r>
              <a:rPr sz="800" b="0">
                <a:solidFill>
                  <a:schemeClr val="tx1"/>
                </a:solidFill>
                <a:latin typeface="Microsoft YaHei" panose="020B0503020204020204" charset="-122"/>
                <a:ea typeface="Microsoft YaHei" panose="020B0503020204020204" charset="-122"/>
                <a:cs typeface="Microsoft YaHei" panose="020B0503020204020204" charset="-122"/>
              </a:rPr>
              <a:t>机会: 从已归档的历史changes中, 由</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Agent</a:t>
            </a:r>
            <a:r>
              <a:rPr sz="800" b="0">
                <a:solidFill>
                  <a:schemeClr val="tx1"/>
                </a:solidFill>
                <a:latin typeface="Microsoft YaHei" panose="020B0503020204020204" charset="-122"/>
                <a:ea typeface="Microsoft YaHei" panose="020B0503020204020204" charset="-122"/>
                <a:cs typeface="Microsoft YaHei" panose="020B0503020204020204" charset="-122"/>
              </a:rPr>
              <a:t>自动归纳常见Spec模板。新需求时根据描述匹配推荐相关的历史Spec作为起点。</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p:txBody>
      </p:sp>
      <p:pic>
        <p:nvPicPr>
          <p:cNvPr id="6" name="Picture 5"/>
          <p:cNvPicPr>
            <a:picLocks noChangeAspect="1"/>
          </p:cNvPicPr>
          <p:nvPr/>
        </p:nvPicPr>
        <p:blipFill>
          <a:blip r:embed="rId13"/>
          <a:stretch>
            <a:fillRect/>
          </a:stretch>
        </p:blipFill>
        <p:spPr>
          <a:xfrm>
            <a:off x="9464040" y="3608705"/>
            <a:ext cx="2300605" cy="186563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26.1,&quot;left&quot;:21.7,&quot;top&quot;:47.1,&quot;width&quot;:902.9}"/>
</p:tagLst>
</file>

<file path=ppt/tags/tag2.xml><?xml version="1.0" encoding="utf-8"?>
<p:tagLst xmlns:p="http://schemas.openxmlformats.org/presentationml/2006/main">
  <p:tag name="KSO_WM_DIAGRAM_VIRTUALLY_FRAME" val="{&quot;height&quot;:426.1,&quot;left&quot;:21.7,&quot;top&quot;:47.1,&quot;width&quot;:902.9}"/>
</p:tagLst>
</file>

<file path=ppt/tags/tag3.xml><?xml version="1.0" encoding="utf-8"?>
<p:tagLst xmlns:p="http://schemas.openxmlformats.org/presentationml/2006/main">
  <p:tag name="KSO_WM_DIAGRAM_VIRTUALLY_FRAME" val="{&quot;height&quot;:426.1,&quot;left&quot;:21.7,&quot;top&quot;:47.1,&quot;width&quot;:902.9}"/>
</p:tagLst>
</file>

<file path=ppt/tags/tag4.xml><?xml version="1.0" encoding="utf-8"?>
<p:tagLst xmlns:p="http://schemas.openxmlformats.org/presentationml/2006/main">
  <p:tag name="KSO_WM_DIAGRAM_VIRTUALLY_FRAME" val="{&quot;height&quot;:426.1,&quot;left&quot;:21.7,&quot;top&quot;:47.1,&quot;width&quot;:902.9}"/>
</p:tagLst>
</file>

<file path=ppt/tags/tag5.xml><?xml version="1.0" encoding="utf-8"?>
<p:tagLst xmlns:p="http://schemas.openxmlformats.org/presentationml/2006/main">
  <p:tag name="KSO_WM_DIAGRAM_VIRTUALLY_FRAME" val="{&quot;height&quot;:426.1,&quot;left&quot;:21.7,&quot;top&quot;:47.1,&quot;width&quot;:902.9}"/>
</p:tagLst>
</file>

<file path=ppt/tags/tag6.xml><?xml version="1.0" encoding="utf-8"?>
<p:tagLst xmlns:p="http://schemas.openxmlformats.org/presentationml/2006/main">
  <p:tag name="KSO_WM_DIAGRAM_VIRTUALLY_FRAME" val="{&quot;height&quot;:426.1,&quot;left&quot;:21.7,&quot;top&quot;:47.1,&quot;width&quot;:902.9}"/>
</p:tagLst>
</file>

<file path=ppt/tags/tag7.xml><?xml version="1.0" encoding="utf-8"?>
<p:tagLst xmlns:p="http://schemas.openxmlformats.org/presentationml/2006/main">
  <p:tag name="KSO_WM_DIAGRAM_VIRTUALLY_FRAME" val="{&quot;height&quot;:426.1,&quot;left&quot;:21.7,&quot;top&quot;:47.1,&quot;width&quot;:902.9}"/>
</p:tagLst>
</file>

<file path=ppt/tags/tag8.xml><?xml version="1.0" encoding="utf-8"?>
<p:tagLst xmlns:p="http://schemas.openxmlformats.org/presentationml/2006/main">
  <p:tag name="KSO_WM_DIAGRAM_VIRTUALLY_FRAME" val="{&quot;height&quot;:426.1,&quot;left&quot;:21.7,&quot;top&quot;:47.1,&quot;width&quot;:902.9}"/>
</p:tagLst>
</file>

<file path=ppt/tags/tag9.xml><?xml version="1.0" encoding="utf-8"?>
<p:tagLst xmlns:p="http://schemas.openxmlformats.org/presentationml/2006/main">
  <p:tag name="KSO_WM_DIAGRAM_VIRTUALLY_FRAME" val="{&quot;height&quot;:426.1,&quot;left&quot;:21.7,&quot;top&quot;:47.1,&quot;width&quot;:902.9}"/>
</p:tagLst>
</file>

<file path=ppt/tags/tag10.xml><?xml version="1.0" encoding="utf-8"?>
<p:tagLst xmlns:p="http://schemas.openxmlformats.org/presentationml/2006/main">
  <p:tag name="KSO_WM_DIAGRAM_VIRTUALLY_FRAME" val="{&quot;height&quot;:426.1,&quot;left&quot;:21.7,&quot;top&quot;:47.1,&quot;width&quot;:902.9}"/>
</p:tagLst>
</file>

<file path=ppt/tags/tag11.xml><?xml version="1.0" encoding="utf-8"?>
<p:tagLst xmlns:p="http://schemas.openxmlformats.org/presentationml/2006/main">
  <p:tag name="KSO_WM_DIAGRAM_VIRTUALLY_FRAME" val="{&quot;height&quot;:426.1,&quot;left&quot;:21.7,&quot;top&quot;:47.1,&quot;width&quot;:902.9}"/>
</p:tagLst>
</file>

<file path=ppt/tags/tag12.xml><?xml version="1.0" encoding="utf-8"?>
<p:tagLst xmlns:p="http://schemas.openxmlformats.org/presentationml/2006/main">
  <p:tag name="KSO_WM_DIAGRAM_VIRTUALLY_FRAME" val="{&quot;height&quot;:426.1,&quot;left&quot;:21.7,&quot;top&quot;:47.1,&quot;width&quot;:902.9}"/>
</p:tagLst>
</file>

<file path=ppt/tags/tag13.xml><?xml version="1.0" encoding="utf-8"?>
<p:tagLst xmlns:p="http://schemas.openxmlformats.org/presentationml/2006/main">
  <p:tag name="KSO_WM_DIAGRAM_VIRTUALLY_FRAME" val="{&quot;height&quot;:345.6,&quot;left&quot;:21.6,&quot;top&quot;:79.2,&quot;width&quot;:902.8799212598426}"/>
</p:tagLst>
</file>

<file path=ppt/tags/tag14.xml><?xml version="1.0" encoding="utf-8"?>
<p:tagLst xmlns:p="http://schemas.openxmlformats.org/presentationml/2006/main">
  <p:tag name="KSO_WM_DIAGRAM_VIRTUALLY_FRAME" val="{&quot;height&quot;:345.6,&quot;left&quot;:21.6,&quot;top&quot;:79.2,&quot;width&quot;:902.8799212598426}"/>
</p:tagLst>
</file>

<file path=ppt/tags/tag15.xml><?xml version="1.0" encoding="utf-8"?>
<p:tagLst xmlns:p="http://schemas.openxmlformats.org/presentationml/2006/main">
  <p:tag name="KSO_WM_DIAGRAM_VIRTUALLY_FRAME" val="{&quot;height&quot;:345.6,&quot;left&quot;:21.6,&quot;top&quot;:79.2,&quot;width&quot;:902.8799212598426}"/>
</p:tagLst>
</file>

<file path=ppt/tags/tag16.xml><?xml version="1.0" encoding="utf-8"?>
<p:tagLst xmlns:p="http://schemas.openxmlformats.org/presentationml/2006/main">
  <p:tag name="KSO_WM_DIAGRAM_VIRTUALLY_FRAME" val="{&quot;height&quot;:345.6,&quot;left&quot;:21.6,&quot;top&quot;:79.2,&quot;width&quot;:902.8799212598426}"/>
</p:tagLst>
</file>

<file path=ppt/tags/tag17.xml><?xml version="1.0" encoding="utf-8"?>
<p:tagLst xmlns:p="http://schemas.openxmlformats.org/presentationml/2006/main">
  <p:tag name="KSO_WM_DIAGRAM_VIRTUALLY_FRAME" val="{&quot;height&quot;:386.71,&quot;left&quot;:21.2,&quot;top&quot;:44.94,&quot;width&quot;:903.3}"/>
</p:tagLst>
</file>

<file path=ppt/tags/tag18.xml><?xml version="1.0" encoding="utf-8"?>
<p:tagLst xmlns:p="http://schemas.openxmlformats.org/presentationml/2006/main">
  <p:tag name="KSO_WM_DIAGRAM_VIRTUALLY_FRAME" val="{&quot;height&quot;:386.71,&quot;left&quot;:21.2,&quot;top&quot;:44.94,&quot;width&quot;:903.3}"/>
</p:tagLst>
</file>

<file path=ppt/tags/tag19.xml><?xml version="1.0" encoding="utf-8"?>
<p:tagLst xmlns:p="http://schemas.openxmlformats.org/presentationml/2006/main">
  <p:tag name="KSO_WM_DIAGRAM_VIRTUALLY_FRAME" val="{&quot;height&quot;:386.71,&quot;left&quot;:21.2,&quot;top&quot;:44.94,&quot;width&quot;:903.3}"/>
</p:tagLst>
</file>

<file path=ppt/tags/tag20.xml><?xml version="1.0" encoding="utf-8"?>
<p:tagLst xmlns:p="http://schemas.openxmlformats.org/presentationml/2006/main">
  <p:tag name="KSO_WM_DIAGRAM_VIRTUALLY_FRAME" val="{&quot;height&quot;:386.71,&quot;left&quot;:21.2,&quot;top&quot;:44.94,&quot;width&quot;:903.3}"/>
</p:tagLst>
</file>

<file path=ppt/tags/tag21.xml><?xml version="1.0" encoding="utf-8"?>
<p:tagLst xmlns:p="http://schemas.openxmlformats.org/presentationml/2006/main">
  <p:tag name="KSO_WM_DIAGRAM_VIRTUALLY_FRAME" val="{&quot;height&quot;:386.71,&quot;left&quot;:21.2,&quot;top&quot;:44.94,&quot;width&quot;:903.3}"/>
</p:tagLst>
</file>

<file path=ppt/tags/tag22.xml><?xml version="1.0" encoding="utf-8"?>
<p:tagLst xmlns:p="http://schemas.openxmlformats.org/presentationml/2006/main">
  <p:tag name="KSO_WM_DIAGRAM_VIRTUALLY_FRAME" val="{&quot;height&quot;:386.71,&quot;left&quot;:21.2,&quot;top&quot;:44.94,&quot;width&quot;:903.3}"/>
</p:tagLst>
</file>

<file path=ppt/tags/tag23.xml><?xml version="1.0" encoding="utf-8"?>
<p:tagLst xmlns:p="http://schemas.openxmlformats.org/presentationml/2006/main">
  <p:tag name="KSO_WM_DIAGRAM_VIRTUALLY_FRAME" val="{&quot;height&quot;:386.71,&quot;left&quot;:21.2,&quot;top&quot;:44.94,&quot;width&quot;:903.3}"/>
</p:tagLst>
</file>

<file path=ppt/tags/tag24.xml><?xml version="1.0" encoding="utf-8"?>
<p:tagLst xmlns:p="http://schemas.openxmlformats.org/presentationml/2006/main">
  <p:tag name="KSO_WM_DIAGRAM_VIRTUALLY_FRAME" val="{&quot;height&quot;:386.71,&quot;left&quot;:21.2,&quot;top&quot;:44.94,&quot;width&quot;:903.3}"/>
</p:tagLst>
</file>

<file path=ppt/tags/tag25.xml><?xml version="1.0" encoding="utf-8"?>
<p:tagLst xmlns:p="http://schemas.openxmlformats.org/presentationml/2006/main">
  <p:tag name="KSO_WM_DIAGRAM_VIRTUALLY_FRAME" val="{&quot;height&quot;:384.61,&quot;left&quot;:21.589999999999986,&quot;top&quot;:44.94,&quot;width&quot;:902.9100000000001}"/>
</p:tagLst>
</file>

<file path=ppt/tags/tag26.xml><?xml version="1.0" encoding="utf-8"?>
<p:tagLst xmlns:p="http://schemas.openxmlformats.org/presentationml/2006/main">
  <p:tag name="KSO_WM_DIAGRAM_VIRTUALLY_FRAME" val="{&quot;height&quot;:384.61,&quot;left&quot;:21.589999999999986,&quot;top&quot;:44.94,&quot;width&quot;:902.9100000000001}"/>
</p:tagLst>
</file>

<file path=ppt/tags/tag27.xml><?xml version="1.0" encoding="utf-8"?>
<p:tagLst xmlns:p="http://schemas.openxmlformats.org/presentationml/2006/main">
  <p:tag name="KSO_WM_DIAGRAM_VIRTUALLY_FRAME" val="{&quot;height&quot;:384.61,&quot;left&quot;:21.589999999999986,&quot;top&quot;:44.94,&quot;width&quot;:902.9100000000001}"/>
</p:tagLst>
</file>

<file path=ppt/tags/tag28.xml><?xml version="1.0" encoding="utf-8"?>
<p:tagLst xmlns:p="http://schemas.openxmlformats.org/presentationml/2006/main">
  <p:tag name="KSO_WM_DIAGRAM_VIRTUALLY_FRAME" val="{&quot;height&quot;:384.61,&quot;left&quot;:21.589999999999986,&quot;top&quot;:44.94,&quot;width&quot;:902.91000000000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4633</Words>
  <Application>WPS Presentation</Application>
  <PresentationFormat>On-screen Show (4:3)</PresentationFormat>
  <Paragraphs>160</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SimSun</vt:lpstr>
      <vt:lpstr>Wingdings</vt:lpstr>
      <vt:lpstr>Arial</vt:lpstr>
      <vt:lpstr>Microsoft YaHei</vt:lpstr>
      <vt:lpstr>Calibri</vt:lpstr>
      <vt:lpstr>Arial Unicode MS</vt:lpstr>
      <vt:lpstr>Office Theme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Zhifei Dou</cp:lastModifiedBy>
  <cp:revision>160</cp:revision>
  <dcterms:created xsi:type="dcterms:W3CDTF">2013-01-27T09:14:00Z</dcterms:created>
  <dcterms:modified xsi:type="dcterms:W3CDTF">2026-03-01T21:02:14Z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069CE4B51796447F8535184C06BAC8A4_12</vt:lpwstr>
  </property>
  <property fmtid="{D5CDD505-2E9C-101B-9397-08002B2CF9AE}" pid="3" name="KSOProductBuildVer">
    <vt:lpwstr>1033-12.2.0.23196</vt:lpwstr>
  </property>
</Properties>
</file>