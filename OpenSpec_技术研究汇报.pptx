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82" r:id="rId9"/>
    <p:sldId id="262" r:id="rId10"/>
    <p:sldId id="263" r:id="rId11"/>
    <p:sldId id="264" r:id="rId12"/>
    <p:sldId id="283" r:id="rId13"/>
    <p:sldId id="284" r:id="rId14"/>
    <p:sldId id="285" r:id="rId15"/>
    <p:sldId id="265" r:id="rId16"/>
    <p:sldId id="266" r:id="rId17"/>
    <p:sldId id="267" r:id="rId18"/>
    <p:sldId id="268" r:id="rId19"/>
    <p:sldId id="271" r:id="rId20"/>
    <p:sldId id="272" r:id="rId21"/>
    <p:sldId id="273" r:id="rId22"/>
    <p:sldId id="274" r:id="rId23"/>
    <p:sldId id="275" r:id="rId24"/>
    <p:sldId id="270" r:id="rId25"/>
    <p:sldId id="276" r:id="rId26"/>
    <p:sldId id="277" r:id="rId27"/>
    <p:sldId id="278" r:id="rId28"/>
    <p:sldId id="279" r:id="rId29"/>
    <p:sldId id="280" r:id="rId30"/>
    <p:sldId id="281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4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04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OpenSpec：规范化 Agentic Coding 的关键基础设施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Microsoft YaHei" panose="020B0503020204020204" charset="-122"/>
              </a:defRPr>
            </a:pPr>
            <a:r>
              <a:t>基于 Claude Code 的企业级 AI 辅助开发规范化研究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技术研究汇报  |  2026年2月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1/39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Microsoft YaHei" panose="020B0503020204020204" charset="-122"/>
              </a:rPr>
              <a:t>目录</a:t>
            </a:r>
            <a:endParaRPr sz="30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75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0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1520" y="101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520" y="104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50000" y="98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背景与问题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50000" y="13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Agentic Coding 现状与挑战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1520" y="167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1520" y="1780000"/>
            <a:ext cx="500000" cy="5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1520" y="181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0000" y="175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OpenSpec 核心解析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50000" y="207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概念、工作流程、协作模式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31520" y="244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520" y="255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520" y="258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50000" y="252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实测对比验证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50000" y="284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量化交易系统 — 初始构建 + 需求变更对比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31520" y="321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520" y="332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520" y="335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0000" y="329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企业级价值与 ROI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0000" y="361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规范化、可追溯、可协作、投资回报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1520" y="398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51520" y="4090000"/>
            <a:ext cx="500000" cy="50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520" y="412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50000" y="406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学术前沿与竞争格局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50000" y="438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2023-2026 五大趋势 + 差异化定位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31520" y="475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1520" y="486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1520" y="489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06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0000" y="483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六大研究改进方向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50000" y="515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高商业价值改进路线图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31520" y="552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520" y="5630000"/>
            <a:ext cx="500000" cy="50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520" y="566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07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550000" y="560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研究计划与建议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50000" y="592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落地路径与资源需求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Microsoft YaHei" panose="020B0503020204020204" charset="-122"/>
              </a:rPr>
              <a:t>2/39</a:t>
            </a:r>
            <a:endParaRPr sz="10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背景：Agentic Coding 正在改变软件开发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16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Claude Code 等 AI 编程工具已经能够自主完成复杂的软件开发任务。</a:t>
            </a:r>
          </a:p>
          <a:p>
            <a:pPr algn="l">
              <a:spcAft>
                <a:spcPts val="960"/>
              </a:spcAft>
              <a:defRPr sz="16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但在企业环境中，"能写代码"只是第一步 - 更关键的是"写对的代码"。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需求失控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AI 容易自作主张添加/遗漏功能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需求只存在于聊天记录中，无法追溯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质量不稳定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同样的需求，不同对话产出差异大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缺乏验证标准，靠人肉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协作困难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一个人的 AI 对话上下文无法共享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多人并行修改容易冲突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知识流失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为什么做、怎么做的决策过程随对话消失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新人接手困难，重复踩坑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Claude Code 解决了"怎么写"，但没有解决"写什么"和"写得对不对"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3/39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OpenSpec：AI 辅助开发的规格框架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是一个轻量级的规格驱动框架，让人和 AI 在写代码之前先达成共识。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流动而非僵化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没有阶段门控，按需推进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迭代而非瀑布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边做边学，持续优化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增量而非全量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用 Delta 记录变更，不重写整体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存量优先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为已有项目设计，不是只给新项目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项目结构（两个核心目录）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44444"/>
                </a:solidFill>
                <a:latin typeface="Consolas" panose="020B0609020204030204"/>
              </a:defRPr>
            </a:pPr>
            <a:r>
              <a:t>openspec/</a:t>
            </a:r>
            <a:br/>
            <a:r>
              <a:t>├── specs/              ← 当前行为的真相源</a:t>
            </a:r>
            <a:br/>
            <a:r>
              <a:t>│   └── &lt;domain&gt;/spec.md    （按领域组织的需求）</a:t>
            </a:r>
            <a:br/>
            <a:r>
              <a:t>└── changes/            ← 提议的变更</a:t>
            </a:r>
            <a:br/>
            <a:r>
              <a:t>    ├── &lt;change-name&gt;/</a:t>
            </a:r>
            <a:br/>
            <a:r>
              <a:t>    │   ├── proposal.md     （为什么改）</a:t>
            </a:r>
            <a:br/>
            <a:r>
              <a:t>    │   ├── usecases.md     （用户场景）</a:t>
            </a:r>
            <a:br/>
            <a:r>
              <a:t>    │   ├── specs/          （Delta: 增/改/删）</a:t>
            </a:r>
            <a:br/>
            <a:r>
              <a:t>    │   ├── design.md       （怎么改）</a:t>
            </a:r>
            <a:br/>
            <a:r>
              <a:t>    │   └── tasks.md        （实现清单）</a:t>
            </a:r>
            <a:br/>
            <a:r>
              <a:t>    └── archive/            （已完成变更的归档）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核心创新：Delta Spec（增量规格）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不是重写整个规格，而是只描述变化：</a:t>
            </a:r>
          </a:p>
          <a:p>
            <a:pPr algn="l">
              <a:spcAft>
                <a:spcPts val="480"/>
              </a:spcAft>
              <a:defRPr sz="16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480"/>
              </a:spcAft>
              <a:defRPr sz="1200" b="0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## ADDED Requirements      ← 新增需求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## MODIFIED Requirements  ← 修改需求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## REMOVED Requirements   ← 删除需求</a:t>
            </a:r>
          </a:p>
          <a:p>
            <a:pPr algn="l">
              <a:spcAft>
                <a:spcPts val="480"/>
              </a:spcAft>
              <a:defRPr sz="16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每个需求附带 Given/When/Then 验证场景</a:t>
            </a:r>
          </a:p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归档时自动合并到主规格 → 活文档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4/39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OpenSpec 实际运行效果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Dashboard 总览（终端界面）</a:t>
            </a:r>
          </a:p>
        </p:txBody>
      </p:sp>
      <p:pic>
        <p:nvPicPr>
          <p:cNvPr id="6" name="Picture 5" descr="openspec_dashbo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75488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Change Workflow 全景（人机协作流程）</a:t>
            </a:r>
          </a:p>
        </p:txBody>
      </p:sp>
      <p:pic>
        <p:nvPicPr>
          <p:cNvPr id="8" name="Picture 7" descr="workflow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576072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左图：openspec view 命令展示项目规格状态、活跃变更和任务进度  |  右图：完整的 Propose → Review → Apply → Archive 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图片来源：github.com/Fission-AI/OpenSpec  |  harikrishnan.io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5/39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OpenSpec 工作流程：从想法到归档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探索想法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明确方向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Microsoft YaHei" panose="020B0503020204020204" charset="-122"/>
              </a:defRPr>
            </a:pPr>
            <a:r>
              <a:t>可选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9072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为什么改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改什么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0944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用户场景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主流程+异常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2816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Specs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Delta 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Given/When/Then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688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技术方案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架构决策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Microsoft YaHei" panose="020B0503020204020204" charset="-122"/>
              </a:defRPr>
            </a:pPr>
            <a:r>
              <a:t>可选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Tasks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实现清单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可追踪进度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2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2843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Apply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415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AI 按清单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写代码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143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90304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验证实现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匹配规格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52176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5217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Archive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合并规格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归档变更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663440"/>
            <a:ext cx="73152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681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一键加速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0" y="4681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/opsx:ff 可以一步生成所有工件，省去逐步创建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03520"/>
            <a:ext cx="73152" cy="4572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218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灵活不僵化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5321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工件之间是依赖图（DAG），不是固定流水线，可跳过可选步骤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943600"/>
            <a:ext cx="73152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9618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闭环演进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0320" y="59618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Archive 后 specs 自动更新 → 下次变更基于最新状态 → 持续积累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6/39</a:t>
            </a:r>
          </a:p>
        </p:txBody>
      </p:sp>
      <p:sp>
        <p:nvSpPr>
          <p:cNvPr id="53" name="TextBox 17"/>
          <p:cNvSpPr txBox="1"/>
          <p:nvPr/>
        </p:nvSpPr>
        <p:spPr>
          <a:xfrm>
            <a:off x="2862199" y="3840353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Microsoft YaHei" panose="020B0503020204020204" charset="-122"/>
              </a:rPr>
              <a:t>▲ 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本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工作新增</a:t>
            </a:r>
            <a:endParaRPr lang="zh-CN" sz="10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Microsoft YaHei" panose="020B0503020204020204" charset="-122"/>
              </a:rPr>
              <a:t>Use Cases 阶段详解（本研究新增）</a:t>
            </a:r>
            <a:endParaRPr sz="30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57200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Explore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1947672" y="1005840"/>
            <a:ext cx="1463040" cy="411480"/>
          </a:xfrm>
          <a:prstGeom prst="chevron">
            <a:avLst/>
          </a:prstGeom>
          <a:solidFill>
            <a:srgbClr val="BE6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055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Chevron 7"/>
          <p:cNvSpPr/>
          <p:nvPr/>
        </p:nvSpPr>
        <p:spPr>
          <a:xfrm>
            <a:off x="3438144" y="1005840"/>
            <a:ext cx="1463040" cy="411480"/>
          </a:xfrm>
          <a:prstGeom prst="chevron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12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4928616" y="1005840"/>
            <a:ext cx="1463040" cy="411480"/>
          </a:xfrm>
          <a:prstGeom prst="chevron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6419088" y="1005840"/>
            <a:ext cx="1463040" cy="411480"/>
          </a:xfrm>
          <a:prstGeom prst="chevron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7909560" y="1005840"/>
            <a:ext cx="1463040" cy="41148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9400032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...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8144" y="1435608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Microsoft YaHei" panose="020B0503020204020204" charset="-122"/>
              </a:rPr>
              <a:t>▲ 本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工作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新增</a:t>
            </a:r>
            <a:endParaRPr lang="zh-CN" sz="10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02412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1168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Microsoft YaHei" panose="020B0503020204020204" charset="-122"/>
              </a:rPr>
              <a:t>这一步做什么</a:t>
            </a:r>
            <a:endParaRPr sz="18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在 Proposal（提案）和 Specs（规格）之间，插入一个结构化的用户场景建模环节。AI 不再从提案直接跳到技术规格，而是先系统地梳理：谁在用这个系统、他想达成什么目标、正常流程是什么、出错了怎么办。</a:t>
            </a:r>
            <a:endParaRPr sz="14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Microsoft YaHei" panose="020B0503020204020204" charset="-122"/>
              </a:rPr>
              <a:t>基于什么方法论</a:t>
            </a:r>
            <a:endParaRPr sz="18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采用 Alistair Cockburn 的《Writing Effective Use Cases》方法论，核心是"渐进式揭示"流程：</a:t>
            </a:r>
            <a:endParaRPr sz="14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94335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4335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1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0055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识别参与者
与用户目标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20215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Microsoft YaHei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829943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9943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2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875663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编写主成功
场景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55823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Microsoft YaHei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265551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5551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3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311271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头脑风暴扩展
异常与边界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1431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Microsoft YaHei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701159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1159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4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46879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添加契约要素
前置/后置条件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675120" y="2011680"/>
            <a:ext cx="4114800" cy="182880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2148840"/>
            <a:ext cx="3749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icrosoft YaHei" panose="020B0503020204020204" charset="-122"/>
              </a:rPr>
              <a:t>没有这一步会怎样？</a:t>
            </a:r>
            <a:endParaRPr sz="1600" b="1">
              <a:solidFill>
                <a:srgbClr val="C0392B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Microsoft YaHei" panose="020B0503020204020204" charset="-122"/>
              </a:rPr>
              <a:t>AI 只实现 Happy Path，异常场景大面积遗漏</a:t>
            </a:r>
            <a:endParaRPr sz="1300" b="0">
              <a:solidFill>
                <a:srgbClr val="663333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Microsoft YaHei" panose="020B0503020204020204" charset="-122"/>
              </a:rPr>
              <a:t>Specs 缺乏用例支撑，需求验收无据可依</a:t>
            </a:r>
            <a:endParaRPr sz="1300" b="0">
              <a:solidFill>
                <a:srgbClr val="663333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Microsoft YaHei" panose="020B0503020204020204" charset="-122"/>
              </a:rPr>
              <a:t>30-50% 的返工源自需求阶段的遗漏和模糊</a:t>
            </a:r>
            <a:endParaRPr sz="1300" b="0">
              <a:solidFill>
                <a:srgbClr val="663333"/>
              </a:solidFill>
              <a:latin typeface="Microsoft YaHei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675120" y="4023360"/>
            <a:ext cx="4114800" cy="233172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4160520"/>
            <a:ext cx="3749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实测效果（量化交易系统）</a:t>
            </a:r>
            <a:endParaRPr sz="16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4 层风控体系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止损、持仓限制、异常检测、合规检查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100+ 测试用例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覆盖主流程、异常分支、边界条件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完整 A 股规则模拟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均源于 Use Cases 阶段对异常场景的系统梳理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7/39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2785" y="393065"/>
            <a:ext cx="9512935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OpenSpec 协作模式：Project Owner / AI / Developer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penspec_seque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企业级集成示例：Linear + OpenSpec</a:t>
            </a:r>
          </a:p>
        </p:txBody>
      </p:sp>
      <p:pic>
        <p:nvPicPr>
          <p:cNvPr id="7" name="Picture 6" descr="linear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30352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577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三方协作：Owner 定义需求 → OpenSpec 管理规格 → Developer/AI 实现</a:t>
            </a:r>
          </a:p>
          <a:p>
            <a:pPr algn="l">
              <a:spcAft>
                <a:spcPts val="64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全程可追踪：每个阶段的产出都是持久化的 Markdown 文件</a:t>
            </a:r>
          </a:p>
          <a:p>
            <a:pPr algn="l">
              <a:spcAft>
                <a:spcPts val="640"/>
              </a:spcAft>
              <a:defRPr sz="1200" b="0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可集成现有工具链：Linear、Jira、GitHub Issues 等项目管理工具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图片来源：hashrocket.com/blog  |  intent-driven.dev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8/39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实测对比：同一需求，有/无 OpenSpec 的差异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测试项目：A股有色金属量化选股交易系统（相同需求描述，分别用两种方式让 Claude Code 实现）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200400" cy="5486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对比维度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2011680"/>
            <a:ext cx="3840480" cy="5486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使用 OpenSpec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384048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不使用 OpenSpec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60320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2560320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560320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3347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代码总量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6334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~3,900 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6334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~1,200 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35808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31920" y="3035808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3035808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0896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文件数量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1089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40+ 文件，模块化设计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1089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5 个文件，单体结构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511296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511296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0" y="3511296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58444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设计模式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5844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适配器模式、工厂模式、依赖注入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5844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直接实现，全局变量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986784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0" y="3986784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0" y="3986784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059936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测试覆盖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0599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18 个测试文件（单元+集成+端到端）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0599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无测试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462272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0" y="4462272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4462272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53542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配置管理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5354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外部 YAML 配置文件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45354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Python 常量硬编码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937760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31920" y="4937760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0" y="4937760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01091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错误处理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01091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多数据源 fallback、显式异常处理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501091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基本 try-catch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5413248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31920" y="5413248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0" y="5413248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548640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文档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486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8 个领域规格 + BDD 验证场景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5486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仅代码内注释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5888736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31920" y="5888736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0" y="5888736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596188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可维护性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9618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高 — 明确的模块契约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9618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低 — 紧耦合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9/39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83488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实测洞察：OpenSpec 不只是让代码变多，而是让代码变好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743200" cy="438912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架构质量跃升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的 specs 和 design 工件迫使 AI 在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写代码前思考架构。结果：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多数据源适配器 vs 硬编码单一数据源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12 类配置外部化 vs Python 常量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模块间通过接口通信 vs 直接引用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463040"/>
            <a:ext cx="2743200" cy="4389120"/>
          </a:xfrm>
          <a:prstGeom prst="rect">
            <a:avLst/>
          </a:prstGeom>
          <a:solidFill>
            <a:srgbClr val="E8F5E9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测试从 0 到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任务清单（tasks.md）明确要求测试，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AI 无法跳过。相比之下：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OpenSpec: 18 个测试文件，覆盖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单元测试、集成测试、端到端测试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无 OpenSpec: 0 个测试文件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2743200" cy="4389120"/>
          </a:xfrm>
          <a:prstGeom prst="rect">
            <a:avLst/>
          </a:prstGeom>
          <a:solidFill>
            <a:srgbClr val="FFF3E0"/>
          </a:solidFill>
          <a:ln w="254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可维护性差距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6 个月后需要修改因子计算逻辑：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OpenSpec: 查 specs → 改 delta →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更新 tasks → 精确修改模块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无 OpenSpec: 在 1200 行单体文件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里全局搜索，祈祷不破坏其他功能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1463040"/>
            <a:ext cx="2743200" cy="4389120"/>
          </a:xfrm>
          <a:prstGeom prst="rect">
            <a:avLst/>
          </a:prstGeom>
          <a:solidFill>
            <a:srgbClr val="FDE8E8"/>
          </a:solidFill>
          <a:ln w="254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知识沉淀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为什么选 AKShare 而非 Tushare？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OpenSpec: design.md 记录了决策理由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和替代方案的权衡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无 OpenSpec: 没人知道，当时的对话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记录已经找不到了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结论：OpenSpec 的价值不在于写更多代码，而在于让 AI 写出工程级别的代码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10/39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需求变更实验：OpenSpec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Microsoft YaHei" panose="020B0503020204020204" charset="-122"/>
              </a:rPr>
              <a:t>前面展示了初始构建的对比。但软件 80% 的成本在维护阶段 — 需求变更时，两种方式差距更大。</a:t>
            </a:r>
            <a:endParaRPr sz="160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7E22"/>
                </a:solidFill>
                <a:latin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OpenSpec 版方法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proposal → usecases (10个场景)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→ design → tasks (10项)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160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Microsoft YaHei" panose="020B0503020204020204" charset="-122"/>
              </a:rPr>
              <a:t>非 OpenSpec 版方法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45720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模拟最常见的"拿到需求直接写代码"方式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Microsoft YaHei" panose="020B0503020204020204" charset="-122"/>
              </a:rPr>
              <a:t>11/39</a:t>
            </a:r>
            <a:endParaRPr sz="1100" b="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需求变更实验结果：量化对比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28016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128016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340160"/>
            <a:ext cx="24003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9752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 版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3800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非 OpenSpec 版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78480" y="13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倍数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70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170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170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170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00" y="17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边界场景覆盖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752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个边界场景（含 T+1 冲突、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熔断恢复中断、频率切换等）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3800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2 个边界场景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（数据不足、熔断升级）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778480" y="17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5x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212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12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12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212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200" y="21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测试用例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09752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27 个新增测试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（3 个测试文件，pytest 框架）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3800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（无任何自动化测试）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78480" y="21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254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254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254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98480" y="254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200" y="257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变更文档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9752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636 行 artifact 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（proposal→usecases→specs→design→tasks）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3800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（无 proposal、无 design、无记录）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78480" y="260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96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17520" y="296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0" y="296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98480" y="296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200" y="299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代码模块化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9752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7 个文件（2 新模块 + 3 测试 +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 个修改），单一职责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3800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2 个文件，所有逻辑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挤在 backtester.py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778480" y="302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3.5x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57200" y="338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17520" y="338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338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98480" y="338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7200" y="341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新增代码行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09752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662 行（源码 303 + 测试 359）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分布在独立模块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93800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163 行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全部混在主函数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778480" y="34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4x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57200" y="380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0" y="380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0" y="380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98480" y="380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7200" y="38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遗漏的关键边界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9752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0 个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93800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3 个（T+1冲突、渐进恢复、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频率切换间隔）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778480" y="38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57200" y="422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17520" y="422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422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98480" y="422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7200" y="42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可追溯性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09752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完整链路：需求→场景→规格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→设计→任务→代码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93800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 git diff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6个月后无法理解变更原因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778480" y="42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5760" y="46801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725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OpenSpec 的 usecases 强制思考边界场景，发现了非 OpenSpec 版遗漏的 3 个关键边界：T+1 冲突、渐进式恢复、频率切换时机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Microsoft YaHei" panose="020B0503020204020204" charset="-122"/>
              </a:rPr>
              <a:t>12/39</a:t>
            </a:r>
            <a:endParaRPr sz="1100" b="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需求变更实验：核心发现与评分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Microsoft YaHei" panose="020B0503020204020204" charset="-122"/>
              </a:rPr>
              <a:t>OpenSpec 的核心价值不在于初始构建，而在于持续迭代 — 需求变更时差距更加显著</a:t>
            </a:r>
            <a:endParaRPr sz="160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35661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Microsoft YaHei" panose="020B0503020204020204" charset="-122"/>
              </a:rPr>
              <a:t>七维评分对比</a:t>
            </a:r>
            <a:endParaRPr sz="1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影响分析准确性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9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需求覆盖完整性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★★★☆☆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2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代码变更模块化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36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测试覆盖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40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文档/可追溯性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4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回归风险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4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4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可复现性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278765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总分：</a:t>
            </a: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</a:rPr>
              <a:t>                     </a:t>
            </a:r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35/35</a:t>
            </a:r>
            <a:endParaRPr sz="1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57860" y="5303520"/>
            <a:ext cx="18000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Microsoft YaHei" panose="020B0503020204020204" charset="-122"/>
              </a:rPr>
              <a:t>vs  </a:t>
            </a: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</a:rPr>
              <a:t>   </a:t>
            </a:r>
            <a:r>
              <a:rPr sz="1600" b="1">
                <a:solidFill>
                  <a:srgbClr val="C62828"/>
                </a:solidFill>
                <a:latin typeface="Microsoft YaHei" panose="020B0503020204020204" charset="-122"/>
              </a:rPr>
              <a:t>13/35</a:t>
            </a:r>
            <a:endParaRPr sz="16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035040" y="1920240"/>
            <a:ext cx="5486400" cy="3566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 在变更场景的三大核心优势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17920" y="246888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514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 panose="020B0503020204020204" charset="-122"/>
              </a:rPr>
              <a:t>前置思考 — 编码前完成需求分析</a:t>
            </a:r>
            <a:endParaRPr sz="14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55080" y="2834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proposal → usecases → specs 的过程强制在写代码前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识别出 10 个边界场景，避免了 3 个关键遗漏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17920" y="347472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 panose="020B0503020204020204" charset="-122"/>
              </a:rPr>
              <a:t>知识沉淀 — 636 行文档是团队资产</a:t>
            </a:r>
            <a:endParaRPr sz="14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55080" y="3840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完整的 proposal→specs→design→tasks 链路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6个月后仍可追溯每个变更的动机和设计决策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217920" y="448056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 panose="020B0503020204020204" charset="-122"/>
              </a:rPr>
              <a:t>质量保障 — tasks 确保测试不被遗忘</a:t>
            </a:r>
            <a:endParaRPr sz="14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55080" y="4846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tasks.md 显式列出 3 个测试文件 + 27 个测试用例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非 OpenSpec 版：0 测试，无法验证任何逻辑正确性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实验完整数据见 testing_projct_quant_requirement_changing_experiment/comparison/result.md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Microsoft YaHei" panose="020B0503020204020204" charset="-122"/>
              </a:rPr>
              <a:t>13/39</a:t>
            </a:r>
            <a:endParaRPr sz="1100" b="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企业级价值：为什么公司需要 OpenSpec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AI 编码工具解决了「怎么写代码」，但没有解决「怎么管理 AI 写的代码」——OpenSpec 填补这一空白。</a:t>
            </a:r>
            <a:endParaRPr sz="14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46120" cy="64008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规范化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Microsoft YaHei" panose="020B0503020204020204" charset="-122"/>
              </a:rPr>
              <a:t>让 AI 编码有章可循</a:t>
            </a:r>
            <a:endParaRPr sz="1100" b="0">
              <a:solidFill>
                <a:srgbClr val="DDEEFF"/>
              </a:solidFill>
              <a:latin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3246120" cy="365760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Microsoft YaHei" panose="020B0503020204020204" charset="-122"/>
              </a:rPr>
              <a:t>统一工作流标准</a:t>
            </a:r>
            <a:endParaRPr sz="1400" b="1">
              <a:solidFill>
                <a:srgbClr val="0070C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所有团队遵循 proposal → spec → design → task → implement 流程，AI 不再各行其是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3456432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Microsoft YaHei" panose="020B0503020204020204" charset="-122"/>
              </a:rPr>
              <a:t>需求有据可查</a:t>
            </a:r>
            <a:endParaRPr sz="1400" b="1">
              <a:solidFill>
                <a:srgbClr val="0070C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每个变更都有 proposal（为什么改）、spec（改什么）、design（怎么做），不再是一句聊天记录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7055" y="4672330"/>
            <a:ext cx="76200" cy="777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Microsoft YaHei" panose="020B0503020204020204" charset="-122"/>
              </a:rPr>
              <a:t>验收有标准可依</a:t>
            </a:r>
            <a:endParaRPr sz="1400" b="1">
              <a:solidFill>
                <a:srgbClr val="0070C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BDD 场景（Given/When/Then）提供明确的验收条件，代码好不好有客观依据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1371600"/>
            <a:ext cx="324612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可追溯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86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Microsoft YaHei" panose="020B0503020204020204" charset="-122"/>
              </a:rPr>
              <a:t>每一步决策都有据可查</a:t>
            </a:r>
            <a:endParaRPr sz="1100" b="0">
              <a:solidFill>
                <a:srgbClr val="DDEEFF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886200" y="2103120"/>
            <a:ext cx="3246120" cy="3657600"/>
          </a:xfrm>
          <a:prstGeom prst="roundRect">
            <a:avLst/>
          </a:prstGeom>
          <a:solidFill>
            <a:srgbClr val="E8F8E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95928" y="2240280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33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Microsoft YaHei" panose="020B0503020204020204" charset="-122"/>
              </a:rPr>
              <a:t>变更全链路追踪</a:t>
            </a:r>
            <a:endParaRPr sz="1400" b="1">
              <a:solidFill>
                <a:srgbClr val="27AE6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从需求到设计到任务到代码，每一步都有文档记录，出了问题能快速定位根因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995928" y="3456432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Microsoft YaHei" panose="020B0503020204020204" charset="-122"/>
              </a:rPr>
              <a:t>审计友好</a:t>
            </a:r>
            <a:endParaRPr sz="1400" b="1">
              <a:solidFill>
                <a:srgbClr val="27AE6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归档机制保留完整上下文，满足合规要求；监管审查时能拿出完整的决策链条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96055" y="4672330"/>
            <a:ext cx="76200" cy="756285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33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Microsoft YaHei" panose="020B0503020204020204" charset="-122"/>
              </a:rPr>
              <a:t>决策可回溯</a:t>
            </a:r>
            <a:endParaRPr sz="1400" b="1">
              <a:solidFill>
                <a:srgbClr val="27AE6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design.md 记录技术选型理由和替代方案权衡——三个月后还能看懂当初为什么这么选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069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9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0" y="1371600"/>
            <a:ext cx="3246120" cy="64008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可协作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Microsoft YaHei" panose="020B0503020204020204" charset="-122"/>
              </a:rPr>
              <a:t>团队协同不再靠喊话</a:t>
            </a:r>
            <a:endParaRPr sz="1100" b="0">
              <a:solidFill>
                <a:srgbClr val="DDEEFF"/>
              </a:solidFill>
              <a:latin typeface="Microsoft YaHei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15200" y="2103120"/>
            <a:ext cx="3246120" cy="3657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24928" y="2240280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Microsoft YaHei" panose="020B0503020204020204" charset="-122"/>
              </a:rPr>
              <a:t>多人并行不冲突</a:t>
            </a:r>
            <a:endParaRPr sz="14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Delta spec 机制让不同变更可以并行推进，各自只描述自己的增量，合并时自动检测冲突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24928" y="3456432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62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Microsoft YaHei" panose="020B0503020204020204" charset="-122"/>
              </a:rPr>
              <a:t>上下文可共享</a:t>
            </a:r>
            <a:endParaRPr sz="14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规格文件是团队共享资产，不是某个人的 IDE 聊天记录；任何人都能读懂系统全貌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 flipH="1">
            <a:off x="7413625" y="4672330"/>
            <a:ext cx="76200" cy="77597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Microsoft YaHei" panose="020B0503020204020204" charset="-122"/>
              </a:rPr>
              <a:t>新人可快速接手</a:t>
            </a:r>
            <a:endParaRPr sz="14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读 specs + design + archived changes 即可理解系统演化历程，不用再问"这段代码为什么这样写"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498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897880"/>
            <a:ext cx="1024128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9893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C00"/>
                </a:solidFill>
                <a:latin typeface="Microsoft YaHei" panose="020B0503020204020204" charset="-122"/>
              </a:rPr>
              <a:t>一句话总结：</a:t>
            </a:r>
            <a:r>
              <a:rPr sz="1400" b="0">
                <a:solidFill>
                  <a:srgbClr val="FFFFFF"/>
                </a:solidFill>
                <a:latin typeface="Microsoft YaHei" panose="020B0503020204020204" charset="-122"/>
              </a:rPr>
              <a:t>OpenSpec 让 AI 编码从"个人即兴创作"变成"团队工程协作"——代码有规范、变更有记录、协作有秩序。</a:t>
            </a:r>
            <a:endParaRPr sz="14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14/39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商业价值：Agentic Coding 治理是蓝海市场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市场趋势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AI 编程工具正从"辅助"走向"自主"（Agentic）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Cursor, Windsurf, Claude Code 等工具快速普及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企业采用率快速增长，但治理和规范严重缺失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• 当前阶段类比：代码版本管理出现前的混乱期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• OpenSpec 定位 = Agentic Coding 时代的 Git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为什么现在值得研究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OpenSpec 仍处于早期阶段，先发优势明显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与 Claude Code 深度集成，Anthropic 生态优势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开源项目，可以基于自身需求定制和贡献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规格驱动思想与现有 DevOps 体系天然兼容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• 掌握核心方法论 → 可输出咨询/工具/培训服务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商业化方向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27432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企业内部效率提升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统一 AI 编码规范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减少返工、提升交付质量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降低代码审查成本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572000"/>
            <a:ext cx="27432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工具产品化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基于 OpenSpec 的企业级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管理平台（Web UI、审批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流程、数据统计）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572000"/>
            <a:ext cx="27432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咨询与培训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Agentic Coding 治理方法论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企业落地咨询、团队培训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最佳实践输出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4572000"/>
            <a:ext cx="27432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生态贡献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自定义 Schema 市场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行业特定工作流模板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插件和集成开发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15/39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ROI 分析：规范化带来的投资回报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Without OpenSpec（当前状态）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需求理解偏差率高 → 返工率 30-50%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无测试 → 上线后 bug 修复成本高 (10-100x)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代码审查耗时 → 审查者需从头理解意图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知识流失 → 新人上手周期长 (2-4 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多人协作冲突 → 集成时间占 20-30%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无法审计 → 合规风险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With OpenSpec（目标状态）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规格前置 → 返工率降至 10-15%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任务清单强制测试 → bug 在开发阶段发现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审查者读 proposal + spec → 审查效率提升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活文档 + 归档 → 新人上手周期缩短至 3-5 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Delta spec 隔离 → 并行开发无冲突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全链路追踪 → 天然满足审计需求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16/39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定位：OpenSpec 与现有工具链的互补关系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不是替代品，而是缺失的一环 - 填补 AI 编程的"治理真空"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需求管理层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01168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Specs +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WHO / WHAT / 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108960"/>
            <a:ext cx="2286000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AI 执行层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0896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Claude Code / Cursor /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HOW（写代码）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2286000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版本控制层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420624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Git / GitHub / GitLab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版本管理 + 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303520"/>
            <a:ext cx="2286000" cy="8229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CI/CD 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530352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Jenkins /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构建 + 部署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1874519"/>
            <a:ext cx="7315200" cy="1097280"/>
          </a:xfrm>
          <a:prstGeom prst="rect">
            <a:avLst/>
          </a:prstGeom>
          <a:solidFill>
            <a:srgbClr val="0078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79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OpenSpec 管理的是 AI 的"输入质量" - 输入越精确，AI 的输出越可控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17/39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333333"/>
                </a:solidFill>
                <a:latin typeface="Microsoft YaHei" panose="020B0503020204020204" charset="-122"/>
              </a:rPr>
              <a:t>学术前沿：2023-2026 五大宏观趋势</a:t>
            </a:r>
            <a:endParaRPr sz="28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0584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666666"/>
                </a:solidFill>
                <a:latin typeface="Microsoft YaHei" panose="020B0503020204020204" charset="-122"/>
              </a:rPr>
              <a:t>大量顶级学术研究与产业实践正在验证 OpenSpec 所处赛道的战略价值</a:t>
            </a:r>
            <a:endParaRPr sz="13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0000" y="1600000"/>
            <a:ext cx="3500000" cy="22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从自动补全到自主 Agent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三代演进：补全(2021) → 对话(2023) → Agent(2025)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SWE-bench 解题率：个位数% → 79.2%（3年）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多 Agent 协作成为 2026 年前沿方向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50000" y="1600000"/>
            <a:ext cx="35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规格驱动开发强势回归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Amazon Kiro（2025.7）—— 首个 SDD IDE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GitHub Spec Kit / Tessl / OpenSpec 并行发展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arXiv 2026 论文：定义 SDD 三成熟度模型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850000" y="1600000"/>
            <a:ext cx="35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需求工程被 LLM 深度变革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LLM4RE 论文量：4篇(2022) → 113篇(2024)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GPT-4 生成需求：速度快 720x，成本仅 0.06%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挑战：幻觉、领域推理、复杂依赖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300000" y="4000000"/>
            <a:ext cx="3500000" cy="22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69D6"/>
                </a:solidFill>
                <a:latin typeface="Microsoft YaHei" panose="020B0503020204020204" charset="-122"/>
              </a:rPr>
              <a:t>形式化方法与 LLM 融合</a:t>
            </a:r>
            <a:endParaRPr sz="1400" b="1">
              <a:solidFill>
                <a:srgbClr val="6B69D6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Vericoding 验证成功率 68% → 96%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Req2LTL / nl2spec：自然语言→时序逻辑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预言：AI 将使形式化验证走向主流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000000" y="4000000"/>
            <a:ext cx="3500000" cy="2200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D13438"/>
                </a:solidFill>
                <a:latin typeface="Microsoft YaHei" panose="020B0503020204020204" charset="-122"/>
              </a:rPr>
              <a:t>基准测试快速成熟</a:t>
            </a:r>
            <a:endParaRPr sz="14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SWE-bench 扩展：多语言/Windows/Pro 版本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SWE-bench Illusion 论文揭示记忆化问题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推动更严格、更真实的评估体系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63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Microsoft YaHei" panose="020B0503020204020204" charset="-122"/>
              </a:rPr>
              <a:t>数据来源：Ferrari et al.(2025), Cheng et al.(2026), arXiv, SWE-bench, Martin Kleppmann(2025)</a:t>
            </a:r>
            <a:endParaRPr sz="8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666666"/>
                </a:solidFill>
                <a:latin typeface="Microsoft YaHei" panose="020B0503020204020204" charset="-122"/>
              </a:rPr>
              <a:t>18/39</a:t>
            </a:r>
            <a:endParaRPr sz="10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竞争格局：OpenSpec 的差异化定位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0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0000" y="1050000"/>
            <a:ext cx="14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070000"/>
            <a:ext cx="1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Amazon Kiro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00000" y="1050000"/>
            <a:ext cx="24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0000" y="1070000"/>
            <a:ext cx="2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GitHub Spec 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Tessl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0000" y="1050000"/>
            <a:ext cx="22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OpenSpec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15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15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开发方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Amazon (AWS)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00000" y="157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40000" y="15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Microsoft (GitHub)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Tessl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0000" y="15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Fission AI (开源)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20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20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定位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AI IDE（封闭生态）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0000" y="205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0000" y="20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CLI 模板工具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Agent 上下文平台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00000" y="20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跨工具规格框架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000" y="25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25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支持工具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仅 Kiro 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0000" y="253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40000" y="25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GitHub Copilot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多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00000" y="25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20+ AI 工具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0000" y="301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0" y="303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Delta Spec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00000" y="301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40000" y="303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0000" y="301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核心创新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000" y="349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" y="351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工件依赖图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线性流程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00000" y="349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40000" y="351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00000" y="349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DAG 拓扑排序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0000" y="39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0000" y="39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并行变更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00000" y="397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40000" y="39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有限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00000" y="39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完整支持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0000" y="44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0000" y="44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规格质量检查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9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00000" y="445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40000" y="44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700000" y="44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7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可扩展（改进点）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0000" y="49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0000" y="49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开源/可定制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9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闭源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00000" y="493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49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模板开源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商业产品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00000" y="49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完全开源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0000" y="5610000"/>
            <a:ext cx="10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78D4"/>
                </a:solidFill>
              </a:defRPr>
            </a:pPr>
            <a:r>
              <a:t>OpenSpec 的核心壁垒：跨工具兼容 + Delta Spec + DAG 依赖图 —— 竞品均未实现这三者的组合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19/39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Microsoft YaHei" panose="020B0503020204020204" charset="-122"/>
              </a:rPr>
              <a:t>六大高商业价值的研究改进方向</a:t>
            </a:r>
            <a:endParaRPr sz="2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2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0000" y="1200000"/>
            <a:ext cx="3500000" cy="24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0000" y="1200000"/>
            <a:ext cx="3500000" cy="6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0000" y="1350000"/>
            <a:ext cx="360000" cy="36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Spec Quality Gate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在 spec 生成的每个环节植入质量检查
歧义检测 + 冲突分析 + 覆盖率评估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60000" y="2700000"/>
            <a:ext cx="3180000" cy="1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无直接竞品，核心差异化
返工率降低 30-50%</a:t>
            </a:r>
            <a:endParaRPr sz="11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0000" y="1200000"/>
            <a:ext cx="35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0000" y="1200000"/>
            <a:ext cx="3500000" cy="6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0000" y="1350000"/>
            <a:ext cx="360000" cy="36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1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Spec-Code Traceability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1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建立 Spec ↔ Code 双向追溯链
代码变更后自动检测 spec drift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410000" y="2700000"/>
            <a:ext cx="3180000" cy="1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107C10"/>
                </a:solidFill>
                <a:latin typeface="Microsoft YaHei" panose="020B0503020204020204" charset="-122"/>
              </a:rPr>
              <a:t>EU AI Act 2026.8 合规刚需
进入金融/医疗市场的前置条件</a:t>
            </a:r>
            <a:endParaRPr sz="11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00000" y="1200000"/>
            <a:ext cx="35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0000" y="1200000"/>
            <a:ext cx="3500000" cy="6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0000" y="1350000"/>
            <a:ext cx="360000" cy="36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Multi-Agent Orchestration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1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基于现有 DAG 拓扑排序拆分 task
多 Agent 并行 + artifact 状态协调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160000" y="2700000"/>
            <a:ext cx="3180000" cy="1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E86C00"/>
                </a:solidFill>
                <a:latin typeface="Microsoft YaHei" panose="020B0503020204020204" charset="-122"/>
              </a:rPr>
              <a:t>已有 DAG 架构，实现成本低
效率提升 3-4x，支撑团队级定价</a:t>
            </a:r>
            <a:endParaRPr sz="11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00000" y="3800000"/>
            <a:ext cx="3500000" cy="24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3800000"/>
            <a:ext cx="3500000" cy="65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000" y="3950000"/>
            <a:ext cx="360000" cy="36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6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69D6"/>
                </a:solidFill>
                <a:latin typeface="Microsoft YaHei" panose="020B0503020204020204" charset="-122"/>
              </a:rPr>
              <a:t>Platform / Web Hub</a:t>
            </a:r>
            <a:endParaRPr sz="1400" b="1">
              <a:solidFill>
                <a:srgbClr val="6B69D6"/>
              </a:solidFill>
              <a:latin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CLI → Web 平台：可视化 artifact graph
团队 spec review + 质量 dashboard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60000" y="5300000"/>
            <a:ext cx="3180000" cy="18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6B69D6"/>
                </a:solidFill>
                <a:latin typeface="Microsoft YaHei" panose="020B0503020204020204" charset="-122"/>
              </a:rPr>
              <a:t>CLI(免费) → Platform(付费)
最自然的 SaaS 商业化路径</a:t>
            </a:r>
            <a:endParaRPr sz="1100" b="1">
              <a:solidFill>
                <a:srgbClr val="6B69D6"/>
              </a:solidFill>
              <a:latin typeface="Microsoft YaHei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250000" y="3800000"/>
            <a:ext cx="3500000" cy="2400000"/>
          </a:xfrm>
          <a:prstGeom prst="roundRect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0000" y="3800000"/>
            <a:ext cx="3500000" cy="6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70000" y="3950000"/>
            <a:ext cx="360000" cy="36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7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81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8B"/>
                </a:solidFill>
                <a:latin typeface="Microsoft YaHei" panose="020B0503020204020204" charset="-122"/>
              </a:rPr>
              <a:t>Domain-Specific Packs</a:t>
            </a:r>
            <a:endParaRPr sz="14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41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医疗/金融/汽车行业预配置
合规 rules + spec 模板 +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410000" y="5300000"/>
            <a:ext cx="3180000" cy="1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8B8B"/>
                </a:solidFill>
                <a:latin typeface="Microsoft YaHei" panose="020B0503020204020204" charset="-122"/>
              </a:rPr>
              <a:t>Vertical SaaS 策略
每个行业 = 独立收入 + 高粘性</a:t>
            </a:r>
            <a:endParaRPr sz="11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8000000" y="3800000"/>
            <a:ext cx="3500000" cy="2400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0000" y="3800000"/>
            <a:ext cx="3500000" cy="65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20000" y="3950000"/>
            <a:ext cx="360000" cy="36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6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56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13438"/>
                </a:solidFill>
                <a:latin typeface="Microsoft YaHei" panose="020B0503020204020204" charset="-122"/>
              </a:rPr>
              <a:t>Formal Verification</a:t>
            </a:r>
            <a:endParaRPr sz="14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16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Given/When/Then → 形式化断言
编译期自动验证代码满足 spec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160000" y="5300000"/>
            <a:ext cx="3180000" cy="18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6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D13438"/>
                </a:solidFill>
                <a:latin typeface="Microsoft YaHei" panose="020B0503020204020204" charset="-122"/>
              </a:rPr>
              <a:t>安全关键场景的极高客单价
Vericoding 成功率已达 96%</a:t>
            </a:r>
            <a:endParaRPr sz="11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Microsoft YaHei" panose="020B0503020204020204" charset="-122"/>
              </a:rPr>
              <a:t>20/39</a:t>
            </a:r>
            <a:endParaRPr sz="10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Microsoft YaHei"/>
              </a:rPr>
              <a:t>优先投入的四个方向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Microsoft YaHei"/>
              </a:rPr>
              <a:t>按见效速度 × 实现成本 × 竞争壁垒排序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000" y="1300000"/>
            <a:ext cx="2700000" cy="51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Microsoft YaHei"/>
              </a:rPr>
              <a:t>Spec Quality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0000" y="1420000"/>
            <a:ext cx="1100000" cy="29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短期 1-3 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PM 写"优化体验"就丢给 AI
AI 按自己理解写 3 天 → 全部返工
需求模糊导致返工占开发 30-50%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/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proposal → spec 转换时植入 Gate：
• 歧义检测：拒绝模糊需求
• 冲突分析：与 main specs 交叉比对
• 覆盖评估：输出 Quality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/>
              </a:rPr>
              <a:t>Business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Microsoft YaHei"/>
              </a:rPr>
              <a:t>Kiro / Spec Kit 均无此能力
返工率 40%→15%，直接省人力
基于 LLM + 规则，1-3 月可 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70000" y="1300000"/>
            <a:ext cx="2700000" cy="5100000"/>
          </a:xfrm>
          <a:prstGeom prst="roundRect">
            <a:avLst/>
          </a:prstGeom>
          <a:solidFill>
            <a:srgbClr val="F0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70000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B8B"/>
                </a:solidFill>
                <a:latin typeface="Microsoft YaHei"/>
              </a:rPr>
              <a:t>Domain-Specific Packs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0000" y="1420000"/>
            <a:ext cx="1100000" cy="29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短期 1-3 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3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/>
              </a:rPr>
              <a:t>Problem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AI 不懂行业术语和合规要求
每个项目重复教育 AI 同样的领域常识
生成的 spec 缺乏行业深度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3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/>
              </a:rPr>
              <a:t>Solution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将领域知识打包为 Domain Packs：
• 行业术语表 + 规则模板
• 合规清单（金融/医疗/汽车）
• AI 生成 spec 时自动引用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3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B8B"/>
                </a:solidFill>
                <a:latin typeface="Microsoft YaHei"/>
              </a:rPr>
              <a:t>Business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B8B"/>
                </a:solidFill>
                <a:latin typeface="Microsoft YaHei"/>
              </a:rPr>
              <a:t>领域知识 = 护城河，竞品难复制
垂直行业客单价高，商业价值大
先验知识沉淀 = 可售卖数据资产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90000" y="1300000"/>
            <a:ext cx="2700000" cy="5100000"/>
          </a:xfrm>
          <a:prstGeom prst="roundRect">
            <a:avLst/>
          </a:prstGeom>
          <a:solidFill>
            <a:srgbClr val="FFF5E6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Microsoft YaHei"/>
              </a:rPr>
              <a:t>Multi-Agent
Orchestration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10000" y="1420000"/>
            <a:ext cx="1100000" cy="29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中期 3-6 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5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1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20 个 tasks 只能单 Agent 串行
端到端耗时 4 小时
无依赖的 task 本可并行却在等待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5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1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/>
              </a:rPr>
              <a:t>Solution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1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利用 OpenSpec 已有 DAG：
• 拓扑排序识别可并行 task 分组
• 每组独立 Agent + worktree
• 通过 artifact 状态隐式协调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5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/>
              </a:rPr>
              <a:t>Business Value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6C00"/>
                </a:solidFill>
                <a:latin typeface="Microsoft YaHei"/>
              </a:rPr>
              <a:t>DAG 架构已就绪，边际成本低
效率 3-4x → 最直观的卖点
个人版 $20 → 团队版 $200/人/月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10000" y="1300000"/>
            <a:ext cx="2700000" cy="510000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10000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1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7C10"/>
                </a:solidFill>
                <a:latin typeface="Microsoft YaHei"/>
              </a:rPr>
              <a:t>Spec-Code
Traceability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30000" y="1420000"/>
            <a:ext cx="1100000" cy="29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3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长期 6-12 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7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3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/>
              </a:rPr>
              <a:t>Problem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迭代半年后 spec 与代码严重 drift
新人问 design decision，无人能答
合规审计拿不出追溯证据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7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3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/>
              </a:rPr>
              <a:t>Solution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3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/>
              </a:rPr>
              <a:t>构建双向 traceability 链：
• Spec → Code：标注实现位置
• Code → Spec：变更触发 drift 告警
• Living Specs：规格随代码演进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7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3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/>
              </a:rPr>
              <a:t>Business Value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3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Microsoft YaHei"/>
              </a:rPr>
              <a:t>EU AI Act 2026.8 强制 traceability
医疗/金融/政府 = 高客单价市场
持续监控 = SaaS 订阅 → 稳定 MRR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/>
              </a:rPr>
              <a:t>21/39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改进优先级矩阵与实施路线图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Microsoft YaHei" panose="020B0503020204020204" charset="-122"/>
              </a:rPr>
              <a:t>优先级排序（价值 × 可行性）</a:t>
            </a:r>
            <a:endParaRPr sz="1400" b="1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方向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商业价值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可行性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优先级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0000" y="1640000"/>
            <a:ext cx="55000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0000" y="1680000"/>
            <a:ext cx="70000" cy="48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0000" y="168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000" y="1785000"/>
            <a:ext cx="270000" cy="2700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000" y="17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1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0115" y="1784985"/>
            <a:ext cx="16713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Spec Quality Gate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5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0000" y="17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最高</a:t>
            </a:r>
            <a:endParaRPr sz="1300" b="1">
              <a:solidFill>
                <a:srgbClr val="C0392B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00000" y="2220000"/>
            <a:ext cx="70000" cy="480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0000" y="2325000"/>
            <a:ext cx="270000" cy="270000"/>
          </a:xfrm>
          <a:prstGeom prst="ellipse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000" y="232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2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8055" y="2240280"/>
            <a:ext cx="19126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Domain-Specific Packs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25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50000" y="240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0000" y="232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00000" y="2760000"/>
            <a:ext cx="70000" cy="48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0000" y="276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0000" y="2865000"/>
            <a:ext cx="270000" cy="27000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000" y="286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3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7930" y="28796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Multi-Agent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25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9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50000" y="286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00000" y="3300000"/>
            <a:ext cx="70000" cy="48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50000" y="3405000"/>
            <a:ext cx="270000" cy="27000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0000" y="340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4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47930" y="33307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Spec-Code Traceability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25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7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8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6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8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9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0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50000" y="340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中高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00000" y="3840000"/>
            <a:ext cx="70000" cy="480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0000" y="384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0000" y="3945000"/>
            <a:ext cx="270000" cy="270000"/>
          </a:xfrm>
          <a:prstGeom prst="ellipse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0000" y="394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5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47930" y="383959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Platform / Web Hub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25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7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8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0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15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6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8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10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25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850000" y="394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B69D6"/>
                </a:solidFill>
                <a:latin typeface="Microsoft YaHei" panose="020B0503020204020204" charset="-122"/>
              </a:rPr>
              <a:t>中</a:t>
            </a:r>
            <a:endParaRPr sz="1300" b="1">
              <a:solidFill>
                <a:srgbClr val="6B69D6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00000" y="4380000"/>
            <a:ext cx="70000" cy="48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0000" y="4485000"/>
            <a:ext cx="270000" cy="27000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0000" y="44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6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947930" y="438022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Formal Verification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25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70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8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00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1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6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80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10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2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50000" y="44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99999"/>
                </a:solidFill>
                <a:latin typeface="Microsoft YaHei" panose="020B0503020204020204" charset="-122"/>
              </a:rPr>
              <a:t>低</a:t>
            </a:r>
            <a:endParaRPr sz="13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5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Microsoft YaHei" panose="020B0503020204020204" charset="-122"/>
              </a:rPr>
              <a:t>● 商业价值</a:t>
            </a:r>
            <a:endParaRPr sz="10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7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Microsoft YaHei" panose="020B0503020204020204" charset="-122"/>
              </a:rPr>
              <a:t>● 实现可行性</a:t>
            </a:r>
            <a:endParaRPr sz="10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00000" y="1100000"/>
            <a:ext cx="54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建议实施路线图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6200000" y="1500000"/>
            <a:ext cx="5400000" cy="3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50000" y="15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短期（1-3月）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350000" y="184000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实现 Spec Quality Gate（质量关卡）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集成 ISO 29148 需求质量评估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启动 Domain Packs 基础框架搭建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快速验证核心差异化价值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0000" y="2700020"/>
            <a:ext cx="5400000" cy="3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50000" y="270002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中期（3-6月）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6350000" y="304002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首批 Domain Packs 落地（金融/医疗）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多 Agent 编排层（基于现有 DAG）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Spec↔Code 基础追溯链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原型 Web Dashboard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6200000" y="3875275"/>
            <a:ext cx="5400000" cy="3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50000" y="3875275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长期（6-12月）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6350000" y="4215275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完整 Drift Detection + Living Specs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Domain Packs 扩展（汽车/合规等）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形式化验证集成探索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平台化 + 企业级功能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500000" y="5750000"/>
            <a:ext cx="11200000" cy="5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000" y="583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核心策略：</a:t>
            </a:r>
            <a:r>
              <a:rPr sz="1300" b="0">
                <a:solidFill>
                  <a:srgbClr val="335588"/>
                </a:solidFill>
                <a:latin typeface="Microsoft YaHei" panose="020B0503020204020204" charset="-122"/>
              </a:rPr>
              <a:t>Spec Quality Gate 快速建立差异化，Domain Packs 构建护城河——先证明 spec 治理的价值，再通过领域知识形成不可替代性。</a:t>
            </a:r>
            <a:endParaRPr sz="1300" b="0">
              <a:solidFill>
                <a:srgbClr val="335588"/>
              </a:solidFill>
              <a:latin typeface="Microsoft YaHei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22/39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029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Agentic Coding 已是趋势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02996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Claude Code 等工具让 AI 自主写代码成为现实，但企业缺少治理手段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3464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 填补治理空白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85292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在"AI 能写代码"和"AI 写对代码"之间架起桥梁，用规格驱动 AI 行为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65760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6758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实测验证：质量提升显著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67588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初始构建：3.26x 模块化 | 需求变更：边界覆盖 5x、测试 27:0、可追溯文档 636:0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48056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4988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商业价值：蓝海赛道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4988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先发优势 + 开源可定制 + 咨询/工具/培训多种变现路径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530352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建议：立项研究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32180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10 周、低成本投入，高潜力回报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217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谢谢  | 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23/39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36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附录：量化交易系统深度技术对比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Microsoft YaHei" panose="020B0503020204020204" charset="-122"/>
              </a:defRPr>
            </a:pPr>
            <a:r>
              <a:t>A股有色金属多因子量化交易系统  |  同一需求 · 两种实现 · 逐项拆解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3891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500" b="0">
                <a:solidFill>
                  <a:srgbClr val="88BBEE"/>
                </a:solidFill>
                <a:latin typeface="Microsoft YaHei" panose="020B0503020204020204" charset="-122"/>
              </a:defRPr>
            </a:pPr>
            <a:r>
              <a:t>OpenSpec 版：30+ 源码文件 · 16 个因子 · 100+ 测试用例 · CLI 工具</a:t>
            </a:r>
          </a:p>
          <a:p>
            <a:pPr algn="ctr">
              <a:spcAft>
                <a:spcPts val="1600"/>
              </a:spcAft>
              <a:defRPr sz="1500" b="0">
                <a:solidFill>
                  <a:srgbClr val="EEBB88"/>
                </a:solidFill>
                <a:latin typeface="Microsoft YaHei" panose="020B0503020204020204" charset="-122"/>
              </a:defRPr>
            </a:pPr>
            <a:r>
              <a:t>无 OpenSpec 版：6 个源码文件 · 15+ 因子 · 0 测试 · Flask Web 仪表盘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24/39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架构对比：企业级分层 vs 快速原型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577840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 版 — 6层架构 · 30+ 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1234440" cy="6583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数据层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402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src/data/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659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多数据源适配器 (AKShare + BaoStock 自动切换)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SQLite 增量更新 + 数据验证器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80"/>
            <a:ext cx="1234440" cy="6583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157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因子层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src/factors/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74320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注册器模式，16 个因子通过 @register 自注册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MAD 去极值 + Z-Score 标准化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7472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9300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策略层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9476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src/strategy/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52044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多因子评分 + IC 加权 + 约束优化分配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商品动量择时（铜铝联动信号）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51960"/>
            <a:ext cx="1234440" cy="658368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27024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风控层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572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src/risk/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29768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ATR 动态硬止损 + 追踪止损 + 分层回撤管理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金属暴跌联动预警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029200"/>
            <a:ext cx="1234440" cy="65836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4748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回测层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3492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src/backtest/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07492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事件驱动引擎 + A股规则模拟器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T+1 / 涨跌停 / 停牌 / 整手 / 印花税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806440"/>
            <a:ext cx="1234440" cy="65836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8247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报告层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126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src/report/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8521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Plotly 交互图表 + HTML/PNG 双格式输出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280160"/>
            <a:ext cx="5577840" cy="50292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3441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无 OpenSpec 版 — 扁平结构 · 6 文件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192024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19385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配置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2402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config.py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19659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Python 常量 · 硬编码股票池 · 无外部配置文件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269748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27157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30175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data_fetcher.py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74320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单一 AKShare 源 · TTL 缓存 · 无数据验证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47472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349300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因子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79476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factor_engine.py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352044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所有因子挤在一个文件 · Z-Score 标准化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无注册机制，添加因子需改多处代码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25196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427024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策略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572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strategy.py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43800" y="429768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阈值判断生成信号 · 等权分配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无择时、无约束优化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502920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504748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回测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3492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backtester.py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507492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简化回测 · 因子计算与实时信号不一致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无涨跌停/停牌/T+1 限制模拟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806440"/>
            <a:ext cx="1234440" cy="6583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58247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界面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6126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app.py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8521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Flask Web 仪表盘 · ECharts 图表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暗色主题 · 参数在线调整  (亮点)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400800"/>
            <a:ext cx="11430000" cy="457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OpenSpec 的 specs 和 design 工件在写代码前就定义了模块边界，AI 被迫按契约分层实现，而非一股脑堆在一起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25/39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风控对比：量化交易的生死线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在量化交易中，风控能力决定了系统能否在真实市场中存活。这是两个版本差距最大的地方。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07670" y="1604645"/>
            <a:ext cx="557784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7670" y="165036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 版：4 层风控体系</a:t>
            </a:r>
          </a:p>
        </p:txBody>
      </p:sp>
      <p:sp>
        <p:nvSpPr>
          <p:cNvPr id="8" name="Rectangle 7"/>
          <p:cNvSpPr/>
          <p:nvPr/>
        </p:nvSpPr>
        <p:spPr>
          <a:xfrm>
            <a:off x="407670" y="2199005"/>
            <a:ext cx="73152" cy="82296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219900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第1层：ATR 动态止损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51904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根据近期波动率自动调整止损位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波动大 → 止损宽（避免误杀）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波动小 → 止损窄（保护利润）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7670" y="3204845"/>
            <a:ext cx="73152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320484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第2层：追踪止损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52488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股价上涨 10% 后激活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从最高点回撤 8% 则卖出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锁定盈利，让利润奔跑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7670" y="4210685"/>
            <a:ext cx="73152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" y="421068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第3层：组合回撤管理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" y="453072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回撤 15% → 仓位砍半（减少暴露）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回撤 20% → 全部清仓（保命）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分层响应，不会一刀切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7670" y="5216525"/>
            <a:ext cx="73152" cy="82296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521652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第4层：金属暴跌联动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549084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监控铜/铝期货日跌幅 &gt; 3%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自动识别受影响的持仓股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触发黄金对冲机制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9830" y="1604645"/>
            <a:ext cx="5577840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9830" y="165036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无 OpenSpec 版：基础止损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9830" y="2199005"/>
            <a:ext cx="73152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2710" y="219900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固定止损 -8%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2710" y="251904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不管市场波动大小，统一 -8% 触发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牛市中容易被正常回调误杀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熊市中 -8% 可能仍然太慢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9830" y="3204845"/>
            <a:ext cx="73152" cy="8229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2710" y="320484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回撤预警 -15%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2710" y="352488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仅发出预警，没有自动减仓动作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需要人工介入处理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晚间/周末无法及时响应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9830" y="4210685"/>
            <a:ext cx="5577840" cy="164592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2710" y="4302125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缺失的风控能力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2710" y="4667885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无动态止损 — 无法适应不同市场环境</a:t>
            </a:r>
          </a:p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无追踪止损 — 赚到的利润无法锁定</a:t>
            </a:r>
          </a:p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无自动减仓 — 回撤时只能眼睁睁看着</a:t>
            </a:r>
          </a:p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  无联动预警 — 上游商品崩盘时毫无防备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OpenSpec 的 usecases.md 和 specs 工件要求明确定义异常场景，迫使 AI 实现完整的风控逻辑，而非只处理正常情况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26/39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回测对比：你的回测结果能信多少？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回测是量化策略上线前的最后一道关卡。回测越贴近真实，上线后的意外就越少。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474720" cy="5029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A股交易规则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2011680"/>
            <a:ext cx="3931920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0848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 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3840480" cy="50292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08483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无 OpenSpec 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0" y="251460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251460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877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T+1 交割制度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55117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完整模拟：今日买入明日才能卖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55117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未实现：买卖当日即可完成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0" y="3063240"/>
            <a:ext cx="3931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3063240"/>
            <a:ext cx="38404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13639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涨跌停板限制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09981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涨停 +10% 不可买入，跌停不可卖出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309981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未实现：任意价格均可成交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61188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23360" y="361188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361188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68503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停牌处理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64845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成交量=0 自动冻结，不可交易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64845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未实现：停牌期间仍可交易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6052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0" y="4160520"/>
            <a:ext cx="3931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4160520"/>
            <a:ext cx="38404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23367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整手交易（100股）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19709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强制 100 股倍数买入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19709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未实现：可买任意股数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23360" y="470916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79" y="470916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78231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交易费用建模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474573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印花税 0.05% + 佣金 0.03%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+ 滑点 0.15%（分别建模）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474573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合并费率 0.025%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（欠精确）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25780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23360" y="5257800"/>
            <a:ext cx="3931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79" y="5257800"/>
            <a:ext cx="38404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53309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因子计算一致性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520" y="529437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回测与实盘使用同一因子引擎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529437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回测中重新实现了简化版因子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与实时信号逻辑不一致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80644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23360" y="580644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5279" y="580644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7959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仓位分配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60520" y="584301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得分加权 + 单股 10% + 行业 25%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上限约束 + 择时调仓比例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584301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等权分配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无约束优化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6309360"/>
            <a:ext cx="11430000" cy="4572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3367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无 OpenSpec 版的回测忽略了大量 A 股特有规则，回测收益率会虚高，上线后会因为 T+1 无法卖出、涨停买不进等问题导致实际表现大幅偏离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27/39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综合评分：8 个维度逐项打分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33856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维度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4264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264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无OpenSpec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4264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差距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4264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 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14264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无OpenSpec 亮点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架构设计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202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9/10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9202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7/10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19202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202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分层清晰，模块间通过接口通信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9202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扁平直接，够用但难以扩展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59152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风控完备性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4505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10/10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505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6/10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45059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4 层风控 + 联动预警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4505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仅固定止损 + 预警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89504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809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回测真实性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2980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9/10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980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6/10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2980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98094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完整模拟 A 股交易规则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98094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简化模拟，结果可信度低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419856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5112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测试覆盖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351129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9/10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51129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1/10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35112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5112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100+ 测试用例，pytest 框架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35112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零测试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950208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可扩展性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40416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8/10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0416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4/10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40416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0416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注册器模式，新增因子只需一个类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40416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添加因子需改多处代码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80560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5720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配置管理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457200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8/10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457200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5/10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5720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5720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外部 YAML，12 类参数可调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57200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Python 常量硬编码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010912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10235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用户体验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7440" y="51023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6/10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0" y="51023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8/10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5102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-2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5102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CLI + HTML 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023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Web 仪表盘 + 在线调参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541264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56327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文档质量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56327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8/10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0" y="56327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7/10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37760" y="56327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+1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6327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README + 类型注解 + BDD 场景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29800" y="563270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中文注释 + docstrings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163056"/>
            <a:ext cx="1133856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62362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总分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77440" y="62362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FF66"/>
                </a:solidFill>
                <a:latin typeface="Microsoft YaHei" panose="020B0503020204020204" charset="-122"/>
              </a:defRPr>
            </a:pPr>
            <a:r>
              <a:t>67/80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62362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CC66"/>
                </a:solidFill>
                <a:latin typeface="Microsoft YaHei" panose="020B0503020204020204" charset="-122"/>
              </a:defRPr>
            </a:pPr>
            <a:r>
              <a:t>44/80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0" y="62362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FF66"/>
                </a:solidFill>
                <a:latin typeface="Microsoft YaHei" panose="020B0503020204020204" charset="-122"/>
              </a:defRPr>
            </a:pPr>
            <a:r>
              <a:t>+23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62362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 panose="020B0503020204020204" charset="-122"/>
              </a:defRPr>
            </a:pPr>
            <a:r>
              <a:t>OpenSpec 版总分领先 23 分，唯一弱项是缺少 Web 界面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28/39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结论：OpenSpec 让 AI 写出了工程级别的量化系统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OpenSpec 版在 8 个维度中 7 个领先，总分 67/80 vs 44/80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不是代码写得多就好 — 而是规格约束让 AI 在正确的方向上写出高质量代码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规格前置 = 架构质量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3200400"/>
            <a:ext cx="182880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强制 AI 在写代码前定义模块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边界、接口契约和数据流。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结果：6 层清晰架构，每层职责单一，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模块间通过 Protocol 接口通信。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对比：无 OpenSpec 时 AI 把所有逻辑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堆在 6 个文件里，改一处要查全局。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560320"/>
            <a:ext cx="3657600" cy="3931920"/>
          </a:xfrm>
          <a:prstGeom prst="rect">
            <a:avLst/>
          </a:prstGeom>
          <a:solidFill>
            <a:srgbClr val="FDE8E8"/>
          </a:solidFill>
          <a:ln w="254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7432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异常场景 = 风控完备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3200400"/>
            <a:ext cx="1828800" cy="27432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333756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的 usecases.md 要求定义异常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流程，specs 要求 Given/When/Then 验证。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结果：4 层风控体系，覆盖个股止损、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组合回撤、品种联动等完整场景。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对比：无 OpenSpec 时 AI 只实现正常流程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的 happy path，风控形同虚设。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560320"/>
            <a:ext cx="3657600" cy="3931920"/>
          </a:xfrm>
          <a:prstGeom prst="rect">
            <a:avLst/>
          </a:prstGeom>
          <a:solidFill>
            <a:srgbClr val="E8F5E9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7432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任务清单 = 测试护城河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200400"/>
            <a:ext cx="1828800" cy="2743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33756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的 tasks.md 把测试作为显式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任务项，AI 必须逐项完成。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结果：100+ 测试用例，覆盖因子计算、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策略逻辑、风控触发、回测指标等。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对比：无 OpenSpec 时 AI 认为「功能写完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就是完成」，测试数量为 0。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29/39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 panose="020B0503020204020204" charset="-122"/>
              </a:rPr>
              <a:t>附录 2：六大研究改进方向详解</a:t>
            </a:r>
            <a:endParaRPr sz="3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CCCCCC"/>
                </a:solidFill>
                <a:latin typeface="Microsoft YaHei" panose="020B0503020204020204" charset="-122"/>
              </a:rPr>
              <a:t>以下内容基于 2023-2026 年软件工程与需求工程领域的学术研究，</a:t>
            </a:r>
            <a:endParaRPr sz="1500" b="0">
              <a:solidFill>
                <a:srgbClr val="CCCCCC"/>
              </a:solidFill>
              <a:latin typeface="Microsoft YaHei" panose="020B0503020204020204" charset="-122"/>
            </a:endParaRPr>
          </a:p>
          <a:p>
            <a:pPr algn="ctr">
              <a:spcAft>
                <a:spcPts val="2000"/>
              </a:spcAft>
            </a:pPr>
            <a:r>
              <a:rPr sz="1500" b="0">
                <a:solidFill>
                  <a:srgbClr val="CCCCCC"/>
                </a:solidFill>
                <a:latin typeface="Microsoft YaHei" panose="020B0503020204020204" charset="-122"/>
              </a:rPr>
              <a:t>结合 17 次定向文献检索，梳理了 OpenSpec 最具潜力的六大改进方向。</a:t>
            </a:r>
            <a:endParaRPr sz="1500" b="0">
              <a:solidFill>
                <a:srgbClr val="CCCCCC"/>
              </a:solidFill>
              <a:latin typeface="Microsoft YaHei" panose="020B0503020204020204" charset="-122"/>
            </a:endParaRP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99999"/>
                </a:solidFill>
                <a:latin typeface="Microsoft YaHei" panose="020B0503020204020204" charset="-122"/>
              </a:rPr>
              <a:t>每个方向包含：现状问题 → 解决方案 → 学术依据 → 商业价值</a:t>
            </a:r>
            <a:endParaRPr sz="1400" b="0">
              <a:solidFill>
                <a:srgbClr val="999999"/>
              </a:solidFill>
              <a:latin typeface="Microsoft YaHei" panose="020B0503020204020204" charset="-122"/>
            </a:endParaRPr>
          </a:p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D700"/>
                </a:solidFill>
                <a:latin typeface="Microsoft YaHei" panose="020B0503020204020204" charset="-122"/>
              </a:rPr>
              <a:t>其中 Domain-Specific Packs 作为公司核心竞争力方向，进行了重点展开。</a:t>
            </a:r>
            <a:endParaRPr sz="1400" b="1">
              <a:solidFill>
                <a:srgbClr val="FFD70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30/39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1：Spec Quality Gate（智能需求质量关卡）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优先级：最高 | 短期可落地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在大多数团队中，需求规格的撰写依赖个人经验，缺乏统一的质量标准。PM 写完需求后直接交给开发，但"写了什么"和"开发理解了什么"之间往往存在巨大偏差。学术研究表明，30-50% 的软件返工最终可以追溯到需求阶段的模糊、遗漏或矛盾。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在 OpenSpec 的工作流中增加一个 AI 驱动的"质量关卡"节点。每条需求在进入设计和开发阶段之前，自动接受三项检查：可测试性（能否写出对应的测试用例）、无歧义性（是否存在多种理解方式）、完整性（是否覆盖了所有必要场景）。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系统会为每条需求生成一个 0-100 分的 Quality Score，未达标的条目会附带具体的改进建议，让作者在源头修正问题。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Ferrari et al. (2023) 通过 74 篇系统性综述证实，LLM 在需求缺陷检测上已达到实用水平。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Hymel et al. (2025) 实验显示，GPT-4 检测需求歧义的 F1 值达 0.72，覆盖率超过人工审查。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ISO 29148 提供了国际通用的需求工程质量框架，可作为评分标准的参照系。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减少 30-50% 的需求返工成本，这在大型项目中意味着数周的开发时间节省。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可作为 ISO/CMMI 合规工具，面向有审计需求的企业客户销售。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作为 OpenSpec 的"第一个可交付功能"，是最快见效的改进点。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实施路径：proposal → 校验检查点 → specs 分析 → 评分报告 → design 审查 → Quality Score 仪表盘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31/39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203835"/>
            <a:ext cx="840041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2：Spec-Code Traceability（需求-代码自动追溯）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优先级：高 | 中期建设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随着项目迭代，需求文档和实际代码之间会逐渐"漂移"（Spec Drift）——需求改了但代码没跟上，或者代码改了但需求文档还是旧版本。在大型团队中，这种漂移往往要到集成测试甚至上线后才被发现。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更关键的是，EU AI Act 将于 2026 年 8 月正式实施，要求所有 AI 系统必须具备完整的需求-代码可追溯性（Article 11）。这意味着 traceability 不再是"锦上添花"，而是合规刚需。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建立从 spec ID 到代码位置的双向映射关系。当需求变更时，系统自动标记受影响的代码文件；当代码被修改时，反向检查是否有需求需要同步更新。整套机制集成到 CI/CD 流水线中，实现"Living Specs"——需求文档始终反映代码的真实状态。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Cheng et al. (2026) 提出基于 LLMARE 的需求追踪框架，F1 值达 0.88，显著优于传统方法。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EU AI Act Article 11 明确要求高风险 AI 系统具备全链路可追溯性。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多家监管机构（FDA、金融监管）正在跟进类似要求。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合规驱动型市场：面向金融、医疗、AI 等受监管行业，traceability 是准入门槛。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SaaS 订阅模式：按项目规模收费的持续性收入。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与 Quality Gate 形成产品组合：先检查质量，再追踪落地，闭环管理。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实施路径：spec ↔ code mapping → git diff drift detection → CI/CD 集成 → Living Specs 仪表盘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32/39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4945" y="271145"/>
            <a:ext cx="904049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3：Multi-Agent Orchestration（多智能体协同编排）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优先级：高 | 中期建设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当前的 AI 编程助手通常是"单 Agent"模式——一个 AI 从头到尾处理整个任务。这在简单任务上没问题，但面对包含 20+ 子任务的复杂项目时，单个 Agent 容易丢失上下文、遗忘前序步骤，错误率随任务规模急剧上升。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利用 OpenSpec 天然的 task DAG（任务有向无环图）结构，将复杂任务拆解为多个子任务，分配给不同的专业化 Agent 并行处理。每个 Agent 只需关注自己的子任务，而 OpenSpec 的 artifact（需求规格、设计文档）充当 Agent 之间的"协议"，确保最终产出一致。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这类似于软件团队的分工协作，只不过"团队成员"变成了多个 AI Agent。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GitHub 于 2026 年 2 月发布 Agent HQ，支持多 Agent 协同开发，验证了这一方向的产业价值。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Anthropic 的 Claude Code Agent Teams、SWE-bench 多 Agent 方案均显示并行处理效率提升 3-4 倍。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DAG 调度是成熟的工程范式（Airflow、Prefect 等已在数据工程领域广泛验证）。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效率提升 3-4 倍：复杂任务的端到端时间大幅缩短。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计算资源按量付费：多 Agent 并行 = 更高的 API 调用量 = 收入增长。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与 GitHub/Anthropic 的生态对齐，可借势而非逆流。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实施路径：tasks.md → DAG 解析 → Agent Worker Pool → 乐观并发 → artifact 冲突检测 → 合并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33/39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8010" y="228600"/>
            <a:ext cx="825055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4：Platform / Web Hub（从命令行到协作平台）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6B69D6"/>
                </a:solidFill>
                <a:latin typeface="Microsoft YaHei" panose="020B0503020204020204" charset="-122"/>
              </a:rPr>
              <a:t>优先级：中 | 中长期</a:t>
            </a:r>
            <a:endParaRPr sz="1200" b="1">
              <a:solidFill>
                <a:srgbClr val="6B69D6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B69D6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6B69D6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OpenSpec 目前是一个命令行工具（CLI），这意味着只有会用终端的工程师才能使用它。但在实际项目中，需求的利益相关者还包括产品经理、测试工程师、业务方——他们需要查看和评审需求文档，但不会使用命令行。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此外，artifact graph（需求之间的依赖关系图）在 CLI 中难以直观呈现，而这恰恰是理解项目全貌的关键信息。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6B69D6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6B69D6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分阶段将 OpenSpec 从 CLI 扩展为 Web 平台：第一步是提供 Web UI 来可视化 artifact graph 和 spec 文档；第二步增加协作功能（评审、评论、审批流）；第三步构建 Marketplace，让社区可以分享和交易 spec 模板和 Domain Packs。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B69D6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6B69D6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AI 编程工具市场 2025 年规模达 $202 亿，Cursor ($2.5B+)、Devin ($2B+) 均走产品化路线。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Kiro (Amazon) 和 GitHub 已推出 spec review 的可视化功能，证明市场需求存在。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6B69D6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6B69D6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PLG（产品驱动增长）：免费 CLI → 付费 Web 协作 → 企业版，经典的 SaaS 增长路径。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Marketplace 抽成：第三方 spec 模板和 Domain Pack 的交易平台。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扩大用户群：从"工程师专用"变为"全团队可用"，市场天花板大幅提高。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实施路径：CLI 引擎（已有）→ REST API 层 → Web 前端 → 团队协作功能 → Marketplace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34/39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5：Domain-Specific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Microsoft YaHei" panose="020B0503020204020204" charset="-122"/>
              </a:rPr>
              <a:t>核心竞争力方向 | 1/3</a:t>
            </a:r>
            <a:endParaRPr sz="12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0058400" cy="1371600"/>
          </a:xfrm>
          <a:prstGeom prst="roundRect">
            <a:avLst/>
          </a:prstGeom>
          <a:solidFill>
            <a:srgbClr val="E6F7F7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9509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Microsoft YaHei" panose="020B0503020204020204" charset="-122"/>
              </a:rPr>
              <a:t>核心洞察</a:t>
            </a:r>
            <a:endParaRPr sz="16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通用大模型（LLM）擅长写代码，但不懂行业。它不知道金融交易必须做风控检查、医疗系统必须符合 HIPAA、汽车软件必须通过 ISO 26262 认证。而公司多年积累的行业 Know-How——业务规则、合规标准、最佳实践——恰好填补了这个空白。将这些 domain knowledge 封装成结构化的"领域规格包"（Domain Pack），就是把公司的隐性知识变成可复用、可销售的数字资产。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一个 Pack 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35/39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Domain-Specific Packs：为什么是核心竞争壁垒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Microsoft YaHei" panose="020B0503020204020204" charset="-122"/>
              </a:rPr>
              <a:t>核心竞争力方向 | 2/3</a:t>
            </a:r>
            <a:endParaRPr sz="12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8B8B"/>
                </a:solidFill>
                <a:latin typeface="Microsoft YaHei" panose="020B0503020204020204" charset="-122"/>
              </a:rPr>
              <a:t>护城河分析：为什么别人难以复制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行业规则、合规标准、最佳实践，这些知识散布在行业专家的脑中、监管文件里、和多年项目经验中。它们无法通过简单的网页爬取或模型训练获得。公司已有的行业积累，就是天然的数据壁垒。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2. 先发优势带来网络效应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第一个做出高质量金融 Pack 的团队，会吸引金融领域的用户；用户的使用反馈又会帮助改进 Pack 质量，形成"越用越好→越好越多人用"的飞轮。后来者即使有技术能力，也缺乏这个冷启动的数据积累。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3. 合规认证构成额外壁垒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如果 Domain Pack 能通过 ISO 26262（汽车）、HIPAA（医疗）、SOX（金融）等行业认证，这本身就是一个极高的准入门槛。竞争对手不仅要做出 Pack，还要花时间和成本通过认证。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4. 与 OpenSpec 生态深度绑定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Domain Pack 是基于 OpenSpec 的 spec 格式和 schema 体系构建的，这意味着使用 Pack 的客户同时也被锁定在 OpenSpec 生态中。Pack 越多，生态越强，切换成本越高。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一句话总结：AI 能力人人都有，但 domain knowledge + 结构化封装 + 合规认证 = 难以逾越的竞争壁垒。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36/39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Domain-Specific Packs：行业示例与落地路线图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Microsoft YaHei" panose="020B0503020204020204" charset="-122"/>
              </a:rPr>
              <a:t>核心竞争力方向 | 3/3</a:t>
            </a:r>
            <a:endParaRPr sz="12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108960" cy="31089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Microsoft YaHei" panose="020B0503020204020204" charset="-122"/>
              </a:rPr>
              <a:t>金融 / 量化交易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为什么先做金融？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公司在量化交易项目中已积累了完整的风控规则、回测验证逻辑和交易引擎架构经验。这些就是现成的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风控规则集（止损、持仓限制、异常检测）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回测真实性验证逻辑（防前视偏差）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交易引擎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SOX / MiFID II 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31920" y="1097280"/>
            <a:ext cx="3108960" cy="3108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Microsoft YaHei" panose="020B0503020204020204" charset="-122"/>
              </a:rPr>
              <a:t>医疗 / 生命科学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FDA 对医疗软件的监管日趋严格，HIPAA 合规是所有医疗 IT 系统的准入门槛。医疗机构愿意为确定性的合规方案支付高溢价。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HIPAA 数据保护规则集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FDA 510(k) 软件验证流程模板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HL7 FHIR 接口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EU MDR 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3108960" cy="310896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6C00"/>
                </a:solidFill>
                <a:latin typeface="Microsoft YaHei" panose="020B0503020204020204" charset="-122"/>
              </a:rPr>
              <a:t>汽车 / 工业控制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汽车软件正从嵌入式向智能化转型，ISO 26262 功能安全认证是强制要求。传统车企缺乏 AI 辅助的 spec 工具，这是一个蓝海市场。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B8B"/>
                </a:solidFill>
                <a:latin typeface="Microsoft YaHei" panose="020B0503020204020204" charset="-122"/>
              </a:rPr>
              <a:t>商业模式：Vertical SaaS</a:t>
            </a:r>
            <a:endParaRPr sz="14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每个 Domain Pack 按行业 + 规模定价（年订阅制），目标客单价 $10K-50K/年。先从公司最熟悉的金融领域切入（冷启动成本最低），再向医疗和汽车扩展。每进入一个新行业，都需要与该领域的行业专家合作，这进一步巩固了护城河。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落地路线：金融 Pack（Q1，已有基础）→ 医疗 Pack（Q2，合规驱动）→ 汽车 Pack（Q3，安全关键）→ 更多行业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37/39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6：Formal Verification（规格的形式化验证）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38125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D13438"/>
                </a:solidFill>
                <a:latin typeface="Microsoft YaHei" panose="020B0503020204020204" charset="-122"/>
              </a:rPr>
              <a:t>优先级：低（长期） | 技术储备</a:t>
            </a:r>
            <a:endParaRPr sz="12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13438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D13438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目前验证"代码是否满足需求"主要依赖测试——但测试只能覆盖有限的场景。对于关键代码路径，"测试没报错"不等于"一定没有 bug"。在航空、金融、医疗等领域，这种不确定性是不可接受的。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13438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D13438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将 OpenSpec 的 Given/When/Then 格式的需求规格，自动转换为形式化语言（如 LTL、CTL、SMT 公式），然后用数学方法证明代码在所有可能的输入下都满足规格要求——而不是仅在测试用例覆盖的输入下。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这是一个技术门槛很高的长期方向，但一旦实现，将是 OpenSpec 最具技术壁垒的差异化功能。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13438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D13438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Klopmann (2025) 提出 AI 辅助形式化验证框架，将验证通过率从 68% 提升至 96%。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Vericode benchmark 显示 LLM 生成的形式化 spec 质量已接近人工水平。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ReaLis、Zhipu 等团队正在该方向快速推进。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D13438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D13438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安全关键行业（航空、医疗、金融）的形式化验证咨询费用通常在 $10K-$100K+ 量级。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FDA/ISO 认证越来越认可形式化方法，长期具有合规价值。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技术壁垒极高，一旦建立先发优势，竞争对手追赶成本巨大。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实施路径：Given/When/Then → 属性提取 → LTL/CTL 公式生成 → SMT 求解器验证 → 验证报告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38/39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优先级排序与推荐实施路径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457200" cy="685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1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Spec Quality Gate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短期（1-3月）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40480" y="116128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最快见效，直接提升需求质量，降低返工成本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1810512"/>
            <a:ext cx="457200" cy="6858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47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2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" y="18562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Domain-Specific Packs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短期启动，持续建设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40480" y="1920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核心竞争壁垒，公司 domain knowledge 的商业化载体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91840" y="1856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  <a:latin typeface="Microsoft YaHei" panose="020B0503020204020204" charset="-122"/>
              </a:rPr>
              <a:t>★</a:t>
            </a:r>
            <a:endParaRPr sz="1400" b="1">
              <a:solidFill>
                <a:srgbClr val="FFD700"/>
              </a:solidFill>
              <a:latin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48640" y="2569464"/>
            <a:ext cx="457200" cy="6858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3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26151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Multi-Agent Orchestration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40480" y="2679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效率倍增器，与行业趋势对齐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3328416"/>
            <a:ext cx="457200" cy="6858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65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4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33741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Spec-Code Traceability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40480" y="343814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合规刚需，EU AI Act 驱动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48640" y="4087368"/>
            <a:ext cx="457200" cy="6858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245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5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97280" y="41330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Platform / Web Hub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中长期（6-12月）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40480" y="419709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PLG 增长引擎，扩大用户群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48640" y="4846320"/>
            <a:ext cx="457200" cy="6858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83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6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Formal Verification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97280" y="51937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长期（12月+）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40480" y="495604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技术储备，极高壁垒但实现周期长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5715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推荐策略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短期以 Spec Quality Gate 作为 MVP 快速验证产品价值，同步启动 Domain-Specific Packs（金融领域）的建设。中期补齐 Multi-Agent 和 Traceability 能力，长期向平台化和形式化验证演进。Domain Packs 贯穿始终，是从短期到长期持续积累竞争壁垒的核心抓手。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39/39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18950</Words>
  <Application>WPS Presentation</Application>
  <PresentationFormat>On-screen Show (4:3)</PresentationFormat>
  <Paragraphs>1720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8" baseType="lpstr">
      <vt:lpstr>Arial</vt:lpstr>
      <vt:lpstr>SimSun</vt:lpstr>
      <vt:lpstr>Wingdings</vt:lpstr>
      <vt:lpstr>Arial</vt:lpstr>
      <vt:lpstr>Microsoft YaHei</vt:lpstr>
      <vt:lpstr>Consolas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Zhifei Dou</cp:lastModifiedBy>
  <cp:revision>11</cp:revision>
  <dcterms:created xsi:type="dcterms:W3CDTF">2013-01-27T09:14:00Z</dcterms:created>
  <dcterms:modified xsi:type="dcterms:W3CDTF">2026-02-22T02:29:36Z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