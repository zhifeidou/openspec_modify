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0" r:id="rId21"/>
    <p:sldId id="276" r:id="rId22"/>
    <p:sldId id="277" r:id="rId23"/>
    <p:sldId id="278" r:id="rId24"/>
    <p:sldId id="279" r:id="rId25"/>
    <p:sldId id="280" r:id="rId26"/>
    <p:sldId id="281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9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OpenSpec：规范化 Agentic Coding 的关键基础设施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Microsoft YaHei" panose="020B0503020204020204" charset="-122"/>
              </a:defRPr>
            </a:pPr>
            <a:r>
              <a:t>基于 Claude Code 的企业级 AI 辅助开发规范化研究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技术研究汇报  |  2026年2月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0000"/>
            <a:ext cx="9144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Microsoft YaHei" panose="020B0503020204020204" charset="-122"/>
              </a:rPr>
              <a:t>目录</a:t>
            </a:r>
            <a:endParaRPr sz="30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75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0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1520" y="1010000"/>
            <a:ext cx="500000" cy="50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1520" y="104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0000" y="98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背景与问题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0000" y="13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Agentic Coding 现状与挑战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167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1520" y="1780000"/>
            <a:ext cx="500000" cy="50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520" y="181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0000" y="175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OpenSpec 核心解析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0000" y="207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概念、工作流程、协作模式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244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1520" y="2550000"/>
            <a:ext cx="500000" cy="50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520" y="258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0000" y="252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实测对比验证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0000" y="284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量化交易系统 — 有/无 OpenSpec 对比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321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520" y="3320000"/>
            <a:ext cx="500000" cy="50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520" y="335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04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0000" y="329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企业级价值与 ROI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0000" y="361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规范化、可追溯、可协作、投资回报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398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1520" y="4090000"/>
            <a:ext cx="500000" cy="5000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520" y="412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05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0000" y="406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学术前沿与竞争格局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50000" y="438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2023-2026 五大趋势 + 差异化定位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475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1520" y="4860000"/>
            <a:ext cx="500000" cy="50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520" y="489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06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0000" y="483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六大研究改进方向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50000" y="51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高商业价值改进路线图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1520" y="5520000"/>
            <a:ext cx="10500000" cy="7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1520" y="5630000"/>
            <a:ext cx="500000" cy="5000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520" y="5660000"/>
            <a:ext cx="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 panose="020B0503020204020204" charset="-122"/>
              </a:rPr>
              <a:t>07</a:t>
            </a:r>
            <a:endParaRPr sz="2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50000" y="5600000"/>
            <a:ext cx="8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icrosoft YaHei" panose="020B0503020204020204" charset="-122"/>
              </a:rPr>
              <a:t>研究计划与建议</a:t>
            </a:r>
            <a:endParaRPr sz="1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50000" y="592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 panose="020B0503020204020204" charset="-122"/>
              </a:rPr>
              <a:t>落地路径与资源需求</a:t>
            </a:r>
            <a:endParaRPr sz="11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2/20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背景：Agentic Coding 正在改变软件开发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Claude Code 等 AI 编程工具已经能够自主完成复杂的软件开发任务。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但在企业环境中，"能写代码"只是第一步 - 更关键的是"写对的代码"。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2560320" cy="3200400"/>
          </a:xfrm>
          <a:prstGeom prst="rect">
            <a:avLst/>
          </a:prstGeom>
          <a:solidFill>
            <a:srgbClr val="FDE8E8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需求失控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AI 容易自作主张添加/遗漏功能</a:t>
            </a:r>
          </a:p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需求只存在于聊天记录中，无法追溯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560320" cy="3200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质量不稳定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同样的需求，不同对话产出差异大</a:t>
            </a:r>
          </a:p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缺乏验证标准，靠人肉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2560320" cy="32004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协作困难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一个人的 AI 对话上下文无法共享</a:t>
            </a:r>
          </a:p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多人并行修改容易冲突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743200"/>
            <a:ext cx="2560320" cy="3200400"/>
          </a:xfrm>
          <a:prstGeom prst="rect">
            <a:avLst/>
          </a:prstGeom>
          <a:solidFill>
            <a:srgbClr val="F5F5F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知识流失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为什么做、怎么做的决策过程随对话消失</a:t>
            </a:r>
          </a:p>
          <a:p>
            <a:pPr algn="ctr">
              <a:spcAft>
                <a:spcPts val="7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新人接手困难，重复踩坑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Claude Code 解决了"怎么写"，但没有解决"写什么"和"写得对不对"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OpenSpec：AI 辅助开发的规格框架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是一个轻量级的规格驱动框架，让人和 AI 在写代码之前先达成共识。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流动而非僵化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没有阶段门控，按需推进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迭代而非瀑布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边做边学，持续优化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增量而非全量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用 Delta 记录变更，不重写整体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存量优先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为已有项目设计，不是只给新项目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项目结构（两个核心目录）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onsolas" panose="020B0609020204030204"/>
              </a:defRPr>
            </a:pPr>
            <a:r>
              <a:t>openspec/</a:t>
            </a:r>
            <a:br/>
            <a:r>
              <a:t>├── specs/              ← 当前行为的真相源</a:t>
            </a:r>
            <a:br/>
            <a:r>
              <a:t>│   └── &lt;domain&gt;/spec.md    （按领域组织的需求）</a:t>
            </a:r>
            <a:br/>
            <a:r>
              <a:t>└── changes/            ← 提议的变更</a:t>
            </a:r>
            <a:br/>
            <a:r>
              <a:t>    ├── &lt;change-name&gt;/</a:t>
            </a:r>
            <a:br/>
            <a:r>
              <a:t>    │   ├── proposal.md     （为什么改）</a:t>
            </a:r>
            <a:br/>
            <a:r>
              <a:t>    │   ├── usecases.md     （用户场景）</a:t>
            </a:r>
            <a:br/>
            <a:r>
              <a:t>    │   ├── specs/          （Delta: 增/改/删）</a:t>
            </a:r>
            <a:br/>
            <a:r>
              <a:t>    │   ├── design.md       （怎么改）</a:t>
            </a:r>
            <a:br/>
            <a:r>
              <a:t>    │   └── tasks.md        （实现清单）</a:t>
            </a:r>
            <a:br/>
            <a:r>
              <a:t>    └── archive/            （已完成变更的归档）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核心创新：Delta Spec（增量规格）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不是重写整个规格，而是只描述变化：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480"/>
              </a:spcAft>
              <a:defRPr sz="1200" b="0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## ADDED Requirements      ← 新增需求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## MODIFIED Requirements  ← 修改需求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## REMOVED Requirements   ← 删除需求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4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每个需求附带 Given/When/Then 验证场景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归档时自动合并到主规格 → 活文档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OpenSpec 实际运行效果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Dashboard 总览（终端界面）</a:t>
            </a:r>
          </a:p>
        </p:txBody>
      </p:sp>
      <p:pic>
        <p:nvPicPr>
          <p:cNvPr id="6" name="Picture 5" descr="openspec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7548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Change Workflow 全景（人机协作流程）</a:t>
            </a:r>
          </a:p>
        </p:txBody>
      </p:sp>
      <p:pic>
        <p:nvPicPr>
          <p:cNvPr id="8" name="Picture 7" descr="work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76072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左图：openspec view 命令展示项目规格状态、活跃变更和任务进度  |  右图：完整的 Propose → Review → Apply → Archive 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图片来源：github.com/Fission-AI/OpenSpec  |  harikrishnan.io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OpenSpec 工作流程：从想法到归档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43000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探索想法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明确方向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CC"/>
                </a:solidFill>
                <a:latin typeface="Microsoft YaHei" panose="020B0503020204020204" charset="-122"/>
              </a:defRPr>
            </a:pPr>
            <a:r>
              <a:t>可选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9072" y="1828800"/>
            <a:ext cx="1143000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为什么改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改什么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0944" y="1828800"/>
            <a:ext cx="1143000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Use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用户场景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主流程+异常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828800"/>
            <a:ext cx="1143000" cy="2011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Delta 规格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Given/When/Then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828800"/>
            <a:ext cx="1143000" cy="2011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0408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技术方案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架构决策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474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CC"/>
                </a:solidFill>
                <a:latin typeface="Microsoft YaHei" panose="020B0503020204020204" charset="-122"/>
              </a:defRPr>
            </a:pPr>
            <a:r>
              <a:t>可选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828800"/>
            <a:ext cx="1143000" cy="20116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实现清单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可追踪进度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2" y="1828800"/>
            <a:ext cx="1143000" cy="20116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2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AI 按清单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写代码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0304" y="1828800"/>
            <a:ext cx="1143000" cy="20116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验证实现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匹配规格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3304" y="2606040"/>
            <a:ext cx="11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52176" y="1828800"/>
            <a:ext cx="1143000" cy="20116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52176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Archive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7896" y="2377440"/>
            <a:ext cx="1051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合并规格</a:t>
            </a:r>
          </a:p>
          <a:p>
            <a:pPr algn="ctr"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归档变更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663440"/>
            <a:ext cx="73152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681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一键加速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681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/opsx:ff 可以一步生成所有工件，省去逐步创建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03520"/>
            <a:ext cx="73152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3218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灵活不僵化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321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工件之间是依赖图（DAG），不是固定流水线，可跳过可选步骤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943600"/>
            <a:ext cx="73152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961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闭环演进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5961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Archive 后 specs 自动更新 → 下次变更基于最新状态 → 持续积累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OpenSpec 协作模式：Project Owner / AI / Developer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nspec_sequ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035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企业级集成示例：Linear + OpenSpec</a:t>
            </a:r>
          </a:p>
        </p:txBody>
      </p:sp>
      <p:pic>
        <p:nvPicPr>
          <p:cNvPr id="7" name="Picture 6" descr="linear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0352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577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三方协作：Owner 定义需求 → OpenSpec 管理规格 → Developer/AI 实现</a:t>
            </a:r>
          </a:p>
          <a:p>
            <a:pPr algn="l">
              <a:spcAft>
                <a:spcPts val="64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全程可追踪：每个阶段的产出都是持久化的 Markdown 文件</a:t>
            </a:r>
          </a:p>
          <a:p>
            <a:pPr algn="l">
              <a:spcAft>
                <a:spcPts val="640"/>
              </a:spcAft>
              <a:defRPr sz="1200" b="0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可集成现有工具链：Linear、Jira、GitHub Issues 等项目管理工具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图片来源：hashrocket.com/blog  |  intent-driven.dev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实测对比：同一需求，有/无 OpenSpec 的差异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测试项目：A股有色金属量化选股交易系统（相同需求描述，分别用两种方式让 Claude Code 实现）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对比维度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011680"/>
            <a:ext cx="384048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使用 OpenSpec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384048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不使用 OpenSpec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32004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2560320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560320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代码总量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334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~3,900 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6334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~1,200 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3580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3035808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035808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089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文件数量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108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40+ 文件，模块化设计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108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5 个文件，单体结构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11296"/>
            <a:ext cx="32004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3511296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11296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844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设计模式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5844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适配器模式、工厂模式、依赖注入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5844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直接实现，全局变量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8678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3986784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86784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05993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测试覆盖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059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18 个测试文件（单元+集成+端到端）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059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无测试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62272"/>
            <a:ext cx="32004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4462272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462272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5354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配置管理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535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外部 YAML 配置文件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5354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Python 常量硬编码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93776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31920" y="493776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493776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01091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错误处理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0109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多数据源 fallback、显式异常处理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50109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基本 try-catch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413248"/>
            <a:ext cx="32004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31920" y="5413248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5413248"/>
            <a:ext cx="3840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48640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文档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486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8 个领域规格 + BDD 验证场景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486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仅代码内注释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888736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31920" y="5888736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5888736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59618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可维护性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59618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高 — 明确的模块契约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59618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低 — 紧耦合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实测洞察：OpenSpec 不只是让代码变多，而是让代码变好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438912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架构质量跃升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的 specs 和 design 工件迫使 AI 在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写代码前思考架构。结果：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多数据源适配器 vs 硬编码单一数据源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12 类配置外部化 vs Python 常量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模块间通过接口通信 vs 直接引用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63040"/>
            <a:ext cx="2743200" cy="4389120"/>
          </a:xfrm>
          <a:prstGeom prst="rect">
            <a:avLst/>
          </a:prstGeom>
          <a:solidFill>
            <a:srgbClr val="E8F5E9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测试从 0 到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任务清单（tasks.md）明确要求测试，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AI 无法跳过。相比之下：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OpenSpec: 18 个测试文件，覆盖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单元测试、集成测试、端到端测试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无 OpenSpec: 0 个测试文件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743200" cy="4389120"/>
          </a:xfrm>
          <a:prstGeom prst="rect">
            <a:avLst/>
          </a:prstGeom>
          <a:solidFill>
            <a:srgbClr val="FFF3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可维护性差距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6 个月后需要修改因子计算逻辑：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OpenSpec: 查 specs → 改 delta →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更新 tasks → 精确修改模块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无 OpenSpec: 在 1200 行单体文件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里全局搜索，祈祷不破坏其他功能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463040"/>
            <a:ext cx="2743200" cy="4389120"/>
          </a:xfrm>
          <a:prstGeom prst="rect">
            <a:avLst/>
          </a:prstGeom>
          <a:solidFill>
            <a:srgbClr val="FDE8E8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知识沉淀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为什么选 AKShare 而非 Tushare？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OpenSpec: design.md 记录了决策理由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和替代方案的权衡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无 OpenSpec: 没人知道，当时的对话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记录已经找不到了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结论：OpenSpec 的价值不在于写更多代码，而在于让 AI 写出工程级别的代码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企业级价值：为什么公司需要 OpenSpec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规范化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统一 AI 编码标准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所有团队遵循相同的 proposal → spec → design → task → implement 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需求有据可查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每个变更都有 proposal（为什么）、spec（是什么）、design（怎么做）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质量有标准可验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BDD 场景（Given/When/Then）提供明确的验收标准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566160" cy="594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变更全链路追踪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从需求 → 设计 → 任务 → 代码，每一步都有记录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审计友好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归档保留完整上下文，满足合规要求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决策可回溯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5212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design.md 记录技术选型理由和替代方案的权衡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8" y="1371600"/>
            <a:ext cx="356616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8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可协作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多人并行不冲突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24688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Delta spec 机制让不同变更可以并行，各自只描述自己的增量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8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上下文可共享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8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规格文件是团队共享的，不是某个人的聊天记录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8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新人可快速接手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8" y="5212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读 specs + design + archived changes 即可理解系统演化历程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商业价值：Agentic Coding 治理是蓝海市场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市场趋势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AI 编程工具正从"辅助"走向"自主"（Agentic）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Cursor, Windsurf, Claude Code 等工具快速普及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企业采用率快速增长，但治理和规范严重缺失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• 当前阶段类比：代码版本管理出现前的混乱期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• OpenSpec 定位 = Agentic Coding 时代的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为什么现在值得研究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OpenSpec 仍处于早期阶段，先发优势明显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与 Claude Code 深度集成，Anthropic 生态优势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开源项目，可以基于自身需求定制和贡献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• 规格驱动思想与现有 DevOps 体系天然兼容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• 掌握核心方法论 → 可输出咨询/工具/培训服务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商业化方向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2743200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企业内部效率提升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统一 AI 编码规范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减少返工、提升交付质量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降低代码审查成本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572000"/>
            <a:ext cx="2743200" cy="20116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工具产品化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51206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基于 OpenSpec 的企业级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管理平台（Web UI、审批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流程、数据统计）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572000"/>
            <a:ext cx="2743200" cy="20116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咨询与培训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206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Agentic Coding 治理方法论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企业落地咨询、团队培训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最佳实践输出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4572000"/>
            <a:ext cx="2743200" cy="20116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生态贡献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1206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自定义 Schema 市场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行业特定工作流模板</a:t>
            </a:r>
          </a:p>
          <a:p>
            <a:pPr algn="ctr">
              <a:spcAft>
                <a:spcPts val="480"/>
              </a:spcAft>
              <a:defRPr sz="120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插件和集成开发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ROI 分析：规范化带来的投资回报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Without OpenSpec（当前状态）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需求理解偏差率高 → 返工率 30-50%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无测试 → 上线后 bug 修复成本高 (10-100x)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代码审查耗时 → 审查者需从头理解意图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知识流失 → 新人上手周期长 (2-4 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多人协作冲突 → 集成时间占 20-30%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✗  无法审计 → 合规风险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With OpenSpec（目标状态）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规格前置 → 返工率降至 10-15%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任务清单强制测试 → bug 在开发阶段发现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审查者读 proposal + spec → 审查效率提升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活文档 + 归档 → 新人上手周期缩短至 3-5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Delta spec 隔离 → 并行开发无冲突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✓  全链路追踪 → 天然满足审计需求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定位：OpenSpec 与现有工具链的互补关系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不是替代品，而是缺失的一环 - 填补 AI 编程的"治理真空"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需求管理层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011680"/>
            <a:ext cx="4114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Specs +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WHO / WHAT / 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108960"/>
            <a:ext cx="2286000" cy="8229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AI 执行层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108960"/>
            <a:ext cx="4114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Claude Code / Cursor /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HOW（写代码）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2286000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版本控制层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206240"/>
            <a:ext cx="4114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Git / GitHub / GitLab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版本管理 + 协作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303520"/>
            <a:ext cx="2286000" cy="822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CI/CD 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5303520"/>
            <a:ext cx="4114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Jenkins / 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构建 + 部署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1874519"/>
            <a:ext cx="7315200" cy="1097280"/>
          </a:xfrm>
          <a:prstGeom prst="rect">
            <a:avLst/>
          </a:prstGeom>
          <a:solidFill>
            <a:srgbClr val="0078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794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OpenSpec 管理的是 AI 的"输入质量" - 输入越精确，AI 的输出越可控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33333"/>
                </a:solidFill>
                <a:latin typeface="Microsoft YaHei" panose="020B0503020204020204" charset="-122"/>
              </a:rPr>
              <a:t>学术前沿：2023-2026 五大宏观趋势</a:t>
            </a:r>
            <a:endParaRPr sz="28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00000"/>
            <a:ext cx="100584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Microsoft YaHei" panose="020B0503020204020204" charset="-122"/>
              </a:rPr>
              <a:t>大量顶级学术研究与产业实践正在验证 OpenSpec 所处赛道的战略价值</a:t>
            </a:r>
            <a:endParaRPr sz="13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0000" y="1600000"/>
            <a:ext cx="3500000" cy="2200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7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从自动补全到自主 Agent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0000" y="2100000"/>
            <a:ext cx="3200000" cy="1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三代演进：补全(2021) → 对话(2023) → Agent(2025)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SWE-bench 解题率：个位数% → 79.2%（3年）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多 Agent 协作成为 2026 年前沿方向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50000" y="1600000"/>
            <a:ext cx="3500000" cy="22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0000" y="17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7C10"/>
                </a:solidFill>
                <a:latin typeface="Microsoft YaHei" panose="020B0503020204020204" charset="-122"/>
              </a:rPr>
              <a:t>规格驱动开发强势回归</a:t>
            </a:r>
            <a:endParaRPr sz="14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00000" y="2100000"/>
            <a:ext cx="3200000" cy="1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Amazon Kiro（2025.7）—— 首个 SDD IDE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GitHub Spec Kit / Tessl / OpenSpec 并行发展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arXiv 2026 论文：定义 SDD 三成熟度模型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50000" y="1600000"/>
            <a:ext cx="3500000" cy="22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000" y="17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6C00"/>
                </a:solidFill>
                <a:latin typeface="Microsoft YaHei" panose="020B0503020204020204" charset="-122"/>
              </a:rPr>
              <a:t>需求工程被 LLM 深度变革</a:t>
            </a:r>
            <a:endParaRPr sz="14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0000" y="2100000"/>
            <a:ext cx="3200000" cy="1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LLM4RE 论文量：4篇(2022) → 113篇(2024)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GPT-4 生成需求：速度快 720x，成本仅 0.06%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挑战：幻觉、领域推理、复杂依赖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00000" y="4000000"/>
            <a:ext cx="3500000" cy="220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000" y="41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6B69D6"/>
                </a:solidFill>
                <a:latin typeface="Microsoft YaHei" panose="020B0503020204020204" charset="-122"/>
              </a:rPr>
              <a:t>形式化方法与 LLM 融合</a:t>
            </a:r>
            <a:endParaRPr sz="1400" b="1">
              <a:solidFill>
                <a:srgbClr val="6B69D6"/>
              </a:solidFill>
              <a:latin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50000" y="4500000"/>
            <a:ext cx="3200000" cy="1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Vericoding 验证成功率 68% → 96%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Req2LTL / nl2spec：自然语言→时序逻辑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预言：AI 将使形式化验证走向主流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00000" y="4000000"/>
            <a:ext cx="3500000" cy="2200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00" y="41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13438"/>
                </a:solidFill>
                <a:latin typeface="Microsoft YaHei" panose="020B0503020204020204" charset="-122"/>
              </a:rPr>
              <a:t>基准测试快速成熟</a:t>
            </a:r>
            <a:endParaRPr sz="14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50000" y="4500000"/>
            <a:ext cx="3200000" cy="1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SWE-bench 扩展：多语言/Windows/Pro 版本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SWE-bench Illusion 论文揭示记忆化问题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8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推动更严格、更真实的评估体系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30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66666"/>
                </a:solidFill>
                <a:latin typeface="Microsoft YaHei" panose="020B0503020204020204" charset="-122"/>
              </a:rPr>
              <a:t>数据来源：Ferrari et al.(2025), Cheng et al.(2026), arXiv, SWE-bench, Martin Kleppmann(2025)</a:t>
            </a:r>
            <a:endParaRPr sz="8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14/20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33333"/>
                </a:solidFill>
                <a:latin typeface="Microsoft YaHei" panose="020B0503020204020204" charset="-122"/>
              </a:rPr>
              <a:t>竞争格局：OpenSpec 的差异化定位</a:t>
            </a:r>
            <a:endParaRPr sz="28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0000" y="120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000" y="125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Microsoft YaHei" panose="020B0503020204020204" charset="-122"/>
              </a:rPr>
              <a:t>维度</a:t>
            </a:r>
            <a:endParaRPr sz="12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00000" y="12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0000" y="12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Microsoft YaHei" panose="020B0503020204020204" charset="-122"/>
              </a:rPr>
              <a:t>Amazon Kiro</a:t>
            </a:r>
            <a:endParaRPr sz="12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50000" y="12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0000" y="12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Microsoft YaHei" panose="020B0503020204020204" charset="-122"/>
              </a:rPr>
              <a:t>GitHub Spec Kit</a:t>
            </a:r>
            <a:endParaRPr sz="12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00000" y="12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0000" y="12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Microsoft YaHei" panose="020B0503020204020204" charset="-122"/>
              </a:rPr>
              <a:t>Tessl</a:t>
            </a:r>
            <a:endParaRPr sz="12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50000" y="1200000"/>
            <a:ext cx="2800000" cy="430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0000" y="125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078D4"/>
                </a:solidFill>
                <a:latin typeface="Microsoft YaHei" panose="020B0503020204020204" charset="-122"/>
              </a:rPr>
              <a:t>OpenSpec</a:t>
            </a:r>
            <a:endParaRPr sz="12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0000" y="166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000" y="171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开发方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300000" y="16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0000" y="17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Amazon (AWS)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50000" y="16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0000" y="17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Microsoft (GitHub)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000000" y="16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0000" y="17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Tessl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350000" y="166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0000" y="171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Fission AI (开源)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0000" y="212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000" y="217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定位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300000" y="21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0000" y="21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AI IDE（封闭生态）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650000" y="21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0000" y="21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CLI 模板工具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000000" y="21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0000" y="21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Agent 上下文平台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350000" y="212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0000" y="217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跨工具规格框架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0000" y="258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000" y="263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支持工具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300000" y="25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80000" y="26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仅 Kiro IDE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650000" y="25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0000" y="26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GitHub Copilot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000000" y="25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0000" y="26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多 Agent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350000" y="258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0000" y="263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7C10"/>
                </a:solidFill>
                <a:latin typeface="Microsoft YaHei" panose="020B0503020204020204" charset="-122"/>
              </a:rPr>
              <a:t>20+ AI 工具</a:t>
            </a:r>
            <a:endParaRPr sz="10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50000" y="304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000" y="309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Delta Spec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300000" y="304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0000" y="309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不支持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650000" y="304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0000" y="309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不支持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000000" y="304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0000" y="309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不支持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350000" y="304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30000" y="309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7C10"/>
                </a:solidFill>
                <a:latin typeface="Microsoft YaHei" panose="020B0503020204020204" charset="-122"/>
              </a:rPr>
              <a:t>核心创新</a:t>
            </a:r>
            <a:endParaRPr sz="10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50000" y="350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000" y="355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工件依赖图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300000" y="35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0000" y="35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线性流程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650000" y="35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30000" y="35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无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000000" y="350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0000" y="355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无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350000" y="350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0000" y="355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7C10"/>
                </a:solidFill>
                <a:latin typeface="Microsoft YaHei" panose="020B0503020204020204" charset="-122"/>
              </a:rPr>
              <a:t>DAG 拓扑排序</a:t>
            </a:r>
            <a:endParaRPr sz="10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50000" y="396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000" y="401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并行变更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2300000" y="39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80000" y="40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不支持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650000" y="39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30000" y="40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不支持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000000" y="396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0000" y="401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有限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350000" y="396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30000" y="401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7C10"/>
                </a:solidFill>
                <a:latin typeface="Microsoft YaHei" panose="020B0503020204020204" charset="-122"/>
              </a:rPr>
              <a:t>完整支持</a:t>
            </a:r>
            <a:endParaRPr sz="10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50000" y="442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000" y="447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规格质量检查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2300000" y="44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80000" y="44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无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650000" y="44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30000" y="44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无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000000" y="442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0000" y="447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无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350000" y="442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30000" y="447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E86C00"/>
                </a:solidFill>
                <a:latin typeface="Microsoft YaHei" panose="020B0503020204020204" charset="-122"/>
              </a:rPr>
              <a:t>可扩展（改进点）</a:t>
            </a:r>
            <a:endParaRPr sz="10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50000" y="4880000"/>
            <a:ext cx="1800000" cy="4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0000" y="4930000"/>
            <a:ext cx="1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开源/可定制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2300000" y="48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80000" y="49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闭源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650000" y="48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0000" y="49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模板开源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7000000" y="4880000"/>
            <a:ext cx="2300000" cy="4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080000" y="4930000"/>
            <a:ext cx="21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商业产品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350000" y="4880000"/>
            <a:ext cx="2800000" cy="43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30000" y="4930000"/>
            <a:ext cx="2640000" cy="3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7C10"/>
                </a:solidFill>
                <a:latin typeface="Microsoft YaHei" panose="020B0503020204020204" charset="-122"/>
              </a:rPr>
              <a:t>完全开源</a:t>
            </a:r>
            <a:endParaRPr sz="10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1520" y="6100000"/>
            <a:ext cx="100584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OpenSpec 的核心壁垒：跨工具兼容 + Delta Spec + DAG 依赖图 —— 竞品均未实现这三者的组合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15/20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Microsoft YaHei" panose="020B0503020204020204" charset="-122"/>
              </a:rPr>
              <a:t>六大高商业价值的研究改进方向</a:t>
            </a:r>
            <a:endParaRPr sz="2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2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0000" y="1200000"/>
            <a:ext cx="3500000" cy="2400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0000" y="1200000"/>
            <a:ext cx="3500000" cy="65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000" y="1350000"/>
            <a:ext cx="360000" cy="36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" y="13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000" y="13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Spec Quality Gate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000" y="18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在 spec 生成的每个环节植入质量检查
歧义检测 + 冲突分析 + 覆盖率评估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0000" y="2700000"/>
            <a:ext cx="3180000" cy="1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000" y="28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无直接竞品，核心差异化
返工率降低 30-50%</a:t>
            </a:r>
            <a:endParaRPr sz="11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0000" y="1200000"/>
            <a:ext cx="3500000" cy="24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0000" y="1200000"/>
            <a:ext cx="3500000" cy="65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000" y="1350000"/>
            <a:ext cx="360000" cy="36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000" y="13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0000" y="13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7C10"/>
                </a:solidFill>
                <a:latin typeface="Microsoft YaHei" panose="020B0503020204020204" charset="-122"/>
              </a:rPr>
              <a:t>Spec-Code Traceability</a:t>
            </a:r>
            <a:endParaRPr sz="14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10000" y="18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建立 Spec ↔ Code 双向追溯链
代码变更后自动检测 spec drift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10000" y="2700000"/>
            <a:ext cx="3180000" cy="18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00" y="28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107C10"/>
                </a:solidFill>
                <a:latin typeface="Microsoft YaHei" panose="020B0503020204020204" charset="-122"/>
              </a:rPr>
              <a:t>EU AI Act 2026.8 合规刚需
进入金融/医疗市场的前置条件</a:t>
            </a:r>
            <a:endParaRPr sz="11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00000" y="1200000"/>
            <a:ext cx="3500000" cy="24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0000" y="1200000"/>
            <a:ext cx="3500000" cy="6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20000" y="1350000"/>
            <a:ext cx="360000" cy="36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0000" y="13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60000" y="13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C00"/>
                </a:solidFill>
                <a:latin typeface="Microsoft YaHei" panose="020B0503020204020204" charset="-122"/>
              </a:rPr>
              <a:t>Multi-Agent Orchestration</a:t>
            </a:r>
            <a:endParaRPr sz="14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0000" y="18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基于现有 DAG 拓扑排序拆分 task
多 Agent 并行 + artifact 状态协调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60000" y="2700000"/>
            <a:ext cx="3180000" cy="1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0000" y="28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E86C00"/>
                </a:solidFill>
                <a:latin typeface="Microsoft YaHei" panose="020B0503020204020204" charset="-122"/>
              </a:rPr>
              <a:t>已有 DAG 架构，实现成本低
效率提升 3-4x，支撑团队级定价</a:t>
            </a:r>
            <a:endParaRPr sz="11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0000" y="3800000"/>
            <a:ext cx="3500000" cy="240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3800000"/>
            <a:ext cx="3500000" cy="6500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0000" y="3950000"/>
            <a:ext cx="360000" cy="3600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39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0000" y="39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69D6"/>
                </a:solidFill>
                <a:latin typeface="Microsoft YaHei" panose="020B0503020204020204" charset="-122"/>
              </a:rPr>
              <a:t>Platform / Web Hub</a:t>
            </a:r>
            <a:endParaRPr sz="1400" b="1">
              <a:solidFill>
                <a:srgbClr val="6B69D6"/>
              </a:solidFill>
              <a:latin typeface="Microsoft YaHei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000" y="44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CLI → Web 平台：可视化 artifact graph
团队 spec review + 质量 dashboard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0000" y="5300000"/>
            <a:ext cx="3180000" cy="1800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000" y="54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6B69D6"/>
                </a:solidFill>
                <a:latin typeface="Microsoft YaHei" panose="020B0503020204020204" charset="-122"/>
              </a:rPr>
              <a:t>CLI(免费) → Platform(付费)
最自然的 SaaS 商业化路径</a:t>
            </a:r>
            <a:endParaRPr sz="1100" b="1">
              <a:solidFill>
                <a:srgbClr val="6B69D6"/>
              </a:solidFill>
              <a:latin typeface="Microsoft YaHei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250000" y="3800000"/>
            <a:ext cx="3500000" cy="240000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0000" y="3800000"/>
            <a:ext cx="3500000" cy="65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70000" y="3950000"/>
            <a:ext cx="360000" cy="3600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000" y="39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10000" y="39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8B"/>
                </a:solidFill>
                <a:latin typeface="Microsoft YaHei" panose="020B0503020204020204" charset="-122"/>
              </a:rPr>
              <a:t>Domain-Specific Packs</a:t>
            </a:r>
            <a:endParaRPr sz="1400" b="1">
              <a:solidFill>
                <a:srgbClr val="008B8B"/>
              </a:solidFill>
              <a:latin typeface="Microsoft YaHei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10000" y="44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医疗/金融/汽车行业预配置
合规 rules + spec 模板 + schema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410000" y="5300000"/>
            <a:ext cx="3180000" cy="1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0000" y="54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008B8B"/>
                </a:solidFill>
                <a:latin typeface="Microsoft YaHei" panose="020B0503020204020204" charset="-122"/>
              </a:rPr>
              <a:t>Vertical SaaS 策略
每个行业 = 独立收入 + 高粘性</a:t>
            </a:r>
            <a:endParaRPr sz="1100" b="1">
              <a:solidFill>
                <a:srgbClr val="008B8B"/>
              </a:solidFill>
              <a:latin typeface="Microsoft YaHei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00000" y="3800000"/>
            <a:ext cx="3500000" cy="2400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0000" y="3800000"/>
            <a:ext cx="3500000" cy="65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20000" y="3950000"/>
            <a:ext cx="360000" cy="3600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0000" y="3970000"/>
            <a:ext cx="36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6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60000" y="3970000"/>
            <a:ext cx="2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13438"/>
                </a:solidFill>
                <a:latin typeface="Microsoft YaHei" panose="020B0503020204020204" charset="-122"/>
              </a:rPr>
              <a:t>Formal Verification</a:t>
            </a:r>
            <a:endParaRPr sz="14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60000" y="4420000"/>
            <a:ext cx="318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Given/When/Then → 形式化断言
编译期自动验证代码满足 spec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160000" y="5300000"/>
            <a:ext cx="3180000" cy="18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60000" y="5420000"/>
            <a:ext cx="318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1">
                <a:solidFill>
                  <a:srgbClr val="D13438"/>
                </a:solidFill>
                <a:latin typeface="Microsoft YaHei" panose="020B0503020204020204" charset="-122"/>
              </a:rPr>
              <a:t>安全关键场景的极高客单价
Vericoding 成功率已达 96%</a:t>
            </a:r>
            <a:endParaRPr sz="11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16/26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Microsoft YaHei" panose="020B0503020204020204" charset="-122"/>
              </a:rPr>
              <a:t>优先投入的三个方向</a:t>
            </a:r>
            <a:endParaRPr sz="26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2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05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Microsoft YaHei" panose="020B0503020204020204" charset="-122"/>
              </a:rPr>
              <a:t>按见效速度 × 实现成本 × 竞争壁垒排序</a:t>
            </a:r>
            <a:endParaRPr sz="13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0000" y="1350000"/>
            <a:ext cx="3600000" cy="5200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000" y="1350000"/>
            <a:ext cx="3600000" cy="65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000" y="148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D4"/>
                </a:solidFill>
                <a:latin typeface="Microsoft YaHei" panose="020B0503020204020204" charset="-122"/>
              </a:rPr>
              <a:t>Spec Quality Gate</a:t>
            </a:r>
            <a:endParaRPr sz="15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30000" y="1480000"/>
            <a:ext cx="1200000" cy="34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0000" y="1505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charset="-122"/>
              </a:rPr>
              <a:t>短期 1-3 月</a:t>
            </a:r>
            <a:endParaRPr sz="12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0000" y="1910000"/>
            <a:ext cx="3400000" cy="12500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000" y="197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13438"/>
                </a:solidFill>
                <a:latin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0000" y="225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PM 写“优化体验”就丢给 AI
AI 按自己理解写 3 天 → 全部返工
需求模糊导致返工占开发 30-50%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0000" y="3300000"/>
            <a:ext cx="3400000" cy="14500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000" y="33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10"/>
                </a:solidFill>
                <a:latin typeface="Microsoft YaHei" panose="020B0503020204020204" charset="-122"/>
              </a:rPr>
              <a:t>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000" y="3640000"/>
            <a:ext cx="3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proposal → spec 转换时植入 Gate：
• 歧义检测：拒绝模糊需求
• 冲突分析：与 main specs 交叉比对
• 覆盖评估：输出 Quality Score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0000" y="4900000"/>
            <a:ext cx="3400000" cy="1250000"/>
          </a:xfrm>
          <a:prstGeom prst="round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000" y="49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Business Value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000" y="524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Kiro / Spec Kit 均无此能力
返工率 40% → 15%，直接省人力
基于 LLM + 规则，1-3 月可 MVP</a:t>
            </a:r>
            <a:endParaRPr sz="11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60000" y="1350000"/>
            <a:ext cx="3600000" cy="52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000" y="1350000"/>
            <a:ext cx="3600000" cy="6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0215" y="1416685"/>
            <a:ext cx="223964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C00"/>
                </a:solidFill>
                <a:latin typeface="Microsoft YaHei" panose="020B0503020204020204" charset="-122"/>
              </a:rPr>
              <a:t>Multi-Agent Orchestration</a:t>
            </a:r>
            <a:endParaRPr sz="15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10000" y="1480000"/>
            <a:ext cx="1200000" cy="34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0000" y="1505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charset="-122"/>
              </a:rPr>
              <a:t>中期 3-6 月</a:t>
            </a:r>
            <a:endParaRPr sz="12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60000" y="1910000"/>
            <a:ext cx="3400000" cy="12500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0000" y="197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13438"/>
                </a:solidFill>
                <a:latin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60000" y="225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20 个 tasks 只能单 Agent 串行
端到端耗时 4 小时
无依赖的 task 本可并行却在等待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60000" y="3300000"/>
            <a:ext cx="3400000" cy="14500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0000" y="33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10"/>
                </a:solidFill>
                <a:latin typeface="Microsoft YaHei" panose="020B0503020204020204" charset="-122"/>
              </a:rPr>
              <a:t>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0000" y="3640000"/>
            <a:ext cx="3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利用 OpenSpec 已有 DAG：
• 拓扑排序识别可并行 task 分组
• 每组独立 Agent + worktree
• 通过 artifact 状态隐式协调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260000" y="4900000"/>
            <a:ext cx="3400000" cy="1250000"/>
          </a:xfrm>
          <a:prstGeom prst="round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0000" y="49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Business Value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60000" y="524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1">
                <a:solidFill>
                  <a:srgbClr val="E86C00"/>
                </a:solidFill>
                <a:latin typeface="Microsoft YaHei" panose="020B0503020204020204" charset="-122"/>
              </a:rPr>
              <a:t>DAG 架构已就绪，边际成本低
效率 3-4x → 最直观的卖点
个人版 $20 → 团队版 $200/人/月</a:t>
            </a:r>
            <a:endParaRPr sz="11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40000" y="1350000"/>
            <a:ext cx="3600000" cy="52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40000" y="1350000"/>
            <a:ext cx="3600000" cy="65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9900" y="1378585"/>
            <a:ext cx="209994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7C10"/>
                </a:solidFill>
                <a:latin typeface="Microsoft YaHei" panose="020B0503020204020204" charset="-122"/>
              </a:rPr>
              <a:t>Spec-Code Traceability</a:t>
            </a:r>
            <a:endParaRPr sz="15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190000" y="1480000"/>
            <a:ext cx="1200000" cy="34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0000" y="1505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 panose="020B0503020204020204" charset="-122"/>
              </a:rPr>
              <a:t>长期 6-12 月</a:t>
            </a:r>
            <a:endParaRPr sz="12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40000" y="1910000"/>
            <a:ext cx="3400000" cy="12500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0000" y="197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13438"/>
                </a:solidFill>
                <a:latin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40000" y="225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迭代半年后 spec 与代码严重 drift
新人问 design decision，无人能答
合规审计拿不出追溯证据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040000" y="3300000"/>
            <a:ext cx="3400000" cy="14500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40000" y="33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10"/>
                </a:solidFill>
                <a:latin typeface="Microsoft YaHei" panose="020B0503020204020204" charset="-122"/>
              </a:rPr>
              <a:t>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40000" y="3640000"/>
            <a:ext cx="3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333333"/>
                </a:solidFill>
                <a:latin typeface="Microsoft YaHei" panose="020B0503020204020204" charset="-122"/>
              </a:rPr>
              <a:t>构建双向 traceability 链：
• Spec → Code：标注实现位置
• Code → Spec：变更触发 drift 告警
• Living Specs：规格随代码演进</a:t>
            </a:r>
            <a:endParaRPr sz="11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40000" y="4900000"/>
            <a:ext cx="3400000" cy="1250000"/>
          </a:xfrm>
          <a:prstGeom prst="round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40000" y="496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10"/>
                </a:solidFill>
                <a:latin typeface="Microsoft YaHei" panose="020B0503020204020204" charset="-122"/>
              </a:rPr>
              <a:t>Business Value</a:t>
            </a:r>
            <a:endParaRPr sz="13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140000" y="5240000"/>
            <a:ext cx="32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1">
                <a:solidFill>
                  <a:srgbClr val="107C10"/>
                </a:solidFill>
                <a:latin typeface="Microsoft YaHei" panose="020B0503020204020204" charset="-122"/>
              </a:rPr>
              <a:t>EU AI Act 2026.8 强制 traceability
医疗/金融/政府 = 高客单价市场
持续监控 = SaaS 订阅 → 稳定 MRR</a:t>
            </a:r>
            <a:endParaRPr sz="1100" b="1">
              <a:solidFill>
                <a:srgbClr val="107C10"/>
              </a:solidFill>
              <a:latin typeface="Microsoft YaHei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17/26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33333"/>
                </a:solidFill>
                <a:latin typeface="Microsoft YaHei" panose="020B0503020204020204" charset="-122"/>
              </a:rPr>
              <a:t>改进优先级矩阵与实施路线图</a:t>
            </a:r>
            <a:endParaRPr sz="28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33333"/>
                </a:solidFill>
                <a:latin typeface="Microsoft YaHei" panose="020B0503020204020204" charset="-122"/>
              </a:rPr>
              <a:t>优先级矩阵（价值 × 可行性）</a:t>
            </a:r>
            <a:endParaRPr sz="14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000" y="1550000"/>
            <a:ext cx="5400000" cy="3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5400000"/>
            <a:ext cx="5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66666"/>
                </a:solidFill>
                <a:latin typeface="Microsoft YaHei" panose="020B0503020204020204" charset="-122"/>
              </a:rPr>
              <a:t>实现难度 →  低                                              高</a:t>
            </a:r>
            <a:endParaRPr sz="9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000" y="1550000"/>
            <a:ext cx="300000" cy="3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Microsoft YaHei" panose="020B0503020204020204" charset="-122"/>
              </a:rPr>
              <a:t>商
业
价
值
↑
高
低</a:t>
            </a:r>
            <a:endParaRPr sz="8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770000" y="2310000"/>
            <a:ext cx="700000" cy="38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0" y="2370000"/>
            <a:ext cx="6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1 质量关卡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35000" y="1930000"/>
            <a:ext cx="750000" cy="38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5000" y="1990000"/>
            <a:ext cx="69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2 追溯检测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015000" y="2006000"/>
            <a:ext cx="750000" cy="38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5000" y="2066000"/>
            <a:ext cx="69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3 多Agent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930000" y="1854000"/>
            <a:ext cx="700000" cy="3800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0" y="1914000"/>
            <a:ext cx="64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4 平台化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335000" y="2690000"/>
            <a:ext cx="650000" cy="3800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5000" y="2750000"/>
            <a:ext cx="59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5 领域包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65000" y="1740000"/>
            <a:ext cx="650000" cy="3800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5000" y="1800000"/>
            <a:ext cx="59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 panose="020B0503020204020204" charset="-122"/>
              </a:rPr>
              <a:t>6 形式验证</a:t>
            </a:r>
            <a:endParaRPr sz="10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00000" y="1150000"/>
            <a:ext cx="55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33333"/>
                </a:solidFill>
                <a:latin typeface="Microsoft YaHei" panose="020B0503020204020204" charset="-122"/>
              </a:rPr>
              <a:t>建议实施路线图</a:t>
            </a:r>
            <a:endParaRPr sz="1400" b="1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000" y="1550000"/>
            <a:ext cx="5400000" cy="320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0" y="1600000"/>
            <a:ext cx="51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短期（1-3月）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0000" y="1930000"/>
            <a:ext cx="51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实现 Spec Quality Gate（质量关卡）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集成 ISO 29148 需求质量评估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输出 Spec Quality Score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低成本、高差异化、快速验证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00000" y="2850000"/>
            <a:ext cx="5400000" cy="3200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2900000"/>
            <a:ext cx="51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中期（3-6月）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0000" y="3230000"/>
            <a:ext cx="51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多 Agent 编排层（基于现有 DAG）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Spec↔Code 基础追溯链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原型 Web Dashboard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利用已有架构，扩展核心能力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00000" y="4150000"/>
            <a:ext cx="5400000" cy="3200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0" y="4200000"/>
            <a:ext cx="51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长期（6-12月）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0000" y="4530000"/>
            <a:ext cx="51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完整 Drift Detection + Living Specs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领域包（医疗/金融/汽车）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形式化验证集成探索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  <a:latin typeface="Microsoft YaHei" panose="020B0503020204020204" charset="-122"/>
              </a:rPr>
              <a:t>• 平台化 + 企业级功能</a:t>
            </a:r>
            <a:endParaRPr sz="1000" b="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0000" y="5750000"/>
            <a:ext cx="11200000" cy="5000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000" y="5810000"/>
            <a:ext cx="10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核心策略：OpenSpec 的护城河不是"又一个 spec 模板工具"，而是"唯一能保证 spec 质量和 spec-code 一致性的平台"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66666"/>
                </a:solidFill>
                <a:latin typeface="Microsoft YaHei" panose="020B0503020204020204" charset="-122"/>
              </a:rPr>
              <a:t>18/20</a:t>
            </a:r>
            <a:endParaRPr sz="1000" b="0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73152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29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Agentic Coding 已是趋势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0299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 panose="020B0503020204020204" charset="-122"/>
              </a:defRPr>
            </a:pPr>
            <a:r>
              <a:t>Claude Code 等工具让 AI 自主写代码成为现实，但企业缺少治理手段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34640"/>
            <a:ext cx="73152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 填补治理空白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8529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 panose="020B0503020204020204" charset="-122"/>
              </a:defRPr>
            </a:pPr>
            <a:r>
              <a:t>在"AI 能写代码"和"AI 写对代码"之间架起桥梁，用规格驱动 AI 行为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657600"/>
            <a:ext cx="73152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675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实测验证：质量提升显著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67588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 panose="020B0503020204020204" charset="-122"/>
              </a:defRPr>
            </a:pPr>
            <a:r>
              <a:t>3.26x 代码模块化、18 vs 0 测试文件、完整架构设计 vs 单体代码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73152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498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商业价值：蓝海赛道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498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 panose="020B0503020204020204" charset="-122"/>
              </a:defRPr>
            </a:pPr>
            <a:r>
              <a:t>先发优势 + 开源可定制 + 咨询/工具/培训多种变现路径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303520"/>
            <a:ext cx="73152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321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建议：立项研究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3218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 panose="020B0503020204020204" charset="-122"/>
              </a:defRPr>
            </a:pPr>
            <a:r>
              <a:t>10 周、低成本投入，高潜力回报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谢谢  | 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36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附录：量化交易系统深度技术对比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Microsoft YaHei" panose="020B0503020204020204" charset="-122"/>
              </a:defRPr>
            </a:pPr>
            <a:r>
              <a:t>A股有色金属多因子量化交易系统  |  同一需求 · 两种实现 · 逐项拆解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500" b="0">
                <a:solidFill>
                  <a:srgbClr val="88BBEE"/>
                </a:solidFill>
                <a:latin typeface="Microsoft YaHei" panose="020B0503020204020204" charset="-122"/>
              </a:defRPr>
            </a:pPr>
            <a:r>
              <a:t>OpenSpec 版：30+ 源码文件 · 16 个因子 · 100+ 测试用例 · CLI 工具</a:t>
            </a:r>
          </a:p>
          <a:p>
            <a:pPr algn="ctr">
              <a:spcAft>
                <a:spcPts val="1600"/>
              </a:spcAft>
              <a:defRPr sz="1500" b="0">
                <a:solidFill>
                  <a:srgbClr val="EEBB88"/>
                </a:solidFill>
                <a:latin typeface="Microsoft YaHei" panose="020B0503020204020204" charset="-122"/>
              </a:defRPr>
            </a:pPr>
            <a:r>
              <a:t>无 OpenSpec 版：6 个源码文件 · 15+ 因子 · 0 测试 · Flask Web 仪表盘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16/21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架构对比：企业级分层 vs 快速原型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441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 版 — 6层架构 · 30+ 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23444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数据层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6596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多数据源适配器 (AKShare + BaoStock 自动切换)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SQLite 增量更新 + 数据验证器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1234440" cy="65836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157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因子层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src/factors/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4320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注册器模式，16 个因子通过 @register 自注册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MAD 去极值 + Z-Score 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策略层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94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src/strategy/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2044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多因子评分 + IC 加权 + 约束优化分配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商品动量择时（铜铝联动信号）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1234440" cy="658368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702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风控层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src/risk/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9768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ATR 动态硬止损 + 追踪止损 + 分层回撤管理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金属暴跌联动预警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1234440" cy="65836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474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回测层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492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src/backtest/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7492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事件驱动引擎 + A股规则模拟器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T+1 / 涨跌停 / 停牌 / 整手 / 印花税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06440"/>
            <a:ext cx="1234440" cy="65836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8247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报告层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1264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src/report/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85216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Plotly 交互图表 + HTML/PNG 双格式输出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280160"/>
            <a:ext cx="557784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3441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无 OpenSpec 版 — 扁平结构 · 6 文件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92024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9385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402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config.py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96596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Python 常量 · 硬编码股票池 · 无外部配置文件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69748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7157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017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data_fetcher.py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74320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单一 AKShare 源 · TTL 缓存 · 无数据验证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47472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49300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因子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794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factor_engine.py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352044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所有因子挤在一个文件 · Z-Score 标准化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无注册机制，添加因子需改多处代码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25196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2702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策略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572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strategy.py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29768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阈值判断生成信号 · 等权分配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无择时、无约束优化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029200"/>
            <a:ext cx="1234440" cy="6583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0474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回测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3492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backtester.py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507492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简化回测 · 因子计算与实时信号不一致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无涨跌停/停牌/T+1 限制模拟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806440"/>
            <a:ext cx="1234440" cy="65836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58247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界面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61264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onsolas" panose="020B0609020204030204"/>
              </a:defRPr>
            </a:pPr>
            <a:r>
              <a:t>app.py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585216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Flask Web 仪表盘 · ECharts 图表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暗色主题 · 参数在线调整  (亮点)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400800"/>
            <a:ext cx="1143000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OpenSpec 的 specs 和 design 工件在写代码前就定义了模块边界，AI 被迫按契约分层实现，而非一股脑堆在一起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17/21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风控对比：量化交易的生死线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在量化交易中，风控能力决定了系统能否在真实市场中存活。这是两个版本差距最大的地方。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577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 版：4 层风控体系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73152" cy="82296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第1层：ATR 动态止损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根据近期波动率自动调整止损位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波动大 → 止损宽（避免误杀）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波动小 → 止损窄（保护利润）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73152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第2层：追踪止损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股价上涨 10% 后激活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从最高点回撤 8% 则卖出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锁定盈利，让利润奔跑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17720"/>
            <a:ext cx="731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第3层：组合回撤管理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回撤 15% → 仓位砍半（减少暴露）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回撤 20% → 全部清仓（保命）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分层响应，不会一刀切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73152" cy="8229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第4层：金属暴跌联动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监控铜/铝期货日跌幅 &gt; 3%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自动识别受影响的持仓股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触发黄金对冲机制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557784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无 OpenSpec 版：基础止损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06040"/>
            <a:ext cx="73152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固定止损 -8%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不管市场波动大小，统一 -8% 触发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牛市中容易被正常回调误杀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熊市中 -8% 可能仍然太慢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11880"/>
            <a:ext cx="73152" cy="822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回撤预警 -15%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仅发出预警，没有自动减仓动作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需要人工介入处理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晚间/周末无法及时响应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17720"/>
            <a:ext cx="5577840" cy="164592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缺失的风控能力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749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无动态止损 — 无法适应不同市场环境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无追踪止损 — 赚到的利润无法锁定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无自动减仓 — 回撤时只能眼睁睁看着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  无联动预警 — 上游商品崩盘时毫无防备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OpenSpec 的 usecases.md 和 specs 工件要求明确定义异常场景，迫使 AI 实现完整的风控逻辑，而非只处理正常情况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18/21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回测对比：你的回测结果能信多少？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回测是量化策略上线前的最后一道关卡。回测越贴近真实，上线后的意外就越少。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A股交易规则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011680"/>
            <a:ext cx="3931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0848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 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384048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0848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无 OpenSpec 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2514600"/>
            <a:ext cx="39319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51460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877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T+1 交割制度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55117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完整模拟：今日买入明日才能卖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55117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未实现：买卖当日即可完成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3063240"/>
            <a:ext cx="3931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3063240"/>
            <a:ext cx="3840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363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涨跌停板限制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09981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涨停 +10% 不可买入，跌停不可卖出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9981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未实现：任意价格均可成交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1188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3360" y="3611880"/>
            <a:ext cx="39319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61188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850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停牌处理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64845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成交量=0 自动冻结，不可交易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64845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未实现：停牌期间仍可交易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6052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0" y="4160520"/>
            <a:ext cx="3931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4160520"/>
            <a:ext cx="3840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3367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整手交易（100股）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19709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强制 100 股倍数买入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19709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未实现：可买任意股数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23360" y="4709160"/>
            <a:ext cx="39319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470916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7823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交易费用建模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474573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印花税 0.05% + 佣金 0.03%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+ 滑点 0.15%（分别建模）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474573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合并费率 0.025%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（欠精确）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57800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5257800"/>
            <a:ext cx="3931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79" y="5257800"/>
            <a:ext cx="3840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309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因子计算一致性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529437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回测与实盘使用同一因子引擎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529437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回测中重新实现了简化版因子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与实时信号逻辑不一致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3474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23360" y="5806440"/>
            <a:ext cx="39319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5279" y="580644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795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仓位分配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584301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得分加权 + 单股 10% + 行业 25%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上限约束 + 择时调仓比例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584301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等权分配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无约束优化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3367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无 OpenSpec 版的回测忽略了大量 A 股特有规则，回测收益率会虚高，上线后会因为 T+1 无法卖出、涨停买不进等问题导致实际表现大幅偏离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19/21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综合评分：8 个维度逐项打分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3385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26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426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无OpenSpec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4264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26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OpenSpec 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4264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无OpenSpec 亮点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33856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架构设计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20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20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7/10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分层清晰，模块间通过接口通信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920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扁平直接，够用但难以扩展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59152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505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风控完备性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50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9/10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505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5/10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50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450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4 层风控 + 联动预警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4505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仅固定止损 + 预警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89504"/>
            <a:ext cx="1133856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809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回测真实性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2980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9/10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980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6/10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809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完整模拟 A 股交易规则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9809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简化模拟，结果可信度低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19856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112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测试覆盖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511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8/10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511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0/10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511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5112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100+ 测试用例，pytest 框架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5112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零测试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50208"/>
            <a:ext cx="1133856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41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可扩展性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0416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9/10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0416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5/10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0416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041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注册器模式，新增因子只需一个类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0416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添加因子需改多处代码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80560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572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配置管理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45720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9/10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5720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外部 YAML，12 类参数可调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572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Python 常量硬编码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10912"/>
            <a:ext cx="1133856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1023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用户体验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51023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6/10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1023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8/10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5102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-2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102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CLI + HTML 报告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51023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Web 仪表盘 + 在线调参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541264"/>
            <a:ext cx="11338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6327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文档质量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56327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8/10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56327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t>7/10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56327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+1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56327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README + 类型注解 + BDD 场景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56327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中文注释 + docstrings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163056"/>
            <a:ext cx="11338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236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t>总分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77440" y="62362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FF66"/>
                </a:solidFill>
                <a:latin typeface="Microsoft YaHei" panose="020B0503020204020204" charset="-122"/>
              </a:defRPr>
            </a:pPr>
            <a:r>
              <a:t>67/80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62362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C66"/>
                </a:solidFill>
                <a:latin typeface="Microsoft YaHei" panose="020B0503020204020204" charset="-122"/>
              </a:defRPr>
            </a:pPr>
            <a:r>
              <a:t>44/80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0" y="6236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FF66"/>
                </a:solidFill>
                <a:latin typeface="Microsoft YaHei" panose="020B0503020204020204" charset="-122"/>
              </a:defRPr>
            </a:pPr>
            <a:r>
              <a:t>+23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6236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 panose="020B0503020204020204" charset="-122"/>
              </a:defRPr>
            </a:pPr>
            <a:r>
              <a:t>OpenSpec 版总分领先 23 分，唯一弱项是缺少 Web 界面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20/21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t>结论：OpenSpec 让 AI 写出了工程级别的量化系统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OpenSpec 版在 8 个维度中 7 个领先，总分 67/80 vs 44/80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不是代码写得多就好 — 而是规格约束让 AI 在正确的方向上写出高质量代码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657600" cy="393192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t>规格前置 = 架构质量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200400"/>
            <a:ext cx="18288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强制 AI 在写代码前定义模块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边界、接口契约和数据流。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结果：6 层清晰架构，每层职责单一，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模块间通过 Protocol 接口通信。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对比：无 OpenSpec 时 AI 把所有逻辑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堆在 6 个文件里，改一处要查全局。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560320"/>
            <a:ext cx="3657600" cy="3931920"/>
          </a:xfrm>
          <a:prstGeom prst="rect">
            <a:avLst/>
          </a:prstGeom>
          <a:solidFill>
            <a:srgbClr val="FDE8E8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t>异常场景 = 风控完备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200400"/>
            <a:ext cx="1828800" cy="27432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337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的 usecases.md 要求定义异常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流程，specs 要求 Given/When/Then 验证。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结果：4 层风控体系，覆盖个股止损、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组合回撤、品种联动等完整场景。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对比：无 OpenSpec 时 AI 只实现正常流程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的 happy path，风控形同虚设。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657600" cy="3931920"/>
          </a:xfrm>
          <a:prstGeom prst="rect">
            <a:avLst/>
          </a:prstGeom>
          <a:solidFill>
            <a:srgbClr val="E8F5E9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t>任务清单 = 测试护城河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00400"/>
            <a:ext cx="1828800" cy="2743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33756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OpenSpec 的 tasks.md 把测试作为显式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任务项，AI 必须逐项完成。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结果：100+ 测试用例，覆盖因子计算、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策略逻辑、风控触发、回测指标等。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对比：无 OpenSpec 时 AI 认为「功能写完</a:t>
            </a:r>
          </a:p>
          <a:p>
            <a:pPr algn="l">
              <a:spcAft>
                <a:spcPts val="220"/>
              </a:spcAft>
              <a:defRPr sz="11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t>就是完成」，测试数量为 0。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t>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10351</Words>
  <Application>WPS Presentation</Application>
  <PresentationFormat>On-screen Show (4:3)</PresentationFormat>
  <Paragraphs>1175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Arial</vt:lpstr>
      <vt:lpstr>Microsoft YaHei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Zhifei Dou</cp:lastModifiedBy>
  <cp:revision>4</cp:revision>
  <dcterms:created xsi:type="dcterms:W3CDTF">2013-01-27T09:14:00Z</dcterms:created>
  <dcterms:modified xsi:type="dcterms:W3CDTF">2026-02-21T23:16:19Z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E95AA71CD3944AFEB73BA736E01F3CBD_12</vt:lpwstr>
  </property>
  <property fmtid="{D5CDD505-2E9C-101B-9397-08002B2CF9AE}" pid="3" name="KSOProductBuildVer">
    <vt:lpwstr>1033-12.2.0.23196</vt:lpwstr>
  </property>
</Properties>
</file>