
<file path=[Content_Types].xml><?xml version="1.0" encoding="utf-8"?>
<Types xmlns="http://schemas.openxmlformats.org/package/2006/content-types">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3"/>
    <p:sldId id="261" r:id="rId4"/>
    <p:sldId id="282" r:id="rId5"/>
    <p:sldId id="313" r:id="rId6"/>
    <p:sldId id="263" r:id="rId7"/>
    <p:sldId id="264" r:id="rId8"/>
    <p:sldId id="296" r:id="rId9"/>
    <p:sldId id="316" r:id="rId10"/>
    <p:sldId id="297" r:id="rId11"/>
    <p:sldId id="298" r:id="rId12"/>
    <p:sldId id="283" r:id="rId13"/>
    <p:sldId id="284" r:id="rId14"/>
    <p:sldId id="285" r:id="rId15"/>
    <p:sldId id="315" r:id="rId16"/>
    <p:sldId id="265" r:id="rId17"/>
    <p:sldId id="268" r:id="rId18"/>
    <p:sldId id="299" r:id="rId19"/>
    <p:sldId id="304" r:id="rId20"/>
    <p:sldId id="273" r:id="rId21"/>
    <p:sldId id="274" r:id="rId22"/>
    <p:sldId id="307" r:id="rId23"/>
    <p:sldId id="308" r:id="rId24"/>
    <p:sldId id="309" r:id="rId25"/>
    <p:sldId id="310" r:id="rId26"/>
    <p:sldId id="311" r:id="rId27"/>
    <p:sldId id="312" r:id="rId28"/>
    <p:sldId id="276" r:id="rId29"/>
    <p:sldId id="277" r:id="rId30"/>
    <p:sldId id="278" r:id="rId31"/>
    <p:sldId id="279" r:id="rId32"/>
    <p:sldId id="314" r:id="rId33"/>
    <p:sldId id="305" r:id="rId34"/>
    <p:sldId id="306" r:id="rId35"/>
    <p:sldId id="280" r:id="rId36"/>
  </p:sldIdLst>
  <p:sldSz cx="1219136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2" userDrawn="1">
          <p15:clr>
            <a:srgbClr val="A4A3A4"/>
          </p15:clr>
        </p15:guide>
        <p15:guide id="2" pos="297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showGuides="1">
      <p:cViewPr varScale="1">
        <p:scale>
          <a:sx n="124" d="100"/>
          <a:sy n="124" d="100"/>
        </p:scale>
        <p:origin x="-1512" y="-112"/>
      </p:cViewPr>
      <p:guideLst>
        <p:guide orient="horz" pos="2182"/>
        <p:guide pos="297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9" Type="http://schemas.openxmlformats.org/officeDocument/2006/relationships/tableStyles" Target="tableStyles.xml"/><Relationship Id="rId38" Type="http://schemas.openxmlformats.org/officeDocument/2006/relationships/viewProps" Target="viewProps.xml"/><Relationship Id="rId37" Type="http://schemas.openxmlformats.org/officeDocument/2006/relationships/presProps" Target="presProps.xml"/><Relationship Id="rId36" Type="http://schemas.openxmlformats.org/officeDocument/2006/relationships/slide" Target="slides/slide34.xml"/><Relationship Id="rId35" Type="http://schemas.openxmlformats.org/officeDocument/2006/relationships/slide" Target="slides/slide33.xml"/><Relationship Id="rId34" Type="http://schemas.openxmlformats.org/officeDocument/2006/relationships/slide" Target="slides/slide32.xml"/><Relationship Id="rId33" Type="http://schemas.openxmlformats.org/officeDocument/2006/relationships/slide" Target="slides/slide31.xml"/><Relationship Id="rId32" Type="http://schemas.openxmlformats.org/officeDocument/2006/relationships/slide" Target="slides/slide30.xml"/><Relationship Id="rId31" Type="http://schemas.openxmlformats.org/officeDocument/2006/relationships/slide" Target="slides/slide29.xml"/><Relationship Id="rId30" Type="http://schemas.openxmlformats.org/officeDocument/2006/relationships/slide" Target="slides/slide28.xml"/><Relationship Id="rId3" Type="http://schemas.openxmlformats.org/officeDocument/2006/relationships/slide" Target="slides/slide1.xml"/><Relationship Id="rId29" Type="http://schemas.openxmlformats.org/officeDocument/2006/relationships/slide" Target="slides/slide27.xml"/><Relationship Id="rId28" Type="http://schemas.openxmlformats.org/officeDocument/2006/relationships/slide" Target="slides/slide26.xml"/><Relationship Id="rId27" Type="http://schemas.openxmlformats.org/officeDocument/2006/relationships/slide" Target="slides/slide25.xml"/><Relationship Id="rId26" Type="http://schemas.openxmlformats.org/officeDocument/2006/relationships/slide" Target="slides/slide24.xml"/><Relationship Id="rId25" Type="http://schemas.openxmlformats.org/officeDocument/2006/relationships/slide" Target="slides/slide23.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9" Type="http://schemas.openxmlformats.org/officeDocument/2006/relationships/tags" Target="../tags/tag9.xml"/><Relationship Id="rId8" Type="http://schemas.openxmlformats.org/officeDocument/2006/relationships/tags" Target="../tags/tag8.xml"/><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3" Type="http://schemas.openxmlformats.org/officeDocument/2006/relationships/slideLayout" Target="../slideLayouts/slideLayout7.xml"/><Relationship Id="rId12" Type="http://schemas.openxmlformats.org/officeDocument/2006/relationships/tags" Target="../tags/tag12.xml"/><Relationship Id="rId11" Type="http://schemas.openxmlformats.org/officeDocument/2006/relationships/tags" Target="../tags/tag11.xml"/><Relationship Id="rId10" Type="http://schemas.openxmlformats.org/officeDocument/2006/relationships/tags" Target="../tags/tag10.xml"/><Relationship Id="rId1" Type="http://schemas.openxmlformats.org/officeDocument/2006/relationships/tags" Target="../tags/tag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9" Type="http://schemas.openxmlformats.org/officeDocument/2006/relationships/tags" Target="../tags/tag21.xml"/><Relationship Id="rId8" Type="http://schemas.openxmlformats.org/officeDocument/2006/relationships/tags" Target="../tags/tag20.xml"/><Relationship Id="rId7" Type="http://schemas.openxmlformats.org/officeDocument/2006/relationships/tags" Target="../tags/tag19.xml"/><Relationship Id="rId6" Type="http://schemas.openxmlformats.org/officeDocument/2006/relationships/tags" Target="../tags/tag18.xml"/><Relationship Id="rId5" Type="http://schemas.openxmlformats.org/officeDocument/2006/relationships/tags" Target="../tags/tag17.xml"/><Relationship Id="rId4" Type="http://schemas.openxmlformats.org/officeDocument/2006/relationships/tags" Target="../tags/tag16.xml"/><Relationship Id="rId33" Type="http://schemas.openxmlformats.org/officeDocument/2006/relationships/slideLayout" Target="../slideLayouts/slideLayout7.xml"/><Relationship Id="rId32" Type="http://schemas.openxmlformats.org/officeDocument/2006/relationships/tags" Target="../tags/tag44.xml"/><Relationship Id="rId31" Type="http://schemas.openxmlformats.org/officeDocument/2006/relationships/tags" Target="../tags/tag43.xml"/><Relationship Id="rId30" Type="http://schemas.openxmlformats.org/officeDocument/2006/relationships/tags" Target="../tags/tag42.xml"/><Relationship Id="rId3" Type="http://schemas.openxmlformats.org/officeDocument/2006/relationships/tags" Target="../tags/tag15.xml"/><Relationship Id="rId29" Type="http://schemas.openxmlformats.org/officeDocument/2006/relationships/tags" Target="../tags/tag41.xml"/><Relationship Id="rId28" Type="http://schemas.openxmlformats.org/officeDocument/2006/relationships/tags" Target="../tags/tag40.xml"/><Relationship Id="rId27" Type="http://schemas.openxmlformats.org/officeDocument/2006/relationships/tags" Target="../tags/tag39.xml"/><Relationship Id="rId26" Type="http://schemas.openxmlformats.org/officeDocument/2006/relationships/tags" Target="../tags/tag38.xml"/><Relationship Id="rId25" Type="http://schemas.openxmlformats.org/officeDocument/2006/relationships/tags" Target="../tags/tag37.xml"/><Relationship Id="rId24" Type="http://schemas.openxmlformats.org/officeDocument/2006/relationships/tags" Target="../tags/tag36.xml"/><Relationship Id="rId23" Type="http://schemas.openxmlformats.org/officeDocument/2006/relationships/tags" Target="../tags/tag35.xml"/><Relationship Id="rId22" Type="http://schemas.openxmlformats.org/officeDocument/2006/relationships/tags" Target="../tags/tag34.xml"/><Relationship Id="rId21" Type="http://schemas.openxmlformats.org/officeDocument/2006/relationships/tags" Target="../tags/tag33.xml"/><Relationship Id="rId20" Type="http://schemas.openxmlformats.org/officeDocument/2006/relationships/tags" Target="../tags/tag32.xml"/><Relationship Id="rId2" Type="http://schemas.openxmlformats.org/officeDocument/2006/relationships/tags" Target="../tags/tag14.xml"/><Relationship Id="rId19" Type="http://schemas.openxmlformats.org/officeDocument/2006/relationships/tags" Target="../tags/tag31.xml"/><Relationship Id="rId18" Type="http://schemas.openxmlformats.org/officeDocument/2006/relationships/tags" Target="../tags/tag30.xml"/><Relationship Id="rId17" Type="http://schemas.openxmlformats.org/officeDocument/2006/relationships/tags" Target="../tags/tag29.xml"/><Relationship Id="rId16" Type="http://schemas.openxmlformats.org/officeDocument/2006/relationships/tags" Target="../tags/tag28.xml"/><Relationship Id="rId15" Type="http://schemas.openxmlformats.org/officeDocument/2006/relationships/tags" Target="../tags/tag27.xml"/><Relationship Id="rId14" Type="http://schemas.openxmlformats.org/officeDocument/2006/relationships/tags" Target="../tags/tag26.xml"/><Relationship Id="rId13" Type="http://schemas.openxmlformats.org/officeDocument/2006/relationships/tags" Target="../tags/tag25.xml"/><Relationship Id="rId12" Type="http://schemas.openxmlformats.org/officeDocument/2006/relationships/tags" Target="../tags/tag24.xml"/><Relationship Id="rId11" Type="http://schemas.openxmlformats.org/officeDocument/2006/relationships/tags" Target="../tags/tag23.xml"/><Relationship Id="rId10" Type="http://schemas.openxmlformats.org/officeDocument/2006/relationships/tags" Target="../tags/tag22.xml"/><Relationship Id="rId1" Type="http://schemas.openxmlformats.org/officeDocument/2006/relationships/tags" Target="../tags/tag13.xml"/></Relationships>
</file>

<file path=ppt/slides/_rels/slide20.xml.rels><?xml version="1.0" encoding="UTF-8" standalone="yes"?>
<Relationships xmlns="http://schemas.openxmlformats.org/package/2006/relationships"><Relationship Id="rId9" Type="http://schemas.openxmlformats.org/officeDocument/2006/relationships/slideLayout" Target="../slideLayouts/slideLayout7.xml"/><Relationship Id="rId8" Type="http://schemas.openxmlformats.org/officeDocument/2006/relationships/tags" Target="../tags/tag52.xml"/><Relationship Id="rId7" Type="http://schemas.openxmlformats.org/officeDocument/2006/relationships/tags" Target="../tags/tag51.xml"/><Relationship Id="rId6" Type="http://schemas.openxmlformats.org/officeDocument/2006/relationships/tags" Target="../tags/tag50.xml"/><Relationship Id="rId5" Type="http://schemas.openxmlformats.org/officeDocument/2006/relationships/tags" Target="../tags/tag49.xml"/><Relationship Id="rId4" Type="http://schemas.openxmlformats.org/officeDocument/2006/relationships/tags" Target="../tags/tag48.xml"/><Relationship Id="rId3" Type="http://schemas.openxmlformats.org/officeDocument/2006/relationships/tags" Target="../tags/tag47.xml"/><Relationship Id="rId2" Type="http://schemas.openxmlformats.org/officeDocument/2006/relationships/tags" Target="../tags/tag46.xml"/><Relationship Id="rId1" Type="http://schemas.openxmlformats.org/officeDocument/2006/relationships/tags" Target="../tags/tag4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6213E"/>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91695"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645920"/>
            <a:ext cx="9144000" cy="645160"/>
          </a:xfrm>
          <a:prstGeom prst="rect">
            <a:avLst/>
          </a:prstGeom>
          <a:noFill/>
        </p:spPr>
        <p:txBody>
          <a:bodyPr wrap="square">
            <a:spAutoFit/>
          </a:bodyPr>
          <a:lstStyle/>
          <a:p>
            <a:pPr algn="ctr">
              <a:defRPr sz="3600" b="1">
                <a:solidFill>
                  <a:srgbClr val="FFFFFF"/>
                </a:solidFill>
                <a:latin typeface="Microsoft YaHei" panose="020B0503020204020204" charset="-122"/>
              </a:defRPr>
            </a:pPr>
            <a:r>
              <a:rPr sz="2800" b="1">
                <a:solidFill>
                  <a:schemeClr val="bg1"/>
                </a:solidFill>
                <a:latin typeface="Microsoft YaHei" panose="020B0503020204020204" charset="-122"/>
                <a:ea typeface="Microsoft YaHei" panose="020B0503020204020204" charset="-122"/>
              </a:rPr>
              <a:t>规范化 Agentic Coding 的</a:t>
            </a:r>
            <a:r>
              <a:rPr lang="zh-CN" sz="2800" b="1">
                <a:solidFill>
                  <a:schemeClr val="bg1"/>
                </a:solidFill>
                <a:latin typeface="Microsoft YaHei" panose="020B0503020204020204" charset="-122"/>
                <a:ea typeface="Microsoft YaHei" panose="020B0503020204020204" charset="-122"/>
              </a:rPr>
              <a:t>系统工程支持</a:t>
            </a:r>
            <a:endParaRPr lang="zh-CN" sz="2800" b="1">
              <a:solidFill>
                <a:schemeClr val="bg1"/>
              </a:solidFill>
              <a:latin typeface="Microsoft YaHei" panose="020B0503020204020204" charset="-122"/>
              <a:ea typeface="Microsoft YaHei" panose="020B0503020204020204" charset="-122"/>
            </a:endParaRPr>
          </a:p>
        </p:txBody>
      </p:sp>
      <p:sp>
        <p:nvSpPr>
          <p:cNvPr id="5" name="TextBox 4"/>
          <p:cNvSpPr txBox="1"/>
          <p:nvPr/>
        </p:nvSpPr>
        <p:spPr>
          <a:xfrm>
            <a:off x="1371600" y="2658110"/>
            <a:ext cx="9144000" cy="1076325"/>
          </a:xfrm>
          <a:prstGeom prst="rect">
            <a:avLst/>
          </a:prstGeom>
          <a:noFill/>
        </p:spPr>
        <p:txBody>
          <a:bodyPr wrap="square">
            <a:spAutoFit/>
          </a:bodyPr>
          <a:lstStyle/>
          <a:p>
            <a:pPr algn="ctr">
              <a:defRPr sz="2000" b="0">
                <a:solidFill>
                  <a:srgbClr val="AACCEE"/>
                </a:solidFill>
                <a:latin typeface="Microsoft YaHei" panose="020B0503020204020204" charset="-122"/>
              </a:defRPr>
            </a:pPr>
            <a:r>
              <a:rPr sz="1600" b="0">
                <a:solidFill>
                  <a:schemeClr val="bg1"/>
                </a:solidFill>
                <a:latin typeface="Microsoft YaHei" panose="020B0503020204020204" charset="-122"/>
                <a:ea typeface="Microsoft YaHei" panose="020B0503020204020204" charset="-122"/>
              </a:rPr>
              <a:t>基于 Claude Code 的企业级 AI 辅助开发规范化研究</a:t>
            </a:r>
            <a:endParaRPr sz="1600" b="0">
              <a:solidFill>
                <a:schemeClr val="bg1"/>
              </a:solidFill>
              <a:latin typeface="Microsoft YaHei" panose="020B0503020204020204" charset="-122"/>
              <a:ea typeface="Microsoft YaHei" panose="020B0503020204020204" charset="-122"/>
            </a:endParaRPr>
          </a:p>
          <a:p>
            <a:pPr algn="ctr">
              <a:defRPr sz="2000" b="0">
                <a:solidFill>
                  <a:srgbClr val="AACCEE"/>
                </a:solidFill>
                <a:latin typeface="Microsoft YaHei" panose="020B0503020204020204" charset="-122"/>
              </a:defRPr>
            </a:pPr>
            <a:endParaRPr lang="en-US" sz="1600" b="0">
              <a:solidFill>
                <a:schemeClr val="bg1"/>
              </a:solidFill>
              <a:latin typeface="Microsoft YaHei" panose="020B0503020204020204" charset="-122"/>
              <a:ea typeface="Microsoft YaHei" panose="020B0503020204020204" charset="-122"/>
            </a:endParaRPr>
          </a:p>
          <a:p>
            <a:pPr algn="ctr">
              <a:defRPr sz="2000" b="0">
                <a:solidFill>
                  <a:srgbClr val="AACCEE"/>
                </a:solidFill>
                <a:latin typeface="Microsoft YaHei" panose="020B0503020204020204" charset="-122"/>
              </a:defRPr>
            </a:pPr>
            <a:r>
              <a:rPr lang="en-US" sz="1600" b="0">
                <a:solidFill>
                  <a:schemeClr val="bg1"/>
                </a:solidFill>
                <a:latin typeface="Microsoft YaHei" panose="020B0503020204020204" charset="-122"/>
                <a:ea typeface="Microsoft YaHei" panose="020B0503020204020204" charset="-122"/>
              </a:rPr>
              <a:t>Lead</a:t>
            </a:r>
            <a:r>
              <a:rPr lang="zh-CN" altLang="en-US" sz="1600" b="0">
                <a:solidFill>
                  <a:schemeClr val="bg1"/>
                </a:solidFill>
                <a:latin typeface="Microsoft YaHei" panose="020B0503020204020204" charset="-122"/>
                <a:ea typeface="Microsoft YaHei" panose="020B0503020204020204" charset="-122"/>
              </a:rPr>
              <a:t>：</a:t>
            </a:r>
            <a:r>
              <a:rPr lang="en-US" altLang="zh-CN" sz="1600" b="0">
                <a:solidFill>
                  <a:schemeClr val="bg1"/>
                </a:solidFill>
                <a:latin typeface="Microsoft YaHei" panose="020B0503020204020204" charset="-122"/>
                <a:ea typeface="Microsoft YaHei" panose="020B0503020204020204" charset="-122"/>
              </a:rPr>
              <a:t>Ou Wei </a:t>
            </a:r>
            <a:endParaRPr lang="en-US" altLang="zh-CN" sz="1600" b="0">
              <a:solidFill>
                <a:schemeClr val="bg1"/>
              </a:solidFill>
              <a:latin typeface="Microsoft YaHei" panose="020B0503020204020204" charset="-122"/>
              <a:ea typeface="Microsoft YaHei" panose="020B0503020204020204" charset="-122"/>
            </a:endParaRPr>
          </a:p>
          <a:p>
            <a:pPr algn="ctr">
              <a:defRPr sz="2000" b="0">
                <a:solidFill>
                  <a:srgbClr val="AACCEE"/>
                </a:solidFill>
                <a:latin typeface="Microsoft YaHei" panose="020B0503020204020204" charset="-122"/>
              </a:defRPr>
            </a:pPr>
            <a:r>
              <a:rPr lang="en-US" altLang="zh-CN" sz="1600" b="0">
                <a:solidFill>
                  <a:schemeClr val="bg1"/>
                </a:solidFill>
                <a:latin typeface="Microsoft YaHei" panose="020B0503020204020204" charset="-122"/>
                <a:ea typeface="Microsoft YaHei" panose="020B0503020204020204" charset="-122"/>
              </a:rPr>
              <a:t>Member</a:t>
            </a:r>
            <a:r>
              <a:rPr lang="zh-CN" altLang="en-US" sz="1600" b="0">
                <a:solidFill>
                  <a:schemeClr val="bg1"/>
                </a:solidFill>
                <a:latin typeface="Microsoft YaHei" panose="020B0503020204020204" charset="-122"/>
                <a:ea typeface="Microsoft YaHei" panose="020B0503020204020204" charset="-122"/>
              </a:rPr>
              <a:t>：</a:t>
            </a:r>
            <a:r>
              <a:rPr lang="en-US" altLang="zh-CN" sz="1600" b="0">
                <a:solidFill>
                  <a:schemeClr val="bg1"/>
                </a:solidFill>
                <a:latin typeface="Microsoft YaHei" panose="020B0503020204020204" charset="-122"/>
                <a:ea typeface="Microsoft YaHei" panose="020B0503020204020204" charset="-122"/>
              </a:rPr>
              <a:t>Khaled, Zhifei</a:t>
            </a:r>
            <a:endParaRPr lang="en-US" altLang="zh-CN" sz="1600" b="0">
              <a:solidFill>
                <a:schemeClr val="bg1"/>
              </a:solidFill>
              <a:latin typeface="Microsoft YaHei" panose="020B0503020204020204" charset="-122"/>
              <a:ea typeface="Microsoft YaHei" panose="020B0503020204020204" charset="-122"/>
            </a:endParaRPr>
          </a:p>
        </p:txBody>
      </p:sp>
      <p:sp>
        <p:nvSpPr>
          <p:cNvPr id="6" name="Rectangle 5"/>
          <p:cNvSpPr/>
          <p:nvPr/>
        </p:nvSpPr>
        <p:spPr>
          <a:xfrm>
            <a:off x="5029200" y="3840480"/>
            <a:ext cx="2103120" cy="36576"/>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4389120"/>
            <a:ext cx="9144000" cy="548640"/>
          </a:xfrm>
          <a:prstGeom prst="rect">
            <a:avLst/>
          </a:prstGeom>
          <a:noFill/>
        </p:spPr>
        <p:txBody>
          <a:bodyPr wrap="square">
            <a:spAutoFit/>
          </a:bodyPr>
          <a:lstStyle/>
          <a:p>
            <a:pPr algn="ctr">
              <a:defRPr sz="1600" b="0">
                <a:solidFill>
                  <a:srgbClr val="888888"/>
                </a:solidFill>
                <a:latin typeface="Microsoft YaHei" panose="020B0503020204020204" charset="-122"/>
              </a:defRPr>
            </a:pPr>
            <a:r>
              <a:rPr sz="1400" b="0">
                <a:solidFill>
                  <a:srgbClr val="666677"/>
                </a:solidFill>
                <a:latin typeface="Microsoft YaHei" panose="020B0503020204020204" charset="-122"/>
                <a:ea typeface="Microsoft YaHei" panose="020B0503020204020204" charset="-122"/>
              </a:rPr>
              <a:t>技术研究汇报  |  2026年2月</a:t>
            </a:r>
            <a:endParaRPr sz="1200">
              <a:solidFill>
                <a:srgbClr val="333333"/>
              </a:solidFill>
              <a:latin typeface="Microsoft YaHei" panose="020B0503020204020204" charset="-122"/>
              <a:ea typeface="Microsoft YaHei" panose="020B0503020204020204" charset="-122"/>
            </a:endParaRPr>
          </a:p>
        </p:txBody>
      </p:sp>
      <p:sp>
        <p:nvSpPr>
          <p:cNvPr id="8" name="TextBox 7"/>
          <p:cNvSpPr txBox="1"/>
          <p:nvPr/>
        </p:nvSpPr>
        <p:spPr>
          <a:xfrm>
            <a:off x="11094415" y="6400800"/>
            <a:ext cx="914400" cy="365760"/>
          </a:xfrm>
          <a:prstGeom prst="rect">
            <a:avLst/>
          </a:prstGeom>
          <a:noFill/>
        </p:spPr>
        <p:txBody>
          <a:bodyPr wrap="square">
            <a:spAutoFit/>
          </a:bodyPr>
          <a:lstStyle/>
          <a:p>
            <a:pPr algn="r">
              <a:defRPr sz="1100" b="0">
                <a:solidFill>
                  <a:srgbClr val="888888"/>
                </a:solidFill>
                <a:latin typeface="Microsoft YaHei" panose="020B0503020204020204" charset="-122"/>
              </a:defRPr>
            </a:pPr>
            <a:r>
              <a:rPr sz="1000">
                <a:solidFill>
                  <a:srgbClr val="333333"/>
                </a:solidFill>
                <a:latin typeface="Microsoft YaHei" panose="020B0503020204020204" charset="-122"/>
                <a:ea typeface="Microsoft YaHei" panose="020B0503020204020204" charset="-122"/>
              </a:rPr>
              <a:t>1/41</a:t>
            </a:r>
            <a:endParaRPr sz="1000">
              <a:solidFill>
                <a:srgbClr val="333333"/>
              </a:solidFill>
              <a:latin typeface="Microsoft YaHei" panose="020B0503020204020204" charset="-122"/>
              <a:ea typeface="Microsoft YaHei" panose="020B050302020402020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521970"/>
          </a:xfrm>
          <a:prstGeom prst="rect">
            <a:avLst/>
          </a:prstGeom>
          <a:noFill/>
        </p:spPr>
        <p:txBody>
          <a:bodyPr wrap="square">
            <a:spAutoFit/>
          </a:bodyPr>
          <a:lstStyle/>
          <a:p>
            <a:pPr algn="l">
              <a:defRPr sz="2800" b="1">
                <a:solidFill>
                  <a:srgbClr val="1A1A2E"/>
                </a:solidFill>
                <a:latin typeface="Microsoft YaHei" panose="020B0503020204020204" charset="-122"/>
              </a:defRPr>
            </a:pPr>
            <a:r>
              <a:rPr>
                <a:solidFill>
                  <a:srgbClr val="1A1A2E"/>
                </a:solidFill>
                <a:latin typeface="Microsoft YaHei" panose="020B0503020204020204" charset="-122"/>
                <a:ea typeface="Microsoft YaHei" panose="020B0503020204020204" charset="-122"/>
              </a:rPr>
              <a:t>OpenSpec</a:t>
            </a:r>
            <a:r>
              <a:rPr lang="en-US">
                <a:solidFill>
                  <a:srgbClr val="1A1A2E"/>
                </a:solidFill>
                <a:latin typeface="Microsoft YaHei" panose="020B0503020204020204" charset="-122"/>
                <a:ea typeface="Microsoft YaHei" panose="020B0503020204020204" charset="-122"/>
              </a:rPr>
              <a:t>-HW2</a:t>
            </a:r>
            <a:r>
              <a:rPr>
                <a:solidFill>
                  <a:srgbClr val="1A1A2E"/>
                </a:solidFill>
                <a:latin typeface="Microsoft YaHei" panose="020B0503020204020204" charset="-122"/>
                <a:ea typeface="Microsoft YaHei" panose="020B0503020204020204" charset="-122"/>
              </a:rPr>
              <a:t> 工作流程：从想法到归档</a:t>
            </a:r>
            <a:endParaRPr>
              <a:solidFill>
                <a:srgbClr val="333333"/>
              </a:solidFill>
              <a:latin typeface="Microsoft YaHei" panose="020B0503020204020204" charset="-122"/>
              <a:ea typeface="Microsoft YaHei" panose="020B0503020204020204" charset="-122"/>
            </a:endParaRPr>
          </a:p>
        </p:txBody>
      </p:sp>
      <p:sp>
        <p:nvSpPr>
          <p:cNvPr id="4" name="Rectangle 3"/>
          <p:cNvSpPr/>
          <p:nvPr/>
        </p:nvSpPr>
        <p:spPr>
          <a:xfrm>
            <a:off x="731520" y="960120"/>
            <a:ext cx="1097280"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828800"/>
            <a:ext cx="1143000" cy="20116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965960"/>
            <a:ext cx="1143000" cy="365760"/>
          </a:xfrm>
          <a:prstGeom prst="rect">
            <a:avLst/>
          </a:prstGeom>
          <a:noFill/>
        </p:spPr>
        <p:txBody>
          <a:bodyPr wrap="square">
            <a:spAutoFit/>
          </a:bodyPr>
          <a:lstStyle/>
          <a:p>
            <a:pPr algn="ctr">
              <a:defRPr sz="1300" b="1">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Explore</a:t>
            </a:r>
            <a:endParaRPr sz="1200">
              <a:solidFill>
                <a:srgbClr val="333333"/>
              </a:solidFill>
              <a:latin typeface="Microsoft YaHei" panose="020B0503020204020204" charset="-122"/>
              <a:ea typeface="Microsoft YaHei" panose="020B0503020204020204" charset="-122"/>
            </a:endParaRPr>
          </a:p>
        </p:txBody>
      </p:sp>
      <p:sp>
        <p:nvSpPr>
          <p:cNvPr id="7" name="TextBox 6"/>
          <p:cNvSpPr txBox="1"/>
          <p:nvPr/>
        </p:nvSpPr>
        <p:spPr>
          <a:xfrm>
            <a:off x="502920" y="2377440"/>
            <a:ext cx="1051560" cy="1097280"/>
          </a:xfrm>
          <a:prstGeom prst="rect">
            <a:avLst/>
          </a:prstGeom>
          <a:noFill/>
        </p:spPr>
        <p:txBody>
          <a:bodyPr wrap="square">
            <a:spAutoFit/>
          </a:bodyPr>
          <a:lstStyle/>
          <a:p>
            <a:pPr algn="ctr">
              <a:spcAft>
                <a:spcPts val="330"/>
              </a:spcAft>
              <a:defRPr sz="1100" b="0">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探索想法</a:t>
            </a:r>
            <a:endParaRPr sz="1200">
              <a:solidFill>
                <a:srgbClr val="333333"/>
              </a:solidFill>
              <a:latin typeface="Microsoft YaHei" panose="020B0503020204020204" charset="-122"/>
              <a:ea typeface="Microsoft YaHei" panose="020B0503020204020204" charset="-122"/>
            </a:endParaRPr>
          </a:p>
          <a:p>
            <a:pPr algn="ctr">
              <a:spcAft>
                <a:spcPts val="330"/>
              </a:spcAft>
              <a:defRPr sz="1100" b="0">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明确方向</a:t>
            </a:r>
            <a:endParaRPr sz="1200">
              <a:solidFill>
                <a:srgbClr val="333333"/>
              </a:solidFill>
              <a:latin typeface="Microsoft YaHei" panose="020B0503020204020204" charset="-122"/>
              <a:ea typeface="Microsoft YaHei" panose="020B0503020204020204" charset="-122"/>
            </a:endParaRPr>
          </a:p>
        </p:txBody>
      </p:sp>
      <p:sp>
        <p:nvSpPr>
          <p:cNvPr id="8" name="TextBox 7"/>
          <p:cNvSpPr txBox="1"/>
          <p:nvPr/>
        </p:nvSpPr>
        <p:spPr>
          <a:xfrm>
            <a:off x="457200" y="3474720"/>
            <a:ext cx="1143000" cy="274320"/>
          </a:xfrm>
          <a:prstGeom prst="rect">
            <a:avLst/>
          </a:prstGeom>
          <a:noFill/>
        </p:spPr>
        <p:txBody>
          <a:bodyPr wrap="square">
            <a:spAutoFit/>
          </a:bodyPr>
          <a:lstStyle/>
          <a:p>
            <a:pPr algn="ctr">
              <a:defRPr sz="1000" b="0">
                <a:solidFill>
                  <a:srgbClr val="FFFFCC"/>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可选</a:t>
            </a:r>
            <a:endParaRPr sz="1200">
              <a:solidFill>
                <a:srgbClr val="333333"/>
              </a:solidFill>
              <a:latin typeface="Microsoft YaHei" panose="020B0503020204020204" charset="-122"/>
              <a:ea typeface="Microsoft YaHei" panose="020B0503020204020204" charset="-122"/>
            </a:endParaRPr>
          </a:p>
        </p:txBody>
      </p:sp>
      <p:sp>
        <p:nvSpPr>
          <p:cNvPr id="9" name="TextBox 8"/>
          <p:cNvSpPr txBox="1"/>
          <p:nvPr/>
        </p:nvSpPr>
        <p:spPr>
          <a:xfrm>
            <a:off x="1600200" y="2606040"/>
            <a:ext cx="118872" cy="274320"/>
          </a:xfrm>
          <a:prstGeom prst="rect">
            <a:avLst/>
          </a:prstGeom>
          <a:noFill/>
        </p:spPr>
        <p:txBody>
          <a:bodyPr wrap="square">
            <a:spAutoFit/>
          </a:bodyPr>
          <a:lstStyle/>
          <a:p>
            <a:pPr algn="ctr">
              <a:defRPr sz="1600" b="0">
                <a:solidFill>
                  <a:srgbClr val="888888"/>
                </a:solidFill>
                <a:latin typeface="Microsoft YaHei" panose="020B0503020204020204" charset="-122"/>
              </a:defRPr>
            </a:pPr>
            <a:r>
              <a:rPr sz="1200">
                <a:solidFill>
                  <a:srgbClr val="333333"/>
                </a:solidFill>
                <a:latin typeface="Microsoft YaHei" panose="020B0503020204020204" charset="-122"/>
                <a:ea typeface="Microsoft YaHei" panose="020B0503020204020204" charset="-122"/>
              </a:rPr>
              <a:t>→</a:t>
            </a:r>
            <a:endParaRPr sz="1200">
              <a:solidFill>
                <a:srgbClr val="333333"/>
              </a:solidFill>
              <a:latin typeface="Microsoft YaHei" panose="020B0503020204020204" charset="-122"/>
              <a:ea typeface="Microsoft YaHei" panose="020B0503020204020204" charset="-122"/>
            </a:endParaRPr>
          </a:p>
        </p:txBody>
      </p:sp>
      <p:sp>
        <p:nvSpPr>
          <p:cNvPr id="10" name="Rectangle 9"/>
          <p:cNvSpPr/>
          <p:nvPr/>
        </p:nvSpPr>
        <p:spPr>
          <a:xfrm>
            <a:off x="1719072" y="1828800"/>
            <a:ext cx="1143000" cy="20116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19072" y="1965960"/>
            <a:ext cx="1143000" cy="365760"/>
          </a:xfrm>
          <a:prstGeom prst="rect">
            <a:avLst/>
          </a:prstGeom>
          <a:noFill/>
        </p:spPr>
        <p:txBody>
          <a:bodyPr wrap="square">
            <a:spAutoFit/>
          </a:bodyPr>
          <a:lstStyle/>
          <a:p>
            <a:pPr algn="ctr">
              <a:defRPr sz="1300" b="1">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Proposal</a:t>
            </a:r>
            <a:endParaRPr sz="1200">
              <a:solidFill>
                <a:srgbClr val="333333"/>
              </a:solidFill>
              <a:latin typeface="Microsoft YaHei" panose="020B0503020204020204" charset="-122"/>
              <a:ea typeface="Microsoft YaHei" panose="020B0503020204020204" charset="-122"/>
            </a:endParaRPr>
          </a:p>
        </p:txBody>
      </p:sp>
      <p:sp>
        <p:nvSpPr>
          <p:cNvPr id="12" name="TextBox 11"/>
          <p:cNvSpPr txBox="1"/>
          <p:nvPr/>
        </p:nvSpPr>
        <p:spPr>
          <a:xfrm>
            <a:off x="1764792" y="2377440"/>
            <a:ext cx="1051560" cy="1097280"/>
          </a:xfrm>
          <a:prstGeom prst="rect">
            <a:avLst/>
          </a:prstGeom>
          <a:noFill/>
        </p:spPr>
        <p:txBody>
          <a:bodyPr wrap="square">
            <a:spAutoFit/>
          </a:bodyPr>
          <a:lstStyle/>
          <a:p>
            <a:pPr algn="ctr">
              <a:spcAft>
                <a:spcPts val="330"/>
              </a:spcAft>
              <a:defRPr sz="1100" b="0">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为什么改</a:t>
            </a:r>
            <a:endParaRPr sz="1200">
              <a:solidFill>
                <a:srgbClr val="333333"/>
              </a:solidFill>
              <a:latin typeface="Microsoft YaHei" panose="020B0503020204020204" charset="-122"/>
              <a:ea typeface="Microsoft YaHei" panose="020B0503020204020204" charset="-122"/>
            </a:endParaRPr>
          </a:p>
          <a:p>
            <a:pPr algn="ctr">
              <a:spcAft>
                <a:spcPts val="330"/>
              </a:spcAft>
              <a:defRPr sz="1100" b="0">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改什么</a:t>
            </a:r>
            <a:endParaRPr sz="1200">
              <a:solidFill>
                <a:srgbClr val="333333"/>
              </a:solidFill>
              <a:latin typeface="Microsoft YaHei" panose="020B0503020204020204" charset="-122"/>
              <a:ea typeface="Microsoft YaHei" panose="020B0503020204020204" charset="-122"/>
            </a:endParaRPr>
          </a:p>
        </p:txBody>
      </p:sp>
      <p:sp>
        <p:nvSpPr>
          <p:cNvPr id="13" name="TextBox 12"/>
          <p:cNvSpPr txBox="1"/>
          <p:nvPr/>
        </p:nvSpPr>
        <p:spPr>
          <a:xfrm>
            <a:off x="2862072" y="2606040"/>
            <a:ext cx="118872" cy="274320"/>
          </a:xfrm>
          <a:prstGeom prst="rect">
            <a:avLst/>
          </a:prstGeom>
          <a:noFill/>
        </p:spPr>
        <p:txBody>
          <a:bodyPr wrap="square">
            <a:spAutoFit/>
          </a:bodyPr>
          <a:lstStyle/>
          <a:p>
            <a:pPr algn="ctr">
              <a:defRPr sz="1600" b="0">
                <a:solidFill>
                  <a:srgbClr val="888888"/>
                </a:solidFill>
                <a:latin typeface="Microsoft YaHei" panose="020B0503020204020204" charset="-122"/>
              </a:defRPr>
            </a:pPr>
            <a:r>
              <a:rPr sz="1200">
                <a:solidFill>
                  <a:srgbClr val="333333"/>
                </a:solidFill>
                <a:latin typeface="Microsoft YaHei" panose="020B0503020204020204" charset="-122"/>
                <a:ea typeface="Microsoft YaHei" panose="020B0503020204020204" charset="-122"/>
              </a:rPr>
              <a:t>→</a:t>
            </a:r>
            <a:endParaRPr sz="1200">
              <a:solidFill>
                <a:srgbClr val="333333"/>
              </a:solidFill>
              <a:latin typeface="Microsoft YaHei" panose="020B0503020204020204" charset="-122"/>
              <a:ea typeface="Microsoft YaHei" panose="020B0503020204020204" charset="-122"/>
            </a:endParaRPr>
          </a:p>
        </p:txBody>
      </p:sp>
      <p:sp>
        <p:nvSpPr>
          <p:cNvPr id="14" name="Rectangle 13"/>
          <p:cNvSpPr/>
          <p:nvPr/>
        </p:nvSpPr>
        <p:spPr>
          <a:xfrm>
            <a:off x="2980944" y="1828800"/>
            <a:ext cx="1143000" cy="20116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80944" y="1965960"/>
            <a:ext cx="1143000" cy="365760"/>
          </a:xfrm>
          <a:prstGeom prst="rect">
            <a:avLst/>
          </a:prstGeom>
          <a:noFill/>
        </p:spPr>
        <p:txBody>
          <a:bodyPr wrap="square">
            <a:spAutoFit/>
          </a:bodyPr>
          <a:lstStyle/>
          <a:p>
            <a:pPr algn="ctr">
              <a:defRPr sz="1300" b="1">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Use Cases</a:t>
            </a:r>
            <a:endParaRPr sz="1200">
              <a:solidFill>
                <a:srgbClr val="333333"/>
              </a:solidFill>
              <a:latin typeface="Microsoft YaHei" panose="020B0503020204020204" charset="-122"/>
              <a:ea typeface="Microsoft YaHei" panose="020B0503020204020204" charset="-122"/>
            </a:endParaRPr>
          </a:p>
        </p:txBody>
      </p:sp>
      <p:sp>
        <p:nvSpPr>
          <p:cNvPr id="16" name="TextBox 15"/>
          <p:cNvSpPr txBox="1"/>
          <p:nvPr/>
        </p:nvSpPr>
        <p:spPr>
          <a:xfrm>
            <a:off x="3026664" y="2377440"/>
            <a:ext cx="1051560" cy="1097280"/>
          </a:xfrm>
          <a:prstGeom prst="rect">
            <a:avLst/>
          </a:prstGeom>
          <a:noFill/>
        </p:spPr>
        <p:txBody>
          <a:bodyPr wrap="square">
            <a:spAutoFit/>
          </a:bodyPr>
          <a:lstStyle/>
          <a:p>
            <a:pPr algn="ctr">
              <a:spcAft>
                <a:spcPts val="330"/>
              </a:spcAft>
              <a:defRPr sz="1100" b="0">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用户场景</a:t>
            </a:r>
            <a:endParaRPr sz="1200">
              <a:solidFill>
                <a:srgbClr val="333333"/>
              </a:solidFill>
              <a:latin typeface="Microsoft YaHei" panose="020B0503020204020204" charset="-122"/>
              <a:ea typeface="Microsoft YaHei" panose="020B0503020204020204" charset="-122"/>
            </a:endParaRPr>
          </a:p>
          <a:p>
            <a:pPr algn="ctr">
              <a:spcAft>
                <a:spcPts val="330"/>
              </a:spcAft>
              <a:defRPr sz="1100" b="0">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主流程+异常</a:t>
            </a:r>
            <a:endParaRPr sz="1200">
              <a:solidFill>
                <a:srgbClr val="333333"/>
              </a:solidFill>
              <a:latin typeface="Microsoft YaHei" panose="020B0503020204020204" charset="-122"/>
              <a:ea typeface="Microsoft YaHei" panose="020B0503020204020204" charset="-122"/>
            </a:endParaRPr>
          </a:p>
        </p:txBody>
      </p:sp>
      <p:sp>
        <p:nvSpPr>
          <p:cNvPr id="17" name="TextBox 16"/>
          <p:cNvSpPr txBox="1"/>
          <p:nvPr/>
        </p:nvSpPr>
        <p:spPr>
          <a:xfrm>
            <a:off x="4123944" y="2606040"/>
            <a:ext cx="118872" cy="274320"/>
          </a:xfrm>
          <a:prstGeom prst="rect">
            <a:avLst/>
          </a:prstGeom>
          <a:noFill/>
        </p:spPr>
        <p:txBody>
          <a:bodyPr wrap="square">
            <a:spAutoFit/>
          </a:bodyPr>
          <a:lstStyle/>
          <a:p>
            <a:pPr algn="ctr">
              <a:defRPr sz="1600" b="0">
                <a:solidFill>
                  <a:srgbClr val="888888"/>
                </a:solidFill>
                <a:latin typeface="Microsoft YaHei" panose="020B0503020204020204" charset="-122"/>
              </a:defRPr>
            </a:pPr>
            <a:r>
              <a:rPr sz="1200">
                <a:solidFill>
                  <a:srgbClr val="333333"/>
                </a:solidFill>
                <a:latin typeface="Microsoft YaHei" panose="020B0503020204020204" charset="-122"/>
                <a:ea typeface="Microsoft YaHei" panose="020B0503020204020204" charset="-122"/>
              </a:rPr>
              <a:t>→</a:t>
            </a:r>
            <a:endParaRPr sz="1200">
              <a:solidFill>
                <a:srgbClr val="333333"/>
              </a:solidFill>
              <a:latin typeface="Microsoft YaHei" panose="020B0503020204020204" charset="-122"/>
              <a:ea typeface="Microsoft YaHei" panose="020B0503020204020204" charset="-122"/>
            </a:endParaRPr>
          </a:p>
        </p:txBody>
      </p:sp>
      <p:sp>
        <p:nvSpPr>
          <p:cNvPr id="18" name="Rectangle 17"/>
          <p:cNvSpPr/>
          <p:nvPr/>
        </p:nvSpPr>
        <p:spPr>
          <a:xfrm>
            <a:off x="4242816" y="1828800"/>
            <a:ext cx="1143000" cy="2011680"/>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42816" y="1965960"/>
            <a:ext cx="1143000" cy="365760"/>
          </a:xfrm>
          <a:prstGeom prst="rect">
            <a:avLst/>
          </a:prstGeom>
          <a:noFill/>
        </p:spPr>
        <p:txBody>
          <a:bodyPr wrap="square">
            <a:spAutoFit/>
          </a:bodyPr>
          <a:lstStyle/>
          <a:p>
            <a:pPr algn="ctr">
              <a:defRPr sz="1300" b="1">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Specs</a:t>
            </a:r>
            <a:endParaRPr sz="1200">
              <a:solidFill>
                <a:srgbClr val="333333"/>
              </a:solidFill>
              <a:latin typeface="Microsoft YaHei" panose="020B0503020204020204" charset="-122"/>
              <a:ea typeface="Microsoft YaHei" panose="020B0503020204020204" charset="-122"/>
            </a:endParaRPr>
          </a:p>
        </p:txBody>
      </p:sp>
      <p:sp>
        <p:nvSpPr>
          <p:cNvPr id="20" name="TextBox 19"/>
          <p:cNvSpPr txBox="1"/>
          <p:nvPr/>
        </p:nvSpPr>
        <p:spPr>
          <a:xfrm>
            <a:off x="4288536" y="2377440"/>
            <a:ext cx="1051560" cy="1097280"/>
          </a:xfrm>
          <a:prstGeom prst="rect">
            <a:avLst/>
          </a:prstGeom>
          <a:noFill/>
        </p:spPr>
        <p:txBody>
          <a:bodyPr wrap="square">
            <a:spAutoFit/>
          </a:bodyPr>
          <a:lstStyle/>
          <a:p>
            <a:pPr algn="ctr">
              <a:spcAft>
                <a:spcPts val="330"/>
              </a:spcAft>
              <a:defRPr sz="1100" b="0">
                <a:solidFill>
                  <a:srgbClr val="FFFFFF"/>
                </a:solidFill>
                <a:latin typeface="Microsoft YaHei" panose="020B0503020204020204" charset="-122"/>
              </a:defRPr>
            </a:pPr>
            <a:r>
              <a:rPr sz="1100">
                <a:solidFill>
                  <a:srgbClr val="FFFFFF"/>
                </a:solidFill>
                <a:latin typeface="Microsoft YaHei" panose="020B0503020204020204" charset="-122"/>
                <a:ea typeface="Microsoft YaHei" panose="020B0503020204020204" charset="-122"/>
              </a:rPr>
              <a:t>Delta 规格</a:t>
            </a:r>
            <a:endParaRPr sz="1100">
              <a:solidFill>
                <a:srgbClr val="333333"/>
              </a:solidFill>
              <a:latin typeface="Microsoft YaHei" panose="020B0503020204020204" charset="-122"/>
              <a:ea typeface="Microsoft YaHei" panose="020B0503020204020204" charset="-122"/>
            </a:endParaRPr>
          </a:p>
          <a:p>
            <a:pPr algn="ctr">
              <a:spcAft>
                <a:spcPts val="330"/>
              </a:spcAft>
              <a:defRPr sz="1100" b="0">
                <a:solidFill>
                  <a:srgbClr val="FFFFFF"/>
                </a:solidFill>
                <a:latin typeface="Microsoft YaHei" panose="020B0503020204020204" charset="-122"/>
              </a:defRPr>
            </a:pPr>
            <a:r>
              <a:rPr sz="1100">
                <a:solidFill>
                  <a:srgbClr val="FFFFFF"/>
                </a:solidFill>
                <a:latin typeface="Microsoft YaHei" panose="020B0503020204020204" charset="-122"/>
                <a:ea typeface="Microsoft YaHei" panose="020B0503020204020204" charset="-122"/>
              </a:rPr>
              <a:t>Given/When/Then</a:t>
            </a:r>
            <a:endParaRPr sz="1100">
              <a:solidFill>
                <a:srgbClr val="333333"/>
              </a:solidFill>
              <a:latin typeface="Microsoft YaHei" panose="020B0503020204020204" charset="-122"/>
              <a:ea typeface="Microsoft YaHei" panose="020B0503020204020204" charset="-122"/>
            </a:endParaRPr>
          </a:p>
        </p:txBody>
      </p:sp>
      <p:sp>
        <p:nvSpPr>
          <p:cNvPr id="21" name="TextBox 20"/>
          <p:cNvSpPr txBox="1"/>
          <p:nvPr/>
        </p:nvSpPr>
        <p:spPr>
          <a:xfrm>
            <a:off x="5385816" y="2606040"/>
            <a:ext cx="118872" cy="274320"/>
          </a:xfrm>
          <a:prstGeom prst="rect">
            <a:avLst/>
          </a:prstGeom>
          <a:noFill/>
        </p:spPr>
        <p:txBody>
          <a:bodyPr wrap="square">
            <a:spAutoFit/>
          </a:bodyPr>
          <a:lstStyle/>
          <a:p>
            <a:pPr algn="ctr">
              <a:defRPr sz="1600" b="0">
                <a:solidFill>
                  <a:srgbClr val="888888"/>
                </a:solidFill>
                <a:latin typeface="Microsoft YaHei" panose="020B0503020204020204" charset="-122"/>
              </a:defRPr>
            </a:pPr>
            <a:r>
              <a:rPr sz="1200">
                <a:solidFill>
                  <a:srgbClr val="333333"/>
                </a:solidFill>
                <a:latin typeface="Microsoft YaHei" panose="020B0503020204020204" charset="-122"/>
                <a:ea typeface="Microsoft YaHei" panose="020B0503020204020204" charset="-122"/>
              </a:rPr>
              <a:t>→</a:t>
            </a:r>
            <a:endParaRPr sz="1200">
              <a:solidFill>
                <a:srgbClr val="333333"/>
              </a:solidFill>
              <a:latin typeface="Microsoft YaHei" panose="020B0503020204020204" charset="-122"/>
              <a:ea typeface="Microsoft YaHei" panose="020B0503020204020204" charset="-122"/>
            </a:endParaRPr>
          </a:p>
        </p:txBody>
      </p:sp>
      <p:sp>
        <p:nvSpPr>
          <p:cNvPr id="22" name="Rectangle 21"/>
          <p:cNvSpPr/>
          <p:nvPr/>
        </p:nvSpPr>
        <p:spPr>
          <a:xfrm>
            <a:off x="5504688" y="1828800"/>
            <a:ext cx="1143000" cy="2011680"/>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04688" y="1965960"/>
            <a:ext cx="1143000" cy="365760"/>
          </a:xfrm>
          <a:prstGeom prst="rect">
            <a:avLst/>
          </a:prstGeom>
          <a:noFill/>
        </p:spPr>
        <p:txBody>
          <a:bodyPr wrap="square">
            <a:spAutoFit/>
          </a:bodyPr>
          <a:lstStyle/>
          <a:p>
            <a:pPr algn="ctr">
              <a:defRPr sz="1300" b="1">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Design</a:t>
            </a:r>
            <a:endParaRPr sz="1200">
              <a:solidFill>
                <a:srgbClr val="333333"/>
              </a:solidFill>
              <a:latin typeface="Microsoft YaHei" panose="020B0503020204020204" charset="-122"/>
              <a:ea typeface="Microsoft YaHei" panose="020B0503020204020204" charset="-122"/>
            </a:endParaRPr>
          </a:p>
        </p:txBody>
      </p:sp>
      <p:sp>
        <p:nvSpPr>
          <p:cNvPr id="24" name="TextBox 23"/>
          <p:cNvSpPr txBox="1"/>
          <p:nvPr/>
        </p:nvSpPr>
        <p:spPr>
          <a:xfrm>
            <a:off x="5550408" y="2377440"/>
            <a:ext cx="1051560" cy="1097280"/>
          </a:xfrm>
          <a:prstGeom prst="rect">
            <a:avLst/>
          </a:prstGeom>
          <a:noFill/>
        </p:spPr>
        <p:txBody>
          <a:bodyPr wrap="square">
            <a:spAutoFit/>
          </a:bodyPr>
          <a:lstStyle/>
          <a:p>
            <a:pPr algn="ctr">
              <a:spcAft>
                <a:spcPts val="330"/>
              </a:spcAft>
              <a:defRPr sz="1100" b="0">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技术方案</a:t>
            </a:r>
            <a:endParaRPr sz="1200">
              <a:solidFill>
                <a:srgbClr val="333333"/>
              </a:solidFill>
              <a:latin typeface="Microsoft YaHei" panose="020B0503020204020204" charset="-122"/>
              <a:ea typeface="Microsoft YaHei" panose="020B0503020204020204" charset="-122"/>
            </a:endParaRPr>
          </a:p>
          <a:p>
            <a:pPr algn="ctr">
              <a:spcAft>
                <a:spcPts val="330"/>
              </a:spcAft>
              <a:defRPr sz="1100" b="0">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架构决策</a:t>
            </a:r>
            <a:endParaRPr sz="1200">
              <a:solidFill>
                <a:srgbClr val="333333"/>
              </a:solidFill>
              <a:latin typeface="Microsoft YaHei" panose="020B0503020204020204" charset="-122"/>
              <a:ea typeface="Microsoft YaHei" panose="020B0503020204020204" charset="-122"/>
            </a:endParaRPr>
          </a:p>
        </p:txBody>
      </p:sp>
      <p:sp>
        <p:nvSpPr>
          <p:cNvPr id="25" name="TextBox 24"/>
          <p:cNvSpPr txBox="1"/>
          <p:nvPr/>
        </p:nvSpPr>
        <p:spPr>
          <a:xfrm>
            <a:off x="5504688" y="3474720"/>
            <a:ext cx="1143000" cy="274320"/>
          </a:xfrm>
          <a:prstGeom prst="rect">
            <a:avLst/>
          </a:prstGeom>
          <a:noFill/>
        </p:spPr>
        <p:txBody>
          <a:bodyPr wrap="square">
            <a:spAutoFit/>
          </a:bodyPr>
          <a:lstStyle/>
          <a:p>
            <a:pPr algn="ctr">
              <a:defRPr sz="1000" b="0">
                <a:solidFill>
                  <a:srgbClr val="FFFFCC"/>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可选</a:t>
            </a:r>
            <a:endParaRPr sz="1200">
              <a:solidFill>
                <a:srgbClr val="333333"/>
              </a:solidFill>
              <a:latin typeface="Microsoft YaHei" panose="020B0503020204020204" charset="-122"/>
              <a:ea typeface="Microsoft YaHei" panose="020B0503020204020204" charset="-122"/>
            </a:endParaRPr>
          </a:p>
        </p:txBody>
      </p:sp>
      <p:sp>
        <p:nvSpPr>
          <p:cNvPr id="26" name="TextBox 25"/>
          <p:cNvSpPr txBox="1"/>
          <p:nvPr/>
        </p:nvSpPr>
        <p:spPr>
          <a:xfrm>
            <a:off x="6647688" y="2606040"/>
            <a:ext cx="118872" cy="274320"/>
          </a:xfrm>
          <a:prstGeom prst="rect">
            <a:avLst/>
          </a:prstGeom>
          <a:noFill/>
        </p:spPr>
        <p:txBody>
          <a:bodyPr wrap="square">
            <a:spAutoFit/>
          </a:bodyPr>
          <a:lstStyle/>
          <a:p>
            <a:pPr algn="ctr">
              <a:defRPr sz="1600" b="0">
                <a:solidFill>
                  <a:srgbClr val="888888"/>
                </a:solidFill>
                <a:latin typeface="Microsoft YaHei" panose="020B0503020204020204" charset="-122"/>
              </a:defRPr>
            </a:pPr>
            <a:r>
              <a:rPr sz="1200">
                <a:solidFill>
                  <a:srgbClr val="333333"/>
                </a:solidFill>
                <a:latin typeface="Microsoft YaHei" panose="020B0503020204020204" charset="-122"/>
                <a:ea typeface="Microsoft YaHei" panose="020B0503020204020204" charset="-122"/>
              </a:rPr>
              <a:t>→</a:t>
            </a:r>
            <a:endParaRPr sz="1200">
              <a:solidFill>
                <a:srgbClr val="333333"/>
              </a:solidFill>
              <a:latin typeface="Microsoft YaHei" panose="020B0503020204020204" charset="-122"/>
              <a:ea typeface="Microsoft YaHei" panose="020B0503020204020204" charset="-122"/>
            </a:endParaRPr>
          </a:p>
        </p:txBody>
      </p:sp>
      <p:sp>
        <p:nvSpPr>
          <p:cNvPr id="27" name="Rectangle 26"/>
          <p:cNvSpPr/>
          <p:nvPr/>
        </p:nvSpPr>
        <p:spPr>
          <a:xfrm>
            <a:off x="6766560" y="1828800"/>
            <a:ext cx="1143000" cy="2011680"/>
          </a:xfrm>
          <a:prstGeom prst="rect">
            <a:avLst/>
          </a:prstGeom>
          <a:solidFill>
            <a:srgbClr val="E8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66560" y="1965960"/>
            <a:ext cx="1143000" cy="365760"/>
          </a:xfrm>
          <a:prstGeom prst="rect">
            <a:avLst/>
          </a:prstGeom>
          <a:noFill/>
        </p:spPr>
        <p:txBody>
          <a:bodyPr wrap="square">
            <a:spAutoFit/>
          </a:bodyPr>
          <a:lstStyle/>
          <a:p>
            <a:pPr algn="ctr">
              <a:defRPr sz="1300" b="1">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Tasks</a:t>
            </a:r>
            <a:endParaRPr sz="1200">
              <a:solidFill>
                <a:srgbClr val="333333"/>
              </a:solidFill>
              <a:latin typeface="Microsoft YaHei" panose="020B0503020204020204" charset="-122"/>
              <a:ea typeface="Microsoft YaHei" panose="020B0503020204020204" charset="-122"/>
            </a:endParaRPr>
          </a:p>
        </p:txBody>
      </p:sp>
      <p:sp>
        <p:nvSpPr>
          <p:cNvPr id="29" name="TextBox 28"/>
          <p:cNvSpPr txBox="1"/>
          <p:nvPr/>
        </p:nvSpPr>
        <p:spPr>
          <a:xfrm>
            <a:off x="6812280" y="2377440"/>
            <a:ext cx="1051560" cy="1097280"/>
          </a:xfrm>
          <a:prstGeom prst="rect">
            <a:avLst/>
          </a:prstGeom>
          <a:noFill/>
        </p:spPr>
        <p:txBody>
          <a:bodyPr wrap="square">
            <a:spAutoFit/>
          </a:bodyPr>
          <a:lstStyle/>
          <a:p>
            <a:pPr algn="ctr">
              <a:spcAft>
                <a:spcPts val="330"/>
              </a:spcAft>
              <a:defRPr sz="1100" b="0">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实现清单</a:t>
            </a:r>
            <a:endParaRPr sz="1200">
              <a:solidFill>
                <a:srgbClr val="333333"/>
              </a:solidFill>
              <a:latin typeface="Microsoft YaHei" panose="020B0503020204020204" charset="-122"/>
              <a:ea typeface="Microsoft YaHei" panose="020B0503020204020204" charset="-122"/>
            </a:endParaRPr>
          </a:p>
          <a:p>
            <a:pPr algn="ctr">
              <a:spcAft>
                <a:spcPts val="330"/>
              </a:spcAft>
              <a:defRPr sz="1100" b="0">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可追踪进度</a:t>
            </a:r>
            <a:endParaRPr sz="1200">
              <a:solidFill>
                <a:srgbClr val="333333"/>
              </a:solidFill>
              <a:latin typeface="Microsoft YaHei" panose="020B0503020204020204" charset="-122"/>
              <a:ea typeface="Microsoft YaHei" panose="020B0503020204020204" charset="-122"/>
            </a:endParaRPr>
          </a:p>
        </p:txBody>
      </p:sp>
      <p:sp>
        <p:nvSpPr>
          <p:cNvPr id="30" name="TextBox 29"/>
          <p:cNvSpPr txBox="1"/>
          <p:nvPr/>
        </p:nvSpPr>
        <p:spPr>
          <a:xfrm>
            <a:off x="7909560" y="2606040"/>
            <a:ext cx="118872" cy="274320"/>
          </a:xfrm>
          <a:prstGeom prst="rect">
            <a:avLst/>
          </a:prstGeom>
          <a:noFill/>
        </p:spPr>
        <p:txBody>
          <a:bodyPr wrap="square">
            <a:spAutoFit/>
          </a:bodyPr>
          <a:lstStyle/>
          <a:p>
            <a:pPr algn="ctr">
              <a:defRPr sz="1600" b="0">
                <a:solidFill>
                  <a:srgbClr val="888888"/>
                </a:solidFill>
                <a:latin typeface="Microsoft YaHei" panose="020B0503020204020204" charset="-122"/>
              </a:defRPr>
            </a:pPr>
            <a:r>
              <a:rPr sz="1200">
                <a:solidFill>
                  <a:srgbClr val="333333"/>
                </a:solidFill>
                <a:latin typeface="Microsoft YaHei" panose="020B0503020204020204" charset="-122"/>
                <a:ea typeface="Microsoft YaHei" panose="020B0503020204020204" charset="-122"/>
              </a:rPr>
              <a:t>→</a:t>
            </a:r>
            <a:endParaRPr sz="1200">
              <a:solidFill>
                <a:srgbClr val="333333"/>
              </a:solidFill>
              <a:latin typeface="Microsoft YaHei" panose="020B0503020204020204" charset="-122"/>
              <a:ea typeface="Microsoft YaHei" panose="020B0503020204020204" charset="-122"/>
            </a:endParaRPr>
          </a:p>
        </p:txBody>
      </p:sp>
      <p:sp>
        <p:nvSpPr>
          <p:cNvPr id="31" name="Rectangle 30"/>
          <p:cNvSpPr/>
          <p:nvPr/>
        </p:nvSpPr>
        <p:spPr>
          <a:xfrm>
            <a:off x="8028432" y="1828800"/>
            <a:ext cx="1143000" cy="2011680"/>
          </a:xfrm>
          <a:prstGeom prst="rect">
            <a:avLst/>
          </a:prstGeom>
          <a:solidFill>
            <a:srgbClr val="E8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28432" y="1965960"/>
            <a:ext cx="1143000" cy="365760"/>
          </a:xfrm>
          <a:prstGeom prst="rect">
            <a:avLst/>
          </a:prstGeom>
          <a:noFill/>
        </p:spPr>
        <p:txBody>
          <a:bodyPr wrap="square">
            <a:spAutoFit/>
          </a:bodyPr>
          <a:lstStyle/>
          <a:p>
            <a:pPr algn="ctr">
              <a:defRPr sz="1300" b="1">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Apply</a:t>
            </a:r>
            <a:endParaRPr sz="1200">
              <a:solidFill>
                <a:srgbClr val="333333"/>
              </a:solidFill>
              <a:latin typeface="Microsoft YaHei" panose="020B0503020204020204" charset="-122"/>
              <a:ea typeface="Microsoft YaHei" panose="020B0503020204020204" charset="-122"/>
            </a:endParaRPr>
          </a:p>
        </p:txBody>
      </p:sp>
      <p:sp>
        <p:nvSpPr>
          <p:cNvPr id="33" name="TextBox 32"/>
          <p:cNvSpPr txBox="1"/>
          <p:nvPr/>
        </p:nvSpPr>
        <p:spPr>
          <a:xfrm>
            <a:off x="8074152" y="2377440"/>
            <a:ext cx="1051560" cy="1097280"/>
          </a:xfrm>
          <a:prstGeom prst="rect">
            <a:avLst/>
          </a:prstGeom>
          <a:noFill/>
        </p:spPr>
        <p:txBody>
          <a:bodyPr wrap="square">
            <a:spAutoFit/>
          </a:bodyPr>
          <a:lstStyle/>
          <a:p>
            <a:pPr algn="ctr">
              <a:spcAft>
                <a:spcPts val="330"/>
              </a:spcAft>
              <a:defRPr sz="1100" b="0">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AI 按清单</a:t>
            </a:r>
            <a:endParaRPr sz="1200">
              <a:solidFill>
                <a:srgbClr val="333333"/>
              </a:solidFill>
              <a:latin typeface="Microsoft YaHei" panose="020B0503020204020204" charset="-122"/>
              <a:ea typeface="Microsoft YaHei" panose="020B0503020204020204" charset="-122"/>
            </a:endParaRPr>
          </a:p>
          <a:p>
            <a:pPr algn="ctr">
              <a:spcAft>
                <a:spcPts val="330"/>
              </a:spcAft>
              <a:defRPr sz="1100" b="0">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写代码</a:t>
            </a:r>
            <a:endParaRPr sz="1200">
              <a:solidFill>
                <a:srgbClr val="333333"/>
              </a:solidFill>
              <a:latin typeface="Microsoft YaHei" panose="020B0503020204020204" charset="-122"/>
              <a:ea typeface="Microsoft YaHei" panose="020B0503020204020204" charset="-122"/>
            </a:endParaRPr>
          </a:p>
        </p:txBody>
      </p:sp>
      <p:sp>
        <p:nvSpPr>
          <p:cNvPr id="34" name="TextBox 33"/>
          <p:cNvSpPr txBox="1"/>
          <p:nvPr/>
        </p:nvSpPr>
        <p:spPr>
          <a:xfrm>
            <a:off x="9171432" y="2606040"/>
            <a:ext cx="118872" cy="274320"/>
          </a:xfrm>
          <a:prstGeom prst="rect">
            <a:avLst/>
          </a:prstGeom>
          <a:noFill/>
        </p:spPr>
        <p:txBody>
          <a:bodyPr wrap="square">
            <a:spAutoFit/>
          </a:bodyPr>
          <a:lstStyle/>
          <a:p>
            <a:pPr algn="ctr">
              <a:defRPr sz="1600" b="0">
                <a:solidFill>
                  <a:srgbClr val="888888"/>
                </a:solidFill>
                <a:latin typeface="Microsoft YaHei" panose="020B0503020204020204" charset="-122"/>
              </a:defRPr>
            </a:pPr>
            <a:r>
              <a:rPr sz="1200">
                <a:solidFill>
                  <a:srgbClr val="333333"/>
                </a:solidFill>
                <a:latin typeface="Microsoft YaHei" panose="020B0503020204020204" charset="-122"/>
                <a:ea typeface="Microsoft YaHei" panose="020B0503020204020204" charset="-122"/>
              </a:rPr>
              <a:t>→</a:t>
            </a:r>
            <a:endParaRPr sz="1200">
              <a:solidFill>
                <a:srgbClr val="333333"/>
              </a:solidFill>
              <a:latin typeface="Microsoft YaHei" panose="020B0503020204020204" charset="-122"/>
              <a:ea typeface="Microsoft YaHei" panose="020B0503020204020204" charset="-122"/>
            </a:endParaRPr>
          </a:p>
        </p:txBody>
      </p:sp>
      <p:sp>
        <p:nvSpPr>
          <p:cNvPr id="35" name="Rectangle 34"/>
          <p:cNvSpPr/>
          <p:nvPr/>
        </p:nvSpPr>
        <p:spPr>
          <a:xfrm>
            <a:off x="9290304" y="1828800"/>
            <a:ext cx="1143000" cy="2011680"/>
          </a:xfrm>
          <a:prstGeom prst="rect">
            <a:avLst/>
          </a:prstGeom>
          <a:solidFill>
            <a:srgbClr val="D134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90304" y="1965960"/>
            <a:ext cx="1143000" cy="365760"/>
          </a:xfrm>
          <a:prstGeom prst="rect">
            <a:avLst/>
          </a:prstGeom>
          <a:noFill/>
        </p:spPr>
        <p:txBody>
          <a:bodyPr wrap="square">
            <a:spAutoFit/>
          </a:bodyPr>
          <a:lstStyle/>
          <a:p>
            <a:pPr algn="ctr">
              <a:defRPr sz="1300" b="1">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Verify</a:t>
            </a:r>
            <a:endParaRPr sz="1200">
              <a:solidFill>
                <a:srgbClr val="333333"/>
              </a:solidFill>
              <a:latin typeface="Microsoft YaHei" panose="020B0503020204020204" charset="-122"/>
              <a:ea typeface="Microsoft YaHei" panose="020B0503020204020204" charset="-122"/>
            </a:endParaRPr>
          </a:p>
        </p:txBody>
      </p:sp>
      <p:sp>
        <p:nvSpPr>
          <p:cNvPr id="37" name="TextBox 36"/>
          <p:cNvSpPr txBox="1"/>
          <p:nvPr/>
        </p:nvSpPr>
        <p:spPr>
          <a:xfrm>
            <a:off x="9336024" y="2377440"/>
            <a:ext cx="1051560" cy="1097280"/>
          </a:xfrm>
          <a:prstGeom prst="rect">
            <a:avLst/>
          </a:prstGeom>
          <a:noFill/>
        </p:spPr>
        <p:txBody>
          <a:bodyPr wrap="square">
            <a:spAutoFit/>
          </a:bodyPr>
          <a:lstStyle/>
          <a:p>
            <a:pPr algn="ctr">
              <a:spcAft>
                <a:spcPts val="330"/>
              </a:spcAft>
              <a:defRPr sz="1100" b="0">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验证实现</a:t>
            </a:r>
            <a:endParaRPr sz="1200">
              <a:solidFill>
                <a:srgbClr val="333333"/>
              </a:solidFill>
              <a:latin typeface="Microsoft YaHei" panose="020B0503020204020204" charset="-122"/>
              <a:ea typeface="Microsoft YaHei" panose="020B0503020204020204" charset="-122"/>
            </a:endParaRPr>
          </a:p>
          <a:p>
            <a:pPr algn="ctr">
              <a:spcAft>
                <a:spcPts val="330"/>
              </a:spcAft>
              <a:defRPr sz="1100" b="0">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匹配规格</a:t>
            </a:r>
            <a:endParaRPr sz="1200">
              <a:solidFill>
                <a:srgbClr val="333333"/>
              </a:solidFill>
              <a:latin typeface="Microsoft YaHei" panose="020B0503020204020204" charset="-122"/>
              <a:ea typeface="Microsoft YaHei" panose="020B0503020204020204" charset="-122"/>
            </a:endParaRPr>
          </a:p>
        </p:txBody>
      </p:sp>
      <p:sp>
        <p:nvSpPr>
          <p:cNvPr id="38" name="TextBox 37"/>
          <p:cNvSpPr txBox="1"/>
          <p:nvPr/>
        </p:nvSpPr>
        <p:spPr>
          <a:xfrm>
            <a:off x="10433304" y="2606040"/>
            <a:ext cx="118872" cy="274320"/>
          </a:xfrm>
          <a:prstGeom prst="rect">
            <a:avLst/>
          </a:prstGeom>
          <a:noFill/>
        </p:spPr>
        <p:txBody>
          <a:bodyPr wrap="square">
            <a:spAutoFit/>
          </a:bodyPr>
          <a:lstStyle/>
          <a:p>
            <a:pPr algn="ctr">
              <a:defRPr sz="1600" b="0">
                <a:solidFill>
                  <a:srgbClr val="888888"/>
                </a:solidFill>
                <a:latin typeface="Microsoft YaHei" panose="020B0503020204020204" charset="-122"/>
              </a:defRPr>
            </a:pPr>
            <a:r>
              <a:rPr sz="1200">
                <a:solidFill>
                  <a:srgbClr val="333333"/>
                </a:solidFill>
                <a:latin typeface="Microsoft YaHei" panose="020B0503020204020204" charset="-122"/>
                <a:ea typeface="Microsoft YaHei" panose="020B0503020204020204" charset="-122"/>
              </a:rPr>
              <a:t>→</a:t>
            </a:r>
            <a:endParaRPr sz="1200">
              <a:solidFill>
                <a:srgbClr val="333333"/>
              </a:solidFill>
              <a:latin typeface="Microsoft YaHei" panose="020B0503020204020204" charset="-122"/>
              <a:ea typeface="Microsoft YaHei" panose="020B0503020204020204" charset="-122"/>
            </a:endParaRPr>
          </a:p>
        </p:txBody>
      </p:sp>
      <p:sp>
        <p:nvSpPr>
          <p:cNvPr id="39" name="Rectangle 38"/>
          <p:cNvSpPr/>
          <p:nvPr/>
        </p:nvSpPr>
        <p:spPr>
          <a:xfrm>
            <a:off x="10552176" y="1828800"/>
            <a:ext cx="1143000" cy="2011680"/>
          </a:xfrm>
          <a:prstGeom prst="rect">
            <a:avLst/>
          </a:prstGeom>
          <a:solidFill>
            <a:srgbClr val="D134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552176" y="1965960"/>
            <a:ext cx="1143000" cy="365760"/>
          </a:xfrm>
          <a:prstGeom prst="rect">
            <a:avLst/>
          </a:prstGeom>
          <a:noFill/>
        </p:spPr>
        <p:txBody>
          <a:bodyPr wrap="square">
            <a:spAutoFit/>
          </a:bodyPr>
          <a:lstStyle/>
          <a:p>
            <a:pPr algn="ctr">
              <a:defRPr sz="1300" b="1">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Archive</a:t>
            </a:r>
            <a:endParaRPr sz="1200">
              <a:solidFill>
                <a:srgbClr val="333333"/>
              </a:solidFill>
              <a:latin typeface="Microsoft YaHei" panose="020B0503020204020204" charset="-122"/>
              <a:ea typeface="Microsoft YaHei" panose="020B0503020204020204" charset="-122"/>
            </a:endParaRPr>
          </a:p>
        </p:txBody>
      </p:sp>
      <p:sp>
        <p:nvSpPr>
          <p:cNvPr id="41" name="TextBox 40"/>
          <p:cNvSpPr txBox="1"/>
          <p:nvPr/>
        </p:nvSpPr>
        <p:spPr>
          <a:xfrm>
            <a:off x="10597896" y="2377440"/>
            <a:ext cx="1051560" cy="1097280"/>
          </a:xfrm>
          <a:prstGeom prst="rect">
            <a:avLst/>
          </a:prstGeom>
          <a:noFill/>
        </p:spPr>
        <p:txBody>
          <a:bodyPr wrap="square">
            <a:spAutoFit/>
          </a:bodyPr>
          <a:lstStyle/>
          <a:p>
            <a:pPr algn="ctr">
              <a:spcAft>
                <a:spcPts val="330"/>
              </a:spcAft>
              <a:defRPr sz="1100" b="0">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合并规格</a:t>
            </a:r>
            <a:endParaRPr sz="1200">
              <a:solidFill>
                <a:srgbClr val="333333"/>
              </a:solidFill>
              <a:latin typeface="Microsoft YaHei" panose="020B0503020204020204" charset="-122"/>
              <a:ea typeface="Microsoft YaHei" panose="020B0503020204020204" charset="-122"/>
            </a:endParaRPr>
          </a:p>
          <a:p>
            <a:pPr algn="ctr">
              <a:spcAft>
                <a:spcPts val="330"/>
              </a:spcAft>
              <a:defRPr sz="1100" b="0">
                <a:solidFill>
                  <a:srgbClr val="FFFFFF"/>
                </a:solidFill>
                <a:latin typeface="Microsoft YaHei" panose="020B0503020204020204" charset="-122"/>
              </a:defRPr>
            </a:pPr>
            <a:r>
              <a:rPr sz="1200">
                <a:solidFill>
                  <a:srgbClr val="FFFFFF"/>
                </a:solidFill>
                <a:latin typeface="Microsoft YaHei" panose="020B0503020204020204" charset="-122"/>
                <a:ea typeface="Microsoft YaHei" panose="020B0503020204020204" charset="-122"/>
              </a:rPr>
              <a:t>归档变更</a:t>
            </a:r>
            <a:endParaRPr sz="1200">
              <a:solidFill>
                <a:srgbClr val="333333"/>
              </a:solidFill>
              <a:latin typeface="Microsoft YaHei" panose="020B0503020204020204" charset="-122"/>
              <a:ea typeface="Microsoft YaHei" panose="020B0503020204020204" charset="-122"/>
            </a:endParaRPr>
          </a:p>
        </p:txBody>
      </p:sp>
      <p:sp>
        <p:nvSpPr>
          <p:cNvPr id="42" name="Rectangle 41"/>
          <p:cNvSpPr/>
          <p:nvPr/>
        </p:nvSpPr>
        <p:spPr>
          <a:xfrm>
            <a:off x="457200" y="4389120"/>
            <a:ext cx="11247120" cy="36576"/>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57200" y="4663440"/>
            <a:ext cx="73152" cy="4572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1520" y="4681728"/>
            <a:ext cx="1828800" cy="365760"/>
          </a:xfrm>
          <a:prstGeom prst="rect">
            <a:avLst/>
          </a:prstGeom>
          <a:noFill/>
        </p:spPr>
        <p:txBody>
          <a:bodyPr wrap="square">
            <a:spAutoFit/>
          </a:bodyPr>
          <a:lstStyle/>
          <a:p>
            <a:pPr algn="l">
              <a:defRPr sz="1400" b="1">
                <a:solidFill>
                  <a:srgbClr val="0078D4"/>
                </a:solidFill>
                <a:latin typeface="Microsoft YaHei" panose="020B0503020204020204" charset="-122"/>
              </a:defRPr>
            </a:pPr>
            <a:r>
              <a:rPr sz="1200">
                <a:solidFill>
                  <a:srgbClr val="333333"/>
                </a:solidFill>
                <a:latin typeface="Microsoft YaHei" panose="020B0503020204020204" charset="-122"/>
                <a:ea typeface="Microsoft YaHei" panose="020B0503020204020204" charset="-122"/>
              </a:rPr>
              <a:t>一键加速</a:t>
            </a:r>
            <a:endParaRPr sz="1200">
              <a:solidFill>
                <a:srgbClr val="333333"/>
              </a:solidFill>
              <a:latin typeface="Microsoft YaHei" panose="020B0503020204020204" charset="-122"/>
              <a:ea typeface="Microsoft YaHei" panose="020B0503020204020204" charset="-122"/>
            </a:endParaRPr>
          </a:p>
        </p:txBody>
      </p:sp>
      <p:sp>
        <p:nvSpPr>
          <p:cNvPr id="45" name="TextBox 44"/>
          <p:cNvSpPr txBox="1"/>
          <p:nvPr/>
        </p:nvSpPr>
        <p:spPr>
          <a:xfrm>
            <a:off x="2560320" y="4681728"/>
            <a:ext cx="9144000" cy="365760"/>
          </a:xfrm>
          <a:prstGeom prst="rect">
            <a:avLst/>
          </a:prstGeom>
          <a:noFill/>
        </p:spPr>
        <p:txBody>
          <a:bodyPr wrap="square">
            <a:spAutoFit/>
          </a:bodyPr>
          <a:lstStyle/>
          <a:p>
            <a:pPr algn="l">
              <a:defRPr sz="1400" b="0">
                <a:solidFill>
                  <a:srgbClr val="444444"/>
                </a:solidFill>
                <a:latin typeface="Microsoft YaHei" panose="020B0503020204020204" charset="-122"/>
              </a:defRPr>
            </a:pPr>
            <a:r>
              <a:rPr sz="1100">
                <a:solidFill>
                  <a:srgbClr val="333333"/>
                </a:solidFill>
                <a:latin typeface="Microsoft YaHei" panose="020B0503020204020204" charset="-122"/>
                <a:ea typeface="Microsoft YaHei" panose="020B0503020204020204" charset="-122"/>
              </a:rPr>
              <a:t>/opsx:ff 可以一步生成所有工件，省去逐步创建</a:t>
            </a:r>
            <a:endParaRPr sz="1100">
              <a:solidFill>
                <a:srgbClr val="333333"/>
              </a:solidFill>
              <a:latin typeface="Microsoft YaHei" panose="020B0503020204020204" charset="-122"/>
              <a:ea typeface="Microsoft YaHei" panose="020B0503020204020204" charset="-122"/>
            </a:endParaRPr>
          </a:p>
        </p:txBody>
      </p:sp>
      <p:sp>
        <p:nvSpPr>
          <p:cNvPr id="46" name="Rectangle 45"/>
          <p:cNvSpPr/>
          <p:nvPr/>
        </p:nvSpPr>
        <p:spPr>
          <a:xfrm>
            <a:off x="457200" y="5303520"/>
            <a:ext cx="73152" cy="457200"/>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31520" y="5321808"/>
            <a:ext cx="1828800" cy="365760"/>
          </a:xfrm>
          <a:prstGeom prst="rect">
            <a:avLst/>
          </a:prstGeom>
          <a:noFill/>
        </p:spPr>
        <p:txBody>
          <a:bodyPr wrap="square">
            <a:spAutoFit/>
          </a:bodyPr>
          <a:lstStyle/>
          <a:p>
            <a:pPr algn="l">
              <a:defRPr sz="1400" b="1">
                <a:solidFill>
                  <a:srgbClr val="107C10"/>
                </a:solidFill>
                <a:latin typeface="Microsoft YaHei" panose="020B0503020204020204" charset="-122"/>
              </a:defRPr>
            </a:pPr>
            <a:r>
              <a:rPr sz="1200">
                <a:solidFill>
                  <a:srgbClr val="333333"/>
                </a:solidFill>
                <a:latin typeface="Microsoft YaHei" panose="020B0503020204020204" charset="-122"/>
                <a:ea typeface="Microsoft YaHei" panose="020B0503020204020204" charset="-122"/>
              </a:rPr>
              <a:t>灵活不僵化</a:t>
            </a:r>
            <a:endParaRPr sz="1200">
              <a:solidFill>
                <a:srgbClr val="333333"/>
              </a:solidFill>
              <a:latin typeface="Microsoft YaHei" panose="020B0503020204020204" charset="-122"/>
              <a:ea typeface="Microsoft YaHei" panose="020B0503020204020204" charset="-122"/>
            </a:endParaRPr>
          </a:p>
        </p:txBody>
      </p:sp>
      <p:sp>
        <p:nvSpPr>
          <p:cNvPr id="48" name="TextBox 47"/>
          <p:cNvSpPr txBox="1"/>
          <p:nvPr/>
        </p:nvSpPr>
        <p:spPr>
          <a:xfrm>
            <a:off x="2560320" y="5321808"/>
            <a:ext cx="9144000" cy="365760"/>
          </a:xfrm>
          <a:prstGeom prst="rect">
            <a:avLst/>
          </a:prstGeom>
          <a:noFill/>
        </p:spPr>
        <p:txBody>
          <a:bodyPr wrap="square">
            <a:spAutoFit/>
          </a:bodyPr>
          <a:lstStyle/>
          <a:p>
            <a:pPr algn="l">
              <a:defRPr sz="1400" b="0">
                <a:solidFill>
                  <a:srgbClr val="444444"/>
                </a:solidFill>
                <a:latin typeface="Microsoft YaHei" panose="020B0503020204020204" charset="-122"/>
              </a:defRPr>
            </a:pPr>
            <a:r>
              <a:rPr sz="1100">
                <a:solidFill>
                  <a:srgbClr val="333333"/>
                </a:solidFill>
                <a:latin typeface="Microsoft YaHei" panose="020B0503020204020204" charset="-122"/>
                <a:ea typeface="Microsoft YaHei" panose="020B0503020204020204" charset="-122"/>
              </a:rPr>
              <a:t>工件之间是依赖图（DAG），不是固定流水线，可跳过可选步骤</a:t>
            </a:r>
            <a:endParaRPr sz="1100">
              <a:solidFill>
                <a:srgbClr val="333333"/>
              </a:solidFill>
              <a:latin typeface="Microsoft YaHei" panose="020B0503020204020204" charset="-122"/>
              <a:ea typeface="Microsoft YaHei" panose="020B0503020204020204" charset="-122"/>
            </a:endParaRPr>
          </a:p>
        </p:txBody>
      </p:sp>
      <p:sp>
        <p:nvSpPr>
          <p:cNvPr id="49" name="Rectangle 48"/>
          <p:cNvSpPr/>
          <p:nvPr/>
        </p:nvSpPr>
        <p:spPr>
          <a:xfrm>
            <a:off x="457200" y="5943600"/>
            <a:ext cx="73152" cy="457200"/>
          </a:xfrm>
          <a:prstGeom prst="rect">
            <a:avLst/>
          </a:prstGeom>
          <a:solidFill>
            <a:srgbClr val="E8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20" y="5961888"/>
            <a:ext cx="1828800" cy="365760"/>
          </a:xfrm>
          <a:prstGeom prst="rect">
            <a:avLst/>
          </a:prstGeom>
          <a:noFill/>
        </p:spPr>
        <p:txBody>
          <a:bodyPr wrap="square">
            <a:spAutoFit/>
          </a:bodyPr>
          <a:lstStyle/>
          <a:p>
            <a:pPr algn="l">
              <a:defRPr sz="1400" b="1">
                <a:solidFill>
                  <a:srgbClr val="E86C00"/>
                </a:solidFill>
                <a:latin typeface="Microsoft YaHei" panose="020B0503020204020204" charset="-122"/>
              </a:defRPr>
            </a:pPr>
            <a:r>
              <a:rPr sz="1200">
                <a:solidFill>
                  <a:srgbClr val="333333"/>
                </a:solidFill>
                <a:latin typeface="Microsoft YaHei" panose="020B0503020204020204" charset="-122"/>
                <a:ea typeface="Microsoft YaHei" panose="020B0503020204020204" charset="-122"/>
              </a:rPr>
              <a:t>闭环演进</a:t>
            </a:r>
            <a:endParaRPr sz="1200">
              <a:solidFill>
                <a:srgbClr val="333333"/>
              </a:solidFill>
              <a:latin typeface="Microsoft YaHei" panose="020B0503020204020204" charset="-122"/>
              <a:ea typeface="Microsoft YaHei" panose="020B0503020204020204" charset="-122"/>
            </a:endParaRPr>
          </a:p>
        </p:txBody>
      </p:sp>
      <p:sp>
        <p:nvSpPr>
          <p:cNvPr id="51" name="TextBox 50"/>
          <p:cNvSpPr txBox="1"/>
          <p:nvPr/>
        </p:nvSpPr>
        <p:spPr>
          <a:xfrm>
            <a:off x="2560320" y="5961888"/>
            <a:ext cx="9144000" cy="365760"/>
          </a:xfrm>
          <a:prstGeom prst="rect">
            <a:avLst/>
          </a:prstGeom>
          <a:noFill/>
        </p:spPr>
        <p:txBody>
          <a:bodyPr wrap="square">
            <a:spAutoFit/>
          </a:bodyPr>
          <a:lstStyle/>
          <a:p>
            <a:pPr algn="l">
              <a:defRPr sz="1400" b="0">
                <a:solidFill>
                  <a:srgbClr val="444444"/>
                </a:solidFill>
                <a:latin typeface="Microsoft YaHei" panose="020B0503020204020204" charset="-122"/>
              </a:defRPr>
            </a:pPr>
            <a:r>
              <a:rPr sz="1100">
                <a:solidFill>
                  <a:srgbClr val="333333"/>
                </a:solidFill>
                <a:latin typeface="Microsoft YaHei" panose="020B0503020204020204" charset="-122"/>
                <a:ea typeface="Microsoft YaHei" panose="020B0503020204020204" charset="-122"/>
              </a:rPr>
              <a:t>Archive 后 specs 自动更新 → 下次变更基于最新状态 → 持续积累</a:t>
            </a:r>
            <a:endParaRPr sz="1100">
              <a:solidFill>
                <a:srgbClr val="333333"/>
              </a:solidFill>
              <a:latin typeface="Microsoft YaHei" panose="020B0503020204020204" charset="-122"/>
              <a:ea typeface="Microsoft YaHei" panose="020B0503020204020204" charset="-122"/>
            </a:endParaRPr>
          </a:p>
        </p:txBody>
      </p:sp>
      <p:sp>
        <p:nvSpPr>
          <p:cNvPr id="52" name="TextBox 51"/>
          <p:cNvSpPr txBox="1"/>
          <p:nvPr/>
        </p:nvSpPr>
        <p:spPr>
          <a:xfrm>
            <a:off x="11094415" y="6400800"/>
            <a:ext cx="914400" cy="365760"/>
          </a:xfrm>
          <a:prstGeom prst="rect">
            <a:avLst/>
          </a:prstGeom>
          <a:noFill/>
        </p:spPr>
        <p:txBody>
          <a:bodyPr wrap="square">
            <a:spAutoFit/>
          </a:bodyPr>
          <a:lstStyle/>
          <a:p>
            <a:pPr algn="r">
              <a:defRPr sz="1100" b="0">
                <a:solidFill>
                  <a:srgbClr val="888888"/>
                </a:solidFill>
                <a:latin typeface="Microsoft YaHei" panose="020B0503020204020204" charset="-122"/>
              </a:defRPr>
            </a:pPr>
            <a:r>
              <a:rPr sz="1000">
                <a:solidFill>
                  <a:srgbClr val="333333"/>
                </a:solidFill>
                <a:latin typeface="Microsoft YaHei" panose="020B0503020204020204" charset="-122"/>
                <a:ea typeface="Microsoft YaHei" panose="020B0503020204020204" charset="-122"/>
              </a:rPr>
              <a:t>2/41</a:t>
            </a:r>
            <a:endParaRPr sz="1000">
              <a:solidFill>
                <a:srgbClr val="333333"/>
              </a:solidFill>
              <a:latin typeface="Microsoft YaHei" panose="020B0503020204020204" charset="-122"/>
              <a:ea typeface="Microsoft YaHei" panose="020B0503020204020204" charset="-122"/>
            </a:endParaRPr>
          </a:p>
        </p:txBody>
      </p:sp>
      <p:sp>
        <p:nvSpPr>
          <p:cNvPr id="53" name="TextBox 17"/>
          <p:cNvSpPr txBox="1"/>
          <p:nvPr/>
        </p:nvSpPr>
        <p:spPr>
          <a:xfrm>
            <a:off x="2862199" y="3840353"/>
            <a:ext cx="1463040" cy="245110"/>
          </a:xfrm>
          <a:prstGeom prst="rect">
            <a:avLst/>
          </a:prstGeom>
          <a:noFill/>
        </p:spPr>
        <p:txBody>
          <a:bodyPr wrap="square">
            <a:spAutoFit/>
          </a:bodyPr>
          <a:lstStyle/>
          <a:p>
            <a:pPr algn="ctr"/>
            <a:r>
              <a:rPr sz="1000" b="1">
                <a:solidFill>
                  <a:srgbClr val="FF8C00"/>
                </a:solidFill>
                <a:latin typeface="Microsoft YaHei" panose="020B0503020204020204" charset="-122"/>
                <a:ea typeface="Microsoft YaHei" panose="020B0503020204020204" charset="-122"/>
              </a:rPr>
              <a:t>▲ </a:t>
            </a:r>
            <a:r>
              <a:rPr lang="zh-CN" sz="1000" b="1">
                <a:solidFill>
                  <a:srgbClr val="FF8C00"/>
                </a:solidFill>
                <a:latin typeface="Microsoft YaHei" panose="020B0503020204020204" charset="-122"/>
                <a:ea typeface="Microsoft YaHei" panose="020B0503020204020204" charset="-122"/>
              </a:rPr>
              <a:t>本</a:t>
            </a:r>
            <a:r>
              <a:rPr lang="zh-CN" sz="1000" b="1">
                <a:solidFill>
                  <a:srgbClr val="FF8C00"/>
                </a:solidFill>
                <a:latin typeface="Microsoft YaHei" panose="020B0503020204020204" charset="-122"/>
                <a:ea typeface="Microsoft YaHei" panose="020B0503020204020204" charset="-122"/>
              </a:rPr>
              <a:t>工作新增</a:t>
            </a:r>
            <a:endParaRPr lang="zh-CN" sz="1000" b="1">
              <a:solidFill>
                <a:srgbClr val="FF8C00"/>
              </a:solidFill>
              <a:latin typeface="Microsoft YaHei" panose="020B0503020204020204" charset="-122"/>
            </a:endParaRPr>
          </a:p>
        </p:txBody>
      </p:sp>
      <p:sp>
        <p:nvSpPr>
          <p:cNvPr id="55" name="TextBox 4"/>
          <p:cNvSpPr txBox="1"/>
          <p:nvPr/>
        </p:nvSpPr>
        <p:spPr>
          <a:xfrm>
            <a:off x="731520" y="1119505"/>
            <a:ext cx="10058400" cy="337185"/>
          </a:xfrm>
          <a:prstGeom prst="rect">
            <a:avLst/>
          </a:prstGeom>
          <a:noFill/>
        </p:spPr>
        <p:txBody>
          <a:bodyPr wrap="square">
            <a:spAutoFit/>
          </a:bodyPr>
          <a:lstStyle/>
          <a:p>
            <a:r>
              <a:rPr lang="zh-CN" sz="1600">
                <a:solidFill>
                  <a:srgbClr val="1A1A2E"/>
                </a:solidFill>
                <a:latin typeface="Microsoft YaHei" panose="020B0503020204020204" charset="-122"/>
                <a:ea typeface="Microsoft YaHei" panose="020B0503020204020204" charset="-122"/>
              </a:rPr>
              <a:t>基于</a:t>
            </a:r>
            <a:r>
              <a:rPr lang="en-US" altLang="zh-CN" sz="1600">
                <a:solidFill>
                  <a:srgbClr val="1A1A2E"/>
                </a:solidFill>
                <a:latin typeface="Microsoft YaHei" panose="020B0503020204020204" charset="-122"/>
                <a:ea typeface="Microsoft YaHei" panose="020B0503020204020204" charset="-122"/>
              </a:rPr>
              <a:t>OpenSpec</a:t>
            </a:r>
            <a:r>
              <a:rPr lang="zh-CN" altLang="en-US" sz="1600">
                <a:solidFill>
                  <a:srgbClr val="1A1A2E"/>
                </a:solidFill>
                <a:latin typeface="Microsoft YaHei" panose="020B0503020204020204" charset="-122"/>
                <a:ea typeface="Microsoft YaHei" panose="020B0503020204020204" charset="-122"/>
              </a:rPr>
              <a:t>，根据</a:t>
            </a:r>
            <a:r>
              <a:rPr lang="en-US" altLang="zh-CN" sz="1600">
                <a:solidFill>
                  <a:srgbClr val="1A1A2E"/>
                </a:solidFill>
                <a:latin typeface="Microsoft YaHei" panose="020B0503020204020204" charset="-122"/>
                <a:ea typeface="Microsoft YaHei" panose="020B0503020204020204" charset="-122"/>
              </a:rPr>
              <a:t>Huawei</a:t>
            </a:r>
            <a:r>
              <a:rPr lang="zh-CN" altLang="en-US" sz="1600">
                <a:solidFill>
                  <a:srgbClr val="1A1A2E"/>
                </a:solidFill>
                <a:latin typeface="Microsoft YaHei" panose="020B0503020204020204" charset="-122"/>
                <a:ea typeface="Microsoft YaHei" panose="020B0503020204020204" charset="-122"/>
              </a:rPr>
              <a:t>实际情况客制化的</a:t>
            </a:r>
            <a:r>
              <a:rPr lang="en-US" altLang="zh-CN" sz="1600">
                <a:solidFill>
                  <a:srgbClr val="1A1A2E"/>
                </a:solidFill>
                <a:latin typeface="Microsoft YaHei" panose="020B0503020204020204" charset="-122"/>
                <a:ea typeface="Microsoft YaHei" panose="020B0503020204020204" charset="-122"/>
              </a:rPr>
              <a:t>fork</a:t>
            </a:r>
            <a:endParaRPr lang="en-US" altLang="zh-CN" sz="1600">
              <a:solidFill>
                <a:srgbClr val="1A1A2E"/>
              </a:solidFill>
              <a:latin typeface="Microsoft YaHei" panose="020B0503020204020204" charset="-122"/>
            </a:endParaRPr>
          </a:p>
        </p:txBody>
      </p:sp>
      <p:sp>
        <p:nvSpPr>
          <p:cNvPr id="54" name="TextBox 17"/>
          <p:cNvSpPr txBox="1"/>
          <p:nvPr/>
        </p:nvSpPr>
        <p:spPr>
          <a:xfrm>
            <a:off x="4813554" y="3877818"/>
            <a:ext cx="1463040" cy="245110"/>
          </a:xfrm>
          <a:prstGeom prst="rect">
            <a:avLst/>
          </a:prstGeom>
          <a:noFill/>
        </p:spPr>
        <p:txBody>
          <a:bodyPr wrap="square">
            <a:spAutoFit/>
          </a:bodyPr>
          <a:lstStyle/>
          <a:p>
            <a:pPr algn="ctr"/>
            <a:r>
              <a:rPr sz="1000" b="1">
                <a:solidFill>
                  <a:srgbClr val="FF8C00"/>
                </a:solidFill>
                <a:latin typeface="Microsoft YaHei" panose="020B0503020204020204" charset="-122"/>
                <a:ea typeface="Microsoft YaHei" panose="020B0503020204020204" charset="-122"/>
              </a:rPr>
              <a:t>▲ </a:t>
            </a:r>
            <a:r>
              <a:rPr lang="zh-CN" sz="1000" b="1">
                <a:solidFill>
                  <a:srgbClr val="FF8C00"/>
                </a:solidFill>
                <a:latin typeface="Microsoft YaHei" panose="020B0503020204020204" charset="-122"/>
                <a:ea typeface="Microsoft YaHei" panose="020B0503020204020204" charset="-122"/>
              </a:rPr>
              <a:t>本工作</a:t>
            </a:r>
            <a:r>
              <a:rPr lang="zh-CN" sz="1000" b="1">
                <a:solidFill>
                  <a:srgbClr val="FF8C00"/>
                </a:solidFill>
                <a:latin typeface="Microsoft YaHei" panose="020B0503020204020204" charset="-122"/>
                <a:ea typeface="Microsoft YaHei" panose="020B0503020204020204" charset="-122"/>
              </a:rPr>
              <a:t>改动</a:t>
            </a:r>
            <a:endParaRPr lang="zh-CN" sz="1000" b="1">
              <a:solidFill>
                <a:srgbClr val="FF8C00"/>
              </a:solidFill>
              <a:latin typeface="Microsoft YaHei" panose="020B0503020204020204" charset="-122"/>
              <a:ea typeface="Microsoft YaHei" panose="020B0503020204020204" charset="-122"/>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365" cy="54864"/>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0058400" cy="548640"/>
          </a:xfrm>
          <a:prstGeom prst="rect">
            <a:avLst/>
          </a:prstGeom>
          <a:noFill/>
        </p:spPr>
        <p:txBody>
          <a:bodyPr wrap="square">
            <a:spAutoFit/>
          </a:bodyPr>
          <a:lstStyle/>
          <a:p>
            <a:pPr algn="l"/>
            <a:r>
              <a:rPr sz="3000" b="1">
                <a:solidFill>
                  <a:srgbClr val="1A1A2E"/>
                </a:solidFill>
                <a:latin typeface="Microsoft YaHei" panose="020B0503020204020204" charset="-122"/>
                <a:ea typeface="Microsoft YaHei" panose="020B0503020204020204" charset="-122"/>
              </a:rPr>
              <a:t>OpenSpec-HW2：Use Cases 阶段详解</a:t>
            </a:r>
            <a:endParaRPr sz="3000" b="1">
              <a:solidFill>
                <a:srgbClr val="1A1A2E"/>
              </a:solidFill>
              <a:latin typeface="Microsoft YaHei" panose="020B0503020204020204" charset="-122"/>
            </a:endParaRPr>
          </a:p>
        </p:txBody>
      </p:sp>
      <p:sp>
        <p:nvSpPr>
          <p:cNvPr id="4" name="Chevron 3"/>
          <p:cNvSpPr/>
          <p:nvPr/>
        </p:nvSpPr>
        <p:spPr>
          <a:xfrm>
            <a:off x="457200" y="1005840"/>
            <a:ext cx="1463040" cy="411480"/>
          </a:xfrm>
          <a:prstGeom prst="chevron">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05840"/>
            <a:ext cx="1234440" cy="411480"/>
          </a:xfrm>
          <a:prstGeom prst="rect">
            <a:avLst/>
          </a:prstGeom>
          <a:noFill/>
        </p:spPr>
        <p:txBody>
          <a:bodyPr wrap="square">
            <a:spAutoFit/>
          </a:bodyPr>
          <a:lstStyle/>
          <a:p>
            <a:pPr algn="ctr"/>
            <a:r>
              <a:rPr sz="1000" b="0">
                <a:solidFill>
                  <a:srgbClr val="FFFFFF"/>
                </a:solidFill>
                <a:latin typeface="Microsoft YaHei" panose="020B0503020204020204" charset="-122"/>
                <a:ea typeface="Microsoft YaHei" panose="020B0503020204020204" charset="-122"/>
              </a:rPr>
              <a:t>Explore</a:t>
            </a:r>
            <a:endParaRPr sz="1000" b="0">
              <a:solidFill>
                <a:srgbClr val="FFFFFF"/>
              </a:solidFill>
              <a:latin typeface="Microsoft YaHei" panose="020B0503020204020204" charset="-122"/>
            </a:endParaRPr>
          </a:p>
        </p:txBody>
      </p:sp>
      <p:sp>
        <p:nvSpPr>
          <p:cNvPr id="6" name="Chevron 5"/>
          <p:cNvSpPr/>
          <p:nvPr/>
        </p:nvSpPr>
        <p:spPr>
          <a:xfrm>
            <a:off x="1947672" y="1005840"/>
            <a:ext cx="1463040" cy="411480"/>
          </a:xfrm>
          <a:prstGeom prst="chevron">
            <a:avLst/>
          </a:prstGeom>
          <a:solidFill>
            <a:srgbClr val="BE6B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130552" y="1005840"/>
            <a:ext cx="1234440" cy="411480"/>
          </a:xfrm>
          <a:prstGeom prst="rect">
            <a:avLst/>
          </a:prstGeom>
          <a:noFill/>
        </p:spPr>
        <p:txBody>
          <a:bodyPr wrap="square">
            <a:spAutoFit/>
          </a:bodyPr>
          <a:lstStyle/>
          <a:p>
            <a:pPr algn="ctr"/>
            <a:r>
              <a:rPr sz="1000" b="0">
                <a:solidFill>
                  <a:srgbClr val="FFFFFF"/>
                </a:solidFill>
                <a:latin typeface="Microsoft YaHei" panose="020B0503020204020204" charset="-122"/>
                <a:ea typeface="Microsoft YaHei" panose="020B0503020204020204" charset="-122"/>
              </a:rPr>
              <a:t>Proposal</a:t>
            </a:r>
            <a:endParaRPr sz="1000" b="0">
              <a:solidFill>
                <a:srgbClr val="FFFFFF"/>
              </a:solidFill>
              <a:latin typeface="Microsoft YaHei" panose="020B0503020204020204" charset="-122"/>
            </a:endParaRPr>
          </a:p>
        </p:txBody>
      </p:sp>
      <p:sp>
        <p:nvSpPr>
          <p:cNvPr id="8" name="Chevron 7"/>
          <p:cNvSpPr/>
          <p:nvPr/>
        </p:nvSpPr>
        <p:spPr>
          <a:xfrm>
            <a:off x="3438144" y="1005840"/>
            <a:ext cx="1463040" cy="411480"/>
          </a:xfrm>
          <a:prstGeom prst="chevron">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21024" y="1005840"/>
            <a:ext cx="1234440" cy="411480"/>
          </a:xfrm>
          <a:prstGeom prst="rect">
            <a:avLst/>
          </a:prstGeom>
          <a:noFill/>
        </p:spPr>
        <p:txBody>
          <a:bodyPr wrap="square">
            <a:spAutoFit/>
          </a:bodyPr>
          <a:lstStyle/>
          <a:p>
            <a:pPr algn="ctr"/>
            <a:r>
              <a:rPr sz="1200" b="1">
                <a:solidFill>
                  <a:srgbClr val="FFFFFF"/>
                </a:solidFill>
                <a:latin typeface="Microsoft YaHei" panose="020B0503020204020204" charset="-122"/>
                <a:ea typeface="Microsoft YaHei" panose="020B0503020204020204" charset="-122"/>
              </a:rPr>
              <a:t>Use Cases</a:t>
            </a:r>
            <a:endParaRPr sz="1200" b="1">
              <a:solidFill>
                <a:srgbClr val="FFFFFF"/>
              </a:solidFill>
              <a:latin typeface="Microsoft YaHei" panose="020B0503020204020204" charset="-122"/>
            </a:endParaRPr>
          </a:p>
        </p:txBody>
      </p:sp>
      <p:sp>
        <p:nvSpPr>
          <p:cNvPr id="10" name="Chevron 9"/>
          <p:cNvSpPr/>
          <p:nvPr/>
        </p:nvSpPr>
        <p:spPr>
          <a:xfrm>
            <a:off x="4928616" y="1005840"/>
            <a:ext cx="1463040" cy="411480"/>
          </a:xfrm>
          <a:prstGeom prst="chevron">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11496" y="1005840"/>
            <a:ext cx="1234440" cy="411480"/>
          </a:xfrm>
          <a:prstGeom prst="rect">
            <a:avLst/>
          </a:prstGeom>
          <a:noFill/>
        </p:spPr>
        <p:txBody>
          <a:bodyPr wrap="square">
            <a:spAutoFit/>
          </a:bodyPr>
          <a:lstStyle/>
          <a:p>
            <a:pPr algn="ctr"/>
            <a:r>
              <a:rPr sz="1000" b="0">
                <a:solidFill>
                  <a:srgbClr val="FFFFFF"/>
                </a:solidFill>
                <a:latin typeface="Microsoft YaHei" panose="020B0503020204020204" charset="-122"/>
                <a:ea typeface="Microsoft YaHei" panose="020B0503020204020204" charset="-122"/>
              </a:rPr>
              <a:t>Specs</a:t>
            </a:r>
            <a:endParaRPr sz="1000" b="0">
              <a:solidFill>
                <a:srgbClr val="FFFFFF"/>
              </a:solidFill>
              <a:latin typeface="Microsoft YaHei" panose="020B0503020204020204" charset="-122"/>
            </a:endParaRPr>
          </a:p>
        </p:txBody>
      </p:sp>
      <p:sp>
        <p:nvSpPr>
          <p:cNvPr id="12" name="Chevron 11"/>
          <p:cNvSpPr/>
          <p:nvPr/>
        </p:nvSpPr>
        <p:spPr>
          <a:xfrm>
            <a:off x="6419088" y="1005840"/>
            <a:ext cx="1463040" cy="411480"/>
          </a:xfrm>
          <a:prstGeom prst="chevron">
            <a:avLst/>
          </a:prstGeom>
          <a:solidFill>
            <a:srgbClr val="008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01968" y="1005840"/>
            <a:ext cx="1234440" cy="411480"/>
          </a:xfrm>
          <a:prstGeom prst="rect">
            <a:avLst/>
          </a:prstGeom>
          <a:noFill/>
        </p:spPr>
        <p:txBody>
          <a:bodyPr wrap="square">
            <a:spAutoFit/>
          </a:bodyPr>
          <a:lstStyle/>
          <a:p>
            <a:pPr algn="ctr"/>
            <a:r>
              <a:rPr sz="1000" b="0">
                <a:solidFill>
                  <a:srgbClr val="FFFFFF"/>
                </a:solidFill>
                <a:latin typeface="Microsoft YaHei" panose="020B0503020204020204" charset="-122"/>
                <a:ea typeface="Microsoft YaHei" panose="020B0503020204020204" charset="-122"/>
              </a:rPr>
              <a:t>Design</a:t>
            </a:r>
            <a:endParaRPr sz="1000" b="0">
              <a:solidFill>
                <a:srgbClr val="FFFFFF"/>
              </a:solidFill>
              <a:latin typeface="Microsoft YaHei" panose="020B0503020204020204" charset="-122"/>
            </a:endParaRPr>
          </a:p>
        </p:txBody>
      </p:sp>
      <p:sp>
        <p:nvSpPr>
          <p:cNvPr id="14" name="Chevron 13"/>
          <p:cNvSpPr/>
          <p:nvPr/>
        </p:nvSpPr>
        <p:spPr>
          <a:xfrm>
            <a:off x="7909560" y="1005840"/>
            <a:ext cx="1463040" cy="411480"/>
          </a:xfrm>
          <a:prstGeom prst="chevron">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92440" y="1005840"/>
            <a:ext cx="1234440" cy="411480"/>
          </a:xfrm>
          <a:prstGeom prst="rect">
            <a:avLst/>
          </a:prstGeom>
          <a:noFill/>
        </p:spPr>
        <p:txBody>
          <a:bodyPr wrap="square">
            <a:spAutoFit/>
          </a:bodyPr>
          <a:lstStyle/>
          <a:p>
            <a:pPr algn="ctr"/>
            <a:r>
              <a:rPr sz="1000" b="0">
                <a:solidFill>
                  <a:srgbClr val="FFFFFF"/>
                </a:solidFill>
                <a:latin typeface="Microsoft YaHei" panose="020B0503020204020204" charset="-122"/>
                <a:ea typeface="Microsoft YaHei" panose="020B0503020204020204" charset="-122"/>
              </a:rPr>
              <a:t>Tasks</a:t>
            </a:r>
            <a:endParaRPr sz="1000" b="0">
              <a:solidFill>
                <a:srgbClr val="FFFFFF"/>
              </a:solidFill>
              <a:latin typeface="Microsoft YaHei" panose="020B0503020204020204" charset="-122"/>
            </a:endParaRPr>
          </a:p>
        </p:txBody>
      </p:sp>
      <p:sp>
        <p:nvSpPr>
          <p:cNvPr id="16" name="Chevron 15"/>
          <p:cNvSpPr/>
          <p:nvPr/>
        </p:nvSpPr>
        <p:spPr>
          <a:xfrm>
            <a:off x="9400032" y="1005840"/>
            <a:ext cx="1463040" cy="411480"/>
          </a:xfrm>
          <a:prstGeom prst="chevron">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582912" y="1005840"/>
            <a:ext cx="1234440" cy="411480"/>
          </a:xfrm>
          <a:prstGeom prst="rect">
            <a:avLst/>
          </a:prstGeom>
          <a:noFill/>
        </p:spPr>
        <p:txBody>
          <a:bodyPr wrap="square">
            <a:spAutoFit/>
          </a:bodyPr>
          <a:lstStyle/>
          <a:p>
            <a:pPr algn="ctr"/>
            <a:r>
              <a:rPr sz="1000" b="0">
                <a:solidFill>
                  <a:srgbClr val="FFFFFF"/>
                </a:solidFill>
                <a:latin typeface="Microsoft YaHei" panose="020B0503020204020204" charset="-122"/>
                <a:ea typeface="Microsoft YaHei" panose="020B0503020204020204" charset="-122"/>
              </a:rPr>
              <a:t>...</a:t>
            </a:r>
            <a:endParaRPr sz="1000" b="0">
              <a:solidFill>
                <a:srgbClr val="FFFFFF"/>
              </a:solidFill>
              <a:latin typeface="Microsoft YaHei" panose="020B0503020204020204" charset="-122"/>
            </a:endParaRPr>
          </a:p>
        </p:txBody>
      </p:sp>
      <p:sp>
        <p:nvSpPr>
          <p:cNvPr id="18" name="TextBox 17"/>
          <p:cNvSpPr txBox="1"/>
          <p:nvPr/>
        </p:nvSpPr>
        <p:spPr>
          <a:xfrm>
            <a:off x="3438144" y="1435608"/>
            <a:ext cx="1463040" cy="245110"/>
          </a:xfrm>
          <a:prstGeom prst="rect">
            <a:avLst/>
          </a:prstGeom>
          <a:noFill/>
        </p:spPr>
        <p:txBody>
          <a:bodyPr wrap="square">
            <a:spAutoFit/>
          </a:bodyPr>
          <a:lstStyle/>
          <a:p>
            <a:pPr algn="ctr"/>
            <a:r>
              <a:rPr sz="1000" b="1">
                <a:solidFill>
                  <a:srgbClr val="FF8C00"/>
                </a:solidFill>
                <a:latin typeface="Microsoft YaHei" panose="020B0503020204020204" charset="-122"/>
                <a:ea typeface="Microsoft YaHei" panose="020B0503020204020204" charset="-122"/>
              </a:rPr>
              <a:t>▲ 本</a:t>
            </a:r>
            <a:r>
              <a:rPr lang="zh-CN" sz="1000" b="1">
                <a:solidFill>
                  <a:srgbClr val="FF8C00"/>
                </a:solidFill>
                <a:latin typeface="Microsoft YaHei" panose="020B0503020204020204" charset="-122"/>
                <a:ea typeface="Microsoft YaHei" panose="020B0503020204020204" charset="-122"/>
              </a:rPr>
              <a:t>工作</a:t>
            </a:r>
            <a:r>
              <a:rPr lang="zh-CN" sz="1000" b="1">
                <a:solidFill>
                  <a:srgbClr val="FF8C00"/>
                </a:solidFill>
                <a:latin typeface="Microsoft YaHei" panose="020B0503020204020204" charset="-122"/>
                <a:ea typeface="Microsoft YaHei" panose="020B0503020204020204" charset="-122"/>
              </a:rPr>
              <a:t>新增</a:t>
            </a:r>
            <a:endParaRPr lang="zh-CN" sz="1000" b="1">
              <a:solidFill>
                <a:srgbClr val="FF8C00"/>
              </a:solidFill>
              <a:latin typeface="Microsoft YaHei" panose="020B0503020204020204" charset="-122"/>
            </a:endParaRPr>
          </a:p>
        </p:txBody>
      </p:sp>
      <p:sp>
        <p:nvSpPr>
          <p:cNvPr id="19" name="Rectangle 18"/>
          <p:cNvSpPr/>
          <p:nvPr/>
        </p:nvSpPr>
        <p:spPr>
          <a:xfrm>
            <a:off x="457200" y="1828800"/>
            <a:ext cx="10241280" cy="1270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2011680"/>
            <a:ext cx="5943600" cy="4754245"/>
          </a:xfrm>
          <a:prstGeom prst="rect">
            <a:avLst/>
          </a:prstGeom>
          <a:noFill/>
        </p:spPr>
        <p:txBody>
          <a:bodyPr wrap="square">
            <a:spAutoFit/>
          </a:bodyPr>
          <a:lstStyle/>
          <a:p>
            <a:pPr algn="l">
              <a:spcBef>
                <a:spcPts val="0"/>
              </a:spcBef>
              <a:spcAft>
                <a:spcPts val="800"/>
              </a:spcAft>
            </a:pPr>
            <a:r>
              <a:rPr sz="1800" b="1">
                <a:solidFill>
                  <a:srgbClr val="FF8C00"/>
                </a:solidFill>
                <a:latin typeface="Microsoft YaHei" panose="020B0503020204020204" charset="-122"/>
                <a:ea typeface="Microsoft YaHei" panose="020B0503020204020204" charset="-122"/>
              </a:rPr>
              <a:t>这一步做什么</a:t>
            </a:r>
            <a:endParaRPr sz="1800" b="1">
              <a:solidFill>
                <a:srgbClr val="FF8C00"/>
              </a:solidFill>
              <a:latin typeface="Microsoft YaHei" panose="020B0503020204020204" charset="-122"/>
            </a:endParaRPr>
          </a:p>
          <a:p>
            <a:pPr algn="l">
              <a:spcBef>
                <a:spcPts val="0"/>
              </a:spcBef>
              <a:spcAft>
                <a:spcPts val="1600"/>
              </a:spcAft>
            </a:pPr>
            <a:r>
              <a:rPr sz="1400" b="0">
                <a:solidFill>
                  <a:srgbClr val="555555"/>
                </a:solidFill>
                <a:latin typeface="Microsoft YaHei" panose="020B0503020204020204" charset="-122"/>
                <a:ea typeface="Microsoft YaHei" panose="020B0503020204020204" charset="-122"/>
              </a:rPr>
              <a:t>在 Proposal（提案）和 Specs（规格）之间，插入一个结构化的用户场景建模环节。先系统地梳理</a:t>
            </a:r>
            <a:r>
              <a:rPr lang="en-US" sz="1400" b="0">
                <a:solidFill>
                  <a:srgbClr val="555555"/>
                </a:solidFill>
                <a:latin typeface="Microsoft YaHei" panose="020B0503020204020204" charset="-122"/>
                <a:ea typeface="Microsoft YaHei" panose="020B0503020204020204" charset="-122"/>
              </a:rPr>
              <a:t>Usecase</a:t>
            </a:r>
            <a:r>
              <a:rPr lang="zh-CN" sz="1400" b="0">
                <a:solidFill>
                  <a:srgbClr val="555555"/>
                </a:solidFill>
                <a:latin typeface="Microsoft YaHei" panose="020B0503020204020204" charset="-122"/>
                <a:ea typeface="Microsoft YaHei" panose="020B0503020204020204" charset="-122"/>
              </a:rPr>
              <a:t>用例</a:t>
            </a:r>
            <a:r>
              <a:rPr sz="1400" b="0">
                <a:solidFill>
                  <a:srgbClr val="555555"/>
                </a:solidFill>
                <a:latin typeface="Microsoft YaHei" panose="020B0503020204020204" charset="-122"/>
                <a:ea typeface="Microsoft YaHei" panose="020B0503020204020204" charset="-122"/>
              </a:rPr>
              <a:t>：谁在用这个系统、他想达成什么目标、正常流程是什么、出错了怎么办</a:t>
            </a:r>
            <a:endParaRPr sz="1400" b="0">
              <a:solidFill>
                <a:srgbClr val="555555"/>
              </a:solidFill>
              <a:latin typeface="Microsoft YaHei" panose="020B0503020204020204" charset="-122"/>
            </a:endParaRPr>
          </a:p>
          <a:p>
            <a:pPr algn="l">
              <a:spcBef>
                <a:spcPts val="0"/>
              </a:spcBef>
              <a:spcAft>
                <a:spcPts val="800"/>
              </a:spcAft>
            </a:pPr>
            <a:r>
              <a:rPr sz="1800" b="1">
                <a:solidFill>
                  <a:srgbClr val="FF8C00"/>
                </a:solidFill>
                <a:latin typeface="Microsoft YaHei" panose="020B0503020204020204" charset="-122"/>
                <a:ea typeface="Microsoft YaHei" panose="020B0503020204020204" charset="-122"/>
              </a:rPr>
              <a:t>基于什么方法论</a:t>
            </a:r>
            <a:endParaRPr sz="1800" b="1">
              <a:solidFill>
                <a:srgbClr val="FF8C00"/>
              </a:solidFill>
              <a:latin typeface="Microsoft YaHei" panose="020B0503020204020204" charset="-122"/>
            </a:endParaRPr>
          </a:p>
          <a:p>
            <a:pPr algn="l">
              <a:spcBef>
                <a:spcPts val="0"/>
              </a:spcBef>
              <a:spcAft>
                <a:spcPts val="600"/>
              </a:spcAft>
            </a:pPr>
            <a:r>
              <a:rPr sz="1400" b="0">
                <a:solidFill>
                  <a:srgbClr val="555555"/>
                </a:solidFill>
                <a:latin typeface="Microsoft YaHei" panose="020B0503020204020204" charset="-122"/>
                <a:ea typeface="Microsoft YaHei" panose="020B0503020204020204" charset="-122"/>
              </a:rPr>
              <a:t>采用 Alistair Cockburn 的《Writing Effective Use Cases》方法论，核心是"渐进式揭示"流程：</a:t>
            </a:r>
            <a:endParaRPr sz="1400" b="0">
              <a:solidFill>
                <a:srgbClr val="555555"/>
              </a:solidFill>
              <a:latin typeface="Microsoft YaHei" panose="020B0503020204020204" charset="-122"/>
            </a:endParaRPr>
          </a:p>
          <a:p>
            <a:pPr algn="l">
              <a:spcBef>
                <a:spcPts val="0"/>
              </a:spcBef>
              <a:spcAft>
                <a:spcPts val="600"/>
              </a:spcAft>
            </a:pPr>
            <a:endParaRPr sz="1400" b="0">
              <a:solidFill>
                <a:srgbClr val="555555"/>
              </a:solidFill>
              <a:latin typeface="Microsoft YaHei" panose="020B0503020204020204" charset="-122"/>
            </a:endParaRPr>
          </a:p>
          <a:p>
            <a:pPr algn="l">
              <a:spcBef>
                <a:spcPts val="0"/>
              </a:spcBef>
              <a:spcAft>
                <a:spcPts val="600"/>
              </a:spcAft>
            </a:pPr>
            <a:endParaRPr sz="1400" b="0">
              <a:solidFill>
                <a:srgbClr val="555555"/>
              </a:solidFill>
              <a:latin typeface="Microsoft YaHei" panose="020B0503020204020204" charset="-122"/>
            </a:endParaRPr>
          </a:p>
          <a:p>
            <a:pPr algn="l">
              <a:spcBef>
                <a:spcPts val="0"/>
              </a:spcBef>
              <a:spcAft>
                <a:spcPts val="600"/>
              </a:spcAft>
            </a:pPr>
            <a:endParaRPr sz="1400" b="0">
              <a:solidFill>
                <a:srgbClr val="555555"/>
              </a:solidFill>
              <a:latin typeface="Microsoft YaHei" panose="020B0503020204020204" charset="-122"/>
            </a:endParaRPr>
          </a:p>
          <a:p>
            <a:pPr algn="l">
              <a:spcBef>
                <a:spcPts val="0"/>
              </a:spcBef>
              <a:spcAft>
                <a:spcPts val="600"/>
              </a:spcAft>
            </a:pPr>
            <a:endParaRPr sz="1400" b="0">
              <a:solidFill>
                <a:srgbClr val="555555"/>
              </a:solidFill>
              <a:latin typeface="Microsoft YaHei" panose="020B0503020204020204" charset="-122"/>
            </a:endParaRPr>
          </a:p>
          <a:p>
            <a:pPr algn="l">
              <a:spcBef>
                <a:spcPts val="0"/>
              </a:spcBef>
              <a:spcAft>
                <a:spcPts val="800"/>
              </a:spcAft>
            </a:pPr>
            <a:r>
              <a:rPr lang="zh-CN" sz="2000" b="1">
                <a:solidFill>
                  <a:srgbClr val="FF8C00"/>
                </a:solidFill>
                <a:latin typeface="Microsoft YaHei" panose="020B0503020204020204" charset="-122"/>
                <a:ea typeface="Microsoft YaHei" panose="020B0503020204020204" charset="-122"/>
                <a:sym typeface="+mn-ea"/>
              </a:rPr>
              <a:t>为什么适合我们</a:t>
            </a:r>
            <a:r>
              <a:rPr lang="en-US" altLang="zh-CN" sz="2000" b="1">
                <a:solidFill>
                  <a:srgbClr val="FF8C00"/>
                </a:solidFill>
                <a:latin typeface="Microsoft YaHei" panose="020B0503020204020204" charset="-122"/>
                <a:ea typeface="Microsoft YaHei" panose="020B0503020204020204" charset="-122"/>
                <a:sym typeface="+mn-ea"/>
              </a:rPr>
              <a:t>：</a:t>
            </a:r>
            <a:endParaRPr lang="en-US" altLang="zh-CN" sz="2000" b="1">
              <a:solidFill>
                <a:srgbClr val="FF8C00"/>
              </a:solidFill>
              <a:latin typeface="Microsoft YaHei" panose="020B0503020204020204" charset="-122"/>
              <a:sym typeface="+mn-ea"/>
            </a:endParaRPr>
          </a:p>
          <a:p>
            <a:pPr algn="l">
              <a:spcBef>
                <a:spcPts val="0"/>
              </a:spcBef>
              <a:spcAft>
                <a:spcPts val="800"/>
              </a:spcAft>
            </a:pPr>
            <a:r>
              <a:rPr lang="zh-CN" sz="1400">
                <a:solidFill>
                  <a:srgbClr val="555555"/>
                </a:solidFill>
                <a:latin typeface="Microsoft YaHei" panose="020B0503020204020204" charset="-122"/>
                <a:ea typeface="Microsoft YaHei" panose="020B0503020204020204" charset="-122"/>
                <a:sym typeface="+mn-ea"/>
              </a:rPr>
              <a:t>我们观察到生产线</a:t>
            </a:r>
            <a:r>
              <a:rPr lang="en-US" altLang="zh-CN" sz="1400">
                <a:solidFill>
                  <a:srgbClr val="555555"/>
                </a:solidFill>
                <a:latin typeface="Microsoft YaHei" panose="020B0503020204020204" charset="-122"/>
                <a:ea typeface="Microsoft YaHei" panose="020B0503020204020204" charset="-122"/>
                <a:sym typeface="+mn-ea"/>
              </a:rPr>
              <a:t>（</a:t>
            </a:r>
            <a:r>
              <a:rPr lang="zh-CN" altLang="en-US" sz="1400">
                <a:solidFill>
                  <a:srgbClr val="555555"/>
                </a:solidFill>
                <a:latin typeface="Microsoft YaHei" panose="020B0503020204020204" charset="-122"/>
                <a:ea typeface="Microsoft YaHei" panose="020B0503020204020204" charset="-122"/>
                <a:sym typeface="+mn-ea"/>
              </a:rPr>
              <a:t>光</a:t>
            </a:r>
            <a:r>
              <a:rPr lang="en-US" altLang="zh-CN" sz="1400">
                <a:solidFill>
                  <a:srgbClr val="555555"/>
                </a:solidFill>
                <a:latin typeface="Microsoft YaHei" panose="020B0503020204020204" charset="-122"/>
                <a:ea typeface="Microsoft YaHei" panose="020B0503020204020204" charset="-122"/>
                <a:sym typeface="+mn-ea"/>
              </a:rPr>
              <a:t>，GTS</a:t>
            </a:r>
            <a:r>
              <a:rPr lang="zh-CN" altLang="en-US" sz="1400">
                <a:solidFill>
                  <a:srgbClr val="555555"/>
                </a:solidFill>
                <a:latin typeface="Microsoft YaHei" panose="020B0503020204020204" charset="-122"/>
                <a:ea typeface="Microsoft YaHei" panose="020B0503020204020204" charset="-122"/>
                <a:sym typeface="+mn-ea"/>
              </a:rPr>
              <a:t>等</a:t>
            </a:r>
            <a:r>
              <a:rPr lang="en-US" altLang="zh-CN" sz="1400">
                <a:solidFill>
                  <a:srgbClr val="555555"/>
                </a:solidFill>
                <a:latin typeface="Microsoft YaHei" panose="020B0503020204020204" charset="-122"/>
                <a:ea typeface="Microsoft YaHei" panose="020B0503020204020204" charset="-122"/>
                <a:sym typeface="+mn-ea"/>
              </a:rPr>
              <a:t>）</a:t>
            </a:r>
            <a:r>
              <a:rPr lang="zh-CN" altLang="en-US" sz="1400">
                <a:solidFill>
                  <a:srgbClr val="555555"/>
                </a:solidFill>
                <a:latin typeface="Microsoft YaHei" panose="020B0503020204020204" charset="-122"/>
                <a:ea typeface="Microsoft YaHei" panose="020B0503020204020204" charset="-122"/>
                <a:sym typeface="+mn-ea"/>
              </a:rPr>
              <a:t>的规格说明书中大量的</a:t>
            </a:r>
            <a:r>
              <a:rPr lang="en-US" altLang="zh-CN" sz="1400">
                <a:solidFill>
                  <a:srgbClr val="555555"/>
                </a:solidFill>
                <a:latin typeface="Microsoft YaHei" panose="020B0503020204020204" charset="-122"/>
                <a:ea typeface="Microsoft YaHei" panose="020B0503020204020204" charset="-122"/>
                <a:sym typeface="+mn-ea"/>
              </a:rPr>
              <a:t>IR SR</a:t>
            </a:r>
            <a:r>
              <a:rPr lang="zh-CN" altLang="en-US" sz="1400">
                <a:solidFill>
                  <a:srgbClr val="555555"/>
                </a:solidFill>
                <a:latin typeface="Microsoft YaHei" panose="020B0503020204020204" charset="-122"/>
                <a:ea typeface="Microsoft YaHei" panose="020B0503020204020204" charset="-122"/>
                <a:sym typeface="+mn-ea"/>
              </a:rPr>
              <a:t>需求规格是从用例推导出来的</a:t>
            </a:r>
            <a:r>
              <a:rPr lang="en-US" altLang="zh-CN" sz="1400">
                <a:solidFill>
                  <a:srgbClr val="555555"/>
                </a:solidFill>
                <a:latin typeface="Microsoft YaHei" panose="020B0503020204020204" charset="-122"/>
                <a:ea typeface="Microsoft YaHei" panose="020B0503020204020204" charset="-122"/>
                <a:sym typeface="+mn-ea"/>
              </a:rPr>
              <a:t>，</a:t>
            </a:r>
            <a:r>
              <a:rPr lang="zh-CN" altLang="en-US" sz="1400">
                <a:solidFill>
                  <a:srgbClr val="555555"/>
                </a:solidFill>
                <a:latin typeface="Microsoft YaHei" panose="020B0503020204020204" charset="-122"/>
                <a:ea typeface="Microsoft YaHei" panose="020B0503020204020204" charset="-122"/>
                <a:sym typeface="+mn-ea"/>
              </a:rPr>
              <a:t>所以在生成</a:t>
            </a:r>
            <a:r>
              <a:rPr lang="en-US" altLang="zh-CN" sz="1400">
                <a:solidFill>
                  <a:srgbClr val="555555"/>
                </a:solidFill>
                <a:latin typeface="Microsoft YaHei" panose="020B0503020204020204" charset="-122"/>
                <a:ea typeface="Microsoft YaHei" panose="020B0503020204020204" charset="-122"/>
                <a:sym typeface="+mn-ea"/>
              </a:rPr>
              <a:t>Spec</a:t>
            </a:r>
            <a:r>
              <a:rPr lang="zh-CN" altLang="en-US" sz="1400">
                <a:solidFill>
                  <a:srgbClr val="555555"/>
                </a:solidFill>
                <a:latin typeface="Microsoft YaHei" panose="020B0503020204020204" charset="-122"/>
                <a:ea typeface="Microsoft YaHei" panose="020B0503020204020204" charset="-122"/>
                <a:sym typeface="+mn-ea"/>
              </a:rPr>
              <a:t>规格之前商定</a:t>
            </a:r>
            <a:r>
              <a:rPr lang="en-US" altLang="zh-CN" sz="1400">
                <a:solidFill>
                  <a:srgbClr val="555555"/>
                </a:solidFill>
                <a:latin typeface="Microsoft YaHei" panose="020B0503020204020204" charset="-122"/>
                <a:ea typeface="Microsoft YaHei" panose="020B0503020204020204" charset="-122"/>
                <a:sym typeface="+mn-ea"/>
              </a:rPr>
              <a:t>Usecase</a:t>
            </a:r>
            <a:r>
              <a:rPr lang="zh-CN" altLang="en-US" sz="1400">
                <a:solidFill>
                  <a:srgbClr val="555555"/>
                </a:solidFill>
                <a:latin typeface="Microsoft YaHei" panose="020B0503020204020204" charset="-122"/>
                <a:ea typeface="Microsoft YaHei" panose="020B0503020204020204" charset="-122"/>
                <a:sym typeface="+mn-ea"/>
              </a:rPr>
              <a:t>用例这种做法也符合我们的实际情况</a:t>
            </a:r>
            <a:endParaRPr sz="1800" b="1">
              <a:solidFill>
                <a:srgbClr val="FF8C00"/>
              </a:solidFill>
              <a:latin typeface="Microsoft YaHei" panose="020B0503020204020204" charset="-122"/>
            </a:endParaRPr>
          </a:p>
          <a:p>
            <a:pPr algn="l">
              <a:spcBef>
                <a:spcPts val="0"/>
              </a:spcBef>
              <a:spcAft>
                <a:spcPts val="600"/>
              </a:spcAft>
            </a:pPr>
            <a:endParaRPr sz="1400" b="0">
              <a:solidFill>
                <a:srgbClr val="555555"/>
              </a:solidFill>
              <a:latin typeface="Microsoft YaHei" panose="020B0503020204020204" charset="-122"/>
            </a:endParaRPr>
          </a:p>
        </p:txBody>
      </p:sp>
      <p:sp>
        <p:nvSpPr>
          <p:cNvPr id="21" name="Rounded Rectangle 20"/>
          <p:cNvSpPr/>
          <p:nvPr/>
        </p:nvSpPr>
        <p:spPr>
          <a:xfrm>
            <a:off x="539115" y="4160520"/>
            <a:ext cx="1325880" cy="777240"/>
          </a:xfrm>
          <a:prstGeom prst="roundRect">
            <a:avLst/>
          </a:prstGeom>
          <a:solidFill>
            <a:srgbClr val="FFF3E0"/>
          </a:solidFill>
          <a:ln w="19050">
            <a:solidFill>
              <a:srgbClr val="FF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9115" y="4160520"/>
            <a:ext cx="1325880" cy="274320"/>
          </a:xfrm>
          <a:prstGeom prst="rect">
            <a:avLst/>
          </a:prstGeom>
          <a:noFill/>
        </p:spPr>
        <p:txBody>
          <a:bodyPr wrap="square">
            <a:spAutoFit/>
          </a:bodyPr>
          <a:lstStyle/>
          <a:p>
            <a:pPr algn="ctr"/>
            <a:r>
              <a:rPr sz="1100" b="1">
                <a:solidFill>
                  <a:srgbClr val="FF8C00"/>
                </a:solidFill>
                <a:latin typeface="Microsoft YaHei" panose="020B0503020204020204" charset="-122"/>
                <a:ea typeface="Microsoft YaHei" panose="020B0503020204020204" charset="-122"/>
              </a:rPr>
              <a:t>Step 1</a:t>
            </a:r>
            <a:endParaRPr sz="1100" b="1">
              <a:solidFill>
                <a:srgbClr val="FF8C00"/>
              </a:solidFill>
              <a:latin typeface="Microsoft YaHei" panose="020B0503020204020204" charset="-122"/>
            </a:endParaRPr>
          </a:p>
        </p:txBody>
      </p:sp>
      <p:sp>
        <p:nvSpPr>
          <p:cNvPr id="23" name="TextBox 22"/>
          <p:cNvSpPr txBox="1"/>
          <p:nvPr/>
        </p:nvSpPr>
        <p:spPr>
          <a:xfrm>
            <a:off x="584835" y="4434840"/>
            <a:ext cx="1234440" cy="457200"/>
          </a:xfrm>
          <a:prstGeom prst="rect">
            <a:avLst/>
          </a:prstGeom>
          <a:noFill/>
        </p:spPr>
        <p:txBody>
          <a:bodyPr wrap="square">
            <a:spAutoFit/>
          </a:bodyPr>
          <a:lstStyle/>
          <a:p>
            <a:pPr algn="ctr"/>
            <a:r>
              <a:rPr sz="1100" b="0">
                <a:solidFill>
                  <a:srgbClr val="555555"/>
                </a:solidFill>
                <a:latin typeface="Microsoft YaHei" panose="020B0503020204020204" charset="-122"/>
                <a:ea typeface="Microsoft YaHei" panose="020B0503020204020204" charset="-122"/>
              </a:rPr>
              <a:t>识别参与者
与用户目标</a:t>
            </a:r>
            <a:endParaRPr sz="1100" b="0">
              <a:solidFill>
                <a:srgbClr val="555555"/>
              </a:solidFill>
              <a:latin typeface="Microsoft YaHei" panose="020B0503020204020204" charset="-122"/>
            </a:endParaRPr>
          </a:p>
        </p:txBody>
      </p:sp>
      <p:sp>
        <p:nvSpPr>
          <p:cNvPr id="24" name="TextBox 23"/>
          <p:cNvSpPr txBox="1"/>
          <p:nvPr/>
        </p:nvSpPr>
        <p:spPr>
          <a:xfrm>
            <a:off x="1864995" y="4160520"/>
            <a:ext cx="109728" cy="777240"/>
          </a:xfrm>
          <a:prstGeom prst="rect">
            <a:avLst/>
          </a:prstGeom>
          <a:noFill/>
        </p:spPr>
        <p:txBody>
          <a:bodyPr wrap="square">
            <a:spAutoFit/>
          </a:bodyPr>
          <a:lstStyle/>
          <a:p>
            <a:pPr algn="ctr"/>
            <a:r>
              <a:rPr sz="1600" b="0">
                <a:solidFill>
                  <a:srgbClr val="FF8C00"/>
                </a:solidFill>
                <a:latin typeface="Microsoft YaHei" panose="020B0503020204020204" charset="-122"/>
                <a:ea typeface="Microsoft YaHei" panose="020B0503020204020204" charset="-122"/>
              </a:rPr>
              <a:t>→</a:t>
            </a:r>
            <a:endParaRPr sz="1600" b="0">
              <a:solidFill>
                <a:srgbClr val="FF8C00"/>
              </a:solidFill>
              <a:latin typeface="Microsoft YaHei" panose="020B0503020204020204" charset="-122"/>
            </a:endParaRPr>
          </a:p>
        </p:txBody>
      </p:sp>
      <p:sp>
        <p:nvSpPr>
          <p:cNvPr id="25" name="Rounded Rectangle 24"/>
          <p:cNvSpPr/>
          <p:nvPr/>
        </p:nvSpPr>
        <p:spPr>
          <a:xfrm>
            <a:off x="1974723" y="4160520"/>
            <a:ext cx="1325880" cy="777240"/>
          </a:xfrm>
          <a:prstGeom prst="roundRect">
            <a:avLst/>
          </a:prstGeom>
          <a:solidFill>
            <a:srgbClr val="FFF3E0"/>
          </a:solidFill>
          <a:ln w="19050">
            <a:solidFill>
              <a:srgbClr val="FF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974723" y="4160520"/>
            <a:ext cx="1325880" cy="274320"/>
          </a:xfrm>
          <a:prstGeom prst="rect">
            <a:avLst/>
          </a:prstGeom>
          <a:noFill/>
        </p:spPr>
        <p:txBody>
          <a:bodyPr wrap="square">
            <a:spAutoFit/>
          </a:bodyPr>
          <a:lstStyle/>
          <a:p>
            <a:pPr algn="ctr"/>
            <a:r>
              <a:rPr sz="1100" b="1">
                <a:solidFill>
                  <a:srgbClr val="FF8C00"/>
                </a:solidFill>
                <a:latin typeface="Microsoft YaHei" panose="020B0503020204020204" charset="-122"/>
                <a:ea typeface="Microsoft YaHei" panose="020B0503020204020204" charset="-122"/>
              </a:rPr>
              <a:t>Step 2</a:t>
            </a:r>
            <a:endParaRPr sz="1100" b="1">
              <a:solidFill>
                <a:srgbClr val="FF8C00"/>
              </a:solidFill>
              <a:latin typeface="Microsoft YaHei" panose="020B0503020204020204" charset="-122"/>
            </a:endParaRPr>
          </a:p>
        </p:txBody>
      </p:sp>
      <p:sp>
        <p:nvSpPr>
          <p:cNvPr id="27" name="TextBox 26"/>
          <p:cNvSpPr txBox="1"/>
          <p:nvPr/>
        </p:nvSpPr>
        <p:spPr>
          <a:xfrm>
            <a:off x="2020443" y="4434840"/>
            <a:ext cx="1234440" cy="457200"/>
          </a:xfrm>
          <a:prstGeom prst="rect">
            <a:avLst/>
          </a:prstGeom>
          <a:noFill/>
        </p:spPr>
        <p:txBody>
          <a:bodyPr wrap="square">
            <a:spAutoFit/>
          </a:bodyPr>
          <a:lstStyle/>
          <a:p>
            <a:pPr algn="ctr"/>
            <a:r>
              <a:rPr sz="1100" b="0">
                <a:solidFill>
                  <a:srgbClr val="555555"/>
                </a:solidFill>
                <a:latin typeface="Microsoft YaHei" panose="020B0503020204020204" charset="-122"/>
                <a:ea typeface="Microsoft YaHei" panose="020B0503020204020204" charset="-122"/>
              </a:rPr>
              <a:t>编写主成功
场景</a:t>
            </a:r>
            <a:endParaRPr sz="1100" b="0">
              <a:solidFill>
                <a:srgbClr val="555555"/>
              </a:solidFill>
              <a:latin typeface="Microsoft YaHei" panose="020B0503020204020204" charset="-122"/>
            </a:endParaRPr>
          </a:p>
        </p:txBody>
      </p:sp>
      <p:sp>
        <p:nvSpPr>
          <p:cNvPr id="28" name="TextBox 27"/>
          <p:cNvSpPr txBox="1"/>
          <p:nvPr/>
        </p:nvSpPr>
        <p:spPr>
          <a:xfrm>
            <a:off x="3300603" y="4160520"/>
            <a:ext cx="109728" cy="777240"/>
          </a:xfrm>
          <a:prstGeom prst="rect">
            <a:avLst/>
          </a:prstGeom>
          <a:noFill/>
        </p:spPr>
        <p:txBody>
          <a:bodyPr wrap="square">
            <a:spAutoFit/>
          </a:bodyPr>
          <a:lstStyle/>
          <a:p>
            <a:pPr algn="ctr"/>
            <a:r>
              <a:rPr sz="1600" b="0">
                <a:solidFill>
                  <a:srgbClr val="FF8C00"/>
                </a:solidFill>
                <a:latin typeface="Microsoft YaHei" panose="020B0503020204020204" charset="-122"/>
                <a:ea typeface="Microsoft YaHei" panose="020B0503020204020204" charset="-122"/>
              </a:rPr>
              <a:t>→</a:t>
            </a:r>
            <a:endParaRPr sz="1600" b="0">
              <a:solidFill>
                <a:srgbClr val="FF8C00"/>
              </a:solidFill>
              <a:latin typeface="Microsoft YaHei" panose="020B0503020204020204" charset="-122"/>
            </a:endParaRPr>
          </a:p>
        </p:txBody>
      </p:sp>
      <p:sp>
        <p:nvSpPr>
          <p:cNvPr id="29" name="Rounded Rectangle 28"/>
          <p:cNvSpPr/>
          <p:nvPr/>
        </p:nvSpPr>
        <p:spPr>
          <a:xfrm>
            <a:off x="3410331" y="4160520"/>
            <a:ext cx="1325880" cy="777240"/>
          </a:xfrm>
          <a:prstGeom prst="roundRect">
            <a:avLst/>
          </a:prstGeom>
          <a:solidFill>
            <a:srgbClr val="FFF3E0"/>
          </a:solidFill>
          <a:ln w="19050">
            <a:solidFill>
              <a:srgbClr val="FF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410331" y="4160520"/>
            <a:ext cx="1325880" cy="274320"/>
          </a:xfrm>
          <a:prstGeom prst="rect">
            <a:avLst/>
          </a:prstGeom>
          <a:noFill/>
        </p:spPr>
        <p:txBody>
          <a:bodyPr wrap="square">
            <a:spAutoFit/>
          </a:bodyPr>
          <a:lstStyle/>
          <a:p>
            <a:pPr algn="ctr"/>
            <a:r>
              <a:rPr sz="1100" b="1">
                <a:solidFill>
                  <a:srgbClr val="FF8C00"/>
                </a:solidFill>
                <a:latin typeface="Microsoft YaHei" panose="020B0503020204020204" charset="-122"/>
                <a:ea typeface="Microsoft YaHei" panose="020B0503020204020204" charset="-122"/>
              </a:rPr>
              <a:t>Step 3</a:t>
            </a:r>
            <a:endParaRPr sz="1100" b="1">
              <a:solidFill>
                <a:srgbClr val="FF8C00"/>
              </a:solidFill>
              <a:latin typeface="Microsoft YaHei" panose="020B0503020204020204" charset="-122"/>
            </a:endParaRPr>
          </a:p>
        </p:txBody>
      </p:sp>
      <p:sp>
        <p:nvSpPr>
          <p:cNvPr id="31" name="TextBox 30"/>
          <p:cNvSpPr txBox="1"/>
          <p:nvPr/>
        </p:nvSpPr>
        <p:spPr>
          <a:xfrm>
            <a:off x="3456051" y="4434840"/>
            <a:ext cx="1234440" cy="457200"/>
          </a:xfrm>
          <a:prstGeom prst="rect">
            <a:avLst/>
          </a:prstGeom>
          <a:noFill/>
        </p:spPr>
        <p:txBody>
          <a:bodyPr wrap="square">
            <a:spAutoFit/>
          </a:bodyPr>
          <a:lstStyle/>
          <a:p>
            <a:pPr algn="ctr"/>
            <a:r>
              <a:rPr sz="1100" b="0">
                <a:solidFill>
                  <a:srgbClr val="555555"/>
                </a:solidFill>
                <a:latin typeface="Microsoft YaHei" panose="020B0503020204020204" charset="-122"/>
                <a:ea typeface="Microsoft YaHei" panose="020B0503020204020204" charset="-122"/>
              </a:rPr>
              <a:t>头脑风暴扩展
异常与边界</a:t>
            </a:r>
            <a:endParaRPr sz="1100" b="0">
              <a:solidFill>
                <a:srgbClr val="555555"/>
              </a:solidFill>
              <a:latin typeface="Microsoft YaHei" panose="020B0503020204020204" charset="-122"/>
            </a:endParaRPr>
          </a:p>
        </p:txBody>
      </p:sp>
      <p:sp>
        <p:nvSpPr>
          <p:cNvPr id="32" name="TextBox 31"/>
          <p:cNvSpPr txBox="1"/>
          <p:nvPr/>
        </p:nvSpPr>
        <p:spPr>
          <a:xfrm>
            <a:off x="4736211" y="4160520"/>
            <a:ext cx="109728" cy="777240"/>
          </a:xfrm>
          <a:prstGeom prst="rect">
            <a:avLst/>
          </a:prstGeom>
          <a:noFill/>
        </p:spPr>
        <p:txBody>
          <a:bodyPr wrap="square">
            <a:spAutoFit/>
          </a:bodyPr>
          <a:lstStyle/>
          <a:p>
            <a:pPr algn="ctr"/>
            <a:r>
              <a:rPr sz="1600" b="0">
                <a:solidFill>
                  <a:srgbClr val="FF8C00"/>
                </a:solidFill>
                <a:latin typeface="Microsoft YaHei" panose="020B0503020204020204" charset="-122"/>
                <a:ea typeface="Microsoft YaHei" panose="020B0503020204020204" charset="-122"/>
              </a:rPr>
              <a:t>→</a:t>
            </a:r>
            <a:endParaRPr sz="1600" b="0">
              <a:solidFill>
                <a:srgbClr val="FF8C00"/>
              </a:solidFill>
              <a:latin typeface="Microsoft YaHei" panose="020B0503020204020204" charset="-122"/>
            </a:endParaRPr>
          </a:p>
        </p:txBody>
      </p:sp>
      <p:sp>
        <p:nvSpPr>
          <p:cNvPr id="33" name="Rounded Rectangle 32"/>
          <p:cNvSpPr/>
          <p:nvPr/>
        </p:nvSpPr>
        <p:spPr>
          <a:xfrm>
            <a:off x="4845939" y="4160520"/>
            <a:ext cx="1325880" cy="777240"/>
          </a:xfrm>
          <a:prstGeom prst="roundRect">
            <a:avLst/>
          </a:prstGeom>
          <a:solidFill>
            <a:srgbClr val="FFF3E0"/>
          </a:solidFill>
          <a:ln w="19050">
            <a:solidFill>
              <a:srgbClr val="FF8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845939" y="4160520"/>
            <a:ext cx="1325880" cy="274320"/>
          </a:xfrm>
          <a:prstGeom prst="rect">
            <a:avLst/>
          </a:prstGeom>
          <a:noFill/>
        </p:spPr>
        <p:txBody>
          <a:bodyPr wrap="square">
            <a:spAutoFit/>
          </a:bodyPr>
          <a:lstStyle/>
          <a:p>
            <a:pPr algn="ctr"/>
            <a:r>
              <a:rPr sz="1100" b="1">
                <a:solidFill>
                  <a:srgbClr val="FF8C00"/>
                </a:solidFill>
                <a:latin typeface="Microsoft YaHei" panose="020B0503020204020204" charset="-122"/>
                <a:ea typeface="Microsoft YaHei" panose="020B0503020204020204" charset="-122"/>
              </a:rPr>
              <a:t>Step 4</a:t>
            </a:r>
            <a:endParaRPr sz="1100" b="1">
              <a:solidFill>
                <a:srgbClr val="FF8C00"/>
              </a:solidFill>
              <a:latin typeface="Microsoft YaHei" panose="020B0503020204020204" charset="-122"/>
            </a:endParaRPr>
          </a:p>
        </p:txBody>
      </p:sp>
      <p:sp>
        <p:nvSpPr>
          <p:cNvPr id="35" name="TextBox 34"/>
          <p:cNvSpPr txBox="1"/>
          <p:nvPr/>
        </p:nvSpPr>
        <p:spPr>
          <a:xfrm>
            <a:off x="4891659" y="4434840"/>
            <a:ext cx="1234440" cy="457200"/>
          </a:xfrm>
          <a:prstGeom prst="rect">
            <a:avLst/>
          </a:prstGeom>
          <a:noFill/>
        </p:spPr>
        <p:txBody>
          <a:bodyPr wrap="square">
            <a:spAutoFit/>
          </a:bodyPr>
          <a:lstStyle/>
          <a:p>
            <a:pPr algn="ctr"/>
            <a:r>
              <a:rPr sz="1100" b="0">
                <a:solidFill>
                  <a:srgbClr val="555555"/>
                </a:solidFill>
                <a:latin typeface="Microsoft YaHei" panose="020B0503020204020204" charset="-122"/>
                <a:ea typeface="Microsoft YaHei" panose="020B0503020204020204" charset="-122"/>
              </a:rPr>
              <a:t>添加契约要素
前置/后置条件</a:t>
            </a:r>
            <a:endParaRPr sz="1100" b="0">
              <a:solidFill>
                <a:srgbClr val="555555"/>
              </a:solidFill>
              <a:latin typeface="Microsoft YaHei" panose="020B0503020204020204" charset="-122"/>
            </a:endParaRPr>
          </a:p>
        </p:txBody>
      </p:sp>
      <p:sp>
        <p:nvSpPr>
          <p:cNvPr id="36" name="Rounded Rectangle 35"/>
          <p:cNvSpPr/>
          <p:nvPr/>
        </p:nvSpPr>
        <p:spPr>
          <a:xfrm>
            <a:off x="6675120" y="2011680"/>
            <a:ext cx="4114800" cy="1828800"/>
          </a:xfrm>
          <a:prstGeom prst="roundRect">
            <a:avLst/>
          </a:prstGeom>
          <a:solidFill>
            <a:srgbClr val="FDF0F0"/>
          </a:solidFill>
          <a:ln w="1905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0" y="2148840"/>
            <a:ext cx="3749040" cy="1568450"/>
          </a:xfrm>
          <a:prstGeom prst="rect">
            <a:avLst/>
          </a:prstGeom>
          <a:noFill/>
        </p:spPr>
        <p:txBody>
          <a:bodyPr wrap="square">
            <a:spAutoFit/>
          </a:bodyPr>
          <a:lstStyle/>
          <a:p>
            <a:pPr algn="l">
              <a:spcBef>
                <a:spcPts val="0"/>
              </a:spcBef>
              <a:spcAft>
                <a:spcPts val="600"/>
              </a:spcAft>
            </a:pPr>
            <a:r>
              <a:rPr sz="1600" b="1">
                <a:solidFill>
                  <a:srgbClr val="C0392B"/>
                </a:solidFill>
                <a:latin typeface="Microsoft YaHei" panose="020B0503020204020204" charset="-122"/>
                <a:ea typeface="Microsoft YaHei" panose="020B0503020204020204" charset="-122"/>
              </a:rPr>
              <a:t>没有这一步会怎样？</a:t>
            </a:r>
            <a:endParaRPr sz="1600" b="1">
              <a:solidFill>
                <a:srgbClr val="C0392B"/>
              </a:solidFill>
              <a:latin typeface="Microsoft YaHei" panose="020B0503020204020204" charset="-122"/>
            </a:endParaRPr>
          </a:p>
          <a:p>
            <a:pPr algn="l">
              <a:spcBef>
                <a:spcPts val="0"/>
              </a:spcBef>
              <a:spcAft>
                <a:spcPts val="400"/>
              </a:spcAft>
            </a:pPr>
            <a:r>
              <a:rPr sz="1300" b="1">
                <a:solidFill>
                  <a:srgbClr val="C0392B"/>
                </a:solidFill>
                <a:latin typeface="Microsoft YaHei" panose="020B0503020204020204" charset="-122"/>
                <a:ea typeface="Microsoft YaHei" panose="020B0503020204020204" charset="-122"/>
              </a:rPr>
              <a:t>• </a:t>
            </a:r>
            <a:r>
              <a:rPr sz="1300" b="0">
                <a:solidFill>
                  <a:srgbClr val="663333"/>
                </a:solidFill>
                <a:latin typeface="Microsoft YaHei" panose="020B0503020204020204" charset="-122"/>
                <a:ea typeface="Microsoft YaHei" panose="020B0503020204020204" charset="-122"/>
              </a:rPr>
              <a:t>AI 只实现 Happy Path，</a:t>
            </a:r>
            <a:r>
              <a:rPr lang="zh-CN" sz="1300" b="0">
                <a:solidFill>
                  <a:srgbClr val="663333"/>
                </a:solidFill>
                <a:latin typeface="Microsoft YaHei" panose="020B0503020204020204" charset="-122"/>
                <a:ea typeface="Microsoft YaHei" panose="020B0503020204020204" charset="-122"/>
              </a:rPr>
              <a:t>出现</a:t>
            </a:r>
            <a:r>
              <a:rPr sz="1300" b="0">
                <a:solidFill>
                  <a:srgbClr val="663333"/>
                </a:solidFill>
                <a:latin typeface="Microsoft YaHei" panose="020B0503020204020204" charset="-122"/>
                <a:ea typeface="Microsoft YaHei" panose="020B0503020204020204" charset="-122"/>
              </a:rPr>
              <a:t>异常场景遗漏</a:t>
            </a:r>
            <a:endParaRPr sz="1300" b="0">
              <a:solidFill>
                <a:srgbClr val="663333"/>
              </a:solidFill>
              <a:latin typeface="Microsoft YaHei" panose="020B0503020204020204" charset="-122"/>
              <a:ea typeface="Microsoft YaHei" panose="020B0503020204020204" charset="-122"/>
            </a:endParaRPr>
          </a:p>
          <a:p>
            <a:pPr algn="l">
              <a:spcBef>
                <a:spcPts val="0"/>
              </a:spcBef>
              <a:spcAft>
                <a:spcPts val="400"/>
              </a:spcAft>
            </a:pPr>
            <a:endParaRPr sz="1300" b="0">
              <a:solidFill>
                <a:srgbClr val="663333"/>
              </a:solidFill>
              <a:latin typeface="Microsoft YaHei" panose="020B0503020204020204" charset="-122"/>
            </a:endParaRPr>
          </a:p>
          <a:p>
            <a:pPr algn="l">
              <a:spcBef>
                <a:spcPts val="0"/>
              </a:spcBef>
              <a:spcAft>
                <a:spcPts val="400"/>
              </a:spcAft>
            </a:pPr>
            <a:r>
              <a:rPr sz="1300" b="1">
                <a:solidFill>
                  <a:srgbClr val="C0392B"/>
                </a:solidFill>
                <a:latin typeface="Microsoft YaHei" panose="020B0503020204020204" charset="-122"/>
                <a:ea typeface="Microsoft YaHei" panose="020B0503020204020204" charset="-122"/>
              </a:rPr>
              <a:t>• </a:t>
            </a:r>
            <a:r>
              <a:rPr sz="1300" b="0">
                <a:solidFill>
                  <a:srgbClr val="663333"/>
                </a:solidFill>
                <a:latin typeface="Microsoft YaHei" panose="020B0503020204020204" charset="-122"/>
                <a:ea typeface="Microsoft YaHei" panose="020B0503020204020204" charset="-122"/>
              </a:rPr>
              <a:t>Specs 缺乏</a:t>
            </a:r>
            <a:r>
              <a:rPr lang="zh-CN" sz="1300" b="0">
                <a:solidFill>
                  <a:srgbClr val="663333"/>
                </a:solidFill>
                <a:latin typeface="Microsoft YaHei" panose="020B0503020204020204" charset="-122"/>
                <a:ea typeface="Microsoft YaHei" panose="020B0503020204020204" charset="-122"/>
              </a:rPr>
              <a:t>用户真实</a:t>
            </a:r>
            <a:r>
              <a:rPr sz="1300" b="0">
                <a:solidFill>
                  <a:srgbClr val="663333"/>
                </a:solidFill>
                <a:latin typeface="Microsoft YaHei" panose="020B0503020204020204" charset="-122"/>
                <a:ea typeface="Microsoft YaHei" panose="020B0503020204020204" charset="-122"/>
              </a:rPr>
              <a:t>用例支撑，需求验收无据可依</a:t>
            </a:r>
            <a:endParaRPr sz="1300" b="0">
              <a:solidFill>
                <a:srgbClr val="663333"/>
              </a:solidFill>
              <a:latin typeface="Microsoft YaHei" panose="020B0503020204020204" charset="-122"/>
            </a:endParaRPr>
          </a:p>
          <a:p>
            <a:pPr algn="l">
              <a:spcBef>
                <a:spcPts val="0"/>
              </a:spcBef>
              <a:spcAft>
                <a:spcPts val="400"/>
              </a:spcAft>
            </a:pPr>
            <a:endParaRPr sz="1300" b="0">
              <a:solidFill>
                <a:srgbClr val="663333"/>
              </a:solidFill>
              <a:latin typeface="Microsoft YaHei" panose="020B0503020204020204" charset="-122"/>
            </a:endParaRPr>
          </a:p>
        </p:txBody>
      </p:sp>
      <p:sp>
        <p:nvSpPr>
          <p:cNvPr id="38" name="Rounded Rectangle 37"/>
          <p:cNvSpPr/>
          <p:nvPr/>
        </p:nvSpPr>
        <p:spPr>
          <a:xfrm>
            <a:off x="6675120" y="4023360"/>
            <a:ext cx="4114800" cy="2331720"/>
          </a:xfrm>
          <a:prstGeom prst="roundRect">
            <a:avLst/>
          </a:prstGeom>
          <a:solidFill>
            <a:srgbClr val="F0F8F0"/>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0" y="3970655"/>
            <a:ext cx="4114165" cy="2251075"/>
          </a:xfrm>
          <a:prstGeom prst="rect">
            <a:avLst/>
          </a:prstGeom>
          <a:noFill/>
        </p:spPr>
        <p:txBody>
          <a:bodyPr wrap="square">
            <a:spAutoFit/>
          </a:bodyPr>
          <a:lstStyle/>
          <a:p>
            <a:pPr algn="l">
              <a:spcBef>
                <a:spcPts val="0"/>
              </a:spcBef>
              <a:spcAft>
                <a:spcPts val="800"/>
              </a:spcAft>
            </a:pPr>
            <a:r>
              <a:rPr sz="1400" b="1">
                <a:solidFill>
                  <a:srgbClr val="2E7D32"/>
                </a:solidFill>
                <a:latin typeface="Microsoft YaHei" panose="020B0503020204020204" charset="-122"/>
                <a:ea typeface="Microsoft YaHei" panose="020B0503020204020204" charset="-122"/>
              </a:rPr>
              <a:t>实测效果</a:t>
            </a:r>
            <a:r>
              <a:rPr lang="en-US" sz="1400" b="1">
                <a:solidFill>
                  <a:srgbClr val="2E7D32"/>
                </a:solidFill>
                <a:latin typeface="Microsoft YaHei" panose="020B0503020204020204" charset="-122"/>
                <a:ea typeface="Microsoft YaHei" panose="020B0503020204020204" charset="-122"/>
              </a:rPr>
              <a:t>：</a:t>
            </a:r>
            <a:r>
              <a:rPr lang="zh-CN" altLang="en-US" sz="1400" b="1">
                <a:solidFill>
                  <a:srgbClr val="2E7D32"/>
                </a:solidFill>
                <a:latin typeface="Microsoft YaHei" panose="020B0503020204020204" charset="-122"/>
                <a:ea typeface="Microsoft YaHei" panose="020B0503020204020204" charset="-122"/>
              </a:rPr>
              <a:t>具体见后文</a:t>
            </a:r>
            <a:endParaRPr sz="1400" b="1">
              <a:solidFill>
                <a:srgbClr val="2E7D32"/>
              </a:solidFill>
              <a:latin typeface="Microsoft YaHei" panose="020B0503020204020204" charset="-122"/>
            </a:endParaRPr>
          </a:p>
          <a:p>
            <a:pPr algn="l">
              <a:spcBef>
                <a:spcPts val="0"/>
              </a:spcBef>
              <a:spcAft>
                <a:spcPts val="200"/>
              </a:spcAft>
            </a:pPr>
            <a:r>
              <a:rPr lang="zh-CN" sz="1400" b="1">
                <a:solidFill>
                  <a:srgbClr val="2E7D32"/>
                </a:solidFill>
                <a:latin typeface="Microsoft YaHei" panose="020B0503020204020204" charset="-122"/>
                <a:ea typeface="Microsoft YaHei" panose="020B0503020204020204" charset="-122"/>
              </a:rPr>
              <a:t>更完整的</a:t>
            </a:r>
            <a:r>
              <a:rPr lang="en-US" altLang="zh-CN" sz="1400" b="1">
                <a:solidFill>
                  <a:srgbClr val="2E7D32"/>
                </a:solidFill>
                <a:latin typeface="Microsoft YaHei" panose="020B0503020204020204" charset="-122"/>
                <a:ea typeface="Microsoft YaHei" panose="020B0503020204020204" charset="-122"/>
              </a:rPr>
              <a:t>4</a:t>
            </a:r>
            <a:r>
              <a:rPr lang="zh-CN" altLang="en-US" sz="1400" b="1">
                <a:solidFill>
                  <a:srgbClr val="2E7D32"/>
                </a:solidFill>
                <a:latin typeface="Microsoft YaHei" panose="020B0503020204020204" charset="-122"/>
                <a:ea typeface="Microsoft YaHei" panose="020B0503020204020204" charset="-122"/>
              </a:rPr>
              <a:t>层</a:t>
            </a:r>
            <a:r>
              <a:rPr sz="1400" b="1">
                <a:solidFill>
                  <a:srgbClr val="2E7D32"/>
                </a:solidFill>
                <a:latin typeface="Microsoft YaHei" panose="020B0503020204020204" charset="-122"/>
                <a:ea typeface="Microsoft YaHei" panose="020B0503020204020204" charset="-122"/>
              </a:rPr>
              <a:t>体系</a:t>
            </a:r>
            <a:endParaRPr sz="1400" b="1">
              <a:solidFill>
                <a:srgbClr val="2E7D32"/>
              </a:solidFill>
              <a:latin typeface="Microsoft YaHei" panose="020B0503020204020204" charset="-122"/>
            </a:endParaRPr>
          </a:p>
          <a:p>
            <a:pPr algn="l">
              <a:spcBef>
                <a:spcPts val="0"/>
              </a:spcBef>
              <a:spcAft>
                <a:spcPts val="1000"/>
              </a:spcAft>
            </a:pPr>
            <a:r>
              <a:rPr sz="1400" b="0">
                <a:solidFill>
                  <a:srgbClr val="555555"/>
                </a:solidFill>
                <a:latin typeface="Microsoft YaHei" panose="020B0503020204020204" charset="-122"/>
                <a:ea typeface="Microsoft YaHei" panose="020B0503020204020204" charset="-122"/>
              </a:rPr>
              <a:t>止损、持仓限制、异常检测、合规检查</a:t>
            </a:r>
            <a:endParaRPr sz="1400" b="0">
              <a:solidFill>
                <a:srgbClr val="555555"/>
              </a:solidFill>
              <a:latin typeface="Microsoft YaHei" panose="020B0503020204020204" charset="-122"/>
            </a:endParaRPr>
          </a:p>
          <a:p>
            <a:pPr algn="l">
              <a:spcBef>
                <a:spcPts val="0"/>
              </a:spcBef>
              <a:spcAft>
                <a:spcPts val="200"/>
              </a:spcAft>
            </a:pPr>
            <a:r>
              <a:rPr lang="zh-CN" sz="1400" b="1">
                <a:solidFill>
                  <a:srgbClr val="2E7D32"/>
                </a:solidFill>
                <a:latin typeface="Microsoft YaHei" panose="020B0503020204020204" charset="-122"/>
                <a:ea typeface="Microsoft YaHei" panose="020B0503020204020204" charset="-122"/>
              </a:rPr>
              <a:t>更多</a:t>
            </a:r>
            <a:r>
              <a:rPr sz="1400" b="1">
                <a:solidFill>
                  <a:srgbClr val="2E7D32"/>
                </a:solidFill>
                <a:latin typeface="Microsoft YaHei" panose="020B0503020204020204" charset="-122"/>
                <a:ea typeface="Microsoft YaHei" panose="020B0503020204020204" charset="-122"/>
              </a:rPr>
              <a:t>测试用例</a:t>
            </a:r>
            <a:endParaRPr sz="1400" b="1">
              <a:solidFill>
                <a:srgbClr val="2E7D32"/>
              </a:solidFill>
              <a:latin typeface="Microsoft YaHei" panose="020B0503020204020204" charset="-122"/>
            </a:endParaRPr>
          </a:p>
          <a:p>
            <a:pPr algn="l">
              <a:spcBef>
                <a:spcPts val="0"/>
              </a:spcBef>
              <a:spcAft>
                <a:spcPts val="1000"/>
              </a:spcAft>
            </a:pPr>
            <a:r>
              <a:rPr sz="1400" b="0">
                <a:solidFill>
                  <a:srgbClr val="555555"/>
                </a:solidFill>
                <a:latin typeface="Microsoft YaHei" panose="020B0503020204020204" charset="-122"/>
                <a:ea typeface="Microsoft YaHei" panose="020B0503020204020204" charset="-122"/>
              </a:rPr>
              <a:t>覆盖主流程、异常分支、边界条件</a:t>
            </a:r>
            <a:endParaRPr sz="1400" b="0">
              <a:solidFill>
                <a:srgbClr val="555555"/>
              </a:solidFill>
              <a:latin typeface="Microsoft YaHei" panose="020B0503020204020204" charset="-122"/>
            </a:endParaRPr>
          </a:p>
          <a:p>
            <a:pPr algn="l">
              <a:spcBef>
                <a:spcPts val="0"/>
              </a:spcBef>
              <a:spcAft>
                <a:spcPts val="200"/>
              </a:spcAft>
            </a:pPr>
            <a:r>
              <a:rPr lang="zh-CN" sz="1400" b="1">
                <a:solidFill>
                  <a:srgbClr val="2E7D32"/>
                </a:solidFill>
                <a:latin typeface="Microsoft YaHei" panose="020B0503020204020204" charset="-122"/>
                <a:ea typeface="Microsoft YaHei" panose="020B0503020204020204" charset="-122"/>
              </a:rPr>
              <a:t>更</a:t>
            </a:r>
            <a:r>
              <a:rPr sz="1400" b="1">
                <a:solidFill>
                  <a:srgbClr val="2E7D32"/>
                </a:solidFill>
                <a:latin typeface="Microsoft YaHei" panose="020B0503020204020204" charset="-122"/>
                <a:ea typeface="Microsoft YaHei" panose="020B0503020204020204" charset="-122"/>
              </a:rPr>
              <a:t>完整规则模拟</a:t>
            </a:r>
            <a:endParaRPr sz="1400" b="1">
              <a:solidFill>
                <a:srgbClr val="2E7D32"/>
              </a:solidFill>
              <a:latin typeface="Microsoft YaHei" panose="020B0503020204020204" charset="-122"/>
            </a:endParaRPr>
          </a:p>
          <a:p>
            <a:pPr algn="l">
              <a:spcBef>
                <a:spcPts val="0"/>
              </a:spcBef>
              <a:spcAft>
                <a:spcPts val="400"/>
              </a:spcAft>
            </a:pPr>
            <a:r>
              <a:rPr sz="1400" b="0">
                <a:solidFill>
                  <a:srgbClr val="555555"/>
                </a:solidFill>
                <a:latin typeface="Microsoft YaHei" panose="020B0503020204020204" charset="-122"/>
                <a:ea typeface="Microsoft YaHei" panose="020B0503020204020204" charset="-122"/>
              </a:rPr>
              <a:t>均源于 OpenSpec-HW2 的 Use Cases 阶段对异常场景的系统梳理</a:t>
            </a:r>
            <a:endParaRPr sz="1400" b="0">
              <a:solidFill>
                <a:srgbClr val="555555"/>
              </a:solidFill>
              <a:latin typeface="Microsoft YaHei" panose="020B0503020204020204" charset="-122"/>
            </a:endParaRPr>
          </a:p>
        </p:txBody>
      </p:sp>
      <p:sp>
        <p:nvSpPr>
          <p:cNvPr id="40" name="TextBox 39"/>
          <p:cNvSpPr txBox="1"/>
          <p:nvPr/>
        </p:nvSpPr>
        <p:spPr>
          <a:xfrm>
            <a:off x="11094085" y="6400800"/>
            <a:ext cx="914400" cy="365760"/>
          </a:xfrm>
          <a:prstGeom prst="rect">
            <a:avLst/>
          </a:prstGeom>
          <a:noFill/>
        </p:spPr>
        <p:txBody>
          <a:bodyPr wrap="square">
            <a:spAutoFit/>
          </a:bodyPr>
          <a:lstStyle/>
          <a:p>
            <a:pPr algn="r"/>
            <a:r>
              <a:rPr sz="1000" b="0">
                <a:solidFill>
                  <a:srgbClr val="999999"/>
                </a:solidFill>
                <a:latin typeface="Microsoft YaHei" panose="020B0503020204020204" charset="-122"/>
                <a:ea typeface="Microsoft YaHei" panose="020B0503020204020204" charset="-122"/>
              </a:rPr>
              <a:t>3/41</a:t>
            </a:r>
            <a:endParaRPr sz="1000" b="0">
              <a:solidFill>
                <a:srgbClr val="999999"/>
              </a:solidFill>
              <a:latin typeface="Microsoft YaHei" panose="020B0503020204020204" charset="-122"/>
            </a:endParaRPr>
          </a:p>
        </p:txBody>
      </p:sp>
      <p:sp>
        <p:nvSpPr>
          <p:cNvPr id="41" name="TextBox 17"/>
          <p:cNvSpPr txBox="1"/>
          <p:nvPr/>
        </p:nvSpPr>
        <p:spPr>
          <a:xfrm>
            <a:off x="5639689" y="1435608"/>
            <a:ext cx="1463040" cy="245110"/>
          </a:xfrm>
          <a:prstGeom prst="rect">
            <a:avLst/>
          </a:prstGeom>
          <a:noFill/>
        </p:spPr>
        <p:txBody>
          <a:bodyPr wrap="square">
            <a:spAutoFit/>
          </a:bodyPr>
          <a:lstStyle/>
          <a:p>
            <a:pPr algn="ctr"/>
            <a:r>
              <a:rPr sz="1000" b="1">
                <a:solidFill>
                  <a:srgbClr val="FF8C00"/>
                </a:solidFill>
                <a:latin typeface="Microsoft YaHei" panose="020B0503020204020204" charset="-122"/>
                <a:ea typeface="Microsoft YaHei" panose="020B0503020204020204" charset="-122"/>
              </a:rPr>
              <a:t>▲ 本</a:t>
            </a:r>
            <a:r>
              <a:rPr lang="zh-CN" sz="1000" b="1">
                <a:solidFill>
                  <a:srgbClr val="FF8C00"/>
                </a:solidFill>
                <a:latin typeface="Microsoft YaHei" panose="020B0503020204020204" charset="-122"/>
                <a:ea typeface="Microsoft YaHei" panose="020B0503020204020204" charset="-122"/>
              </a:rPr>
              <a:t>工作</a:t>
            </a:r>
            <a:r>
              <a:rPr lang="zh-CN" sz="1000" b="1">
                <a:solidFill>
                  <a:srgbClr val="FF8C00"/>
                </a:solidFill>
                <a:latin typeface="Microsoft YaHei" panose="020B0503020204020204" charset="-122"/>
                <a:ea typeface="Microsoft YaHei" panose="020B0503020204020204" charset="-122"/>
              </a:rPr>
              <a:t>改动</a:t>
            </a:r>
            <a:endParaRPr lang="zh-CN" sz="1000" b="1">
              <a:solidFill>
                <a:srgbClr val="FF8C00"/>
              </a:solidFill>
              <a:latin typeface="Microsoft YaHei" panose="020B0503020204020204" charset="-122"/>
              <a:ea typeface="Microsoft YaHei" panose="020B0503020204020204" charset="-122"/>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p:txBody>
          <a:bodyPr/>
          <a:p>
            <a:r>
              <a:rPr lang="en-US"/>
              <a:t>OpenSpec-HW2 </a:t>
            </a:r>
            <a:r>
              <a:rPr lang="zh-CN" altLang="en-US"/>
              <a:t>实验</a:t>
            </a:r>
            <a:endParaRPr lang="zh-CN"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TextBox 1"/>
          <p:cNvSpPr txBox="1"/>
          <p:nvPr/>
        </p:nvSpPr>
        <p:spPr>
          <a:xfrm>
            <a:off x="457200" y="182880"/>
            <a:ext cx="10058400" cy="460375"/>
          </a:xfrm>
          <a:prstGeom prst="rect">
            <a:avLst/>
          </a:prstGeom>
          <a:noFill/>
        </p:spPr>
        <p:txBody>
          <a:bodyPr wrap="square">
            <a:spAutoFit/>
          </a:bodyPr>
          <a:lstStyle/>
          <a:p>
            <a:pPr algn="l"/>
            <a:r>
              <a:rPr lang="zh-CN" sz="2400" b="1">
                <a:solidFill>
                  <a:srgbClr val="333333"/>
                </a:solidFill>
                <a:latin typeface="Microsoft YaHei" panose="020B0503020204020204" charset="-122"/>
                <a:ea typeface="Microsoft YaHei" panose="020B0503020204020204" charset="-122"/>
              </a:rPr>
              <a:t>实验</a:t>
            </a:r>
            <a:r>
              <a:rPr lang="en-US" altLang="zh-CN" sz="2400" b="1">
                <a:solidFill>
                  <a:srgbClr val="333333"/>
                </a:solidFill>
                <a:latin typeface="Microsoft YaHei" panose="020B0503020204020204" charset="-122"/>
                <a:ea typeface="Microsoft YaHei" panose="020B0503020204020204" charset="-122"/>
              </a:rPr>
              <a:t>1-</a:t>
            </a:r>
            <a:r>
              <a:rPr sz="2400" b="1">
                <a:solidFill>
                  <a:srgbClr val="333333"/>
                </a:solidFill>
                <a:latin typeface="Microsoft YaHei" panose="020B0503020204020204" charset="-122"/>
                <a:ea typeface="Microsoft YaHei" panose="020B0503020204020204" charset="-122"/>
              </a:rPr>
              <a:t>实测对比</a:t>
            </a:r>
            <a:r>
              <a:rPr lang="zh-CN" sz="2400" b="1">
                <a:solidFill>
                  <a:srgbClr val="333333"/>
                </a:solidFill>
                <a:latin typeface="Microsoft YaHei" panose="020B0503020204020204" charset="-122"/>
                <a:ea typeface="Microsoft YaHei" panose="020B0503020204020204" charset="-122"/>
              </a:rPr>
              <a:t>：</a:t>
            </a:r>
            <a:r>
              <a:rPr sz="2400" b="1">
                <a:solidFill>
                  <a:srgbClr val="333333"/>
                </a:solidFill>
                <a:latin typeface="Microsoft YaHei" panose="020B0503020204020204" charset="-122"/>
                <a:ea typeface="Microsoft YaHei" panose="020B0503020204020204" charset="-122"/>
              </a:rPr>
              <a:t>同一需求，三种方法的量化差异</a:t>
            </a:r>
            <a:endParaRPr sz="2400" b="1">
              <a:solidFill>
                <a:srgbClr val="333333"/>
              </a:solidFill>
              <a:latin typeface="Microsoft YaHei" panose="020B0503020204020204" charset="-122"/>
            </a:endParaRPr>
          </a:p>
        </p:txBody>
      </p:sp>
      <p:sp>
        <p:nvSpPr>
          <p:cNvPr id="3" name="Rectangle 2"/>
          <p:cNvSpPr/>
          <p:nvPr/>
        </p:nvSpPr>
        <p:spPr>
          <a:xfrm>
            <a:off x="457200" y="685800"/>
            <a:ext cx="10332720" cy="508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77240"/>
            <a:ext cx="10058400" cy="521970"/>
          </a:xfrm>
          <a:prstGeom prst="rect">
            <a:avLst/>
          </a:prstGeom>
          <a:noFill/>
        </p:spPr>
        <p:txBody>
          <a:bodyPr wrap="square">
            <a:spAutoFit/>
          </a:bodyPr>
          <a:lstStyle/>
          <a:p>
            <a:pPr algn="l"/>
            <a:r>
              <a:rPr sz="1400" b="0">
                <a:solidFill>
                  <a:schemeClr val="tx1"/>
                </a:solidFill>
                <a:latin typeface="Microsoft YaHei" panose="020B0503020204020204" charset="-122"/>
                <a:ea typeface="Microsoft YaHei" panose="020B0503020204020204" charset="-122"/>
              </a:rPr>
              <a:t>测试项目：</a:t>
            </a:r>
            <a:r>
              <a:rPr lang="zh-CN" sz="1400" b="0">
                <a:solidFill>
                  <a:schemeClr val="tx1"/>
                </a:solidFill>
                <a:latin typeface="Microsoft YaHei" panose="020B0503020204020204" charset="-122"/>
                <a:ea typeface="Microsoft YaHei" panose="020B0503020204020204" charset="-122"/>
              </a:rPr>
              <a:t>金融领域</a:t>
            </a:r>
            <a:r>
              <a:rPr sz="1400" b="0">
                <a:solidFill>
                  <a:schemeClr val="tx1"/>
                </a:solidFill>
                <a:latin typeface="Microsoft YaHei" panose="020B0503020204020204" charset="-122"/>
                <a:ea typeface="Microsoft YaHei" panose="020B0503020204020204" charset="-122"/>
              </a:rPr>
              <a:t>A股有色金属量化交易系统</a:t>
            </a:r>
            <a:r>
              <a:rPr lang="zh-CN" sz="1400" b="0">
                <a:solidFill>
                  <a:schemeClr val="tx1"/>
                </a:solidFill>
                <a:latin typeface="Microsoft YaHei" panose="020B0503020204020204" charset="-122"/>
                <a:ea typeface="Microsoft YaHei" panose="020B0503020204020204" charset="-122"/>
              </a:rPr>
              <a:t>（</a:t>
            </a:r>
            <a:r>
              <a:rPr lang="en-US" altLang="zh-CN" sz="1400" b="0">
                <a:solidFill>
                  <a:schemeClr val="tx1"/>
                </a:solidFill>
                <a:latin typeface="Microsoft YaHei" panose="020B0503020204020204" charset="-122"/>
                <a:ea typeface="Microsoft YaHei" panose="020B0503020204020204" charset="-122"/>
              </a:rPr>
              <a:t>Spec Critical</a:t>
            </a:r>
            <a:r>
              <a:rPr lang="zh-CN" altLang="en-US" sz="1400" b="0">
                <a:solidFill>
                  <a:schemeClr val="tx1"/>
                </a:solidFill>
                <a:latin typeface="Microsoft YaHei" panose="020B0503020204020204" charset="-122"/>
                <a:ea typeface="Microsoft YaHei" panose="020B0503020204020204" charset="-122"/>
              </a:rPr>
              <a:t>）</a:t>
            </a:r>
            <a:r>
              <a:rPr sz="1400" b="0">
                <a:solidFill>
                  <a:schemeClr val="tx1"/>
                </a:solidFill>
                <a:latin typeface="Microsoft YaHei" panose="020B0503020204020204" charset="-122"/>
                <a:ea typeface="Microsoft YaHei" panose="020B0503020204020204" charset="-122"/>
              </a:rPr>
              <a:t> | 相同需求描述，分别用三种方式让 Claude Code 实现</a:t>
            </a:r>
            <a:r>
              <a:rPr lang="en-US" sz="1400" b="0">
                <a:solidFill>
                  <a:schemeClr val="tx1"/>
                </a:solidFill>
                <a:latin typeface="Microsoft YaHei" panose="020B0503020204020204" charset="-122"/>
                <a:ea typeface="Microsoft YaHei" panose="020B0503020204020204" charset="-122"/>
              </a:rPr>
              <a:t> </a:t>
            </a:r>
            <a:endParaRPr lang="en-US" sz="1400" b="0">
              <a:solidFill>
                <a:schemeClr val="tx1"/>
              </a:solidFill>
              <a:latin typeface="Microsoft YaHei" panose="020B0503020204020204" charset="-122"/>
              <a:ea typeface="Microsoft YaHei" panose="020B0503020204020204" charset="-122"/>
            </a:endParaRPr>
          </a:p>
          <a:p>
            <a:pPr algn="l"/>
            <a:r>
              <a:rPr lang="zh-CN" altLang="en-US" sz="1400" b="1">
                <a:solidFill>
                  <a:schemeClr val="tx1"/>
                </a:solidFill>
                <a:latin typeface="Microsoft YaHei" panose="020B0503020204020204" charset="-122"/>
                <a:ea typeface="Microsoft YaHei" panose="020B0503020204020204" charset="-122"/>
              </a:rPr>
              <a:t>详见视频</a:t>
            </a:r>
            <a:r>
              <a:rPr lang="en-US" altLang="zh-CN" sz="1400" b="1">
                <a:solidFill>
                  <a:schemeClr val="tx1"/>
                </a:solidFill>
                <a:latin typeface="Microsoft YaHei" panose="020B0503020204020204" charset="-122"/>
                <a:ea typeface="Microsoft YaHei" panose="020B0503020204020204" charset="-122"/>
              </a:rPr>
              <a:t>Demo</a:t>
            </a:r>
            <a:endParaRPr lang="en-US" altLang="zh-CN" sz="1400" b="1">
              <a:solidFill>
                <a:schemeClr val="tx1"/>
              </a:solidFill>
              <a:latin typeface="Microsoft YaHei" panose="020B0503020204020204" charset="-122"/>
              <a:ea typeface="Microsoft YaHei" panose="020B0503020204020204" charset="-122"/>
            </a:endParaRPr>
          </a:p>
        </p:txBody>
      </p:sp>
      <p:sp>
        <p:nvSpPr>
          <p:cNvPr id="5" name="Rounded Rectangle 4"/>
          <p:cNvSpPr/>
          <p:nvPr/>
        </p:nvSpPr>
        <p:spPr>
          <a:xfrm>
            <a:off x="457200" y="1371600"/>
            <a:ext cx="3291840" cy="3931920"/>
          </a:xfrm>
          <a:prstGeom prst="roundRect">
            <a:avLst/>
          </a:prstGeom>
          <a:solidFill>
            <a:srgbClr val="F0F0F0"/>
          </a:solidFill>
          <a:ln w="12700">
            <a:solidFill>
              <a:srgbClr val="7878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2926080" cy="2422525"/>
          </a:xfrm>
          <a:prstGeom prst="rect">
            <a:avLst/>
          </a:prstGeom>
          <a:noFill/>
        </p:spPr>
        <p:txBody>
          <a:bodyPr wrap="square">
            <a:spAutoFit/>
          </a:bodyPr>
          <a:lstStyle/>
          <a:p>
            <a:pPr algn="l">
              <a:spcAft>
                <a:spcPts val="800"/>
              </a:spcAft>
            </a:pPr>
            <a:r>
              <a:rPr sz="1600" b="1">
                <a:solidFill>
                  <a:srgbClr val="787878"/>
                </a:solidFill>
                <a:latin typeface="Microsoft YaHei" panose="020B0503020204020204" charset="-122"/>
                <a:ea typeface="Microsoft YaHei" panose="020B0503020204020204" charset="-122"/>
              </a:rPr>
              <a:t>Vanilla Claude Code</a:t>
            </a:r>
            <a:endParaRPr sz="1600" b="1">
              <a:solidFill>
                <a:srgbClr val="787878"/>
              </a:solidFill>
              <a:latin typeface="Microsoft YaHei" panose="020B0503020204020204" charset="-122"/>
            </a:endParaRPr>
          </a:p>
          <a:p>
            <a:pPr algn="l">
              <a:spcAft>
                <a:spcPts val="400"/>
              </a:spcAft>
            </a:pPr>
            <a:r>
              <a:rPr sz="1300" b="1">
                <a:solidFill>
                  <a:srgbClr val="333333"/>
                </a:solidFill>
                <a:latin typeface="Microsoft YaHei" panose="020B0503020204020204" charset="-122"/>
                <a:ea typeface="Microsoft YaHei" panose="020B0503020204020204" charset="-122"/>
              </a:rPr>
              <a:t>工作流</a:t>
            </a:r>
            <a:endParaRPr sz="1300" b="1">
              <a:solidFill>
                <a:srgbClr val="333333"/>
              </a:solidFill>
              <a:latin typeface="Microsoft YaHei" panose="020B0503020204020204" charset="-122"/>
            </a:endParaRPr>
          </a:p>
          <a:p>
            <a:pPr algn="l">
              <a:spcAft>
                <a:spcPts val="1200"/>
              </a:spcAft>
            </a:pPr>
            <a:r>
              <a:rPr sz="1200" b="1">
                <a:solidFill>
                  <a:srgbClr val="787878"/>
                </a:solidFill>
                <a:latin typeface="Microsoft YaHei" panose="020B0503020204020204" charset="-122"/>
                <a:ea typeface="Microsoft YaHei" panose="020B0503020204020204" charset="-122"/>
              </a:rPr>
              <a:t>需求描述 → AI 直接编码 → 代码</a:t>
            </a:r>
            <a:endParaRPr sz="1200" b="1">
              <a:solidFill>
                <a:srgbClr val="787878"/>
              </a:solidFill>
              <a:latin typeface="Microsoft YaHei" panose="020B0503020204020204" charset="-122"/>
            </a:endParaRPr>
          </a:p>
          <a:p>
            <a:pPr algn="l">
              <a:spcAft>
                <a:spcPts val="400"/>
              </a:spcAft>
            </a:pPr>
            <a:r>
              <a:rPr sz="1300" b="1">
                <a:solidFill>
                  <a:srgbClr val="333333"/>
                </a:solidFill>
                <a:latin typeface="Microsoft YaHei" panose="020B0503020204020204" charset="-122"/>
                <a:ea typeface="Microsoft YaHei" panose="020B0503020204020204" charset="-122"/>
              </a:rPr>
              <a:t>特征</a:t>
            </a:r>
            <a:r>
              <a:rPr lang="zh-CN" sz="1300" b="1">
                <a:solidFill>
                  <a:srgbClr val="333333"/>
                </a:solidFill>
                <a:latin typeface="Microsoft YaHei" panose="020B0503020204020204" charset="-122"/>
                <a:ea typeface="Microsoft YaHei" panose="020B0503020204020204" charset="-122"/>
              </a:rPr>
              <a:t>总结</a:t>
            </a:r>
            <a:endParaRPr sz="1300" b="1">
              <a:solidFill>
                <a:srgbClr val="333333"/>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无前置规划步骤</a:t>
            </a:r>
            <a:endParaRPr sz="1200" b="0">
              <a:solidFill>
                <a:srgbClr val="333333"/>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AI 凭自身判断决定架构</a:t>
            </a:r>
            <a:endParaRPr sz="1200" b="0">
              <a:solidFill>
                <a:srgbClr val="333333"/>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无 spec / design / task 产出</a:t>
            </a:r>
            <a:endParaRPr sz="1200" b="0">
              <a:solidFill>
                <a:srgbClr val="333333"/>
              </a:solidFill>
              <a:latin typeface="Microsoft YaHei" panose="020B0503020204020204" charset="-122"/>
            </a:endParaRPr>
          </a:p>
          <a:p>
            <a:pPr algn="l">
              <a:spcAft>
                <a:spcPts val="800"/>
              </a:spcAft>
            </a:pPr>
            <a:r>
              <a:rPr sz="1200" b="0">
                <a:solidFill>
                  <a:srgbClr val="333333"/>
                </a:solidFill>
                <a:latin typeface="Microsoft YaHei" panose="020B0503020204020204" charset="-122"/>
                <a:ea typeface="Microsoft YaHei" panose="020B0503020204020204" charset="-122"/>
              </a:rPr>
              <a:t>• 最快交付，但无质量保障</a:t>
            </a:r>
            <a:endParaRPr sz="1200" b="0">
              <a:solidFill>
                <a:srgbClr val="333333"/>
              </a:solidFill>
              <a:latin typeface="Microsoft YaHei" panose="020B0503020204020204" charset="-122"/>
            </a:endParaRPr>
          </a:p>
          <a:p>
            <a:pPr algn="l">
              <a:spcAft>
                <a:spcPts val="200"/>
              </a:spcAft>
            </a:pPr>
            <a:r>
              <a:rPr sz="1200" b="0">
                <a:solidFill>
                  <a:srgbClr val="999999"/>
                </a:solidFill>
                <a:latin typeface="Microsoft YaHei" panose="020B0503020204020204" charset="-122"/>
                <a:ea typeface="Microsoft YaHei" panose="020B0503020204020204" charset="-122"/>
              </a:rPr>
              <a:t>Artifact 数量：0</a:t>
            </a:r>
            <a:endParaRPr sz="1200" b="0">
              <a:solidFill>
                <a:srgbClr val="999999"/>
              </a:solidFill>
              <a:latin typeface="Microsoft YaHei" panose="020B0503020204020204" charset="-122"/>
            </a:endParaRPr>
          </a:p>
        </p:txBody>
      </p:sp>
      <p:sp>
        <p:nvSpPr>
          <p:cNvPr id="7" name="Rounded Rectangle 6"/>
          <p:cNvSpPr/>
          <p:nvPr/>
        </p:nvSpPr>
        <p:spPr>
          <a:xfrm>
            <a:off x="3977640" y="1371600"/>
            <a:ext cx="3291840" cy="3931920"/>
          </a:xfrm>
          <a:prstGeom prst="roundRect">
            <a:avLst/>
          </a:prstGeom>
          <a:solidFill>
            <a:srgbClr val="E3F2FD"/>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60520" y="1508760"/>
            <a:ext cx="2926080" cy="2607310"/>
          </a:xfrm>
          <a:prstGeom prst="rect">
            <a:avLst/>
          </a:prstGeom>
          <a:noFill/>
        </p:spPr>
        <p:txBody>
          <a:bodyPr wrap="square">
            <a:spAutoFit/>
          </a:bodyPr>
          <a:lstStyle/>
          <a:p>
            <a:pPr algn="l">
              <a:spcAft>
                <a:spcPts val="800"/>
              </a:spcAft>
            </a:pPr>
            <a:r>
              <a:rPr sz="1600" b="1">
                <a:solidFill>
                  <a:srgbClr val="0078D4"/>
                </a:solidFill>
                <a:latin typeface="Microsoft YaHei" panose="020B0503020204020204" charset="-122"/>
                <a:ea typeface="Microsoft YaHei" panose="020B0503020204020204" charset="-122"/>
              </a:rPr>
              <a:t>原生 OpenSpec</a:t>
            </a:r>
            <a:endParaRPr sz="1600" b="1">
              <a:solidFill>
                <a:srgbClr val="0078D4"/>
              </a:solidFill>
              <a:latin typeface="Microsoft YaHei" panose="020B0503020204020204" charset="-122"/>
            </a:endParaRPr>
          </a:p>
          <a:p>
            <a:pPr algn="l">
              <a:spcAft>
                <a:spcPts val="400"/>
              </a:spcAft>
            </a:pPr>
            <a:r>
              <a:rPr sz="1300" b="1">
                <a:solidFill>
                  <a:srgbClr val="333333"/>
                </a:solidFill>
                <a:latin typeface="Microsoft YaHei" panose="020B0503020204020204" charset="-122"/>
                <a:ea typeface="Microsoft YaHei" panose="020B0503020204020204" charset="-122"/>
              </a:rPr>
              <a:t>工作流</a:t>
            </a:r>
            <a:endParaRPr sz="1300" b="1">
              <a:solidFill>
                <a:srgbClr val="333333"/>
              </a:solidFill>
              <a:latin typeface="Microsoft YaHei" panose="020B0503020204020204" charset="-122"/>
            </a:endParaRPr>
          </a:p>
          <a:p>
            <a:pPr algn="l">
              <a:spcAft>
                <a:spcPts val="1200"/>
              </a:spcAft>
            </a:pPr>
            <a:r>
              <a:rPr sz="1200" b="1">
                <a:solidFill>
                  <a:srgbClr val="0078D4"/>
                </a:solidFill>
                <a:latin typeface="Microsoft YaHei" panose="020B0503020204020204" charset="-122"/>
                <a:ea typeface="Microsoft YaHei" panose="020B0503020204020204" charset="-122"/>
              </a:rPr>
              <a:t>Proposal → Specs + Design → Tasks → 代码</a:t>
            </a:r>
            <a:endParaRPr sz="1200" b="1">
              <a:solidFill>
                <a:srgbClr val="0078D4"/>
              </a:solidFill>
              <a:latin typeface="Microsoft YaHei" panose="020B0503020204020204" charset="-122"/>
            </a:endParaRPr>
          </a:p>
          <a:p>
            <a:pPr algn="l">
              <a:spcAft>
                <a:spcPts val="400"/>
              </a:spcAft>
            </a:pPr>
            <a:r>
              <a:rPr sz="1300" b="1">
                <a:solidFill>
                  <a:srgbClr val="333333"/>
                </a:solidFill>
                <a:latin typeface="Microsoft YaHei" panose="020B0503020204020204" charset="-122"/>
                <a:ea typeface="Microsoft YaHei" panose="020B0503020204020204" charset="-122"/>
              </a:rPr>
              <a:t>特征</a:t>
            </a:r>
            <a:r>
              <a:rPr lang="zh-CN" sz="1300" b="1">
                <a:solidFill>
                  <a:srgbClr val="333333"/>
                </a:solidFill>
                <a:latin typeface="Microsoft YaHei" panose="020B0503020204020204" charset="-122"/>
                <a:ea typeface="Microsoft YaHei" panose="020B0503020204020204" charset="-122"/>
              </a:rPr>
              <a:t>总结</a:t>
            </a:r>
            <a:endParaRPr sz="1300" b="1">
              <a:solidFill>
                <a:srgbClr val="333333"/>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标准 4-artifact 工作流</a:t>
            </a:r>
            <a:endParaRPr sz="1200" b="0">
              <a:solidFill>
                <a:srgbClr val="333333"/>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Specs 与 Design 并行生成</a:t>
            </a:r>
            <a:endParaRPr sz="1200" b="0">
              <a:solidFill>
                <a:srgbClr val="333333"/>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基本规格约束</a:t>
            </a:r>
            <a:endParaRPr sz="1200" b="0">
              <a:solidFill>
                <a:srgbClr val="333333"/>
              </a:solidFill>
              <a:latin typeface="Microsoft YaHei" panose="020B0503020204020204" charset="-122"/>
            </a:endParaRPr>
          </a:p>
          <a:p>
            <a:pPr algn="l">
              <a:spcAft>
                <a:spcPts val="800"/>
              </a:spcAft>
            </a:pPr>
            <a:r>
              <a:rPr sz="1200" b="0">
                <a:solidFill>
                  <a:srgbClr val="333333"/>
                </a:solidFill>
                <a:latin typeface="Microsoft YaHei" panose="020B0503020204020204" charset="-122"/>
                <a:ea typeface="Microsoft YaHei" panose="020B0503020204020204" charset="-122"/>
              </a:rPr>
              <a:t>• 质量显著优于无规格</a:t>
            </a:r>
            <a:endParaRPr sz="1200" b="0">
              <a:solidFill>
                <a:srgbClr val="333333"/>
              </a:solidFill>
              <a:latin typeface="Microsoft YaHei" panose="020B0503020204020204" charset="-122"/>
            </a:endParaRPr>
          </a:p>
          <a:p>
            <a:pPr algn="l">
              <a:spcAft>
                <a:spcPts val="200"/>
              </a:spcAft>
            </a:pPr>
            <a:r>
              <a:rPr sz="1200" b="0">
                <a:solidFill>
                  <a:srgbClr val="999999"/>
                </a:solidFill>
                <a:latin typeface="Microsoft YaHei" panose="020B0503020204020204" charset="-122"/>
                <a:ea typeface="Microsoft YaHei" panose="020B0503020204020204" charset="-122"/>
              </a:rPr>
              <a:t>Artifact 数量：4</a:t>
            </a:r>
            <a:endParaRPr sz="1200" b="0">
              <a:solidFill>
                <a:srgbClr val="999999"/>
              </a:solidFill>
              <a:latin typeface="Microsoft YaHei" panose="020B0503020204020204" charset="-122"/>
            </a:endParaRPr>
          </a:p>
        </p:txBody>
      </p:sp>
      <p:sp>
        <p:nvSpPr>
          <p:cNvPr id="9" name="Rounded Rectangle 8"/>
          <p:cNvSpPr/>
          <p:nvPr/>
        </p:nvSpPr>
        <p:spPr>
          <a:xfrm>
            <a:off x="7498080" y="1371600"/>
            <a:ext cx="3291840" cy="3931920"/>
          </a:xfrm>
          <a:prstGeom prst="roundRect">
            <a:avLst/>
          </a:prstGeom>
          <a:solidFill>
            <a:srgbClr val="E8F5E9"/>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0" y="1508760"/>
            <a:ext cx="2926080" cy="2607310"/>
          </a:xfrm>
          <a:prstGeom prst="rect">
            <a:avLst/>
          </a:prstGeom>
          <a:noFill/>
        </p:spPr>
        <p:txBody>
          <a:bodyPr wrap="square">
            <a:spAutoFit/>
          </a:bodyPr>
          <a:lstStyle/>
          <a:p>
            <a:pPr algn="l">
              <a:spcAft>
                <a:spcPts val="800"/>
              </a:spcAft>
            </a:pPr>
            <a:r>
              <a:rPr sz="1600" b="1">
                <a:solidFill>
                  <a:srgbClr val="107C10"/>
                </a:solidFill>
                <a:latin typeface="Microsoft YaHei" panose="020B0503020204020204" charset="-122"/>
                <a:ea typeface="Microsoft YaHei" panose="020B0503020204020204" charset="-122"/>
              </a:rPr>
              <a:t>OpenSpec-HW2</a:t>
            </a:r>
            <a:endParaRPr sz="1600" b="1">
              <a:solidFill>
                <a:srgbClr val="107C10"/>
              </a:solidFill>
              <a:latin typeface="Microsoft YaHei" panose="020B0503020204020204" charset="-122"/>
            </a:endParaRPr>
          </a:p>
          <a:p>
            <a:pPr algn="l">
              <a:spcAft>
                <a:spcPts val="400"/>
              </a:spcAft>
            </a:pPr>
            <a:r>
              <a:rPr sz="1300" b="1">
                <a:solidFill>
                  <a:srgbClr val="333333"/>
                </a:solidFill>
                <a:latin typeface="Microsoft YaHei" panose="020B0503020204020204" charset="-122"/>
                <a:ea typeface="Microsoft YaHei" panose="020B0503020204020204" charset="-122"/>
              </a:rPr>
              <a:t>工作流</a:t>
            </a:r>
            <a:endParaRPr sz="1300" b="1">
              <a:solidFill>
                <a:srgbClr val="333333"/>
              </a:solidFill>
              <a:latin typeface="Microsoft YaHei" panose="020B0503020204020204" charset="-122"/>
            </a:endParaRPr>
          </a:p>
          <a:p>
            <a:pPr algn="l">
              <a:spcAft>
                <a:spcPts val="1200"/>
              </a:spcAft>
            </a:pPr>
            <a:r>
              <a:rPr sz="1200" b="1">
                <a:solidFill>
                  <a:srgbClr val="107C10"/>
                </a:solidFill>
                <a:latin typeface="Microsoft YaHei" panose="020B0503020204020204" charset="-122"/>
                <a:ea typeface="Microsoft YaHei" panose="020B0503020204020204" charset="-122"/>
              </a:rPr>
              <a:t>Proposal → Usecases → Specs → Design → Tasks</a:t>
            </a:r>
            <a:r>
              <a:rPr lang="en-US" sz="1200" b="1">
                <a:solidFill>
                  <a:srgbClr val="107C10"/>
                </a:solidFill>
                <a:latin typeface="Microsoft YaHei" panose="020B0503020204020204" charset="-122"/>
                <a:ea typeface="Microsoft YaHei" panose="020B0503020204020204" charset="-122"/>
              </a:rPr>
              <a:t> </a:t>
            </a:r>
            <a:r>
              <a:rPr sz="1200" b="1">
                <a:solidFill>
                  <a:srgbClr val="107C10"/>
                </a:solidFill>
                <a:latin typeface="Microsoft YaHei" panose="020B0503020204020204" charset="-122"/>
                <a:ea typeface="Microsoft YaHei" panose="020B0503020204020204" charset="-122"/>
                <a:sym typeface="+mn-ea"/>
              </a:rPr>
              <a:t>→ </a:t>
            </a:r>
            <a:r>
              <a:rPr lang="zh-CN" sz="1200" b="1">
                <a:solidFill>
                  <a:srgbClr val="107C10"/>
                </a:solidFill>
                <a:latin typeface="Microsoft YaHei" panose="020B0503020204020204" charset="-122"/>
                <a:ea typeface="Microsoft YaHei" panose="020B0503020204020204" charset="-122"/>
                <a:sym typeface="+mn-ea"/>
              </a:rPr>
              <a:t>代码</a:t>
            </a:r>
            <a:endParaRPr sz="1200" b="1">
              <a:solidFill>
                <a:srgbClr val="107C10"/>
              </a:solidFill>
              <a:latin typeface="Microsoft YaHei" panose="020B0503020204020204" charset="-122"/>
            </a:endParaRPr>
          </a:p>
          <a:p>
            <a:pPr algn="l">
              <a:spcAft>
                <a:spcPts val="400"/>
              </a:spcAft>
            </a:pPr>
            <a:r>
              <a:rPr sz="1300" b="1">
                <a:solidFill>
                  <a:srgbClr val="333333"/>
                </a:solidFill>
                <a:latin typeface="Microsoft YaHei" panose="020B0503020204020204" charset="-122"/>
                <a:ea typeface="Microsoft YaHei" panose="020B0503020204020204" charset="-122"/>
              </a:rPr>
              <a:t>特征</a:t>
            </a:r>
            <a:r>
              <a:rPr lang="zh-CN" sz="1300" b="1">
                <a:solidFill>
                  <a:srgbClr val="333333"/>
                </a:solidFill>
                <a:latin typeface="Microsoft YaHei" panose="020B0503020204020204" charset="-122"/>
                <a:ea typeface="Microsoft YaHei" panose="020B0503020204020204" charset="-122"/>
              </a:rPr>
              <a:t>总结</a:t>
            </a:r>
            <a:endParaRPr sz="1300" b="1">
              <a:solidFill>
                <a:srgbClr val="333333"/>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新增 Usecases 场景建模步骤</a:t>
            </a:r>
            <a:endParaRPr sz="1200" b="0">
              <a:solidFill>
                <a:srgbClr val="333333"/>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8 个用例驱动规格细化</a:t>
            </a:r>
            <a:endParaRPr sz="1200" b="0">
              <a:solidFill>
                <a:srgbClr val="333333"/>
              </a:solidFill>
              <a:latin typeface="Microsoft YaHei" panose="020B0503020204020204" charset="-122"/>
            </a:endParaRPr>
          </a:p>
          <a:p>
            <a:pPr algn="l">
              <a:spcAft>
                <a:spcPts val="300"/>
              </a:spcAft>
            </a:pPr>
            <a:r>
              <a:rPr sz="1200">
                <a:solidFill>
                  <a:srgbClr val="333333"/>
                </a:solidFill>
                <a:latin typeface="Microsoft YaHei" panose="020B0503020204020204" charset="-122"/>
                <a:ea typeface="Microsoft YaHei" panose="020B0503020204020204" charset="-122"/>
              </a:rPr>
              <a:t>• 逐步提升效果</a:t>
            </a:r>
            <a:endParaRPr sz="1200" b="0">
              <a:solidFill>
                <a:srgbClr val="333333"/>
              </a:solidFill>
              <a:latin typeface="Microsoft YaHei" panose="020B0503020204020204" charset="-122"/>
            </a:endParaRPr>
          </a:p>
          <a:p>
            <a:pPr algn="l">
              <a:spcAft>
                <a:spcPts val="800"/>
              </a:spcAft>
            </a:pPr>
            <a:r>
              <a:rPr sz="1200">
                <a:solidFill>
                  <a:srgbClr val="333333"/>
                </a:solidFill>
                <a:latin typeface="Microsoft YaHei" panose="020B0503020204020204" charset="-122"/>
                <a:ea typeface="Microsoft YaHei" panose="020B0503020204020204" charset="-122"/>
              </a:rPr>
              <a:t>• 较高质量产出</a:t>
            </a:r>
            <a:endParaRPr sz="1200" b="0">
              <a:solidFill>
                <a:srgbClr val="333333"/>
              </a:solidFill>
              <a:latin typeface="Microsoft YaHei" panose="020B0503020204020204" charset="-122"/>
            </a:endParaRPr>
          </a:p>
          <a:p>
            <a:pPr algn="l">
              <a:spcAft>
                <a:spcPts val="200"/>
              </a:spcAft>
            </a:pPr>
            <a:r>
              <a:rPr sz="1200" b="0">
                <a:solidFill>
                  <a:srgbClr val="999999"/>
                </a:solidFill>
                <a:latin typeface="Microsoft YaHei" panose="020B0503020204020204" charset="-122"/>
                <a:ea typeface="Microsoft YaHei" panose="020B0503020204020204" charset="-122"/>
              </a:rPr>
              <a:t>Artifact 数量：5</a:t>
            </a:r>
            <a:endParaRPr sz="1200" b="0">
              <a:solidFill>
                <a:srgbClr val="999999"/>
              </a:solidFill>
              <a:latin typeface="Microsoft YaHei" panose="020B0503020204020204" charset="-122"/>
            </a:endParaRPr>
          </a:p>
        </p:txBody>
      </p:sp>
      <p:sp>
        <p:nvSpPr>
          <p:cNvPr id="11" name="Rectangle 10"/>
          <p:cNvSpPr/>
          <p:nvPr/>
        </p:nvSpPr>
        <p:spPr>
          <a:xfrm>
            <a:off x="457200" y="5532120"/>
            <a:ext cx="10332720" cy="5080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5623560"/>
            <a:ext cx="10332720" cy="260350"/>
          </a:xfrm>
          <a:prstGeom prst="rect">
            <a:avLst/>
          </a:prstGeom>
          <a:noFill/>
        </p:spPr>
        <p:txBody>
          <a:bodyPr wrap="square">
            <a:spAutoFit/>
          </a:bodyPr>
          <a:lstStyle/>
          <a:p>
            <a:pPr algn="ctr"/>
            <a:r>
              <a:rPr sz="1100" b="0">
                <a:solidFill>
                  <a:schemeClr val="tx1"/>
                </a:solidFill>
                <a:latin typeface="Microsoft YaHei" panose="020B0503020204020204" charset="-122"/>
                <a:ea typeface="Microsoft YaHei" panose="020B0503020204020204" charset="-122"/>
              </a:rPr>
              <a:t>控制变量：完全相同的需求描述  |  同一 AI 模型 (Claude </a:t>
            </a:r>
            <a:r>
              <a:rPr lang="en-US" sz="1100" b="0">
                <a:solidFill>
                  <a:schemeClr val="tx1"/>
                </a:solidFill>
                <a:latin typeface="Microsoft YaHei" panose="020B0503020204020204" charset="-122"/>
                <a:ea typeface="Microsoft YaHei" panose="020B0503020204020204" charset="-122"/>
              </a:rPr>
              <a:t>Opus4.6</a:t>
            </a:r>
            <a:r>
              <a:rPr sz="1100" b="0">
                <a:solidFill>
                  <a:schemeClr val="tx1"/>
                </a:solidFill>
                <a:latin typeface="Microsoft YaHei" panose="020B0503020204020204" charset="-122"/>
                <a:ea typeface="Microsoft YaHei" panose="020B0503020204020204" charset="-122"/>
              </a:rPr>
              <a:t>)  |  独立执行  |  无人工干预</a:t>
            </a:r>
            <a:endParaRPr sz="1100" b="0">
              <a:solidFill>
                <a:schemeClr val="tx1"/>
              </a:solidFill>
              <a:latin typeface="Microsoft YaHei" panose="020B0503020204020204" charset="-122"/>
              <a:ea typeface="Microsoft YaHei" panose="020B0503020204020204" charset="-122"/>
            </a:endParaRPr>
          </a:p>
        </p:txBody>
      </p:sp>
      <p:sp>
        <p:nvSpPr>
          <p:cNvPr id="13" name="TextBox 12"/>
          <p:cNvSpPr txBox="1"/>
          <p:nvPr/>
        </p:nvSpPr>
        <p:spPr>
          <a:xfrm>
            <a:off x="11094085" y="6400800"/>
            <a:ext cx="914400" cy="365760"/>
          </a:xfrm>
          <a:prstGeom prst="rect">
            <a:avLst/>
          </a:prstGeom>
          <a:noFill/>
        </p:spPr>
        <p:txBody>
          <a:bodyPr wrap="square">
            <a:spAutoFit/>
          </a:bodyPr>
          <a:lstStyle/>
          <a:p>
            <a:pPr algn="r"/>
            <a:r>
              <a:rPr sz="1100" b="0">
                <a:solidFill>
                  <a:srgbClr val="999999"/>
                </a:solidFill>
                <a:latin typeface="Microsoft YaHei" panose="020B0503020204020204" charset="-122"/>
                <a:ea typeface="Microsoft YaHei" panose="020B0503020204020204" charset="-122"/>
              </a:rPr>
              <a:t>5/41</a:t>
            </a:r>
            <a:endParaRPr sz="1100" b="0">
              <a:solidFill>
                <a:srgbClr val="999999"/>
              </a:solidFill>
              <a:latin typeface="Microsoft YaHei" panose="020B0503020204020204"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TextBox 1"/>
          <p:cNvSpPr txBox="1"/>
          <p:nvPr/>
        </p:nvSpPr>
        <p:spPr>
          <a:xfrm>
            <a:off x="457200" y="182880"/>
            <a:ext cx="10058400" cy="460375"/>
          </a:xfrm>
          <a:prstGeom prst="rect">
            <a:avLst/>
          </a:prstGeom>
          <a:noFill/>
        </p:spPr>
        <p:txBody>
          <a:bodyPr wrap="square">
            <a:spAutoFit/>
          </a:bodyPr>
          <a:lstStyle/>
          <a:p>
            <a:pPr algn="l"/>
            <a:r>
              <a:rPr lang="zh-CN" sz="2400" b="1">
                <a:solidFill>
                  <a:srgbClr val="333333"/>
                </a:solidFill>
                <a:latin typeface="Microsoft YaHei" panose="020B0503020204020204" charset="-122"/>
                <a:ea typeface="Microsoft YaHei" panose="020B0503020204020204" charset="-122"/>
              </a:rPr>
              <a:t>实验</a:t>
            </a:r>
            <a:r>
              <a:rPr lang="en-US" altLang="zh-CN" sz="2400" b="1">
                <a:solidFill>
                  <a:srgbClr val="333333"/>
                </a:solidFill>
                <a:latin typeface="Microsoft YaHei" panose="020B0503020204020204" charset="-122"/>
                <a:ea typeface="Microsoft YaHei" panose="020B0503020204020204" charset="-122"/>
              </a:rPr>
              <a:t>1-</a:t>
            </a:r>
            <a:r>
              <a:rPr sz="2400" b="1">
                <a:solidFill>
                  <a:srgbClr val="333333"/>
                </a:solidFill>
                <a:latin typeface="Microsoft YaHei" panose="020B0503020204020204" charset="-122"/>
                <a:ea typeface="Microsoft YaHei" panose="020B0503020204020204" charset="-122"/>
              </a:rPr>
              <a:t>核心指标对比：规格层级决定代码质量</a:t>
            </a:r>
            <a:endParaRPr sz="2400" b="1">
              <a:solidFill>
                <a:srgbClr val="333333"/>
              </a:solidFill>
              <a:latin typeface="Microsoft YaHei" panose="020B0503020204020204" charset="-122"/>
            </a:endParaRPr>
          </a:p>
        </p:txBody>
      </p:sp>
      <p:sp>
        <p:nvSpPr>
          <p:cNvPr id="3" name="Rectangle 2"/>
          <p:cNvSpPr/>
          <p:nvPr/>
        </p:nvSpPr>
        <p:spPr>
          <a:xfrm>
            <a:off x="457200" y="685800"/>
            <a:ext cx="10332720" cy="508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914400"/>
          <a:ext cx="10332720" cy="4206240"/>
        </p:xfrm>
        <a:graphic>
          <a:graphicData uri="http://schemas.openxmlformats.org/drawingml/2006/table">
            <a:tbl>
              <a:tblPr firstRow="1" bandRow="1">
                <a:tableStyleId>{5C22544A-7EE6-4342-B048-85BDC9FD1C3A}</a:tableStyleId>
              </a:tblPr>
              <a:tblGrid>
                <a:gridCol w="2011680"/>
                <a:gridCol w="2743200"/>
                <a:gridCol w="2743200"/>
                <a:gridCol w="2834640"/>
              </a:tblGrid>
              <a:tr h="382385">
                <a:tc>
                  <a:txBody>
                    <a:bodyPr/>
                    <a:lstStyle/>
                    <a:p>
                      <a:pPr algn="l">
                        <a:spcBef>
                          <a:spcPts val="0"/>
                        </a:spcBef>
                        <a:spcAft>
                          <a:spcPts val="0"/>
                        </a:spcAft>
                      </a:pPr>
                      <a:r>
                        <a:rPr sz="1100" b="1">
                          <a:solidFill>
                            <a:srgbClr val="FFFFFF"/>
                          </a:solidFill>
                          <a:latin typeface="Microsoft YaHei" panose="020B0503020204020204" charset="-122"/>
                        </a:rPr>
                        <a:t>对比维度</a:t>
                      </a:r>
                      <a:endParaRPr sz="1100" b="1">
                        <a:solidFill>
                          <a:srgbClr val="FFFFFF"/>
                        </a:solidFill>
                        <a:latin typeface="Microsoft YaHei" panose="020B0503020204020204" charset="-122"/>
                      </a:endParaRPr>
                    </a:p>
                  </a:txBody>
                  <a:tcPr marL="50800" marR="50800" marT="25400" marB="25400" anchor="ctr">
                    <a:solidFill>
                      <a:srgbClr val="444444"/>
                    </a:solidFill>
                  </a:tcPr>
                </a:tc>
                <a:tc>
                  <a:txBody>
                    <a:bodyPr/>
                    <a:lstStyle/>
                    <a:p>
                      <a:pPr algn="ctr">
                        <a:spcBef>
                          <a:spcPts val="0"/>
                        </a:spcBef>
                        <a:spcAft>
                          <a:spcPts val="0"/>
                        </a:spcAft>
                      </a:pPr>
                      <a:r>
                        <a:rPr sz="1100" b="1">
                          <a:solidFill>
                            <a:srgbClr val="FFFFFF"/>
                          </a:solidFill>
                          <a:latin typeface="Microsoft YaHei" panose="020B0503020204020204" charset="-122"/>
                        </a:rPr>
                        <a:t>Vanilla Claude Code</a:t>
                      </a:r>
                      <a:endParaRPr sz="1100" b="1">
                        <a:solidFill>
                          <a:srgbClr val="FFFFFF"/>
                        </a:solidFill>
                        <a:latin typeface="Microsoft YaHei" panose="020B0503020204020204" charset="-122"/>
                      </a:endParaRPr>
                    </a:p>
                  </a:txBody>
                  <a:tcPr marL="50800" marR="50800" marT="25400" marB="25400" anchor="ctr">
                    <a:solidFill>
                      <a:srgbClr val="787878"/>
                    </a:solidFill>
                  </a:tcPr>
                </a:tc>
                <a:tc>
                  <a:txBody>
                    <a:bodyPr/>
                    <a:lstStyle/>
                    <a:p>
                      <a:pPr algn="ctr">
                        <a:spcBef>
                          <a:spcPts val="0"/>
                        </a:spcBef>
                        <a:spcAft>
                          <a:spcPts val="0"/>
                        </a:spcAft>
                      </a:pPr>
                      <a:r>
                        <a:rPr sz="1100" b="1">
                          <a:solidFill>
                            <a:srgbClr val="FFFFFF"/>
                          </a:solidFill>
                          <a:latin typeface="Microsoft YaHei" panose="020B0503020204020204" charset="-122"/>
                        </a:rPr>
                        <a:t>原生 OpenSpec</a:t>
                      </a:r>
                      <a:endParaRPr sz="1100" b="1">
                        <a:solidFill>
                          <a:srgbClr val="FFFFFF"/>
                        </a:solidFill>
                        <a:latin typeface="Microsoft YaHei" panose="020B0503020204020204" charset="-122"/>
                      </a:endParaRPr>
                    </a:p>
                  </a:txBody>
                  <a:tcPr marL="50800" marR="50800" marT="25400" marB="25400" anchor="ctr">
                    <a:solidFill>
                      <a:srgbClr val="0078D4"/>
                    </a:solidFill>
                  </a:tcPr>
                </a:tc>
                <a:tc>
                  <a:txBody>
                    <a:bodyPr/>
                    <a:lstStyle/>
                    <a:p>
                      <a:pPr algn="ctr">
                        <a:spcBef>
                          <a:spcPts val="0"/>
                        </a:spcBef>
                        <a:spcAft>
                          <a:spcPts val="0"/>
                        </a:spcAft>
                      </a:pPr>
                      <a:r>
                        <a:rPr sz="1100" b="1">
                          <a:solidFill>
                            <a:srgbClr val="FFFFFF"/>
                          </a:solidFill>
                          <a:latin typeface="Microsoft YaHei" panose="020B0503020204020204" charset="-122"/>
                        </a:rPr>
                        <a:t>OpenSpec-HW2</a:t>
                      </a:r>
                      <a:endParaRPr sz="1100" b="1">
                        <a:solidFill>
                          <a:srgbClr val="FFFFFF"/>
                        </a:solidFill>
                        <a:latin typeface="Microsoft YaHei" panose="020B0503020204020204" charset="-122"/>
                      </a:endParaRPr>
                    </a:p>
                  </a:txBody>
                  <a:tcPr marL="50800" marR="50800" marT="25400" marB="25400" anchor="ctr">
                    <a:solidFill>
                      <a:srgbClr val="107C10"/>
                    </a:solidFill>
                  </a:tcPr>
                </a:tc>
              </a:tr>
              <a:tr h="382385">
                <a:tc>
                  <a:txBody>
                    <a:bodyPr/>
                    <a:lstStyle/>
                    <a:p>
                      <a:pPr algn="l">
                        <a:spcBef>
                          <a:spcPts val="0"/>
                        </a:spcBef>
                        <a:spcAft>
                          <a:spcPts val="0"/>
                        </a:spcAft>
                      </a:pPr>
                      <a:r>
                        <a:rPr sz="1100" b="0">
                          <a:solidFill>
                            <a:srgbClr val="333333"/>
                          </a:solidFill>
                          <a:latin typeface="Microsoft YaHei" panose="020B0503020204020204" charset="-122"/>
                        </a:rPr>
                        <a:t>代码总量</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~1,200 行</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~2,824 行</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~5,015 行</a:t>
                      </a:r>
                      <a:endParaRPr sz="1100" b="0">
                        <a:solidFill>
                          <a:srgbClr val="333333"/>
                        </a:solidFill>
                        <a:latin typeface="Microsoft YaHei" panose="020B0503020204020204" charset="-122"/>
                      </a:endParaRPr>
                    </a:p>
                  </a:txBody>
                  <a:tcPr marL="50800" marR="50800" marT="25400" marB="25400" anchor="ctr"/>
                </a:tc>
              </a:tr>
              <a:tr h="382385">
                <a:tc>
                  <a:txBody>
                    <a:bodyPr/>
                    <a:lstStyle/>
                    <a:p>
                      <a:pPr algn="l">
                        <a:spcBef>
                          <a:spcPts val="0"/>
                        </a:spcBef>
                        <a:spcAft>
                          <a:spcPts val="0"/>
                        </a:spcAft>
                      </a:pPr>
                      <a:r>
                        <a:rPr sz="1100" b="0">
                          <a:solidFill>
                            <a:srgbClr val="333333"/>
                          </a:solidFill>
                          <a:latin typeface="Microsoft YaHei" panose="020B0503020204020204" charset="-122"/>
                        </a:rPr>
                        <a:t>文件数</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5-6 个</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39 个</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43 个</a:t>
                      </a:r>
                      <a:endParaRPr sz="1100" b="0">
                        <a:solidFill>
                          <a:srgbClr val="333333"/>
                        </a:solidFill>
                        <a:latin typeface="Microsoft YaHei" panose="020B0503020204020204" charset="-122"/>
                      </a:endParaRPr>
                    </a:p>
                  </a:txBody>
                  <a:tcPr marL="50800" marR="50800" marT="25400" marB="25400" anchor="ctr">
                    <a:solidFill>
                      <a:srgbClr val="F8F8F8"/>
                    </a:solidFill>
                  </a:tcPr>
                </a:tc>
              </a:tr>
              <a:tr h="382385">
                <a:tc>
                  <a:txBody>
                    <a:bodyPr/>
                    <a:lstStyle/>
                    <a:p>
                      <a:pPr algn="l">
                        <a:spcBef>
                          <a:spcPts val="0"/>
                        </a:spcBef>
                        <a:spcAft>
                          <a:spcPts val="0"/>
                        </a:spcAft>
                      </a:pPr>
                      <a:r>
                        <a:rPr sz="1100" b="0">
                          <a:solidFill>
                            <a:srgbClr val="333333"/>
                          </a:solidFill>
                          <a:latin typeface="Microsoft YaHei" panose="020B0503020204020204" charset="-122"/>
                        </a:rPr>
                        <a:t>架构层级</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扁平结构</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分层 / 简单类</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6 层 Protocol 架构</a:t>
                      </a:r>
                      <a:endParaRPr sz="1100" b="0">
                        <a:solidFill>
                          <a:srgbClr val="333333"/>
                        </a:solidFill>
                        <a:latin typeface="Microsoft YaHei" panose="020B0503020204020204" charset="-122"/>
                      </a:endParaRPr>
                    </a:p>
                  </a:txBody>
                  <a:tcPr marL="50800" marR="50800" marT="25400" marB="25400" anchor="ctr"/>
                </a:tc>
              </a:tr>
              <a:tr h="382385">
                <a:tc>
                  <a:txBody>
                    <a:bodyPr/>
                    <a:lstStyle/>
                    <a:p>
                      <a:pPr algn="l">
                        <a:spcBef>
                          <a:spcPts val="0"/>
                        </a:spcBef>
                        <a:spcAft>
                          <a:spcPts val="0"/>
                        </a:spcAft>
                      </a:pPr>
                      <a:r>
                        <a:rPr sz="1100" b="0">
                          <a:solidFill>
                            <a:srgbClr val="333333"/>
                          </a:solidFill>
                          <a:latin typeface="Microsoft YaHei" panose="020B0503020204020204" charset="-122"/>
                        </a:rPr>
                        <a:t>设计模式</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无（直接实现）</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简单类 / 函数</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Protocol + 装饰器注册表</a:t>
                      </a:r>
                      <a:endParaRPr sz="1100" b="0">
                        <a:solidFill>
                          <a:srgbClr val="333333"/>
                        </a:solidFill>
                        <a:latin typeface="Microsoft YaHei" panose="020B0503020204020204" charset="-122"/>
                      </a:endParaRPr>
                    </a:p>
                  </a:txBody>
                  <a:tcPr marL="50800" marR="50800" marT="25400" marB="25400" anchor="ctr">
                    <a:solidFill>
                      <a:srgbClr val="F8F8F8"/>
                    </a:solidFill>
                  </a:tcPr>
                </a:tc>
              </a:tr>
              <a:tr h="382385">
                <a:tc>
                  <a:txBody>
                    <a:bodyPr/>
                    <a:lstStyle/>
                    <a:p>
                      <a:pPr algn="l">
                        <a:spcBef>
                          <a:spcPts val="0"/>
                        </a:spcBef>
                        <a:spcAft>
                          <a:spcPts val="0"/>
                        </a:spcAft>
                      </a:pPr>
                      <a:r>
                        <a:rPr sz="1100" b="0">
                          <a:solidFill>
                            <a:srgbClr val="333333"/>
                          </a:solidFill>
                          <a:latin typeface="Microsoft YaHei" panose="020B0503020204020204" charset="-122"/>
                        </a:rPr>
                        <a:t>测试文件</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0 个</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8 个</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lang="en-US" sz="1100" b="0">
                          <a:solidFill>
                            <a:srgbClr val="333333"/>
                          </a:solidFill>
                          <a:latin typeface="Microsoft YaHei" panose="020B0503020204020204" charset="-122"/>
                        </a:rPr>
                        <a:t>9 </a:t>
                      </a:r>
                      <a:r>
                        <a:rPr sz="1100" b="0">
                          <a:solidFill>
                            <a:srgbClr val="333333"/>
                          </a:solidFill>
                          <a:latin typeface="Microsoft YaHei" panose="020B0503020204020204" charset="-122"/>
                        </a:rPr>
                        <a:t>个</a:t>
                      </a:r>
                      <a:endParaRPr sz="1100" b="0">
                        <a:solidFill>
                          <a:srgbClr val="333333"/>
                        </a:solidFill>
                        <a:latin typeface="Microsoft YaHei" panose="020B0503020204020204" charset="-122"/>
                      </a:endParaRPr>
                    </a:p>
                  </a:txBody>
                  <a:tcPr marL="50800" marR="50800" marT="25400" marB="25400" anchor="ctr"/>
                </a:tc>
              </a:tr>
              <a:tr h="382385">
                <a:tc>
                  <a:txBody>
                    <a:bodyPr/>
                    <a:lstStyle/>
                    <a:p>
                      <a:pPr algn="l">
                        <a:spcBef>
                          <a:spcPts val="0"/>
                        </a:spcBef>
                        <a:spcAft>
                          <a:spcPts val="0"/>
                        </a:spcAft>
                      </a:pPr>
                      <a:r>
                        <a:rPr sz="1100" b="0">
                          <a:solidFill>
                            <a:srgbClr val="333333"/>
                          </a:solidFill>
                          <a:latin typeface="Microsoft YaHei" panose="020B0503020204020204" charset="-122"/>
                        </a:rPr>
                        <a:t>风控层级</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固定止损</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4 层</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4 层</a:t>
                      </a:r>
                      <a:endParaRPr sz="1100" b="0">
                        <a:solidFill>
                          <a:srgbClr val="333333"/>
                        </a:solidFill>
                        <a:latin typeface="Microsoft YaHei" panose="020B0503020204020204" charset="-122"/>
                      </a:endParaRPr>
                    </a:p>
                  </a:txBody>
                  <a:tcPr marL="50800" marR="50800" marT="25400" marB="25400" anchor="ctr"/>
                </a:tc>
              </a:tr>
              <a:tr h="382385">
                <a:tc>
                  <a:txBody>
                    <a:bodyPr/>
                    <a:lstStyle/>
                    <a:p>
                      <a:pPr algn="l">
                        <a:spcBef>
                          <a:spcPts val="0"/>
                        </a:spcBef>
                        <a:spcAft>
                          <a:spcPts val="0"/>
                        </a:spcAft>
                      </a:pPr>
                      <a:r>
                        <a:rPr lang="zh-CN" sz="1100" b="0">
                          <a:solidFill>
                            <a:srgbClr val="333333"/>
                          </a:solidFill>
                          <a:latin typeface="Microsoft YaHei" panose="020B0503020204020204" charset="-122"/>
                        </a:rPr>
                        <a:t>需求</a:t>
                      </a:r>
                      <a:r>
                        <a:rPr sz="1100" b="0">
                          <a:solidFill>
                            <a:srgbClr val="333333"/>
                          </a:solidFill>
                          <a:latin typeface="Microsoft YaHei" panose="020B0503020204020204" charset="-122"/>
                        </a:rPr>
                        <a:t>Artifact 数</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0</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4</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5</a:t>
                      </a:r>
                      <a:endParaRPr sz="1100" b="0">
                        <a:solidFill>
                          <a:srgbClr val="333333"/>
                        </a:solidFill>
                        <a:latin typeface="Microsoft YaHei" panose="020B0503020204020204" charset="-122"/>
                      </a:endParaRPr>
                    </a:p>
                  </a:txBody>
                  <a:tcPr marL="50800" marR="50800" marT="25400" marB="25400" anchor="ctr">
                    <a:solidFill>
                      <a:srgbClr val="F8F8F8"/>
                    </a:solidFill>
                  </a:tcPr>
                </a:tc>
              </a:tr>
              <a:tr h="382385">
                <a:tc>
                  <a:txBody>
                    <a:bodyPr/>
                    <a:lstStyle/>
                    <a:p>
                      <a:pPr algn="l">
                        <a:spcBef>
                          <a:spcPts val="0"/>
                        </a:spcBef>
                        <a:spcAft>
                          <a:spcPts val="0"/>
                        </a:spcAft>
                      </a:pPr>
                      <a:r>
                        <a:rPr sz="1100" b="0">
                          <a:solidFill>
                            <a:srgbClr val="333333"/>
                          </a:solidFill>
                          <a:latin typeface="Microsoft YaHei" panose="020B0503020204020204" charset="-122"/>
                        </a:rPr>
                        <a:t>Design 深度</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0</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92 行 / 6</a:t>
                      </a:r>
                      <a:r>
                        <a:rPr lang="zh-CN" sz="1100" b="0">
                          <a:solidFill>
                            <a:srgbClr val="333333"/>
                          </a:solidFill>
                          <a:latin typeface="Microsoft YaHei" panose="020B0503020204020204" charset="-122"/>
                        </a:rPr>
                        <a:t>个</a:t>
                      </a:r>
                      <a:r>
                        <a:rPr sz="1100" b="0">
                          <a:solidFill>
                            <a:srgbClr val="333333"/>
                          </a:solidFill>
                          <a:latin typeface="Microsoft YaHei" panose="020B0503020204020204" charset="-122"/>
                        </a:rPr>
                        <a:t>决策</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254 行 / 8</a:t>
                      </a:r>
                      <a:r>
                        <a:rPr lang="zh-CN" sz="1100" b="0">
                          <a:solidFill>
                            <a:srgbClr val="333333"/>
                          </a:solidFill>
                          <a:latin typeface="Microsoft YaHei" panose="020B0503020204020204" charset="-122"/>
                        </a:rPr>
                        <a:t>个</a:t>
                      </a:r>
                      <a:r>
                        <a:rPr sz="1100" b="0">
                          <a:solidFill>
                            <a:srgbClr val="333333"/>
                          </a:solidFill>
                          <a:latin typeface="Microsoft YaHei" panose="020B0503020204020204" charset="-122"/>
                        </a:rPr>
                        <a:t>决策</a:t>
                      </a:r>
                      <a:endParaRPr sz="1100" b="0">
                        <a:solidFill>
                          <a:srgbClr val="333333"/>
                        </a:solidFill>
                        <a:latin typeface="Microsoft YaHei" panose="020B0503020204020204" charset="-122"/>
                      </a:endParaRPr>
                    </a:p>
                  </a:txBody>
                  <a:tcPr marL="50800" marR="50800" marT="25400" marB="25400" anchor="ctr"/>
                </a:tc>
              </a:tr>
              <a:tr h="382390">
                <a:tc>
                  <a:txBody>
                    <a:bodyPr/>
                    <a:lstStyle/>
                    <a:p>
                      <a:pPr algn="l">
                        <a:spcBef>
                          <a:spcPts val="0"/>
                        </a:spcBef>
                        <a:spcAft>
                          <a:spcPts val="0"/>
                        </a:spcAft>
                      </a:pPr>
                      <a:r>
                        <a:rPr lang="en-US" sz="1100" b="0">
                          <a:solidFill>
                            <a:srgbClr val="333333"/>
                          </a:solidFill>
                          <a:latin typeface="Microsoft YaHei" panose="020B0503020204020204" charset="-122"/>
                        </a:rPr>
                        <a:t>Task</a:t>
                      </a:r>
                      <a:r>
                        <a:rPr sz="1100" b="0">
                          <a:solidFill>
                            <a:srgbClr val="333333"/>
                          </a:solidFill>
                          <a:latin typeface="Microsoft YaHei" panose="020B0503020204020204" charset="-122"/>
                        </a:rPr>
                        <a:t>任务分解</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0</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44 个</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75 个</a:t>
                      </a:r>
                      <a:endParaRPr sz="1100" b="0">
                        <a:solidFill>
                          <a:srgbClr val="333333"/>
                        </a:solidFill>
                        <a:latin typeface="Microsoft YaHei" panose="020B0503020204020204" charset="-122"/>
                      </a:endParaRPr>
                    </a:p>
                  </a:txBody>
                  <a:tcPr marL="50800" marR="50800" marT="25400" marB="25400" anchor="ctr">
                    <a:solidFill>
                      <a:srgbClr val="F8F8F8"/>
                    </a:solidFill>
                  </a:tcPr>
                </a:tc>
              </a:tr>
            </a:tbl>
          </a:graphicData>
        </a:graphic>
      </p:graphicFrame>
      <p:sp>
        <p:nvSpPr>
          <p:cNvPr id="5" name="Rectangle 4"/>
          <p:cNvSpPr/>
          <p:nvPr/>
        </p:nvSpPr>
        <p:spPr>
          <a:xfrm>
            <a:off x="457200" y="5349240"/>
            <a:ext cx="10332720" cy="50800"/>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5440680"/>
            <a:ext cx="10332720" cy="548640"/>
          </a:xfrm>
          <a:prstGeom prst="rect">
            <a:avLst/>
          </a:prstGeom>
          <a:noFill/>
        </p:spPr>
        <p:txBody>
          <a:bodyPr wrap="square">
            <a:spAutoFit/>
          </a:bodyPr>
          <a:lstStyle/>
          <a:p>
            <a:pPr algn="l">
              <a:spcAft>
                <a:spcPts val="200"/>
              </a:spcAft>
            </a:pPr>
            <a:r>
              <a:rPr sz="1200" b="1">
                <a:solidFill>
                  <a:srgbClr val="107C10"/>
                </a:solidFill>
                <a:latin typeface="Microsoft YaHei" panose="020B0503020204020204" charset="-122"/>
                <a:ea typeface="Microsoft YaHei" panose="020B0503020204020204" charset="-122"/>
              </a:rPr>
              <a:t>→ 规格化程度与代码质量强正相关：</a:t>
            </a:r>
            <a:endParaRPr sz="1200" b="1">
              <a:solidFill>
                <a:srgbClr val="107C10"/>
              </a:solidFill>
              <a:latin typeface="Microsoft YaHei" panose="020B0503020204020204" charset="-122"/>
            </a:endParaRPr>
          </a:p>
          <a:p>
            <a:pPr algn="l">
              <a:spcAft>
                <a:spcPts val="200"/>
              </a:spcAft>
            </a:pPr>
            <a:r>
              <a:rPr sz="1200" b="0">
                <a:solidFill>
                  <a:srgbClr val="555555"/>
                </a:solidFill>
                <a:latin typeface="Microsoft YaHei" panose="020B0503020204020204" charset="-122"/>
                <a:ea typeface="Microsoft YaHei" panose="020B0503020204020204" charset="-122"/>
              </a:rPr>
              <a:t>Artifact 数量 0→4→5 | 代码量 1,200→2,824→5,015 | 测试 0→67→88 | 任务分解 0→44→75</a:t>
            </a:r>
            <a:endParaRPr sz="1200" b="0">
              <a:solidFill>
                <a:srgbClr val="555555"/>
              </a:solidFill>
              <a:latin typeface="Microsoft YaHei" panose="020B0503020204020204" charset="-122"/>
            </a:endParaRPr>
          </a:p>
        </p:txBody>
      </p:sp>
      <p:sp>
        <p:nvSpPr>
          <p:cNvPr id="7" name="TextBox 6"/>
          <p:cNvSpPr txBox="1"/>
          <p:nvPr/>
        </p:nvSpPr>
        <p:spPr>
          <a:xfrm>
            <a:off x="11094085" y="6400800"/>
            <a:ext cx="914400" cy="365760"/>
          </a:xfrm>
          <a:prstGeom prst="rect">
            <a:avLst/>
          </a:prstGeom>
          <a:noFill/>
        </p:spPr>
        <p:txBody>
          <a:bodyPr wrap="square">
            <a:spAutoFit/>
          </a:bodyPr>
          <a:lstStyle/>
          <a:p>
            <a:pPr algn="r"/>
            <a:r>
              <a:rPr sz="1100" b="0">
                <a:solidFill>
                  <a:srgbClr val="999999"/>
                </a:solidFill>
                <a:latin typeface="Microsoft YaHei" panose="020B0503020204020204" charset="-122"/>
                <a:ea typeface="Microsoft YaHei" panose="020B0503020204020204" charset="-122"/>
              </a:rPr>
              <a:t>6/41</a:t>
            </a:r>
            <a:endParaRPr sz="1100" b="0">
              <a:solidFill>
                <a:srgbClr val="999999"/>
              </a:solidFill>
              <a:latin typeface="Microsoft YaHei" panose="020B0503020204020204" charset="-122"/>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57200" y="182880"/>
            <a:ext cx="10058400" cy="460375"/>
          </a:xfrm>
          <a:prstGeom prst="rect">
            <a:avLst/>
          </a:prstGeom>
          <a:noFill/>
        </p:spPr>
        <p:txBody>
          <a:bodyPr wrap="square">
            <a:spAutoFit/>
          </a:bodyPr>
          <a:lstStyle/>
          <a:p>
            <a:pPr algn="l"/>
            <a:r>
              <a:rPr lang="zh-CN" sz="2400" b="1">
                <a:solidFill>
                  <a:srgbClr val="333333"/>
                </a:solidFill>
                <a:latin typeface="Microsoft YaHei" panose="020B0503020204020204" charset="-122"/>
                <a:ea typeface="Microsoft YaHei" panose="020B0503020204020204" charset="-122"/>
              </a:rPr>
              <a:t>实验</a:t>
            </a:r>
            <a:r>
              <a:rPr lang="en-US" altLang="zh-CN" sz="2400" b="1">
                <a:solidFill>
                  <a:srgbClr val="333333"/>
                </a:solidFill>
                <a:latin typeface="Microsoft YaHei" panose="020B0503020204020204" charset="-122"/>
                <a:ea typeface="Microsoft YaHei" panose="020B0503020204020204" charset="-122"/>
              </a:rPr>
              <a:t>1 - </a:t>
            </a:r>
            <a:r>
              <a:rPr sz="2400" b="1">
                <a:solidFill>
                  <a:srgbClr val="333333"/>
                </a:solidFill>
                <a:latin typeface="Microsoft YaHei" panose="020B0503020204020204" charset="-122"/>
                <a:ea typeface="Microsoft YaHei" panose="020B0503020204020204" charset="-122"/>
              </a:rPr>
              <a:t>架构与风控：从扁平实现到分层</a:t>
            </a:r>
            <a:endParaRPr sz="2400" b="1">
              <a:solidFill>
                <a:srgbClr val="333333"/>
              </a:solidFill>
              <a:latin typeface="Microsoft YaHei" panose="020B0503020204020204" charset="-122"/>
            </a:endParaRPr>
          </a:p>
        </p:txBody>
      </p:sp>
      <p:sp>
        <p:nvSpPr>
          <p:cNvPr id="3" name="Rectangle 2"/>
          <p:cNvSpPr/>
          <p:nvPr/>
        </p:nvSpPr>
        <p:spPr>
          <a:xfrm>
            <a:off x="457200" y="685800"/>
            <a:ext cx="10332720" cy="508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868680"/>
            <a:ext cx="5029200" cy="320040"/>
          </a:xfrm>
          <a:prstGeom prst="rect">
            <a:avLst/>
          </a:prstGeom>
          <a:noFill/>
        </p:spPr>
        <p:txBody>
          <a:bodyPr wrap="square">
            <a:spAutoFit/>
          </a:bodyPr>
          <a:lstStyle/>
          <a:p>
            <a:pPr algn="l"/>
            <a:r>
              <a:rPr sz="1500" b="1">
                <a:solidFill>
                  <a:srgbClr val="0078D4"/>
                </a:solidFill>
                <a:latin typeface="Microsoft YaHei" panose="020B0503020204020204" charset="-122"/>
                <a:ea typeface="Microsoft YaHei" panose="020B0503020204020204" charset="-122"/>
              </a:rPr>
              <a:t>架构对比</a:t>
            </a:r>
            <a:endParaRPr sz="1500" b="1">
              <a:solidFill>
                <a:srgbClr val="0078D4"/>
              </a:solidFill>
              <a:latin typeface="Microsoft YaHei" panose="020B0503020204020204" charset="-122"/>
            </a:endParaRPr>
          </a:p>
        </p:txBody>
      </p:sp>
      <p:sp>
        <p:nvSpPr>
          <p:cNvPr id="5" name="Rounded Rectangle 4"/>
          <p:cNvSpPr/>
          <p:nvPr/>
        </p:nvSpPr>
        <p:spPr>
          <a:xfrm>
            <a:off x="457200" y="1234440"/>
            <a:ext cx="5029200" cy="1325880"/>
          </a:xfrm>
          <a:prstGeom prst="roundRect">
            <a:avLst/>
          </a:prstGeom>
          <a:solidFill>
            <a:srgbClr val="F0F0F0"/>
          </a:solidFill>
          <a:ln w="12700">
            <a:solidFill>
              <a:srgbClr val="7878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325880"/>
            <a:ext cx="4663440" cy="1078865"/>
          </a:xfrm>
          <a:prstGeom prst="rect">
            <a:avLst/>
          </a:prstGeom>
          <a:noFill/>
        </p:spPr>
        <p:txBody>
          <a:bodyPr wrap="square">
            <a:spAutoFit/>
          </a:bodyPr>
          <a:lstStyle/>
          <a:p>
            <a:pPr algn="l">
              <a:spcAft>
                <a:spcPts val="300"/>
              </a:spcAft>
            </a:pPr>
            <a:r>
              <a:rPr sz="1300" b="1">
                <a:solidFill>
                  <a:srgbClr val="787878"/>
                </a:solidFill>
                <a:latin typeface="Microsoft YaHei" panose="020B0503020204020204" charset="-122"/>
                <a:ea typeface="Microsoft YaHei" panose="020B0503020204020204" charset="-122"/>
              </a:rPr>
              <a:t>Vanilla Claude Code — 扁平</a:t>
            </a:r>
            <a:r>
              <a:rPr lang="zh-CN" sz="1300" b="1">
                <a:solidFill>
                  <a:srgbClr val="787878"/>
                </a:solidFill>
                <a:latin typeface="Microsoft YaHei" panose="020B0503020204020204" charset="-122"/>
                <a:ea typeface="Microsoft YaHei" panose="020B0503020204020204" charset="-122"/>
              </a:rPr>
              <a:t>架构</a:t>
            </a:r>
            <a:endParaRPr sz="1300" b="1">
              <a:solidFill>
                <a:srgbClr val="787878"/>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5-6 个文件，所有逻辑堆在一起</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无接口抽象，直接调用</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无数据验证层</a:t>
            </a:r>
            <a:endParaRPr sz="1100" b="0">
              <a:solidFill>
                <a:srgbClr val="333333"/>
              </a:solidFill>
              <a:latin typeface="Microsoft YaHei" panose="020B0503020204020204" charset="-122"/>
            </a:endParaRPr>
          </a:p>
          <a:p>
            <a:pPr>
              <a:spcBef>
                <a:spcPts val="200"/>
              </a:spcBef>
            </a:pPr>
            <a:r>
              <a:rPr sz="900" i="1">
                <a:solidFill>
                  <a:srgbClr val="95591E"/>
                </a:solidFill>
              </a:rPr>
              <a:t>→ SE：</a:t>
            </a:r>
            <a:r>
              <a:rPr lang="zh-CN" sz="900" i="1">
                <a:solidFill>
                  <a:srgbClr val="95591E"/>
                </a:solidFill>
              </a:rPr>
              <a:t>基本上</a:t>
            </a:r>
            <a:r>
              <a:rPr lang="en-US" altLang="zh-CN" sz="900" i="1">
                <a:solidFill>
                  <a:srgbClr val="95591E"/>
                </a:solidFill>
              </a:rPr>
              <a:t> </a:t>
            </a:r>
            <a:r>
              <a:rPr sz="900" i="1">
                <a:solidFill>
                  <a:srgbClr val="95591E"/>
                </a:solidFill>
              </a:rPr>
              <a:t>高耦合 / 无关注点分离 / 修改一处影响全局</a:t>
            </a:r>
            <a:endParaRPr sz="900" i="1">
              <a:solidFill>
                <a:srgbClr val="95591E"/>
              </a:solidFill>
            </a:endParaRPr>
          </a:p>
        </p:txBody>
      </p:sp>
      <p:sp>
        <p:nvSpPr>
          <p:cNvPr id="7" name="Rounded Rectangle 6"/>
          <p:cNvSpPr/>
          <p:nvPr/>
        </p:nvSpPr>
        <p:spPr>
          <a:xfrm>
            <a:off x="457200" y="2651760"/>
            <a:ext cx="5029200" cy="1325880"/>
          </a:xfrm>
          <a:prstGeom prst="roundRect">
            <a:avLst/>
          </a:prstGeom>
          <a:solidFill>
            <a:srgbClr val="E3F2FD"/>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743200"/>
            <a:ext cx="4663440" cy="889000"/>
          </a:xfrm>
          <a:prstGeom prst="rect">
            <a:avLst/>
          </a:prstGeom>
          <a:noFill/>
        </p:spPr>
        <p:txBody>
          <a:bodyPr wrap="square">
            <a:spAutoFit/>
          </a:bodyPr>
          <a:lstStyle/>
          <a:p>
            <a:pPr algn="l">
              <a:spcAft>
                <a:spcPts val="300"/>
              </a:spcAft>
            </a:pPr>
            <a:r>
              <a:rPr sz="1300" b="1">
                <a:solidFill>
                  <a:srgbClr val="0078D4"/>
                </a:solidFill>
                <a:latin typeface="Microsoft YaHei" panose="020B0503020204020204" charset="-122"/>
                <a:ea typeface="Microsoft YaHei" panose="020B0503020204020204" charset="-122"/>
              </a:rPr>
              <a:t>原生 OpenSpec — 分层架构</a:t>
            </a:r>
            <a:endParaRPr sz="1300" b="1">
              <a:solidFill>
                <a:srgbClr val="0078D4"/>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a:t>
            </a:r>
            <a:r>
              <a:rPr lang="en-US" sz="1100" b="0">
                <a:solidFill>
                  <a:srgbClr val="333333"/>
                </a:solidFill>
                <a:latin typeface="Microsoft YaHei" panose="020B0503020204020204" charset="-122"/>
                <a:ea typeface="Microsoft YaHei" panose="020B0503020204020204" charset="-122"/>
              </a:rPr>
              <a:t>32</a:t>
            </a:r>
            <a:r>
              <a:rPr sz="1100" b="0">
                <a:solidFill>
                  <a:srgbClr val="333333"/>
                </a:solidFill>
                <a:latin typeface="Microsoft YaHei" panose="020B0503020204020204" charset="-122"/>
                <a:ea typeface="Microsoft YaHei" panose="020B0503020204020204" charset="-122"/>
              </a:rPr>
              <a:t> 个文件，数据/因子/策略/风控分层</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简单类和函数组织</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基本模块化</a:t>
            </a:r>
            <a:endParaRPr sz="1100" b="0">
              <a:solidFill>
                <a:srgbClr val="333333"/>
              </a:solidFill>
              <a:latin typeface="Microsoft YaHei" panose="020B0503020204020204" charset="-122"/>
            </a:endParaRPr>
          </a:p>
          <a:p>
            <a:pPr>
              <a:spcBef>
                <a:spcPts val="200"/>
              </a:spcBef>
            </a:pPr>
            <a:r>
              <a:rPr sz="900" i="1">
                <a:solidFill>
                  <a:srgbClr val="95591E"/>
                </a:solidFill>
              </a:rPr>
              <a:t>→ SE：基本关注点分离，模块职责初步划清</a:t>
            </a:r>
            <a:endParaRPr sz="900" i="1">
              <a:solidFill>
                <a:srgbClr val="95591E"/>
              </a:solidFill>
            </a:endParaRPr>
          </a:p>
        </p:txBody>
      </p:sp>
      <p:sp>
        <p:nvSpPr>
          <p:cNvPr id="9" name="Rounded Rectangle 8"/>
          <p:cNvSpPr/>
          <p:nvPr/>
        </p:nvSpPr>
        <p:spPr>
          <a:xfrm>
            <a:off x="457200" y="4069080"/>
            <a:ext cx="5029200" cy="1325880"/>
          </a:xfrm>
          <a:prstGeom prst="roundRect">
            <a:avLst/>
          </a:prstGeom>
          <a:solidFill>
            <a:srgbClr val="E8F5E9"/>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160520"/>
            <a:ext cx="4663440" cy="694055"/>
          </a:xfrm>
          <a:prstGeom prst="rect">
            <a:avLst/>
          </a:prstGeom>
          <a:noFill/>
        </p:spPr>
        <p:txBody>
          <a:bodyPr wrap="square">
            <a:spAutoFit/>
          </a:bodyPr>
          <a:lstStyle/>
          <a:p>
            <a:pPr algn="l">
              <a:spcAft>
                <a:spcPts val="300"/>
              </a:spcAft>
            </a:pPr>
            <a:r>
              <a:rPr sz="1300" b="1">
                <a:solidFill>
                  <a:srgbClr val="107C10"/>
                </a:solidFill>
                <a:latin typeface="Microsoft YaHei" panose="020B0503020204020204" charset="-122"/>
                <a:ea typeface="Microsoft YaHei" panose="020B0503020204020204" charset="-122"/>
              </a:rPr>
              <a:t>OpenSpec-HW2 — 6 层 Protocol 架构</a:t>
            </a:r>
            <a:endParaRPr sz="1300" b="1">
              <a:solidFill>
                <a:srgbClr val="107C10"/>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a:t>
            </a:r>
            <a:r>
              <a:rPr lang="en-US" sz="1100" b="0">
                <a:solidFill>
                  <a:srgbClr val="333333"/>
                </a:solidFill>
                <a:latin typeface="Microsoft YaHei" panose="020B0503020204020204" charset="-122"/>
                <a:ea typeface="Microsoft YaHei" panose="020B0503020204020204" charset="-122"/>
              </a:rPr>
              <a:t>38</a:t>
            </a:r>
            <a:r>
              <a:rPr sz="1100" b="0">
                <a:solidFill>
                  <a:srgbClr val="333333"/>
                </a:solidFill>
                <a:latin typeface="Microsoft YaHei" panose="020B0503020204020204" charset="-122"/>
                <a:ea typeface="Microsoft YaHei" panose="020B0503020204020204" charset="-122"/>
              </a:rPr>
              <a:t> 个文件，6 层清晰分离</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Protocol 接口* + 装饰器注册</a:t>
            </a:r>
            <a:endParaRPr sz="1100" b="0">
              <a:solidFill>
                <a:srgbClr val="333333"/>
              </a:solidFill>
              <a:latin typeface="Microsoft YaHei" panose="020B0503020204020204" charset="-122"/>
            </a:endParaRPr>
          </a:p>
          <a:p>
            <a:pPr>
              <a:spcBef>
                <a:spcPts val="200"/>
              </a:spcBef>
            </a:pPr>
            <a:r>
              <a:rPr sz="900" i="1">
                <a:solidFill>
                  <a:srgbClr val="95591E"/>
                </a:solidFill>
              </a:rPr>
              <a:t>→ SE：依赖倒置 + 开闭原则（新增因子/数据源无需改已有代码）</a:t>
            </a:r>
            <a:endParaRPr sz="900" i="1">
              <a:solidFill>
                <a:srgbClr val="95591E"/>
              </a:solidFill>
            </a:endParaRPr>
          </a:p>
        </p:txBody>
      </p:sp>
      <p:sp>
        <p:nvSpPr>
          <p:cNvPr id="11" name="TextBox 10"/>
          <p:cNvSpPr txBox="1"/>
          <p:nvPr/>
        </p:nvSpPr>
        <p:spPr>
          <a:xfrm>
            <a:off x="5760720" y="868680"/>
            <a:ext cx="5029200" cy="321945"/>
          </a:xfrm>
          <a:prstGeom prst="rect">
            <a:avLst/>
          </a:prstGeom>
          <a:noFill/>
        </p:spPr>
        <p:txBody>
          <a:bodyPr wrap="square">
            <a:spAutoFit/>
          </a:bodyPr>
          <a:lstStyle/>
          <a:p>
            <a:pPr algn="l"/>
            <a:r>
              <a:rPr sz="1500" b="1">
                <a:solidFill>
                  <a:srgbClr val="E86C00"/>
                </a:solidFill>
                <a:latin typeface="Microsoft YaHei" panose="020B0503020204020204" charset="-122"/>
                <a:ea typeface="Microsoft YaHei" panose="020B0503020204020204" charset="-122"/>
              </a:rPr>
              <a:t>风控</a:t>
            </a:r>
            <a:r>
              <a:rPr lang="zh-CN" sz="1500" b="1">
                <a:solidFill>
                  <a:srgbClr val="E86C00"/>
                </a:solidFill>
                <a:latin typeface="Microsoft YaHei" panose="020B0503020204020204" charset="-122"/>
                <a:ea typeface="Microsoft YaHei" panose="020B0503020204020204" charset="-122"/>
              </a:rPr>
              <a:t>能力</a:t>
            </a:r>
            <a:r>
              <a:rPr sz="1500" b="1">
                <a:solidFill>
                  <a:srgbClr val="E86C00"/>
                </a:solidFill>
                <a:latin typeface="Microsoft YaHei" panose="020B0503020204020204" charset="-122"/>
                <a:ea typeface="Microsoft YaHei" panose="020B0503020204020204" charset="-122"/>
              </a:rPr>
              <a:t>对比</a:t>
            </a:r>
            <a:r>
              <a:rPr lang="en-US" sz="1500" b="1">
                <a:solidFill>
                  <a:srgbClr val="E86C00"/>
                </a:solidFill>
                <a:latin typeface="Microsoft YaHei" panose="020B0503020204020204" charset="-122"/>
                <a:ea typeface="Microsoft YaHei" panose="020B0503020204020204" charset="-122"/>
              </a:rPr>
              <a:t> </a:t>
            </a:r>
            <a:r>
              <a:rPr lang="zh-CN" altLang="en-US" sz="1500" b="1">
                <a:solidFill>
                  <a:srgbClr val="E86C00"/>
                </a:solidFill>
                <a:latin typeface="Microsoft YaHei" panose="020B0503020204020204" charset="-122"/>
                <a:ea typeface="Microsoft YaHei" panose="020B0503020204020204" charset="-122"/>
              </a:rPr>
              <a:t>（量化行业领域能力，间接</a:t>
            </a:r>
            <a:r>
              <a:rPr lang="zh-CN" altLang="en-US" sz="1500" b="1">
                <a:solidFill>
                  <a:srgbClr val="E86C00"/>
                </a:solidFill>
                <a:latin typeface="Microsoft YaHei" panose="020B0503020204020204" charset="-122"/>
                <a:ea typeface="Microsoft YaHei" panose="020B0503020204020204" charset="-122"/>
              </a:rPr>
              <a:t>反映软工</a:t>
            </a:r>
            <a:r>
              <a:rPr lang="zh-CN" altLang="en-US" sz="1500" b="1">
                <a:solidFill>
                  <a:srgbClr val="E86C00"/>
                </a:solidFill>
                <a:latin typeface="Microsoft YaHei" panose="020B0503020204020204" charset="-122"/>
                <a:ea typeface="Microsoft YaHei" panose="020B0503020204020204" charset="-122"/>
              </a:rPr>
              <a:t>能力）</a:t>
            </a:r>
            <a:endParaRPr lang="zh-CN" altLang="en-US" sz="1500" b="1">
              <a:solidFill>
                <a:srgbClr val="E86C00"/>
              </a:solidFill>
              <a:latin typeface="Microsoft YaHei" panose="020B0503020204020204" charset="-122"/>
              <a:ea typeface="Microsoft YaHei" panose="020B0503020204020204" charset="-122"/>
            </a:endParaRPr>
          </a:p>
        </p:txBody>
      </p:sp>
      <p:sp>
        <p:nvSpPr>
          <p:cNvPr id="12" name="Rounded Rectangle 11"/>
          <p:cNvSpPr/>
          <p:nvPr/>
        </p:nvSpPr>
        <p:spPr>
          <a:xfrm>
            <a:off x="5760720" y="1234440"/>
            <a:ext cx="5029200" cy="1325880"/>
          </a:xfrm>
          <a:prstGeom prst="roundRect">
            <a:avLst/>
          </a:prstGeom>
          <a:solidFill>
            <a:srgbClr val="F0F0F0"/>
          </a:solidFill>
          <a:ln w="12700">
            <a:solidFill>
              <a:srgbClr val="7878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0" y="1325880"/>
            <a:ext cx="4663440" cy="889000"/>
          </a:xfrm>
          <a:prstGeom prst="rect">
            <a:avLst/>
          </a:prstGeom>
          <a:noFill/>
        </p:spPr>
        <p:txBody>
          <a:bodyPr wrap="square">
            <a:spAutoFit/>
          </a:bodyPr>
          <a:lstStyle/>
          <a:p>
            <a:pPr algn="l">
              <a:spcAft>
                <a:spcPts val="300"/>
              </a:spcAft>
            </a:pPr>
            <a:r>
              <a:rPr sz="1300" b="1">
                <a:solidFill>
                  <a:srgbClr val="787878"/>
                </a:solidFill>
                <a:latin typeface="Microsoft YaHei" panose="020B0503020204020204" charset="-122"/>
                <a:ea typeface="Microsoft YaHei" panose="020B0503020204020204" charset="-122"/>
              </a:rPr>
              <a:t>Vanilla — 固定止损</a:t>
            </a:r>
            <a:endParaRPr sz="1300" b="1">
              <a:solidFill>
                <a:srgbClr val="787878"/>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硬编码止损阈值（如固定 </a:t>
            </a:r>
            <a:r>
              <a:rPr lang="en-US" sz="1100" b="0">
                <a:solidFill>
                  <a:srgbClr val="333333"/>
                </a:solidFill>
                <a:latin typeface="Microsoft YaHei" panose="020B0503020204020204" charset="-122"/>
                <a:ea typeface="Microsoft YaHei" panose="020B0503020204020204" charset="-122"/>
              </a:rPr>
              <a:t>8</a:t>
            </a:r>
            <a:r>
              <a:rPr sz="1100" b="0">
                <a:solidFill>
                  <a:srgbClr val="333333"/>
                </a:solidFill>
                <a:latin typeface="Microsoft YaHei" panose="020B0503020204020204" charset="-122"/>
                <a:ea typeface="Microsoft YaHei" panose="020B0503020204020204" charset="-122"/>
              </a:rPr>
              <a:t>%）</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无动态调整 / 持仓限制 / 异常检测</a:t>
            </a:r>
            <a:endParaRPr sz="1100" b="0">
              <a:solidFill>
                <a:srgbClr val="333333"/>
              </a:solidFill>
              <a:latin typeface="Microsoft YaHei" panose="020B0503020204020204" charset="-122"/>
            </a:endParaRPr>
          </a:p>
          <a:p>
            <a:pPr algn="l">
              <a:spcAft>
                <a:spcPts val="200"/>
              </a:spcAft>
            </a:pPr>
            <a:r>
              <a:rPr sz="1100" b="0">
                <a:solidFill>
                  <a:srgbClr val="D13438"/>
                </a:solidFill>
                <a:latin typeface="Microsoft YaHei" panose="020B0503020204020204" charset="-122"/>
                <a:ea typeface="Microsoft YaHei" panose="020B0503020204020204" charset="-122"/>
              </a:rPr>
              <a:t>• 真实交易风险高</a:t>
            </a:r>
            <a:endParaRPr sz="1100" b="0">
              <a:solidFill>
                <a:srgbClr val="D13438"/>
              </a:solidFill>
              <a:latin typeface="Microsoft YaHei" panose="020B0503020204020204" charset="-122"/>
            </a:endParaRPr>
          </a:p>
          <a:p>
            <a:pPr>
              <a:spcBef>
                <a:spcPts val="200"/>
              </a:spcBef>
            </a:pPr>
            <a:r>
              <a:rPr sz="900" i="1">
                <a:solidFill>
                  <a:srgbClr val="95591E"/>
                </a:solidFill>
              </a:rPr>
              <a:t>→ SE：配置与逻辑耦合 / 无防御性编程</a:t>
            </a:r>
            <a:endParaRPr sz="900" i="1">
              <a:solidFill>
                <a:srgbClr val="95591E"/>
              </a:solidFill>
            </a:endParaRPr>
          </a:p>
        </p:txBody>
      </p:sp>
      <p:sp>
        <p:nvSpPr>
          <p:cNvPr id="14" name="Rounded Rectangle 13"/>
          <p:cNvSpPr/>
          <p:nvPr/>
        </p:nvSpPr>
        <p:spPr>
          <a:xfrm>
            <a:off x="5760720" y="2651760"/>
            <a:ext cx="5029200" cy="1325880"/>
          </a:xfrm>
          <a:prstGeom prst="roundRect">
            <a:avLst/>
          </a:prstGeom>
          <a:solidFill>
            <a:srgbClr val="E3F2FD"/>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0" y="2743200"/>
            <a:ext cx="4663440" cy="889000"/>
          </a:xfrm>
          <a:prstGeom prst="rect">
            <a:avLst/>
          </a:prstGeom>
          <a:noFill/>
        </p:spPr>
        <p:txBody>
          <a:bodyPr wrap="square">
            <a:spAutoFit/>
          </a:bodyPr>
          <a:lstStyle/>
          <a:p>
            <a:pPr algn="l">
              <a:spcAft>
                <a:spcPts val="300"/>
              </a:spcAft>
            </a:pPr>
            <a:r>
              <a:rPr sz="1300" b="1">
                <a:solidFill>
                  <a:srgbClr val="0078D4"/>
                </a:solidFill>
                <a:latin typeface="Microsoft YaHei" panose="020B0503020204020204" charset="-122"/>
                <a:ea typeface="Microsoft YaHei" panose="020B0503020204020204" charset="-122"/>
              </a:rPr>
              <a:t>原生 — 4 层完整风控</a:t>
            </a:r>
            <a:endParaRPr sz="1300" b="1">
              <a:solidFill>
                <a:srgbClr val="0078D4"/>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L1 ATR动态止损 / L2 持仓限制</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L3 行业集中度 / L4 异常波动检测</a:t>
            </a:r>
            <a:endParaRPr sz="1100" b="0">
              <a:solidFill>
                <a:srgbClr val="333333"/>
              </a:solidFill>
              <a:latin typeface="Microsoft YaHei" panose="020B0503020204020204" charset="-122"/>
            </a:endParaRPr>
          </a:p>
          <a:p>
            <a:pPr algn="l">
              <a:spcAft>
                <a:spcPts val="200"/>
              </a:spcAft>
            </a:pPr>
            <a:r>
              <a:rPr sz="1100" b="0">
                <a:solidFill>
                  <a:srgbClr val="0078D4"/>
                </a:solidFill>
                <a:latin typeface="Microsoft YaHei" panose="020B0503020204020204" charset="-122"/>
                <a:ea typeface="Microsoft YaHei" panose="020B0503020204020204" charset="-122"/>
              </a:rPr>
              <a:t>• </a:t>
            </a:r>
            <a:r>
              <a:rPr lang="zh-CN" sz="1100" b="0">
                <a:solidFill>
                  <a:srgbClr val="0078D4"/>
                </a:solidFill>
                <a:latin typeface="Microsoft YaHei" panose="020B0503020204020204" charset="-122"/>
                <a:ea typeface="Microsoft YaHei" panose="020B0503020204020204" charset="-122"/>
              </a:rPr>
              <a:t>基本</a:t>
            </a:r>
            <a:r>
              <a:rPr sz="1100" b="0">
                <a:solidFill>
                  <a:srgbClr val="0078D4"/>
                </a:solidFill>
                <a:latin typeface="Microsoft YaHei" panose="020B0503020204020204" charset="-122"/>
                <a:ea typeface="Microsoft YaHei" panose="020B0503020204020204" charset="-122"/>
              </a:rPr>
              <a:t>风控体系</a:t>
            </a:r>
            <a:endParaRPr sz="1100" b="0">
              <a:solidFill>
                <a:srgbClr val="0078D4"/>
              </a:solidFill>
              <a:latin typeface="Microsoft YaHei" panose="020B0503020204020204" charset="-122"/>
            </a:endParaRPr>
          </a:p>
          <a:p>
            <a:pPr>
              <a:spcBef>
                <a:spcPts val="200"/>
              </a:spcBef>
            </a:pPr>
            <a:r>
              <a:rPr sz="900" i="1">
                <a:solidFill>
                  <a:srgbClr val="95591E"/>
                </a:solidFill>
              </a:rPr>
              <a:t>→ SE：关注点分离（止损/仓位/集中度/异常各自独立）</a:t>
            </a:r>
            <a:endParaRPr sz="900" i="1">
              <a:solidFill>
                <a:srgbClr val="95591E"/>
              </a:solidFill>
            </a:endParaRPr>
          </a:p>
        </p:txBody>
      </p:sp>
      <p:sp>
        <p:nvSpPr>
          <p:cNvPr id="16" name="Rounded Rectangle 15"/>
          <p:cNvSpPr/>
          <p:nvPr/>
        </p:nvSpPr>
        <p:spPr>
          <a:xfrm>
            <a:off x="5760720" y="4069080"/>
            <a:ext cx="5029200" cy="1325880"/>
          </a:xfrm>
          <a:prstGeom prst="roundRect">
            <a:avLst/>
          </a:prstGeom>
          <a:solidFill>
            <a:srgbClr val="E8F5E9"/>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0" y="4160520"/>
            <a:ext cx="4663440" cy="1078865"/>
          </a:xfrm>
          <a:prstGeom prst="rect">
            <a:avLst/>
          </a:prstGeom>
          <a:noFill/>
        </p:spPr>
        <p:txBody>
          <a:bodyPr wrap="square">
            <a:spAutoFit/>
          </a:bodyPr>
          <a:lstStyle/>
          <a:p>
            <a:pPr algn="l">
              <a:spcAft>
                <a:spcPts val="300"/>
              </a:spcAft>
            </a:pPr>
            <a:r>
              <a:rPr lang="en-US" sz="1300" b="1">
                <a:solidFill>
                  <a:srgbClr val="107C10"/>
                </a:solidFill>
                <a:latin typeface="Microsoft YaHei" panose="020B0503020204020204" charset="-122"/>
                <a:ea typeface="Microsoft YaHei" panose="020B0503020204020204" charset="-122"/>
              </a:rPr>
              <a:t>OpenSpec-H</a:t>
            </a:r>
            <a:r>
              <a:rPr sz="1300" b="1">
                <a:solidFill>
                  <a:srgbClr val="107C10"/>
                </a:solidFill>
                <a:latin typeface="Microsoft YaHei" panose="020B0503020204020204" charset="-122"/>
                <a:ea typeface="Microsoft YaHei" panose="020B0503020204020204" charset="-122"/>
              </a:rPr>
              <a:t>W2 — 4 层 + 聚合入口</a:t>
            </a:r>
            <a:endParaRPr sz="1300" b="1">
              <a:solidFill>
                <a:srgbClr val="107C10"/>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上述 4 层 + RiskAggregator 统一调度</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风控规则可配置 + 完整日志</a:t>
            </a:r>
            <a:endParaRPr sz="1100" b="0">
              <a:solidFill>
                <a:srgbClr val="333333"/>
              </a:solidFill>
              <a:latin typeface="Microsoft YaHei" panose="020B0503020204020204" charset="-122"/>
            </a:endParaRPr>
          </a:p>
          <a:p>
            <a:pPr algn="l">
              <a:spcAft>
                <a:spcPts val="200"/>
              </a:spcAft>
            </a:pPr>
            <a:r>
              <a:rPr sz="1100" b="0">
                <a:solidFill>
                  <a:srgbClr val="107C10"/>
                </a:solidFill>
                <a:latin typeface="Microsoft YaHei" panose="020B0503020204020204" charset="-122"/>
                <a:ea typeface="Microsoft YaHei" panose="020B0503020204020204" charset="-122"/>
              </a:rPr>
              <a:t>• </a:t>
            </a:r>
            <a:r>
              <a:rPr lang="zh-CN" sz="1100" b="0">
                <a:solidFill>
                  <a:srgbClr val="107C10"/>
                </a:solidFill>
                <a:latin typeface="Microsoft YaHei" panose="020B0503020204020204" charset="-122"/>
                <a:ea typeface="Microsoft YaHei" panose="020B0503020204020204" charset="-122"/>
              </a:rPr>
              <a:t>较完整</a:t>
            </a:r>
            <a:r>
              <a:rPr sz="1100" b="0">
                <a:solidFill>
                  <a:srgbClr val="107C10"/>
                </a:solidFill>
                <a:latin typeface="Microsoft YaHei" panose="020B0503020204020204" charset="-122"/>
                <a:ea typeface="Microsoft YaHei" panose="020B0503020204020204" charset="-122"/>
              </a:rPr>
              <a:t>风控架构</a:t>
            </a:r>
            <a:endParaRPr sz="1100" b="0">
              <a:solidFill>
                <a:srgbClr val="107C10"/>
              </a:solidFill>
              <a:latin typeface="Microsoft YaHei" panose="020B0503020204020204" charset="-122"/>
            </a:endParaRPr>
          </a:p>
          <a:p>
            <a:pPr>
              <a:spcBef>
                <a:spcPts val="200"/>
              </a:spcBef>
            </a:pPr>
            <a:r>
              <a:rPr sz="900" i="1">
                <a:solidFill>
                  <a:srgbClr val="95591E"/>
                </a:solidFill>
              </a:rPr>
              <a:t>→ SE：配置外部化 + 可观测性（日志） + 单一入口可独立测试</a:t>
            </a:r>
            <a:endParaRPr sz="900" i="1">
              <a:solidFill>
                <a:srgbClr val="95591E"/>
              </a:solidFill>
            </a:endParaRPr>
          </a:p>
        </p:txBody>
      </p:sp>
      <p:sp>
        <p:nvSpPr>
          <p:cNvPr id="18" name="Rectangle 17"/>
          <p:cNvSpPr/>
          <p:nvPr/>
        </p:nvSpPr>
        <p:spPr>
          <a:xfrm>
            <a:off x="457200" y="5532120"/>
            <a:ext cx="10332720" cy="508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5638800"/>
            <a:ext cx="10332720" cy="320040"/>
          </a:xfrm>
          <a:prstGeom prst="rect">
            <a:avLst/>
          </a:prstGeom>
          <a:noFill/>
        </p:spPr>
        <p:txBody>
          <a:bodyPr wrap="square">
            <a:spAutoFit/>
          </a:bodyPr>
          <a:lstStyle/>
          <a:p>
            <a:pPr algn="ctr"/>
            <a:r>
              <a:rPr sz="1100" b="1">
                <a:solidFill>
                  <a:srgbClr val="1A1A2E"/>
                </a:solidFill>
              </a:rPr>
              <a:t>领域能力是软件工程能力的外在表现：</a:t>
            </a:r>
            <a:r>
              <a:rPr sz="1100">
                <a:solidFill>
                  <a:srgbClr val="444444"/>
                </a:solidFill>
              </a:rPr>
              <a:t>架构分层 = 关注点分离 + 依赖倒置 ｜ 风控完善 = 需求完整度 + 防御性编程 ｜ 可配置 = 配置外部化</a:t>
            </a:r>
            <a:endParaRPr sz="1100" b="0">
              <a:solidFill>
                <a:srgbClr val="999999"/>
              </a:solidFill>
              <a:latin typeface="Microsoft YaHei" panose="020B0503020204020204" charset="-122"/>
            </a:endParaRPr>
          </a:p>
        </p:txBody>
      </p:sp>
      <p:sp>
        <p:nvSpPr>
          <p:cNvPr id="20" name="TextBox 19"/>
          <p:cNvSpPr txBox="1"/>
          <p:nvPr/>
        </p:nvSpPr>
        <p:spPr>
          <a:xfrm>
            <a:off x="11094085" y="6400800"/>
            <a:ext cx="914400" cy="365760"/>
          </a:xfrm>
          <a:prstGeom prst="rect">
            <a:avLst/>
          </a:prstGeom>
          <a:noFill/>
        </p:spPr>
        <p:txBody>
          <a:bodyPr wrap="square">
            <a:spAutoFit/>
          </a:bodyPr>
          <a:lstStyle/>
          <a:p>
            <a:pPr algn="r"/>
            <a:r>
              <a:rPr sz="1100" b="0">
                <a:solidFill>
                  <a:srgbClr val="999999"/>
                </a:solidFill>
                <a:latin typeface="Microsoft YaHei" panose="020B0503020204020204" charset="-122"/>
                <a:ea typeface="Microsoft YaHei" panose="020B0503020204020204" charset="-122"/>
              </a:rPr>
              <a:t>7/41</a:t>
            </a:r>
            <a:endParaRPr sz="1100" b="0">
              <a:solidFill>
                <a:srgbClr val="999999"/>
              </a:solidFill>
              <a:latin typeface="Microsoft YaHei" panose="020B0503020204020204" charset="-122"/>
            </a:endParaRPr>
          </a:p>
        </p:txBody>
      </p:sp>
      <p:sp>
        <p:nvSpPr>
          <p:cNvPr id="21" name="TextBox 20"/>
          <p:cNvSpPr txBox="1"/>
          <p:nvPr/>
        </p:nvSpPr>
        <p:spPr>
          <a:xfrm>
            <a:off x="457200" y="5349240"/>
            <a:ext cx="10332720" cy="228600"/>
          </a:xfrm>
          <a:prstGeom prst="rect">
            <a:avLst/>
          </a:prstGeom>
          <a:noFill/>
        </p:spPr>
        <p:txBody>
          <a:bodyPr wrap="square">
            <a:spAutoFit/>
          </a:bodyPr>
          <a:lstStyle/>
          <a:p>
            <a:r>
              <a:rPr sz="900">
                <a:solidFill>
                  <a:srgbClr val="888888"/>
                </a:solidFill>
                <a:latin typeface="Microsoft YaHei" panose="020B0503020204020204" charset="-122"/>
                <a:ea typeface="Microsoft YaHei" panose="020B0503020204020204" charset="-122"/>
              </a:rPr>
              <a:t>* Protocol 接口：模块间通过抽象接口通信，实现可插拔替换，类似 Java 的 Interface</a:t>
            </a:r>
            <a:endParaRPr sz="900">
              <a:solidFill>
                <a:srgbClr val="888888"/>
              </a:solidFill>
              <a:latin typeface="Microsoft YaHei" panose="020B0503020204020204" charset="-122"/>
              <a:ea typeface="Microsoft YaHei" panose="020B0503020204020204" charset="-122"/>
            </a:endParaRPr>
          </a:p>
        </p:txBody>
      </p:sp>
      <p:sp>
        <p:nvSpPr>
          <p:cNvPr id="22" name="TextBox 3"/>
          <p:cNvSpPr txBox="1"/>
          <p:nvPr/>
        </p:nvSpPr>
        <p:spPr>
          <a:xfrm>
            <a:off x="548640" y="5892800"/>
            <a:ext cx="10058400" cy="460375"/>
          </a:xfrm>
          <a:prstGeom prst="rect">
            <a:avLst/>
          </a:prstGeom>
          <a:noFill/>
        </p:spPr>
        <p:txBody>
          <a:bodyPr wrap="square">
            <a:spAutoFit/>
          </a:bodyPr>
          <a:lstStyle/>
          <a:p>
            <a:pPr algn="l"/>
            <a:r>
              <a:rPr sz="1200" b="0">
                <a:solidFill>
                  <a:srgbClr val="FF0000"/>
                </a:solidFill>
                <a:latin typeface="Microsoft YaHei" panose="020B0503020204020204" charset="-122"/>
                <a:ea typeface="Microsoft YaHei" panose="020B0503020204020204" charset="-122"/>
              </a:rPr>
              <a:t>在量化交易</a:t>
            </a:r>
            <a:r>
              <a:rPr lang="zh-CN" sz="1200" b="0">
                <a:solidFill>
                  <a:srgbClr val="FF0000"/>
                </a:solidFill>
                <a:latin typeface="Microsoft YaHei" panose="020B0503020204020204" charset="-122"/>
                <a:ea typeface="Microsoft YaHei" panose="020B0503020204020204" charset="-122"/>
              </a:rPr>
              <a:t>软件</a:t>
            </a:r>
            <a:r>
              <a:rPr sz="1200" b="0">
                <a:solidFill>
                  <a:srgbClr val="FF0000"/>
                </a:solidFill>
                <a:latin typeface="Microsoft YaHei" panose="020B0503020204020204" charset="-122"/>
                <a:ea typeface="Microsoft YaHei" panose="020B0503020204020204" charset="-122"/>
              </a:rPr>
              <a:t>中，风控能力决定了系统能否在真实市场中存活</a:t>
            </a:r>
            <a:r>
              <a:rPr lang="zh-CN" sz="1200" b="0">
                <a:solidFill>
                  <a:srgbClr val="FF0000"/>
                </a:solidFill>
                <a:latin typeface="Microsoft YaHei" panose="020B0503020204020204" charset="-122"/>
                <a:ea typeface="Microsoft YaHei" panose="020B0503020204020204" charset="-122"/>
              </a:rPr>
              <a:t>。就像医疗行业这种为了保证患者生命</a:t>
            </a:r>
            <a:r>
              <a:rPr lang="zh-CN" sz="1200" b="0">
                <a:solidFill>
                  <a:srgbClr val="FF0000"/>
                </a:solidFill>
                <a:latin typeface="Microsoft YaHei" panose="020B0503020204020204" charset="-122"/>
                <a:ea typeface="Microsoft YaHei" panose="020B0503020204020204" charset="-122"/>
              </a:rPr>
              <a:t>安全重视</a:t>
            </a:r>
            <a:r>
              <a:rPr lang="zh-CN" sz="1200" b="0">
                <a:solidFill>
                  <a:srgbClr val="FF0000"/>
                </a:solidFill>
                <a:latin typeface="Microsoft YaHei" panose="020B0503020204020204" charset="-122"/>
                <a:ea typeface="Microsoft YaHei" panose="020B0503020204020204" charset="-122"/>
              </a:rPr>
              <a:t>软件安全性一样，</a:t>
            </a:r>
            <a:r>
              <a:rPr lang="en-US" sz="1200" b="0">
                <a:solidFill>
                  <a:srgbClr val="FF0000"/>
                </a:solidFill>
                <a:latin typeface="Microsoft YaHei" panose="020B0503020204020204" charset="-122"/>
                <a:ea typeface="Microsoft YaHei" panose="020B0503020204020204" charset="-122"/>
              </a:rPr>
              <a:t> </a:t>
            </a:r>
            <a:r>
              <a:rPr lang="zh-CN" sz="1200" b="0">
                <a:solidFill>
                  <a:srgbClr val="FF0000"/>
                </a:solidFill>
                <a:latin typeface="Microsoft YaHei" panose="020B0503020204020204" charset="-122"/>
                <a:ea typeface="Microsoft YaHei" panose="020B0503020204020204" charset="-122"/>
              </a:rPr>
              <a:t>质量差，不完整的风险控制</a:t>
            </a:r>
            <a:r>
              <a:rPr lang="en-US" altLang="zh-CN" sz="1200" b="0">
                <a:solidFill>
                  <a:srgbClr val="FF0000"/>
                </a:solidFill>
                <a:latin typeface="Microsoft YaHei" panose="020B0503020204020204" charset="-122"/>
                <a:ea typeface="Microsoft YaHei" panose="020B0503020204020204" charset="-122"/>
              </a:rPr>
              <a:t>Spec</a:t>
            </a:r>
            <a:r>
              <a:rPr lang="zh-CN" altLang="en-US" sz="1200" b="0">
                <a:solidFill>
                  <a:srgbClr val="FF0000"/>
                </a:solidFill>
                <a:latin typeface="Microsoft YaHei" panose="020B0503020204020204" charset="-122"/>
                <a:ea typeface="Microsoft YaHei" panose="020B0503020204020204" charset="-122"/>
              </a:rPr>
              <a:t>和</a:t>
            </a:r>
            <a:r>
              <a:rPr lang="en-US" altLang="zh-CN" sz="1200" b="0">
                <a:solidFill>
                  <a:srgbClr val="FF0000"/>
                </a:solidFill>
                <a:latin typeface="Microsoft YaHei" panose="020B0503020204020204" charset="-122"/>
                <a:ea typeface="Microsoft YaHei" panose="020B0503020204020204" charset="-122"/>
              </a:rPr>
              <a:t>Code</a:t>
            </a:r>
            <a:r>
              <a:rPr lang="zh-CN" altLang="en-US" sz="1200" b="0">
                <a:solidFill>
                  <a:srgbClr val="FF0000"/>
                </a:solidFill>
                <a:latin typeface="Microsoft YaHei" panose="020B0503020204020204" charset="-122"/>
                <a:ea typeface="Microsoft YaHei" panose="020B0503020204020204" charset="-122"/>
              </a:rPr>
              <a:t>意味着量化机器人在金融市场出现罕见或较大波动的情况下必然出现爆仓的</a:t>
            </a:r>
            <a:r>
              <a:rPr lang="zh-CN" altLang="en-US" sz="1200" b="0">
                <a:solidFill>
                  <a:srgbClr val="FF0000"/>
                </a:solidFill>
                <a:latin typeface="Microsoft YaHei" panose="020B0503020204020204" charset="-122"/>
                <a:ea typeface="Microsoft YaHei" panose="020B0503020204020204" charset="-122"/>
              </a:rPr>
              <a:t>结果</a:t>
            </a:r>
            <a:endParaRPr lang="zh-CN" altLang="en-US" sz="1200" b="0">
              <a:solidFill>
                <a:srgbClr val="FF0000"/>
              </a:solidFill>
              <a:latin typeface="Microsoft YaHei" panose="020B0503020204020204" charset="-122"/>
              <a:ea typeface="Microsoft YaHei" panose="020B0503020204020204"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57200" y="182880"/>
            <a:ext cx="10058400" cy="460375"/>
          </a:xfrm>
          <a:prstGeom prst="rect">
            <a:avLst/>
          </a:prstGeom>
          <a:noFill/>
        </p:spPr>
        <p:txBody>
          <a:bodyPr wrap="square">
            <a:spAutoFit/>
          </a:bodyPr>
          <a:lstStyle/>
          <a:p>
            <a:r>
              <a:rPr sz="2400" b="1">
                <a:solidFill>
                  <a:srgbClr val="1A1A2E"/>
                </a:solidFill>
              </a:rPr>
              <a:t>实验1 - </a:t>
            </a:r>
            <a:r>
              <a:rPr lang="zh-CN" sz="2400" b="1">
                <a:solidFill>
                  <a:srgbClr val="1A1A2E"/>
                </a:solidFill>
              </a:rPr>
              <a:t>配置外部化与错误处理</a:t>
            </a:r>
            <a:r>
              <a:rPr sz="2400" b="1">
                <a:solidFill>
                  <a:srgbClr val="1A1A2E"/>
                </a:solidFill>
              </a:rPr>
              <a:t>：</a:t>
            </a:r>
            <a:endParaRPr lang="zh-CN" sz="2400" b="1">
              <a:solidFill>
                <a:srgbClr val="1A1A2E"/>
              </a:solidFill>
            </a:endParaRPr>
          </a:p>
        </p:txBody>
      </p:sp>
      <p:sp>
        <p:nvSpPr>
          <p:cNvPr id="3" name="Rectangle 2"/>
          <p:cNvSpPr/>
          <p:nvPr/>
        </p:nvSpPr>
        <p:spPr>
          <a:xfrm>
            <a:off x="457200" y="685800"/>
            <a:ext cx="10332720" cy="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822960"/>
            <a:ext cx="5029200" cy="320040"/>
          </a:xfrm>
          <a:prstGeom prst="rect">
            <a:avLst/>
          </a:prstGeom>
          <a:noFill/>
        </p:spPr>
        <p:txBody>
          <a:bodyPr wrap="none">
            <a:spAutoFit/>
          </a:bodyPr>
          <a:lstStyle/>
          <a:p>
            <a:r>
              <a:rPr sz="1500" b="1">
                <a:solidFill>
                  <a:srgbClr val="2C3E50"/>
                </a:solidFill>
              </a:rPr>
              <a:t>配置外部化程度</a:t>
            </a:r>
            <a:endParaRPr sz="1500" b="1">
              <a:solidFill>
                <a:srgbClr val="2C3E50"/>
              </a:solidFill>
            </a:endParaRPr>
          </a:p>
        </p:txBody>
      </p:sp>
      <p:sp>
        <p:nvSpPr>
          <p:cNvPr id="5" name="TextBox 4"/>
          <p:cNvSpPr txBox="1"/>
          <p:nvPr/>
        </p:nvSpPr>
        <p:spPr>
          <a:xfrm>
            <a:off x="5760720" y="822960"/>
            <a:ext cx="5029200" cy="320040"/>
          </a:xfrm>
          <a:prstGeom prst="rect">
            <a:avLst/>
          </a:prstGeom>
          <a:noFill/>
        </p:spPr>
        <p:txBody>
          <a:bodyPr wrap="none">
            <a:spAutoFit/>
          </a:bodyPr>
          <a:lstStyle/>
          <a:p>
            <a:r>
              <a:rPr sz="1500" b="1">
                <a:solidFill>
                  <a:srgbClr val="2C3E50"/>
                </a:solidFill>
              </a:rPr>
              <a:t>容错与错误处理设计</a:t>
            </a:r>
            <a:endParaRPr sz="1500" b="1">
              <a:solidFill>
                <a:srgbClr val="2C3E50"/>
              </a:solidFill>
            </a:endParaRPr>
          </a:p>
        </p:txBody>
      </p:sp>
      <p:sp>
        <p:nvSpPr>
          <p:cNvPr id="6" name="Rounded Rectangle 5"/>
          <p:cNvSpPr/>
          <p:nvPr/>
        </p:nvSpPr>
        <p:spPr>
          <a:xfrm>
            <a:off x="457200" y="1188720"/>
            <a:ext cx="5029200" cy="1325880"/>
          </a:xfrm>
          <a:prstGeom prst="roundRect">
            <a:avLst/>
          </a:prstGeom>
          <a:solidFill>
            <a:srgbClr val="F0F0F0"/>
          </a:solidFill>
          <a:ln w="12700">
            <a:solidFill>
              <a:srgbClr val="78787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7" name="TextBox 6"/>
          <p:cNvSpPr txBox="1"/>
          <p:nvPr/>
        </p:nvSpPr>
        <p:spPr>
          <a:xfrm>
            <a:off x="640080" y="1280160"/>
            <a:ext cx="4663440" cy="906780"/>
          </a:xfrm>
          <a:prstGeom prst="rect">
            <a:avLst/>
          </a:prstGeom>
          <a:noFill/>
        </p:spPr>
        <p:txBody>
          <a:bodyPr wrap="square">
            <a:spAutoFit/>
          </a:bodyPr>
          <a:lstStyle/>
          <a:p>
            <a:r>
              <a:rPr sz="1200" b="1">
                <a:solidFill>
                  <a:srgbClr val="787878"/>
                </a:solidFill>
              </a:rPr>
              <a:t>Vanilla</a:t>
            </a:r>
            <a:r>
              <a:rPr lang="en-US" sz="1200" b="1">
                <a:solidFill>
                  <a:srgbClr val="787878"/>
                </a:solidFill>
              </a:rPr>
              <a:t> Claude Code</a:t>
            </a:r>
            <a:r>
              <a:rPr sz="1200" b="1">
                <a:solidFill>
                  <a:srgbClr val="787878"/>
                </a:solidFill>
              </a:rPr>
              <a:t> — 硬编码为主</a:t>
            </a:r>
            <a:endParaRPr sz="1200" b="1">
              <a:solidFill>
                <a:srgbClr val="787878"/>
              </a:solidFill>
            </a:endParaRPr>
          </a:p>
          <a:p>
            <a:pPr>
              <a:spcBef>
                <a:spcPts val="200"/>
              </a:spcBef>
            </a:pPr>
            <a:r>
              <a:rPr sz="1200">
                <a:solidFill>
                  <a:srgbClr val="444444"/>
                </a:solidFill>
              </a:rPr>
              <a:t>• 152+ 个参数散布在源码中（EMA 12/26、RSI 14 等）</a:t>
            </a:r>
            <a:endParaRPr sz="1200">
              <a:solidFill>
                <a:srgbClr val="444444"/>
              </a:solidFill>
            </a:endParaRPr>
          </a:p>
          <a:p>
            <a:pPr>
              <a:spcBef>
                <a:spcPts val="200"/>
              </a:spcBef>
            </a:pPr>
            <a:r>
              <a:rPr sz="1200">
                <a:solidFill>
                  <a:srgbClr val="444444"/>
                </a:solidFill>
              </a:rPr>
              <a:t>• 配置文件为 Python dict，改参数 = 改代码</a:t>
            </a:r>
            <a:endParaRPr sz="1200">
              <a:solidFill>
                <a:srgbClr val="444444"/>
              </a:solidFill>
            </a:endParaRPr>
          </a:p>
          <a:p>
            <a:pPr>
              <a:spcBef>
                <a:spcPts val="200"/>
              </a:spcBef>
            </a:pPr>
            <a:r>
              <a:rPr sz="1200">
                <a:solidFill>
                  <a:srgbClr val="444444"/>
                </a:solidFill>
              </a:rPr>
              <a:t>• 无 .get() 安全访问，缺少默认值保护</a:t>
            </a:r>
            <a:endParaRPr sz="1200">
              <a:solidFill>
                <a:srgbClr val="444444"/>
              </a:solidFill>
            </a:endParaRPr>
          </a:p>
        </p:txBody>
      </p:sp>
      <p:sp>
        <p:nvSpPr>
          <p:cNvPr id="8" name="Rounded Rectangle 7"/>
          <p:cNvSpPr/>
          <p:nvPr/>
        </p:nvSpPr>
        <p:spPr>
          <a:xfrm>
            <a:off x="457200" y="2606040"/>
            <a:ext cx="5029200" cy="1325880"/>
          </a:xfrm>
          <a:prstGeom prst="roundRect">
            <a:avLst/>
          </a:prstGeom>
          <a:solidFill>
            <a:srgbClr val="E3F2FD"/>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9" name="TextBox 8"/>
          <p:cNvSpPr txBox="1"/>
          <p:nvPr/>
        </p:nvSpPr>
        <p:spPr>
          <a:xfrm>
            <a:off x="640080" y="2697480"/>
            <a:ext cx="4663440" cy="906780"/>
          </a:xfrm>
          <a:prstGeom prst="rect">
            <a:avLst/>
          </a:prstGeom>
          <a:noFill/>
        </p:spPr>
        <p:txBody>
          <a:bodyPr wrap="square">
            <a:spAutoFit/>
          </a:bodyPr>
          <a:lstStyle/>
          <a:p>
            <a:r>
              <a:rPr sz="1200" b="1">
                <a:solidFill>
                  <a:srgbClr val="0078D4"/>
                </a:solidFill>
              </a:rPr>
              <a:t>原生 OpenSpec — YAML 配置（48 参数）</a:t>
            </a:r>
            <a:endParaRPr sz="1200" b="1">
              <a:solidFill>
                <a:srgbClr val="0078D4"/>
              </a:solidFill>
            </a:endParaRPr>
          </a:p>
          <a:p>
            <a:pPr>
              <a:spcBef>
                <a:spcPts val="200"/>
              </a:spcBef>
            </a:pPr>
            <a:r>
              <a:rPr sz="1200">
                <a:solidFill>
                  <a:srgbClr val="444444"/>
                </a:solidFill>
              </a:rPr>
              <a:t>• 业务参数（因子权重、风控阈值、回测成本）全部外部化</a:t>
            </a:r>
            <a:endParaRPr sz="1200">
              <a:solidFill>
                <a:srgbClr val="444444"/>
              </a:solidFill>
            </a:endParaRPr>
          </a:p>
          <a:p>
            <a:pPr>
              <a:spcBef>
                <a:spcPts val="200"/>
              </a:spcBef>
            </a:pPr>
            <a:r>
              <a:rPr sz="1200">
                <a:solidFill>
                  <a:srgbClr val="444444"/>
                </a:solidFill>
              </a:rPr>
              <a:t>• 28 处 config.get() 安全访问 + 默认值</a:t>
            </a:r>
            <a:endParaRPr sz="1200">
              <a:solidFill>
                <a:srgbClr val="444444"/>
              </a:solidFill>
            </a:endParaRPr>
          </a:p>
          <a:p>
            <a:pPr>
              <a:spcBef>
                <a:spcPts val="200"/>
              </a:spcBef>
            </a:pPr>
            <a:r>
              <a:rPr sz="1200">
                <a:solidFill>
                  <a:srgbClr val="444444"/>
                </a:solidFill>
              </a:rPr>
              <a:t>• 基础设施常量仍部分硬编码（API 延迟、金属符号表）</a:t>
            </a:r>
            <a:endParaRPr sz="1200">
              <a:solidFill>
                <a:srgbClr val="444444"/>
              </a:solidFill>
            </a:endParaRPr>
          </a:p>
        </p:txBody>
      </p:sp>
      <p:sp>
        <p:nvSpPr>
          <p:cNvPr id="10" name="Rounded Rectangle 9"/>
          <p:cNvSpPr/>
          <p:nvPr/>
        </p:nvSpPr>
        <p:spPr>
          <a:xfrm>
            <a:off x="457200" y="4023360"/>
            <a:ext cx="5029200" cy="1325880"/>
          </a:xfrm>
          <a:prstGeom prst="roundRect">
            <a:avLst/>
          </a:prstGeom>
          <a:solidFill>
            <a:srgbClr val="E8F5E9"/>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11" name="TextBox 10"/>
          <p:cNvSpPr txBox="1"/>
          <p:nvPr/>
        </p:nvSpPr>
        <p:spPr>
          <a:xfrm>
            <a:off x="640080" y="4114800"/>
            <a:ext cx="4663440" cy="906780"/>
          </a:xfrm>
          <a:prstGeom prst="rect">
            <a:avLst/>
          </a:prstGeom>
          <a:noFill/>
        </p:spPr>
        <p:txBody>
          <a:bodyPr wrap="square">
            <a:spAutoFit/>
          </a:bodyPr>
          <a:lstStyle/>
          <a:p>
            <a:r>
              <a:rPr lang="en-US" sz="1200" b="1">
                <a:solidFill>
                  <a:srgbClr val="107C10"/>
                </a:solidFill>
              </a:rPr>
              <a:t>OpenSpec - </a:t>
            </a:r>
            <a:r>
              <a:rPr sz="1200" b="1">
                <a:solidFill>
                  <a:srgbClr val="107C10"/>
                </a:solidFill>
              </a:rPr>
              <a:t>HW2 — YAML 配置（54 参数，8 个分区）</a:t>
            </a:r>
            <a:endParaRPr sz="1200" b="1">
              <a:solidFill>
                <a:srgbClr val="107C10"/>
              </a:solidFill>
            </a:endParaRPr>
          </a:p>
          <a:p>
            <a:pPr>
              <a:spcBef>
                <a:spcPts val="200"/>
              </a:spcBef>
            </a:pPr>
            <a:r>
              <a:rPr sz="1200">
                <a:solidFill>
                  <a:srgbClr val="444444"/>
                </a:solidFill>
              </a:rPr>
              <a:t>• 覆盖 data/universe/factors/strategy/timing/risk/backtest/report</a:t>
            </a:r>
            <a:endParaRPr sz="1200">
              <a:solidFill>
                <a:srgbClr val="444444"/>
              </a:solidFill>
            </a:endParaRPr>
          </a:p>
          <a:p>
            <a:pPr>
              <a:spcBef>
                <a:spcPts val="200"/>
              </a:spcBef>
            </a:pPr>
            <a:r>
              <a:rPr sz="1200">
                <a:solidFill>
                  <a:srgbClr val="444444"/>
                </a:solidFill>
              </a:rPr>
              <a:t>• 风控规则完全可配置：止损、回撤阈值、仓位限制</a:t>
            </a:r>
            <a:endParaRPr sz="1200">
              <a:solidFill>
                <a:srgbClr val="444444"/>
              </a:solidFill>
            </a:endParaRPr>
          </a:p>
          <a:p>
            <a:pPr>
              <a:spcBef>
                <a:spcPts val="200"/>
              </a:spcBef>
            </a:pPr>
            <a:r>
              <a:rPr sz="1200">
                <a:solidFill>
                  <a:srgbClr val="444444"/>
                </a:solidFill>
              </a:rPr>
              <a:t>• 改策略参数无需动代码</a:t>
            </a:r>
            <a:endParaRPr sz="1200">
              <a:solidFill>
                <a:srgbClr val="444444"/>
              </a:solidFill>
            </a:endParaRPr>
          </a:p>
        </p:txBody>
      </p:sp>
      <p:sp>
        <p:nvSpPr>
          <p:cNvPr id="12" name="Rounded Rectangle 11"/>
          <p:cNvSpPr/>
          <p:nvPr/>
        </p:nvSpPr>
        <p:spPr>
          <a:xfrm>
            <a:off x="5760720" y="1188720"/>
            <a:ext cx="5029200" cy="1325880"/>
          </a:xfrm>
          <a:prstGeom prst="roundRect">
            <a:avLst/>
          </a:prstGeom>
          <a:solidFill>
            <a:srgbClr val="F0F0F0"/>
          </a:solidFill>
          <a:ln w="12700">
            <a:solidFill>
              <a:srgbClr val="78787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13" name="TextBox 12"/>
          <p:cNvSpPr txBox="1"/>
          <p:nvPr/>
        </p:nvSpPr>
        <p:spPr>
          <a:xfrm>
            <a:off x="5943600" y="1280160"/>
            <a:ext cx="4663440" cy="906780"/>
          </a:xfrm>
          <a:prstGeom prst="rect">
            <a:avLst/>
          </a:prstGeom>
          <a:noFill/>
        </p:spPr>
        <p:txBody>
          <a:bodyPr wrap="square">
            <a:spAutoFit/>
          </a:bodyPr>
          <a:lstStyle/>
          <a:p>
            <a:r>
              <a:rPr sz="1200" b="1">
                <a:solidFill>
                  <a:srgbClr val="787878"/>
                </a:solidFill>
              </a:rPr>
              <a:t>Vanilla</a:t>
            </a:r>
            <a:r>
              <a:rPr lang="en-US" sz="1200" b="1">
                <a:solidFill>
                  <a:srgbClr val="787878"/>
                </a:solidFill>
              </a:rPr>
              <a:t> Claude Code</a:t>
            </a:r>
            <a:r>
              <a:rPr sz="1200" b="1">
                <a:solidFill>
                  <a:srgbClr val="787878"/>
                </a:solidFill>
              </a:rPr>
              <a:t> — 无结构化容错</a:t>
            </a:r>
            <a:endParaRPr sz="1200" b="1">
              <a:solidFill>
                <a:srgbClr val="787878"/>
              </a:solidFill>
            </a:endParaRPr>
          </a:p>
          <a:p>
            <a:pPr>
              <a:spcBef>
                <a:spcPts val="200"/>
              </a:spcBef>
            </a:pPr>
            <a:r>
              <a:rPr sz="1200">
                <a:solidFill>
                  <a:srgbClr val="444444"/>
                </a:solidFill>
              </a:rPr>
              <a:t>• 重试机制：无（API 失败直接报错）</a:t>
            </a:r>
            <a:endParaRPr sz="1200">
              <a:solidFill>
                <a:srgbClr val="444444"/>
              </a:solidFill>
            </a:endParaRPr>
          </a:p>
          <a:p>
            <a:pPr>
              <a:spcBef>
                <a:spcPts val="200"/>
              </a:spcBef>
            </a:pPr>
            <a:r>
              <a:rPr sz="1200">
                <a:solidFill>
                  <a:srgbClr val="444444"/>
                </a:solidFill>
              </a:rPr>
              <a:t>• 日志：无框架（仅 print + traceback.print_exc）</a:t>
            </a:r>
            <a:endParaRPr sz="1200">
              <a:solidFill>
                <a:srgbClr val="444444"/>
              </a:solidFill>
            </a:endParaRPr>
          </a:p>
          <a:p>
            <a:pPr>
              <a:spcBef>
                <a:spcPts val="200"/>
              </a:spcBef>
            </a:pPr>
            <a:r>
              <a:rPr sz="1200">
                <a:solidFill>
                  <a:srgbClr val="444444"/>
                </a:solidFill>
              </a:rPr>
              <a:t>• 关键路径无保护：回测引擎 0 个 try/except</a:t>
            </a:r>
            <a:endParaRPr sz="1200">
              <a:solidFill>
                <a:srgbClr val="444444"/>
              </a:solidFill>
            </a:endParaRPr>
          </a:p>
        </p:txBody>
      </p:sp>
      <p:sp>
        <p:nvSpPr>
          <p:cNvPr id="14" name="Rounded Rectangle 13"/>
          <p:cNvSpPr/>
          <p:nvPr/>
        </p:nvSpPr>
        <p:spPr>
          <a:xfrm>
            <a:off x="5760720" y="2606040"/>
            <a:ext cx="5029200" cy="1325880"/>
          </a:xfrm>
          <a:prstGeom prst="roundRect">
            <a:avLst/>
          </a:prstGeom>
          <a:solidFill>
            <a:srgbClr val="E3F2FD"/>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15" name="TextBox 14"/>
          <p:cNvSpPr txBox="1"/>
          <p:nvPr/>
        </p:nvSpPr>
        <p:spPr>
          <a:xfrm>
            <a:off x="5943600" y="2697480"/>
            <a:ext cx="4663440" cy="906780"/>
          </a:xfrm>
          <a:prstGeom prst="rect">
            <a:avLst/>
          </a:prstGeom>
          <a:noFill/>
        </p:spPr>
        <p:txBody>
          <a:bodyPr wrap="square">
            <a:spAutoFit/>
          </a:bodyPr>
          <a:lstStyle/>
          <a:p>
            <a:r>
              <a:rPr sz="1200" b="1">
                <a:solidFill>
                  <a:srgbClr val="0078D4"/>
                </a:solidFill>
              </a:rPr>
              <a:t>原生 OpenSpec — 结构化容错</a:t>
            </a:r>
            <a:endParaRPr sz="1200" b="1">
              <a:solidFill>
                <a:srgbClr val="0078D4"/>
              </a:solidFill>
            </a:endParaRPr>
          </a:p>
          <a:p>
            <a:pPr>
              <a:spcBef>
                <a:spcPts val="200"/>
              </a:spcBef>
            </a:pPr>
            <a:r>
              <a:rPr sz="1200">
                <a:solidFill>
                  <a:srgbClr val="444444"/>
                </a:solidFill>
              </a:rPr>
              <a:t>• 自定义 @_retry 装饰器（6 个数据方法，自动重试）</a:t>
            </a:r>
            <a:endParaRPr sz="1200">
              <a:solidFill>
                <a:srgbClr val="444444"/>
              </a:solidFill>
            </a:endParaRPr>
          </a:p>
          <a:p>
            <a:pPr>
              <a:spcBef>
                <a:spcPts val="200"/>
              </a:spcBef>
            </a:pPr>
            <a:r>
              <a:rPr sz="1200">
                <a:solidFill>
                  <a:srgbClr val="444444"/>
                </a:solidFill>
              </a:rPr>
              <a:t>• logging 框架，47 处 logger 调用</a:t>
            </a:r>
            <a:endParaRPr sz="1200">
              <a:solidFill>
                <a:srgbClr val="444444"/>
              </a:solidFill>
            </a:endParaRPr>
          </a:p>
          <a:p>
            <a:pPr>
              <a:spcBef>
                <a:spcPts val="200"/>
              </a:spcBef>
            </a:pPr>
            <a:r>
              <a:rPr sz="1200">
                <a:solidFill>
                  <a:srgbClr val="444444"/>
                </a:solidFill>
              </a:rPr>
              <a:t>• 3 层降级：数据源回退 → NaN 替代 → 空 DataFrame</a:t>
            </a:r>
            <a:endParaRPr sz="1200">
              <a:solidFill>
                <a:srgbClr val="444444"/>
              </a:solidFill>
            </a:endParaRPr>
          </a:p>
        </p:txBody>
      </p:sp>
      <p:sp>
        <p:nvSpPr>
          <p:cNvPr id="16" name="Rounded Rectangle 15"/>
          <p:cNvSpPr/>
          <p:nvPr/>
        </p:nvSpPr>
        <p:spPr>
          <a:xfrm>
            <a:off x="5760720" y="4023360"/>
            <a:ext cx="5029200" cy="1325880"/>
          </a:xfrm>
          <a:prstGeom prst="roundRect">
            <a:avLst/>
          </a:prstGeom>
          <a:solidFill>
            <a:srgbClr val="E8F5E9"/>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17" name="TextBox 16"/>
          <p:cNvSpPr txBox="1"/>
          <p:nvPr/>
        </p:nvSpPr>
        <p:spPr>
          <a:xfrm>
            <a:off x="5943600" y="4114800"/>
            <a:ext cx="4663440" cy="906780"/>
          </a:xfrm>
          <a:prstGeom prst="rect">
            <a:avLst/>
          </a:prstGeom>
          <a:noFill/>
        </p:spPr>
        <p:txBody>
          <a:bodyPr wrap="square">
            <a:spAutoFit/>
          </a:bodyPr>
          <a:lstStyle/>
          <a:p>
            <a:r>
              <a:rPr lang="en-US" sz="1200" b="1">
                <a:solidFill>
                  <a:srgbClr val="107C10"/>
                </a:solidFill>
              </a:rPr>
              <a:t>OpenSpec - </a:t>
            </a:r>
            <a:r>
              <a:rPr sz="1200" b="1">
                <a:solidFill>
                  <a:srgbClr val="107C10"/>
                </a:solidFill>
              </a:rPr>
              <a:t>HW2 — </a:t>
            </a:r>
            <a:r>
              <a:rPr lang="zh-CN" sz="1200" b="1">
                <a:solidFill>
                  <a:srgbClr val="107C10"/>
                </a:solidFill>
              </a:rPr>
              <a:t>进一步结构化</a:t>
            </a:r>
            <a:r>
              <a:rPr sz="1200" b="1">
                <a:solidFill>
                  <a:srgbClr val="107C10"/>
                </a:solidFill>
              </a:rPr>
              <a:t>容错</a:t>
            </a:r>
            <a:endParaRPr sz="1200" b="1">
              <a:solidFill>
                <a:srgbClr val="107C10"/>
              </a:solidFill>
            </a:endParaRPr>
          </a:p>
          <a:p>
            <a:pPr>
              <a:spcBef>
                <a:spcPts val="200"/>
              </a:spcBef>
            </a:pPr>
            <a:r>
              <a:rPr sz="1200">
                <a:solidFill>
                  <a:srgbClr val="444444"/>
                </a:solidFill>
              </a:rPr>
              <a:t>• @_retry 装饰器（7 个方法 + 可配置重试次数和延迟）</a:t>
            </a:r>
            <a:endParaRPr sz="1200">
              <a:solidFill>
                <a:srgbClr val="444444"/>
              </a:solidFill>
            </a:endParaRPr>
          </a:p>
          <a:p>
            <a:pPr>
              <a:spcBef>
                <a:spcPts val="200"/>
              </a:spcBef>
            </a:pPr>
            <a:r>
              <a:rPr sz="1200">
                <a:solidFill>
                  <a:srgbClr val="444444"/>
                </a:solidFill>
              </a:rPr>
              <a:t>• logging 框架，结构化日志覆盖全链路</a:t>
            </a:r>
            <a:endParaRPr sz="1200">
              <a:solidFill>
                <a:srgbClr val="444444"/>
              </a:solidFill>
            </a:endParaRPr>
          </a:p>
          <a:p>
            <a:pPr>
              <a:spcBef>
                <a:spcPts val="200"/>
              </a:spcBef>
            </a:pPr>
            <a:r>
              <a:rPr sz="1200">
                <a:solidFill>
                  <a:srgbClr val="444444"/>
                </a:solidFill>
              </a:rPr>
              <a:t>• 3 层降级 + 逐条错误计数 + 风控事件日志</a:t>
            </a:r>
            <a:endParaRPr sz="1200">
              <a:solidFill>
                <a:srgbClr val="444444"/>
              </a:solidFill>
            </a:endParaRPr>
          </a:p>
        </p:txBody>
      </p:sp>
      <p:sp>
        <p:nvSpPr>
          <p:cNvPr id="18" name="Rectangle 17"/>
          <p:cNvSpPr/>
          <p:nvPr/>
        </p:nvSpPr>
        <p:spPr>
          <a:xfrm>
            <a:off x="457200" y="5486400"/>
            <a:ext cx="10332720" cy="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5577840"/>
            <a:ext cx="10332720" cy="260350"/>
          </a:xfrm>
          <a:prstGeom prst="rect">
            <a:avLst/>
          </a:prstGeom>
          <a:noFill/>
        </p:spPr>
        <p:txBody>
          <a:bodyPr wrap="square">
            <a:spAutoFit/>
          </a:bodyPr>
          <a:lstStyle/>
          <a:p>
            <a:r>
              <a:rPr sz="1100" b="1">
                <a:solidFill>
                  <a:schemeClr val="tx1"/>
                </a:solidFill>
              </a:rPr>
              <a:t>配置外部化（0→48→54）和容错设计成熟度与规格化程度正相关：规格越详细，AI 产出的工程实践越成熟</a:t>
            </a:r>
            <a:endParaRPr sz="1100" b="1">
              <a:solidFill>
                <a:schemeClr val="tx1"/>
              </a:solidFill>
            </a:endParaRPr>
          </a:p>
        </p:txBody>
      </p:sp>
      <p:sp>
        <p:nvSpPr>
          <p:cNvPr id="20" name="TextBox 19"/>
          <p:cNvSpPr txBox="1"/>
          <p:nvPr/>
        </p:nvSpPr>
        <p:spPr>
          <a:xfrm>
            <a:off x="11091672" y="6400800"/>
            <a:ext cx="914400" cy="365760"/>
          </a:xfrm>
          <a:prstGeom prst="rect">
            <a:avLst/>
          </a:prstGeom>
          <a:noFill/>
        </p:spPr>
        <p:txBody>
          <a:bodyPr wrap="none">
            <a:spAutoFit/>
          </a:bodyPr>
          <a:lstStyle/>
          <a:p>
            <a:r>
              <a:rPr sz="1100">
                <a:solidFill>
                  <a:srgbClr val="444444"/>
                </a:solidFill>
              </a:rPr>
              <a:t>8/41</a:t>
            </a:r>
            <a:endParaRPr sz="1100">
              <a:solidFill>
                <a:srgbClr val="444444"/>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57200" y="182880"/>
            <a:ext cx="10058400" cy="460375"/>
          </a:xfrm>
          <a:prstGeom prst="rect">
            <a:avLst/>
          </a:prstGeom>
          <a:noFill/>
        </p:spPr>
        <p:txBody>
          <a:bodyPr wrap="square">
            <a:spAutoFit/>
          </a:bodyPr>
          <a:lstStyle/>
          <a:p>
            <a:pPr algn="l"/>
            <a:r>
              <a:rPr lang="zh-CN" sz="2400" b="1">
                <a:solidFill>
                  <a:srgbClr val="333333"/>
                </a:solidFill>
                <a:latin typeface="Microsoft YaHei" panose="020B0503020204020204" charset="-122"/>
                <a:ea typeface="Microsoft YaHei" panose="020B0503020204020204" charset="-122"/>
              </a:rPr>
              <a:t>实验</a:t>
            </a:r>
            <a:r>
              <a:rPr lang="en-US" altLang="zh-CN" sz="2400" b="1">
                <a:solidFill>
                  <a:srgbClr val="333333"/>
                </a:solidFill>
                <a:latin typeface="Microsoft YaHei" panose="020B0503020204020204" charset="-122"/>
                <a:ea typeface="Microsoft YaHei" panose="020B0503020204020204" charset="-122"/>
              </a:rPr>
              <a:t>1 - </a:t>
            </a:r>
            <a:r>
              <a:rPr sz="2400" b="1">
                <a:solidFill>
                  <a:srgbClr val="333333"/>
                </a:solidFill>
                <a:latin typeface="Microsoft YaHei" panose="020B0503020204020204" charset="-122"/>
                <a:ea typeface="Microsoft YaHei" panose="020B0503020204020204" charset="-122"/>
              </a:rPr>
              <a:t>测试 × 回测 × 可维护性：三维质量对比</a:t>
            </a:r>
            <a:endParaRPr sz="2400" b="1">
              <a:solidFill>
                <a:srgbClr val="333333"/>
              </a:solidFill>
              <a:latin typeface="Microsoft YaHei" panose="020B0503020204020204" charset="-122"/>
            </a:endParaRPr>
          </a:p>
        </p:txBody>
      </p:sp>
      <p:sp>
        <p:nvSpPr>
          <p:cNvPr id="3" name="Rectangle 2"/>
          <p:cNvSpPr/>
          <p:nvPr/>
        </p:nvSpPr>
        <p:spPr>
          <a:xfrm>
            <a:off x="457200" y="685800"/>
            <a:ext cx="10332720" cy="508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005840"/>
            <a:ext cx="3291840" cy="4297680"/>
          </a:xfrm>
          <a:prstGeom prst="roundRect">
            <a:avLst/>
          </a:prstGeom>
          <a:solidFill>
            <a:srgbClr val="E3F2FD"/>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143000"/>
            <a:ext cx="2926080" cy="2661285"/>
          </a:xfrm>
          <a:prstGeom prst="rect">
            <a:avLst/>
          </a:prstGeom>
          <a:noFill/>
        </p:spPr>
        <p:txBody>
          <a:bodyPr wrap="square">
            <a:spAutoFit/>
          </a:bodyPr>
          <a:lstStyle/>
          <a:p>
            <a:pPr algn="l">
              <a:spcAft>
                <a:spcPts val="1000"/>
              </a:spcAft>
            </a:pPr>
            <a:r>
              <a:rPr sz="1600" b="1">
                <a:solidFill>
                  <a:srgbClr val="0078D4"/>
                </a:solidFill>
                <a:latin typeface="Microsoft YaHei" panose="020B0503020204020204" charset="-122"/>
                <a:ea typeface="Microsoft YaHei" panose="020B0503020204020204" charset="-122"/>
              </a:rPr>
              <a:t>测试覆盖度</a:t>
            </a:r>
            <a:endParaRPr sz="1600" b="1">
              <a:solidFill>
                <a:srgbClr val="0078D4"/>
              </a:solidFill>
              <a:latin typeface="Microsoft YaHei" panose="020B0503020204020204" charset="-122"/>
            </a:endParaRPr>
          </a:p>
          <a:p>
            <a:pPr algn="l">
              <a:spcAft>
                <a:spcPts val="300"/>
              </a:spcAft>
            </a:pPr>
            <a:r>
              <a:rPr sz="1300" b="1">
                <a:solidFill>
                  <a:srgbClr val="787878"/>
                </a:solidFill>
                <a:latin typeface="Microsoft YaHei" panose="020B0503020204020204" charset="-122"/>
                <a:ea typeface="Microsoft YaHei" panose="020B0503020204020204" charset="-122"/>
              </a:rPr>
              <a:t>Vanilla Claude Code</a:t>
            </a:r>
            <a:endParaRPr sz="1300" b="1">
              <a:solidFill>
                <a:srgbClr val="787878"/>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0 测试文件，0 测试用例</a:t>
            </a:r>
            <a:endParaRPr sz="1200" b="0">
              <a:solidFill>
                <a:srgbClr val="333333"/>
              </a:solidFill>
              <a:latin typeface="Microsoft YaHei" panose="020B0503020204020204" charset="-122"/>
            </a:endParaRPr>
          </a:p>
          <a:p>
            <a:pPr algn="l">
              <a:spcAft>
                <a:spcPts val="1000"/>
              </a:spcAft>
            </a:pPr>
            <a:r>
              <a:rPr sz="1200" b="0">
                <a:solidFill>
                  <a:srgbClr val="333333"/>
                </a:solidFill>
                <a:latin typeface="Microsoft YaHei" panose="020B0503020204020204" charset="-122"/>
                <a:ea typeface="Microsoft YaHei" panose="020B0503020204020204" charset="-122"/>
              </a:rPr>
              <a:t>• AI 完全跳过测试</a:t>
            </a:r>
            <a:endParaRPr sz="1200" b="0">
              <a:solidFill>
                <a:srgbClr val="333333"/>
              </a:solidFill>
              <a:latin typeface="Microsoft YaHei" panose="020B0503020204020204" charset="-122"/>
            </a:endParaRPr>
          </a:p>
          <a:p>
            <a:pPr algn="l">
              <a:spcAft>
                <a:spcPts val="300"/>
              </a:spcAft>
            </a:pPr>
            <a:r>
              <a:rPr sz="1300" b="1">
                <a:solidFill>
                  <a:srgbClr val="0078D4"/>
                </a:solidFill>
                <a:latin typeface="Microsoft YaHei" panose="020B0503020204020204" charset="-122"/>
                <a:ea typeface="Microsoft YaHei" panose="020B0503020204020204" charset="-122"/>
              </a:rPr>
              <a:t>原生 OpenSpec</a:t>
            </a:r>
            <a:endParaRPr sz="1300" b="1">
              <a:solidFill>
                <a:srgbClr val="0078D4"/>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8 测试</a:t>
            </a:r>
            <a:r>
              <a:rPr lang="zh-CN" sz="1200" b="0">
                <a:solidFill>
                  <a:srgbClr val="333333"/>
                </a:solidFill>
                <a:latin typeface="Microsoft YaHei" panose="020B0503020204020204" charset="-122"/>
                <a:ea typeface="Microsoft YaHei" panose="020B0503020204020204" charset="-122"/>
              </a:rPr>
              <a:t>文件</a:t>
            </a:r>
            <a:endParaRPr sz="1200" b="0">
              <a:solidFill>
                <a:srgbClr val="333333"/>
              </a:solidFill>
              <a:latin typeface="Microsoft YaHei" panose="020B0503020204020204" charset="-122"/>
            </a:endParaRPr>
          </a:p>
          <a:p>
            <a:pPr algn="l">
              <a:spcAft>
                <a:spcPts val="1000"/>
              </a:spcAft>
            </a:pPr>
            <a:r>
              <a:rPr sz="1200" b="0">
                <a:solidFill>
                  <a:srgbClr val="333333"/>
                </a:solidFill>
                <a:latin typeface="Microsoft YaHei" panose="020B0503020204020204" charset="-122"/>
                <a:ea typeface="Microsoft YaHei" panose="020B0503020204020204" charset="-122"/>
              </a:rPr>
              <a:t>• 单元测试覆盖核心模块</a:t>
            </a:r>
            <a:endParaRPr sz="1200" b="0">
              <a:solidFill>
                <a:srgbClr val="333333"/>
              </a:solidFill>
              <a:latin typeface="Microsoft YaHei" panose="020B0503020204020204" charset="-122"/>
            </a:endParaRPr>
          </a:p>
          <a:p>
            <a:pPr algn="l">
              <a:spcAft>
                <a:spcPts val="300"/>
              </a:spcAft>
            </a:pPr>
            <a:r>
              <a:rPr sz="1300" b="1">
                <a:solidFill>
                  <a:srgbClr val="107C10"/>
                </a:solidFill>
                <a:latin typeface="Microsoft YaHei" panose="020B0503020204020204" charset="-122"/>
                <a:ea typeface="Microsoft YaHei" panose="020B0503020204020204" charset="-122"/>
              </a:rPr>
              <a:t>OpenSpec-HW2</a:t>
            </a:r>
            <a:endParaRPr sz="1300" b="1">
              <a:solidFill>
                <a:srgbClr val="107C10"/>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a:t>
            </a:r>
            <a:r>
              <a:rPr lang="en-US" sz="1200" b="0">
                <a:solidFill>
                  <a:srgbClr val="333333"/>
                </a:solidFill>
                <a:latin typeface="Microsoft YaHei" panose="020B0503020204020204" charset="-122"/>
                <a:ea typeface="Microsoft YaHei" panose="020B0503020204020204" charset="-122"/>
              </a:rPr>
              <a:t>9</a:t>
            </a:r>
            <a:r>
              <a:rPr sz="1200" b="0">
                <a:solidFill>
                  <a:srgbClr val="333333"/>
                </a:solidFill>
                <a:latin typeface="Microsoft YaHei" panose="020B0503020204020204" charset="-122"/>
                <a:ea typeface="Microsoft YaHei" panose="020B0503020204020204" charset="-122"/>
              </a:rPr>
              <a:t> 测试文件</a:t>
            </a:r>
            <a:endParaRPr sz="1200" b="0">
              <a:solidFill>
                <a:srgbClr val="333333"/>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195 行集成测试</a:t>
            </a:r>
            <a:endParaRPr sz="1200" b="0">
              <a:solidFill>
                <a:srgbClr val="333333"/>
              </a:solidFill>
              <a:latin typeface="Microsoft YaHei" panose="020B0503020204020204" charset="-122"/>
            </a:endParaRPr>
          </a:p>
        </p:txBody>
      </p:sp>
      <p:sp>
        <p:nvSpPr>
          <p:cNvPr id="6" name="Rounded Rectangle 5"/>
          <p:cNvSpPr/>
          <p:nvPr/>
        </p:nvSpPr>
        <p:spPr>
          <a:xfrm>
            <a:off x="3977640" y="1005840"/>
            <a:ext cx="3291840" cy="4297680"/>
          </a:xfrm>
          <a:prstGeom prst="roundRect">
            <a:avLst/>
          </a:prstGeom>
          <a:solidFill>
            <a:srgbClr val="FFF3E0"/>
          </a:solidFill>
          <a:ln w="12700">
            <a:solidFill>
              <a:srgbClr val="E8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60520" y="1143000"/>
            <a:ext cx="2926080" cy="3305175"/>
          </a:xfrm>
          <a:prstGeom prst="rect">
            <a:avLst/>
          </a:prstGeom>
          <a:noFill/>
        </p:spPr>
        <p:txBody>
          <a:bodyPr wrap="square">
            <a:spAutoFit/>
          </a:bodyPr>
          <a:lstStyle/>
          <a:p>
            <a:pPr algn="l">
              <a:spcAft>
                <a:spcPts val="1000"/>
              </a:spcAft>
            </a:pPr>
            <a:r>
              <a:rPr sz="1600" b="1">
                <a:solidFill>
                  <a:srgbClr val="E86C00"/>
                </a:solidFill>
                <a:latin typeface="Microsoft YaHei" panose="020B0503020204020204" charset="-122"/>
                <a:ea typeface="Microsoft YaHei" panose="020B0503020204020204" charset="-122"/>
              </a:rPr>
              <a:t>回测真实性</a:t>
            </a:r>
            <a:r>
              <a:rPr lang="en-US" sz="1600" b="1">
                <a:solidFill>
                  <a:srgbClr val="E86C00"/>
                </a:solidFill>
                <a:latin typeface="Microsoft YaHei" panose="020B0503020204020204" charset="-122"/>
                <a:ea typeface="Microsoft YaHei" panose="020B0503020204020204" charset="-122"/>
              </a:rPr>
              <a:t> </a:t>
            </a:r>
            <a:r>
              <a:rPr lang="zh-CN" altLang="en-US" sz="1600" b="1">
                <a:solidFill>
                  <a:srgbClr val="E86C00"/>
                </a:solidFill>
                <a:latin typeface="Microsoft YaHei" panose="020B0503020204020204" charset="-122"/>
                <a:ea typeface="Microsoft YaHei" panose="020B0503020204020204" charset="-122"/>
              </a:rPr>
              <a:t>（领域能力）</a:t>
            </a:r>
            <a:endParaRPr sz="1600" b="1">
              <a:solidFill>
                <a:srgbClr val="E86C00"/>
              </a:solidFill>
              <a:latin typeface="Microsoft YaHei" panose="020B0503020204020204" charset="-122"/>
            </a:endParaRPr>
          </a:p>
          <a:p>
            <a:pPr algn="l">
              <a:spcAft>
                <a:spcPts val="300"/>
              </a:spcAft>
            </a:pPr>
            <a:r>
              <a:rPr sz="1300" b="1">
                <a:solidFill>
                  <a:srgbClr val="787878"/>
                </a:solidFill>
                <a:latin typeface="Microsoft YaHei" panose="020B0503020204020204" charset="-122"/>
                <a:ea typeface="Microsoft YaHei" panose="020B0503020204020204" charset="-122"/>
              </a:rPr>
              <a:t>Vanilla Claude Code</a:t>
            </a:r>
            <a:endParaRPr sz="1300" b="1">
              <a:solidFill>
                <a:srgbClr val="787878"/>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无 A 股规则模拟</a:t>
            </a:r>
            <a:endParaRPr sz="1200" b="0">
              <a:solidFill>
                <a:srgbClr val="333333"/>
              </a:solidFill>
              <a:latin typeface="Microsoft YaHei" panose="020B0503020204020204" charset="-122"/>
            </a:endParaRPr>
          </a:p>
          <a:p>
            <a:pPr algn="l">
              <a:spcAft>
                <a:spcPts val="1000"/>
              </a:spcAft>
            </a:pPr>
            <a:r>
              <a:rPr sz="1200" b="0">
                <a:solidFill>
                  <a:srgbClr val="333333"/>
                </a:solidFill>
                <a:latin typeface="Microsoft YaHei" panose="020B0503020204020204" charset="-122"/>
                <a:ea typeface="Microsoft YaHei" panose="020B0503020204020204" charset="-122"/>
              </a:rPr>
              <a:t>• 回测结果不可信</a:t>
            </a:r>
            <a:endParaRPr sz="1200" b="0">
              <a:solidFill>
                <a:srgbClr val="333333"/>
              </a:solidFill>
              <a:latin typeface="Microsoft YaHei" panose="020B0503020204020204" charset="-122"/>
            </a:endParaRPr>
          </a:p>
          <a:p>
            <a:pPr algn="l">
              <a:spcAft>
                <a:spcPts val="300"/>
              </a:spcAft>
            </a:pPr>
            <a:r>
              <a:rPr sz="1300" b="1">
                <a:solidFill>
                  <a:srgbClr val="0078D4"/>
                </a:solidFill>
                <a:latin typeface="Microsoft YaHei" panose="020B0503020204020204" charset="-122"/>
                <a:ea typeface="Microsoft YaHei" panose="020B0503020204020204" charset="-122"/>
              </a:rPr>
              <a:t>原生 OpenSpec</a:t>
            </a:r>
            <a:endParaRPr sz="1300" b="1">
              <a:solidFill>
                <a:srgbClr val="0078D4"/>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完整 A 股规则（T+1, 涨跌停, 印花税）</a:t>
            </a:r>
            <a:endParaRPr sz="1200" b="0">
              <a:solidFill>
                <a:srgbClr val="333333"/>
              </a:solidFill>
              <a:latin typeface="Microsoft YaHei" panose="020B0503020204020204" charset="-122"/>
            </a:endParaRPr>
          </a:p>
          <a:p>
            <a:pPr algn="l">
              <a:spcAft>
                <a:spcPts val="1000"/>
              </a:spcAft>
            </a:pPr>
            <a:r>
              <a:rPr sz="1200" b="0">
                <a:solidFill>
                  <a:srgbClr val="333333"/>
                </a:solidFill>
                <a:latin typeface="Microsoft YaHei" panose="020B0503020204020204" charset="-122"/>
                <a:ea typeface="Microsoft YaHei" panose="020B0503020204020204" charset="-122"/>
              </a:rPr>
              <a:t>• 7 个性能评估指标</a:t>
            </a:r>
            <a:endParaRPr sz="1200" b="0">
              <a:solidFill>
                <a:srgbClr val="333333"/>
              </a:solidFill>
              <a:latin typeface="Microsoft YaHei" panose="020B0503020204020204" charset="-122"/>
            </a:endParaRPr>
          </a:p>
          <a:p>
            <a:pPr algn="l">
              <a:spcAft>
                <a:spcPts val="300"/>
              </a:spcAft>
            </a:pPr>
            <a:r>
              <a:rPr sz="1300" b="1">
                <a:solidFill>
                  <a:srgbClr val="107C10"/>
                </a:solidFill>
                <a:latin typeface="Microsoft YaHei" panose="020B0503020204020204" charset="-122"/>
                <a:ea typeface="Microsoft YaHei" panose="020B0503020204020204" charset="-122"/>
              </a:rPr>
              <a:t>OpenSpec-HW2</a:t>
            </a:r>
            <a:endParaRPr sz="1300" b="1">
              <a:solidFill>
                <a:srgbClr val="107C10"/>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完整 A 股规则 + </a:t>
            </a:r>
            <a:r>
              <a:rPr sz="1200" b="1">
                <a:solidFill>
                  <a:srgbClr val="FF0000"/>
                </a:solidFill>
                <a:latin typeface="Microsoft YaHei" panose="020B0503020204020204" charset="-122"/>
                <a:ea typeface="Microsoft YaHei" panose="020B0503020204020204" charset="-122"/>
              </a:rPr>
              <a:t>防前视偏差</a:t>
            </a:r>
            <a:r>
              <a:rPr lang="zh-CN" sz="1200" b="1">
                <a:solidFill>
                  <a:srgbClr val="FF0000"/>
                </a:solidFill>
                <a:latin typeface="Microsoft YaHei" panose="020B0503020204020204" charset="-122"/>
                <a:ea typeface="Microsoft YaHei" panose="020B0503020204020204" charset="-122"/>
              </a:rPr>
              <a:t>（得益于</a:t>
            </a:r>
            <a:r>
              <a:rPr lang="en-US" altLang="zh-CN" sz="1200" b="1">
                <a:solidFill>
                  <a:srgbClr val="FF0000"/>
                </a:solidFill>
                <a:latin typeface="Microsoft YaHei" panose="020B0503020204020204" charset="-122"/>
                <a:ea typeface="Microsoft YaHei" panose="020B0503020204020204" charset="-122"/>
              </a:rPr>
              <a:t>Usecase</a:t>
            </a:r>
            <a:r>
              <a:rPr lang="zh-CN" altLang="en-US" sz="1200" b="1">
                <a:solidFill>
                  <a:srgbClr val="FF0000"/>
                </a:solidFill>
                <a:latin typeface="Microsoft YaHei" panose="020B0503020204020204" charset="-122"/>
                <a:ea typeface="Microsoft YaHei" panose="020B0503020204020204" charset="-122"/>
              </a:rPr>
              <a:t>）</a:t>
            </a:r>
            <a:endParaRPr sz="1200" b="0">
              <a:solidFill>
                <a:srgbClr val="333333"/>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13+ 个性能评估指标</a:t>
            </a:r>
            <a:endParaRPr sz="1200" b="0">
              <a:solidFill>
                <a:srgbClr val="333333"/>
              </a:solidFill>
              <a:latin typeface="Microsoft YaHei" panose="020B0503020204020204" charset="-122"/>
            </a:endParaRPr>
          </a:p>
          <a:p>
            <a:pPr algn="l">
              <a:spcAft>
                <a:spcPts val="400"/>
              </a:spcAft>
            </a:pPr>
            <a:r>
              <a:rPr sz="1200" b="0">
                <a:solidFill>
                  <a:srgbClr val="333333"/>
                </a:solidFill>
                <a:latin typeface="Microsoft YaHei" panose="020B0503020204020204" charset="-122"/>
                <a:ea typeface="Microsoft YaHei" panose="020B0503020204020204" charset="-122"/>
              </a:rPr>
              <a:t>• 回测结果接近真实市场</a:t>
            </a:r>
            <a:endParaRPr sz="1200" b="0">
              <a:solidFill>
                <a:srgbClr val="333333"/>
              </a:solidFill>
              <a:latin typeface="Microsoft YaHei" panose="020B0503020204020204" charset="-122"/>
              <a:ea typeface="Microsoft YaHei" panose="020B0503020204020204" charset="-122"/>
            </a:endParaRPr>
          </a:p>
          <a:p>
            <a:pPr algn="l">
              <a:spcAft>
                <a:spcPts val="400"/>
              </a:spcAft>
            </a:pPr>
            <a:endParaRPr lang="zh-CN" altLang="en-US" sz="1200" b="0">
              <a:solidFill>
                <a:srgbClr val="333333"/>
              </a:solidFill>
              <a:latin typeface="Microsoft YaHei" panose="020B0503020204020204" charset="-122"/>
            </a:endParaRPr>
          </a:p>
        </p:txBody>
      </p:sp>
      <p:sp>
        <p:nvSpPr>
          <p:cNvPr id="8" name="Rounded Rectangle 7"/>
          <p:cNvSpPr/>
          <p:nvPr/>
        </p:nvSpPr>
        <p:spPr>
          <a:xfrm>
            <a:off x="7498080" y="1005840"/>
            <a:ext cx="3291840" cy="4297680"/>
          </a:xfrm>
          <a:prstGeom prst="roundRect">
            <a:avLst/>
          </a:prstGeom>
          <a:solidFill>
            <a:srgbClr val="E8F5E9"/>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0" y="1143000"/>
            <a:ext cx="2926080" cy="3120390"/>
          </a:xfrm>
          <a:prstGeom prst="rect">
            <a:avLst/>
          </a:prstGeom>
          <a:noFill/>
        </p:spPr>
        <p:txBody>
          <a:bodyPr wrap="square">
            <a:spAutoFit/>
          </a:bodyPr>
          <a:lstStyle/>
          <a:p>
            <a:pPr algn="l">
              <a:spcAft>
                <a:spcPts val="1000"/>
              </a:spcAft>
            </a:pPr>
            <a:r>
              <a:rPr sz="1600" b="1">
                <a:solidFill>
                  <a:srgbClr val="107C10"/>
                </a:solidFill>
                <a:latin typeface="Microsoft YaHei" panose="020B0503020204020204" charset="-122"/>
                <a:ea typeface="Microsoft YaHei" panose="020B0503020204020204" charset="-122"/>
              </a:rPr>
              <a:t>可维护性 &amp; 配置</a:t>
            </a:r>
            <a:endParaRPr sz="1600" b="1">
              <a:solidFill>
                <a:srgbClr val="107C10"/>
              </a:solidFill>
              <a:latin typeface="Microsoft YaHei" panose="020B0503020204020204" charset="-122"/>
            </a:endParaRPr>
          </a:p>
          <a:p>
            <a:pPr algn="l">
              <a:spcAft>
                <a:spcPts val="300"/>
              </a:spcAft>
            </a:pPr>
            <a:r>
              <a:rPr sz="1300" b="1">
                <a:solidFill>
                  <a:srgbClr val="787878"/>
                </a:solidFill>
                <a:latin typeface="Microsoft YaHei" panose="020B0503020204020204" charset="-122"/>
                <a:ea typeface="Microsoft YaHei" panose="020B0503020204020204" charset="-122"/>
              </a:rPr>
              <a:t>Vanilla Claude Code</a:t>
            </a:r>
            <a:endParaRPr sz="1300" b="1">
              <a:solidFill>
                <a:srgbClr val="787878"/>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硬编码常量，0 配置外部化</a:t>
            </a:r>
            <a:endParaRPr sz="1200" b="0">
              <a:solidFill>
                <a:srgbClr val="333333"/>
              </a:solidFill>
              <a:latin typeface="Microsoft YaHei" panose="020B0503020204020204" charset="-122"/>
            </a:endParaRPr>
          </a:p>
          <a:p>
            <a:pPr algn="l">
              <a:spcAft>
                <a:spcPts val="1000"/>
              </a:spcAft>
            </a:pPr>
            <a:r>
              <a:rPr sz="1200" b="0">
                <a:solidFill>
                  <a:srgbClr val="333333"/>
                </a:solidFill>
                <a:latin typeface="Microsoft YaHei" panose="020B0503020204020204" charset="-122"/>
                <a:ea typeface="Microsoft YaHei" panose="020B0503020204020204" charset="-122"/>
              </a:rPr>
              <a:t>• 修改参数需改源码</a:t>
            </a:r>
            <a:endParaRPr sz="1200" b="0">
              <a:solidFill>
                <a:srgbClr val="333333"/>
              </a:solidFill>
              <a:latin typeface="Microsoft YaHei" panose="020B0503020204020204" charset="-122"/>
            </a:endParaRPr>
          </a:p>
          <a:p>
            <a:pPr algn="l">
              <a:spcAft>
                <a:spcPts val="300"/>
              </a:spcAft>
            </a:pPr>
            <a:r>
              <a:rPr sz="1300" b="1">
                <a:solidFill>
                  <a:srgbClr val="0078D4"/>
                </a:solidFill>
                <a:latin typeface="Microsoft YaHei" panose="020B0503020204020204" charset="-122"/>
                <a:ea typeface="Microsoft YaHei" panose="020B0503020204020204" charset="-122"/>
              </a:rPr>
              <a:t>原生 OpenSpec</a:t>
            </a:r>
            <a:endParaRPr sz="1300" b="1">
              <a:solidFill>
                <a:srgbClr val="0078D4"/>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基本模块化，代码分层</a:t>
            </a:r>
            <a:endParaRPr sz="1200" b="0">
              <a:solidFill>
                <a:srgbClr val="333333"/>
              </a:solidFill>
              <a:latin typeface="Microsoft YaHei" panose="020B0503020204020204" charset="-122"/>
            </a:endParaRPr>
          </a:p>
          <a:p>
            <a:pPr algn="l">
              <a:spcAft>
                <a:spcPts val="1000"/>
              </a:spcAft>
            </a:pPr>
            <a:r>
              <a:rPr sz="1200" b="0">
                <a:solidFill>
                  <a:srgbClr val="333333"/>
                </a:solidFill>
                <a:latin typeface="Microsoft YaHei" panose="020B0503020204020204" charset="-122"/>
                <a:ea typeface="Microsoft YaHei" panose="020B0503020204020204" charset="-122"/>
              </a:rPr>
              <a:t>• 部分参数仍内嵌</a:t>
            </a:r>
            <a:endParaRPr sz="1200" b="0">
              <a:solidFill>
                <a:srgbClr val="333333"/>
              </a:solidFill>
              <a:latin typeface="Microsoft YaHei" panose="020B0503020204020204" charset="-122"/>
            </a:endParaRPr>
          </a:p>
          <a:p>
            <a:pPr algn="l">
              <a:spcAft>
                <a:spcPts val="300"/>
              </a:spcAft>
            </a:pPr>
            <a:r>
              <a:rPr sz="1300" b="1">
                <a:solidFill>
                  <a:srgbClr val="107C10"/>
                </a:solidFill>
                <a:latin typeface="Microsoft YaHei" panose="020B0503020204020204" charset="-122"/>
                <a:ea typeface="Microsoft YaHei" panose="020B0503020204020204" charset="-122"/>
              </a:rPr>
              <a:t>OpenSpec-HW2</a:t>
            </a:r>
            <a:endParaRPr sz="1300" b="1">
              <a:solidFill>
                <a:srgbClr val="107C10"/>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外部 YAML 配置管理</a:t>
            </a:r>
            <a:endParaRPr sz="1200" b="0">
              <a:solidFill>
                <a:srgbClr val="333333"/>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a:t>
            </a:r>
            <a:r>
              <a:rPr lang="en-US" sz="1200" b="0">
                <a:solidFill>
                  <a:srgbClr val="333333"/>
                </a:solidFill>
                <a:latin typeface="Microsoft YaHei" panose="020B0503020204020204" charset="-122"/>
                <a:ea typeface="Microsoft YaHei" panose="020B0503020204020204" charset="-122"/>
              </a:rPr>
              <a:t>8</a:t>
            </a:r>
            <a:r>
              <a:rPr sz="1200" b="0">
                <a:solidFill>
                  <a:srgbClr val="333333"/>
                </a:solidFill>
                <a:latin typeface="Microsoft YaHei" panose="020B0503020204020204" charset="-122"/>
                <a:ea typeface="Microsoft YaHei" panose="020B0503020204020204" charset="-122"/>
              </a:rPr>
              <a:t>类参数外部化</a:t>
            </a:r>
            <a:endParaRPr sz="1200" b="0">
              <a:solidFill>
                <a:srgbClr val="333333"/>
              </a:solidFill>
              <a:latin typeface="Microsoft YaHei" panose="020B0503020204020204" charset="-122"/>
            </a:endParaRPr>
          </a:p>
          <a:p>
            <a:pPr algn="l">
              <a:spcAft>
                <a:spcPts val="400"/>
              </a:spcAft>
            </a:pPr>
            <a:r>
              <a:rPr sz="1200" b="0">
                <a:solidFill>
                  <a:srgbClr val="333333"/>
                </a:solidFill>
                <a:latin typeface="Microsoft YaHei" panose="020B0503020204020204" charset="-122"/>
                <a:ea typeface="Microsoft YaHei" panose="020B0503020204020204" charset="-122"/>
              </a:rPr>
              <a:t>• 改配置不改代码</a:t>
            </a:r>
            <a:endParaRPr sz="1200" b="0">
              <a:solidFill>
                <a:srgbClr val="333333"/>
              </a:solidFill>
              <a:latin typeface="Microsoft YaHei" panose="020B0503020204020204" charset="-122"/>
              <a:ea typeface="Microsoft YaHei" panose="020B0503020204020204" charset="-122"/>
            </a:endParaRPr>
          </a:p>
          <a:p>
            <a:pPr algn="l">
              <a:spcAft>
                <a:spcPts val="400"/>
              </a:spcAft>
            </a:pPr>
            <a:endParaRPr lang="zh-CN" sz="1200" b="0">
              <a:solidFill>
                <a:srgbClr val="333333"/>
              </a:solidFill>
              <a:latin typeface="Microsoft YaHei" panose="020B0503020204020204" charset="-122"/>
            </a:endParaRPr>
          </a:p>
        </p:txBody>
      </p:sp>
      <p:sp>
        <p:nvSpPr>
          <p:cNvPr id="10" name="Rectangle 9"/>
          <p:cNvSpPr/>
          <p:nvPr/>
        </p:nvSpPr>
        <p:spPr>
          <a:xfrm>
            <a:off x="457200" y="5532120"/>
            <a:ext cx="10332720" cy="50800"/>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5623560"/>
            <a:ext cx="10332720" cy="260350"/>
          </a:xfrm>
          <a:prstGeom prst="rect">
            <a:avLst/>
          </a:prstGeom>
          <a:noFill/>
        </p:spPr>
        <p:txBody>
          <a:bodyPr wrap="square">
            <a:spAutoFit/>
          </a:bodyPr>
          <a:lstStyle/>
          <a:p>
            <a:pPr algn="ctr"/>
            <a:r>
              <a:rPr sz="1100" b="1">
                <a:solidFill>
                  <a:schemeClr val="tx1"/>
                </a:solidFill>
                <a:latin typeface="Microsoft YaHei" panose="020B0503020204020204" charset="-122"/>
                <a:ea typeface="Microsoft YaHei" panose="020B0503020204020204" charset="-122"/>
              </a:rPr>
              <a:t>三个维度均呈现 Vanilla &lt; 原生</a:t>
            </a:r>
            <a:r>
              <a:rPr lang="en-US" sz="1100" b="1">
                <a:solidFill>
                  <a:schemeClr val="tx1"/>
                </a:solidFill>
                <a:latin typeface="Microsoft YaHei" panose="020B0503020204020204" charset="-122"/>
                <a:ea typeface="Microsoft YaHei" panose="020B0503020204020204" charset="-122"/>
              </a:rPr>
              <a:t>OpenSpec</a:t>
            </a:r>
            <a:r>
              <a:rPr sz="1100" b="1">
                <a:solidFill>
                  <a:schemeClr val="tx1"/>
                </a:solidFill>
                <a:latin typeface="Microsoft YaHei" panose="020B0503020204020204" charset="-122"/>
                <a:ea typeface="Microsoft YaHei" panose="020B0503020204020204" charset="-122"/>
              </a:rPr>
              <a:t> &lt; </a:t>
            </a:r>
            <a:r>
              <a:rPr lang="en-US" sz="1100" b="1">
                <a:solidFill>
                  <a:schemeClr val="tx1"/>
                </a:solidFill>
                <a:latin typeface="Microsoft YaHei" panose="020B0503020204020204" charset="-122"/>
                <a:ea typeface="Microsoft YaHei" panose="020B0503020204020204" charset="-122"/>
              </a:rPr>
              <a:t>OpenSpec-</a:t>
            </a:r>
            <a:r>
              <a:rPr sz="1100" b="1">
                <a:solidFill>
                  <a:schemeClr val="tx1"/>
                </a:solidFill>
                <a:latin typeface="Microsoft YaHei" panose="020B0503020204020204" charset="-122"/>
                <a:ea typeface="Microsoft YaHei" panose="020B0503020204020204" charset="-122"/>
              </a:rPr>
              <a:t>HW2 的阶梯式提升，OpenSpec-HW2 Usecases 步骤的增量价值在每个维度均可量化</a:t>
            </a:r>
            <a:endParaRPr sz="1100" b="1">
              <a:solidFill>
                <a:schemeClr val="tx1"/>
              </a:solidFill>
              <a:latin typeface="Microsoft YaHei" panose="020B0503020204020204" charset="-122"/>
              <a:ea typeface="Microsoft YaHei" panose="020B0503020204020204" charset="-122"/>
            </a:endParaRPr>
          </a:p>
        </p:txBody>
      </p:sp>
      <p:sp>
        <p:nvSpPr>
          <p:cNvPr id="12" name="TextBox 11"/>
          <p:cNvSpPr txBox="1"/>
          <p:nvPr/>
        </p:nvSpPr>
        <p:spPr>
          <a:xfrm>
            <a:off x="11094085" y="6400800"/>
            <a:ext cx="914400" cy="365760"/>
          </a:xfrm>
          <a:prstGeom prst="rect">
            <a:avLst/>
          </a:prstGeom>
          <a:noFill/>
        </p:spPr>
        <p:txBody>
          <a:bodyPr wrap="square">
            <a:spAutoFit/>
          </a:bodyPr>
          <a:lstStyle/>
          <a:p>
            <a:pPr algn="r"/>
            <a:r>
              <a:rPr sz="1100" b="0">
                <a:solidFill>
                  <a:srgbClr val="999999"/>
                </a:solidFill>
                <a:latin typeface="Microsoft YaHei" panose="020B0503020204020204" charset="-122"/>
                <a:ea typeface="Microsoft YaHei" panose="020B0503020204020204" charset="-122"/>
              </a:rPr>
              <a:t>9/41</a:t>
            </a:r>
            <a:endParaRPr sz="1100" b="0">
              <a:solidFill>
                <a:srgbClr val="999999"/>
              </a:solidFill>
              <a:latin typeface="Microsoft YaHei" panose="020B0503020204020204" charset="-122"/>
            </a:endParaRPr>
          </a:p>
        </p:txBody>
      </p:sp>
      <p:sp>
        <p:nvSpPr>
          <p:cNvPr id="22" name="TextBox 3"/>
          <p:cNvSpPr txBox="1"/>
          <p:nvPr/>
        </p:nvSpPr>
        <p:spPr>
          <a:xfrm>
            <a:off x="548640" y="5892800"/>
            <a:ext cx="10058400" cy="460375"/>
          </a:xfrm>
          <a:prstGeom prst="rect">
            <a:avLst/>
          </a:prstGeom>
          <a:noFill/>
        </p:spPr>
        <p:txBody>
          <a:bodyPr wrap="square">
            <a:spAutoFit/>
          </a:bodyPr>
          <a:lstStyle/>
          <a:p>
            <a:pPr algn="l"/>
            <a:r>
              <a:rPr sz="1200" b="0">
                <a:solidFill>
                  <a:srgbClr val="FF0000"/>
                </a:solidFill>
                <a:latin typeface="Microsoft YaHei" panose="020B0503020204020204" charset="-122"/>
                <a:ea typeface="Microsoft YaHei" panose="020B0503020204020204" charset="-122"/>
              </a:rPr>
              <a:t>在量化交易</a:t>
            </a:r>
            <a:r>
              <a:rPr lang="zh-CN" sz="1200" b="0">
                <a:solidFill>
                  <a:srgbClr val="FF0000"/>
                </a:solidFill>
                <a:latin typeface="Microsoft YaHei" panose="020B0503020204020204" charset="-122"/>
                <a:ea typeface="Microsoft YaHei" panose="020B0503020204020204" charset="-122"/>
              </a:rPr>
              <a:t>软件</a:t>
            </a:r>
            <a:r>
              <a:rPr sz="1200" b="0">
                <a:solidFill>
                  <a:srgbClr val="FF0000"/>
                </a:solidFill>
                <a:latin typeface="Microsoft YaHei" panose="020B0503020204020204" charset="-122"/>
                <a:ea typeface="Microsoft YaHei" panose="020B0503020204020204" charset="-122"/>
              </a:rPr>
              <a:t>中，</a:t>
            </a:r>
            <a:r>
              <a:rPr lang="zh-CN" sz="1200" b="0">
                <a:solidFill>
                  <a:srgbClr val="FF0000"/>
                </a:solidFill>
                <a:latin typeface="Microsoft YaHei" panose="020B0503020204020204" charset="-122"/>
                <a:ea typeface="Microsoft YaHei" panose="020B0503020204020204" charset="-122"/>
              </a:rPr>
              <a:t>和风控能力一样，回测（就是相当于</a:t>
            </a:r>
            <a:r>
              <a:rPr lang="en-US" altLang="zh-CN" sz="1200" b="0">
                <a:solidFill>
                  <a:srgbClr val="FF0000"/>
                </a:solidFill>
                <a:latin typeface="Microsoft YaHei" panose="020B0503020204020204" charset="-122"/>
                <a:ea typeface="Microsoft YaHei" panose="020B0503020204020204" charset="-122"/>
              </a:rPr>
              <a:t>ML</a:t>
            </a:r>
            <a:r>
              <a:rPr lang="zh-CN" altLang="en-US" sz="1200" b="0">
                <a:solidFill>
                  <a:srgbClr val="FF0000"/>
                </a:solidFill>
                <a:latin typeface="Microsoft YaHei" panose="020B0503020204020204" charset="-122"/>
                <a:ea typeface="Microsoft YaHei" panose="020B0503020204020204" charset="-122"/>
              </a:rPr>
              <a:t>思想中的</a:t>
            </a:r>
            <a:r>
              <a:rPr lang="en-US" altLang="zh-CN" sz="1200" b="0">
                <a:solidFill>
                  <a:srgbClr val="FF0000"/>
                </a:solidFill>
                <a:latin typeface="Microsoft YaHei" panose="020B0503020204020204" charset="-122"/>
                <a:ea typeface="Microsoft YaHei" panose="020B0503020204020204" charset="-122"/>
              </a:rPr>
              <a:t>Validation</a:t>
            </a:r>
            <a:r>
              <a:rPr lang="zh-CN" altLang="en-US" sz="1200" b="0">
                <a:solidFill>
                  <a:srgbClr val="FF0000"/>
                </a:solidFill>
                <a:latin typeface="Microsoft YaHei" panose="020B0503020204020204" charset="-122"/>
                <a:ea typeface="Microsoft YaHei" panose="020B0503020204020204" charset="-122"/>
              </a:rPr>
              <a:t>）如果</a:t>
            </a:r>
            <a:r>
              <a:rPr lang="en-US" altLang="zh-CN" sz="1200" b="0">
                <a:solidFill>
                  <a:srgbClr val="FF0000"/>
                </a:solidFill>
                <a:latin typeface="Microsoft YaHei" panose="020B0503020204020204" charset="-122"/>
                <a:ea typeface="Microsoft YaHei" panose="020B0503020204020204" charset="-122"/>
              </a:rPr>
              <a:t>Spec</a:t>
            </a:r>
            <a:r>
              <a:rPr lang="zh-CN" altLang="en-US" sz="1200" b="0">
                <a:solidFill>
                  <a:srgbClr val="FF0000"/>
                </a:solidFill>
                <a:latin typeface="Microsoft YaHei" panose="020B0503020204020204" charset="-122"/>
                <a:ea typeface="Microsoft YaHei" panose="020B0503020204020204" charset="-122"/>
              </a:rPr>
              <a:t>写的不好或者</a:t>
            </a:r>
            <a:r>
              <a:rPr lang="en-US" altLang="zh-CN" sz="1200" b="0">
                <a:solidFill>
                  <a:srgbClr val="FF0000"/>
                </a:solidFill>
                <a:latin typeface="Microsoft YaHei" panose="020B0503020204020204" charset="-122"/>
                <a:ea typeface="Microsoft YaHei" panose="020B0503020204020204" charset="-122"/>
              </a:rPr>
              <a:t>Code</a:t>
            </a:r>
            <a:r>
              <a:rPr lang="zh-CN" altLang="en-US" sz="1200" b="0">
                <a:solidFill>
                  <a:srgbClr val="FF0000"/>
                </a:solidFill>
                <a:latin typeface="Microsoft YaHei" panose="020B0503020204020204" charset="-122"/>
                <a:ea typeface="Microsoft YaHei" panose="020B0503020204020204" charset="-122"/>
              </a:rPr>
              <a:t>没有按</a:t>
            </a:r>
            <a:r>
              <a:rPr lang="en-US" altLang="zh-CN" sz="1200" b="0">
                <a:solidFill>
                  <a:srgbClr val="FF0000"/>
                </a:solidFill>
                <a:latin typeface="Microsoft YaHei" panose="020B0503020204020204" charset="-122"/>
                <a:ea typeface="Microsoft YaHei" panose="020B0503020204020204" charset="-122"/>
              </a:rPr>
              <a:t>Spec</a:t>
            </a:r>
            <a:r>
              <a:rPr lang="zh-CN" altLang="en-US" sz="1200" b="0">
                <a:solidFill>
                  <a:srgbClr val="FF0000"/>
                </a:solidFill>
                <a:latin typeface="Microsoft YaHei" panose="020B0503020204020204" charset="-122"/>
                <a:ea typeface="Microsoft YaHei" panose="020B0503020204020204" charset="-122"/>
              </a:rPr>
              <a:t>生成，就会出现回测环境不符合真实世界规则的情况，就会导致错误评估量化机器人</a:t>
            </a:r>
            <a:r>
              <a:rPr lang="zh-CN" altLang="en-US" sz="1200" b="0">
                <a:solidFill>
                  <a:srgbClr val="FF0000"/>
                </a:solidFill>
                <a:latin typeface="Microsoft YaHei" panose="020B0503020204020204" charset="-122"/>
                <a:ea typeface="Microsoft YaHei" panose="020B0503020204020204" charset="-122"/>
              </a:rPr>
              <a:t>赚钱的</a:t>
            </a:r>
            <a:r>
              <a:rPr lang="zh-CN" altLang="en-US" sz="1200" b="0">
                <a:solidFill>
                  <a:srgbClr val="FF0000"/>
                </a:solidFill>
                <a:latin typeface="Microsoft YaHei" panose="020B0503020204020204" charset="-122"/>
                <a:ea typeface="Microsoft YaHei" panose="020B0503020204020204" charset="-122"/>
              </a:rPr>
              <a:t>能力</a:t>
            </a:r>
            <a:endParaRPr lang="zh-CN" altLang="en-US" sz="1200" b="0">
              <a:solidFill>
                <a:srgbClr val="FF0000"/>
              </a:solidFill>
              <a:latin typeface="Microsoft YaHei" panose="020B0503020204020204" charset="-122"/>
              <a:ea typeface="Microsoft YaHei" panose="020B0503020204020204" charset="-122"/>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57200" y="182880"/>
            <a:ext cx="10058400" cy="460375"/>
          </a:xfrm>
          <a:prstGeom prst="rect">
            <a:avLst/>
          </a:prstGeom>
          <a:noFill/>
        </p:spPr>
        <p:txBody>
          <a:bodyPr wrap="square">
            <a:spAutoFit/>
          </a:bodyPr>
          <a:lstStyle/>
          <a:p>
            <a:pPr algn="l"/>
            <a:r>
              <a:rPr lang="zh-CN" sz="2400" b="1">
                <a:solidFill>
                  <a:srgbClr val="333333"/>
                </a:solidFill>
                <a:latin typeface="Microsoft YaHei" panose="020B0503020204020204" charset="-122"/>
                <a:ea typeface="Microsoft YaHei" panose="020B0503020204020204" charset="-122"/>
              </a:rPr>
              <a:t>实验</a:t>
            </a:r>
            <a:r>
              <a:rPr lang="en-US" altLang="zh-CN" sz="2400" b="1">
                <a:solidFill>
                  <a:srgbClr val="333333"/>
                </a:solidFill>
                <a:latin typeface="Microsoft YaHei" panose="020B0503020204020204" charset="-122"/>
                <a:ea typeface="Microsoft YaHei" panose="020B0503020204020204" charset="-122"/>
              </a:rPr>
              <a:t>1 - </a:t>
            </a:r>
            <a:r>
              <a:rPr sz="2400" b="1">
                <a:solidFill>
                  <a:srgbClr val="333333"/>
                </a:solidFill>
                <a:latin typeface="Microsoft YaHei" panose="020B0503020204020204" charset="-122"/>
                <a:ea typeface="Microsoft YaHei" panose="020B0503020204020204" charset="-122"/>
              </a:rPr>
              <a:t>综合评分与适用场景</a:t>
            </a:r>
            <a:endParaRPr sz="2400" b="1">
              <a:solidFill>
                <a:srgbClr val="333333"/>
              </a:solidFill>
              <a:latin typeface="Microsoft YaHei" panose="020B0503020204020204" charset="-122"/>
            </a:endParaRPr>
          </a:p>
        </p:txBody>
      </p:sp>
      <p:sp>
        <p:nvSpPr>
          <p:cNvPr id="3" name="Rectangle 2"/>
          <p:cNvSpPr/>
          <p:nvPr/>
        </p:nvSpPr>
        <p:spPr>
          <a:xfrm>
            <a:off x="457200" y="685800"/>
            <a:ext cx="10332720" cy="508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914400"/>
          <a:ext cx="6217920" cy="3840480"/>
        </p:xfrm>
        <a:graphic>
          <a:graphicData uri="http://schemas.openxmlformats.org/drawingml/2006/table">
            <a:tbl>
              <a:tblPr firstRow="1" bandRow="1">
                <a:tableStyleId>{5C22544A-7EE6-4342-B048-85BDC9FD1C3A}</a:tableStyleId>
              </a:tblPr>
              <a:tblGrid>
                <a:gridCol w="1828800"/>
                <a:gridCol w="1371600"/>
                <a:gridCol w="1554480"/>
                <a:gridCol w="1463040"/>
              </a:tblGrid>
              <a:tr h="384048">
                <a:tc>
                  <a:txBody>
                    <a:bodyPr/>
                    <a:lstStyle/>
                    <a:p>
                      <a:pPr algn="l">
                        <a:spcBef>
                          <a:spcPts val="0"/>
                        </a:spcBef>
                        <a:spcAft>
                          <a:spcPts val="0"/>
                        </a:spcAft>
                      </a:pPr>
                      <a:r>
                        <a:rPr sz="1100" b="1">
                          <a:solidFill>
                            <a:srgbClr val="FFFFFF"/>
                          </a:solidFill>
                          <a:latin typeface="Microsoft YaHei" panose="020B0503020204020204" charset="-122"/>
                        </a:rPr>
                        <a:t>评分维度 (/10)</a:t>
                      </a:r>
                      <a:endParaRPr sz="1100" b="1">
                        <a:solidFill>
                          <a:srgbClr val="FFFFFF"/>
                        </a:solidFill>
                        <a:latin typeface="Microsoft YaHei" panose="020B0503020204020204" charset="-122"/>
                      </a:endParaRPr>
                    </a:p>
                  </a:txBody>
                  <a:tcPr marL="50800" marR="50800" marT="25400" marB="25400" anchor="ctr">
                    <a:solidFill>
                      <a:srgbClr val="444444"/>
                    </a:solidFill>
                  </a:tcPr>
                </a:tc>
                <a:tc>
                  <a:txBody>
                    <a:bodyPr/>
                    <a:lstStyle/>
                    <a:p>
                      <a:pPr algn="ctr">
                        <a:spcBef>
                          <a:spcPts val="0"/>
                        </a:spcBef>
                        <a:spcAft>
                          <a:spcPts val="0"/>
                        </a:spcAft>
                      </a:pPr>
                      <a:r>
                        <a:rPr sz="1100" b="1">
                          <a:solidFill>
                            <a:srgbClr val="FFFFFF"/>
                          </a:solidFill>
                          <a:latin typeface="Microsoft YaHei" panose="020B0503020204020204" charset="-122"/>
                        </a:rPr>
                        <a:t>Vanilla</a:t>
                      </a:r>
                      <a:endParaRPr sz="1100" b="1">
                        <a:solidFill>
                          <a:srgbClr val="FFFFFF"/>
                        </a:solidFill>
                        <a:latin typeface="Microsoft YaHei" panose="020B0503020204020204" charset="-122"/>
                      </a:endParaRPr>
                    </a:p>
                  </a:txBody>
                  <a:tcPr marL="50800" marR="50800" marT="25400" marB="25400" anchor="ctr">
                    <a:solidFill>
                      <a:srgbClr val="787878"/>
                    </a:solidFill>
                  </a:tcPr>
                </a:tc>
                <a:tc>
                  <a:txBody>
                    <a:bodyPr/>
                    <a:lstStyle/>
                    <a:p>
                      <a:pPr algn="ctr">
                        <a:spcBef>
                          <a:spcPts val="0"/>
                        </a:spcBef>
                        <a:spcAft>
                          <a:spcPts val="0"/>
                        </a:spcAft>
                      </a:pPr>
                      <a:r>
                        <a:rPr sz="1100" b="1">
                          <a:solidFill>
                            <a:srgbClr val="FFFFFF"/>
                          </a:solidFill>
                          <a:latin typeface="Microsoft YaHei" panose="020B0503020204020204" charset="-122"/>
                        </a:rPr>
                        <a:t>原生 OpenSpec</a:t>
                      </a:r>
                      <a:endParaRPr sz="1100" b="1">
                        <a:solidFill>
                          <a:srgbClr val="FFFFFF"/>
                        </a:solidFill>
                        <a:latin typeface="Microsoft YaHei" panose="020B0503020204020204" charset="-122"/>
                      </a:endParaRPr>
                    </a:p>
                  </a:txBody>
                  <a:tcPr marL="50800" marR="50800" marT="25400" marB="25400" anchor="ctr">
                    <a:solidFill>
                      <a:srgbClr val="0078D4"/>
                    </a:solidFill>
                  </a:tcPr>
                </a:tc>
                <a:tc>
                  <a:txBody>
                    <a:bodyPr/>
                    <a:lstStyle/>
                    <a:p>
                      <a:pPr algn="ctr">
                        <a:spcBef>
                          <a:spcPts val="0"/>
                        </a:spcBef>
                        <a:spcAft>
                          <a:spcPts val="0"/>
                        </a:spcAft>
                      </a:pPr>
                      <a:r>
                        <a:rPr sz="1100" b="1">
                          <a:solidFill>
                            <a:srgbClr val="FFFFFF"/>
                          </a:solidFill>
                          <a:latin typeface="Microsoft YaHei" panose="020B0503020204020204" charset="-122"/>
                        </a:rPr>
                        <a:t>OpenSpec-HW2</a:t>
                      </a:r>
                      <a:endParaRPr sz="1100" b="1">
                        <a:solidFill>
                          <a:srgbClr val="FFFFFF"/>
                        </a:solidFill>
                        <a:latin typeface="Microsoft YaHei" panose="020B0503020204020204" charset="-122"/>
                      </a:endParaRPr>
                    </a:p>
                  </a:txBody>
                  <a:tcPr marL="50800" marR="50800" marT="25400" marB="25400" anchor="ctr">
                    <a:solidFill>
                      <a:srgbClr val="107C10"/>
                    </a:solidFill>
                  </a:tcPr>
                </a:tc>
              </a:tr>
              <a:tr h="384048">
                <a:tc>
                  <a:txBody>
                    <a:bodyPr/>
                    <a:lstStyle/>
                    <a:p>
                      <a:pPr algn="l">
                        <a:spcBef>
                          <a:spcPts val="0"/>
                        </a:spcBef>
                        <a:spcAft>
                          <a:spcPts val="0"/>
                        </a:spcAft>
                      </a:pPr>
                      <a:r>
                        <a:rPr sz="1100" b="0">
                          <a:solidFill>
                            <a:srgbClr val="333333"/>
                          </a:solidFill>
                          <a:latin typeface="Microsoft YaHei" panose="020B0503020204020204" charset="-122"/>
                        </a:rPr>
                        <a:t>架构清晰度</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6</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7</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9</a:t>
                      </a:r>
                      <a:endParaRPr sz="1100" b="0">
                        <a:solidFill>
                          <a:srgbClr val="333333"/>
                        </a:solidFill>
                        <a:latin typeface="Microsoft YaHei" panose="020B0503020204020204" charset="-122"/>
                      </a:endParaRPr>
                    </a:p>
                  </a:txBody>
                  <a:tcPr marL="50800" marR="50800" marT="25400" marB="25400" anchor="ctr"/>
                </a:tc>
              </a:tr>
              <a:tr h="384048">
                <a:tc>
                  <a:txBody>
                    <a:bodyPr/>
                    <a:lstStyle/>
                    <a:p>
                      <a:pPr algn="l">
                        <a:spcBef>
                          <a:spcPts val="0"/>
                        </a:spcBef>
                        <a:spcAft>
                          <a:spcPts val="0"/>
                        </a:spcAft>
                      </a:pPr>
                      <a:r>
                        <a:rPr sz="1100" b="0">
                          <a:solidFill>
                            <a:srgbClr val="333333"/>
                          </a:solidFill>
                          <a:latin typeface="Microsoft YaHei" panose="020B0503020204020204" charset="-122"/>
                        </a:rPr>
                        <a:t>测试完备性</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2</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7</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9</a:t>
                      </a:r>
                      <a:endParaRPr sz="1100" b="0">
                        <a:solidFill>
                          <a:srgbClr val="333333"/>
                        </a:solidFill>
                        <a:latin typeface="Microsoft YaHei" panose="020B0503020204020204" charset="-122"/>
                      </a:endParaRPr>
                    </a:p>
                  </a:txBody>
                  <a:tcPr marL="50800" marR="50800" marT="25400" marB="25400" anchor="ctr">
                    <a:solidFill>
                      <a:srgbClr val="F8F8F8"/>
                    </a:solidFill>
                  </a:tcPr>
                </a:tc>
              </a:tr>
              <a:tr h="384048">
                <a:tc>
                  <a:txBody>
                    <a:bodyPr/>
                    <a:lstStyle/>
                    <a:p>
                      <a:pPr algn="l">
                        <a:spcBef>
                          <a:spcPts val="0"/>
                        </a:spcBef>
                        <a:spcAft>
                          <a:spcPts val="0"/>
                        </a:spcAft>
                      </a:pPr>
                      <a:r>
                        <a:rPr sz="1100" b="0">
                          <a:solidFill>
                            <a:srgbClr val="333333"/>
                          </a:solidFill>
                          <a:latin typeface="Microsoft YaHei" panose="020B0503020204020204" charset="-122"/>
                        </a:rPr>
                        <a:t>需求完整度</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5</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8</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9</a:t>
                      </a:r>
                      <a:endParaRPr sz="1100" b="0">
                        <a:solidFill>
                          <a:srgbClr val="333333"/>
                        </a:solidFill>
                        <a:latin typeface="Microsoft YaHei" panose="020B0503020204020204" charset="-122"/>
                      </a:endParaRPr>
                    </a:p>
                  </a:txBody>
                  <a:tcPr marL="50800" marR="50800" marT="25400" marB="25400" anchor="ctr"/>
                </a:tc>
              </a:tr>
              <a:tr h="384048">
                <a:tc>
                  <a:txBody>
                    <a:bodyPr/>
                    <a:lstStyle/>
                    <a:p>
                      <a:pPr algn="l">
                        <a:spcBef>
                          <a:spcPts val="0"/>
                        </a:spcBef>
                        <a:spcAft>
                          <a:spcPts val="0"/>
                        </a:spcAft>
                      </a:pPr>
                      <a:r>
                        <a:rPr sz="1100" b="0">
                          <a:solidFill>
                            <a:srgbClr val="333333"/>
                          </a:solidFill>
                          <a:latin typeface="Microsoft YaHei" panose="020B0503020204020204" charset="-122"/>
                        </a:rPr>
                        <a:t>边界条件处理</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6</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7</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8</a:t>
                      </a:r>
                      <a:endParaRPr sz="1100" b="0">
                        <a:solidFill>
                          <a:srgbClr val="333333"/>
                        </a:solidFill>
                        <a:latin typeface="Microsoft YaHei" panose="020B0503020204020204" charset="-122"/>
                      </a:endParaRPr>
                    </a:p>
                  </a:txBody>
                  <a:tcPr marL="50800" marR="50800" marT="25400" marB="25400" anchor="ctr">
                    <a:solidFill>
                      <a:srgbClr val="F8F8F8"/>
                    </a:solidFill>
                  </a:tcPr>
                </a:tc>
              </a:tr>
              <a:tr h="384048">
                <a:tc>
                  <a:txBody>
                    <a:bodyPr/>
                    <a:lstStyle/>
                    <a:p>
                      <a:pPr algn="l">
                        <a:spcBef>
                          <a:spcPts val="0"/>
                        </a:spcBef>
                        <a:spcAft>
                          <a:spcPts val="0"/>
                        </a:spcAft>
                      </a:pPr>
                      <a:r>
                        <a:rPr sz="1100" b="0">
                          <a:solidFill>
                            <a:srgbClr val="333333"/>
                          </a:solidFill>
                          <a:latin typeface="Microsoft YaHei" panose="020B0503020204020204" charset="-122"/>
                        </a:rPr>
                        <a:t>需求可追溯性</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4</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8</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9</a:t>
                      </a:r>
                      <a:endParaRPr sz="1100" b="0">
                        <a:solidFill>
                          <a:srgbClr val="333333"/>
                        </a:solidFill>
                        <a:latin typeface="Microsoft YaHei" panose="020B0503020204020204" charset="-122"/>
                      </a:endParaRPr>
                    </a:p>
                  </a:txBody>
                  <a:tcPr marL="50800" marR="50800" marT="25400" marB="25400" anchor="ctr"/>
                </a:tc>
              </a:tr>
              <a:tr h="384048">
                <a:tc>
                  <a:txBody>
                    <a:bodyPr/>
                    <a:lstStyle/>
                    <a:p>
                      <a:pPr algn="l">
                        <a:spcBef>
                          <a:spcPts val="0"/>
                        </a:spcBef>
                        <a:spcAft>
                          <a:spcPts val="0"/>
                        </a:spcAft>
                      </a:pPr>
                      <a:r>
                        <a:rPr sz="1100" b="0">
                          <a:solidFill>
                            <a:srgbClr val="333333"/>
                          </a:solidFill>
                          <a:latin typeface="Microsoft YaHei" panose="020B0503020204020204" charset="-122"/>
                        </a:rPr>
                        <a:t>可维护性</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7</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7</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8</a:t>
                      </a:r>
                      <a:endParaRPr sz="1100" b="0">
                        <a:solidFill>
                          <a:srgbClr val="333333"/>
                        </a:solidFill>
                        <a:latin typeface="Microsoft YaHei" panose="020B0503020204020204" charset="-122"/>
                      </a:endParaRPr>
                    </a:p>
                  </a:txBody>
                  <a:tcPr marL="50800" marR="50800" marT="25400" marB="25400" anchor="ctr">
                    <a:solidFill>
                      <a:srgbClr val="F8F8F8"/>
                    </a:solidFill>
                  </a:tcPr>
                </a:tc>
              </a:tr>
              <a:tr h="384048">
                <a:tc>
                  <a:txBody>
                    <a:bodyPr/>
                    <a:lstStyle/>
                    <a:p>
                      <a:pPr algn="l">
                        <a:spcBef>
                          <a:spcPts val="0"/>
                        </a:spcBef>
                        <a:spcAft>
                          <a:spcPts val="0"/>
                        </a:spcAft>
                      </a:pPr>
                      <a:r>
                        <a:rPr sz="1100" b="0">
                          <a:solidFill>
                            <a:srgbClr val="333333"/>
                          </a:solidFill>
                          <a:latin typeface="Microsoft YaHei" panose="020B0503020204020204" charset="-122"/>
                        </a:rPr>
                        <a:t>可扩展性</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5</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6</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8</a:t>
                      </a:r>
                      <a:endParaRPr sz="1100" b="0">
                        <a:solidFill>
                          <a:srgbClr val="333333"/>
                        </a:solidFill>
                        <a:latin typeface="Microsoft YaHei" panose="020B0503020204020204" charset="-122"/>
                      </a:endParaRPr>
                    </a:p>
                  </a:txBody>
                  <a:tcPr marL="50800" marR="50800" marT="25400" marB="25400" anchor="ctr"/>
                </a:tc>
              </a:tr>
              <a:tr h="384048">
                <a:tc>
                  <a:txBody>
                    <a:bodyPr/>
                    <a:lstStyle/>
                    <a:p>
                      <a:pPr algn="l">
                        <a:spcBef>
                          <a:spcPts val="0"/>
                        </a:spcBef>
                        <a:spcAft>
                          <a:spcPts val="0"/>
                        </a:spcAft>
                      </a:pPr>
                      <a:r>
                        <a:rPr sz="1100" b="0">
                          <a:solidFill>
                            <a:srgbClr val="333333"/>
                          </a:solidFill>
                          <a:latin typeface="Microsoft YaHei" panose="020B0503020204020204" charset="-122"/>
                        </a:rPr>
                        <a:t>开发效率</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9</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6</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7</a:t>
                      </a:r>
                      <a:endParaRPr sz="1100" b="0">
                        <a:solidFill>
                          <a:srgbClr val="333333"/>
                        </a:solidFill>
                        <a:latin typeface="Microsoft YaHei" panose="020B0503020204020204" charset="-122"/>
                      </a:endParaRPr>
                    </a:p>
                  </a:txBody>
                  <a:tcPr marL="50800" marR="50800" marT="25400" marB="25400" anchor="ctr">
                    <a:solidFill>
                      <a:srgbClr val="F8F8F8"/>
                    </a:solidFill>
                  </a:tcPr>
                </a:tc>
              </a:tr>
              <a:tr h="384048">
                <a:tc>
                  <a:txBody>
                    <a:bodyPr/>
                    <a:lstStyle/>
                    <a:p>
                      <a:pPr algn="l">
                        <a:spcBef>
                          <a:spcPts val="0"/>
                        </a:spcBef>
                        <a:spcAft>
                          <a:spcPts val="0"/>
                        </a:spcAft>
                      </a:pPr>
                      <a:r>
                        <a:rPr sz="1100" b="1">
                          <a:solidFill>
                            <a:srgbClr val="333333"/>
                          </a:solidFill>
                          <a:latin typeface="Microsoft YaHei" panose="020B0503020204020204" charset="-122"/>
                        </a:rPr>
                        <a:t>合计 (/80)</a:t>
                      </a:r>
                      <a:endParaRPr sz="1100" b="1">
                        <a:solidFill>
                          <a:srgbClr val="333333"/>
                        </a:solidFill>
                        <a:latin typeface="Microsoft YaHei" panose="020B0503020204020204" charset="-122"/>
                      </a:endParaRPr>
                    </a:p>
                  </a:txBody>
                  <a:tcPr marL="50800" marR="50800" marT="25400" marB="25400" anchor="ctr">
                    <a:solidFill>
                      <a:srgbClr val="E0E0E0"/>
                    </a:solidFill>
                  </a:tcPr>
                </a:tc>
                <a:tc>
                  <a:txBody>
                    <a:bodyPr/>
                    <a:lstStyle/>
                    <a:p>
                      <a:pPr algn="ctr">
                        <a:spcBef>
                          <a:spcPts val="0"/>
                        </a:spcBef>
                        <a:spcAft>
                          <a:spcPts val="0"/>
                        </a:spcAft>
                      </a:pPr>
                      <a:r>
                        <a:rPr sz="1100" b="1">
                          <a:solidFill>
                            <a:srgbClr val="333333"/>
                          </a:solidFill>
                          <a:latin typeface="Microsoft YaHei" panose="020B0503020204020204" charset="-122"/>
                        </a:rPr>
                        <a:t>44</a:t>
                      </a:r>
                      <a:endParaRPr sz="1100" b="1">
                        <a:solidFill>
                          <a:srgbClr val="333333"/>
                        </a:solidFill>
                        <a:latin typeface="Microsoft YaHei" panose="020B0503020204020204" charset="-122"/>
                      </a:endParaRPr>
                    </a:p>
                  </a:txBody>
                  <a:tcPr marL="50800" marR="50800" marT="25400" marB="25400" anchor="ctr">
                    <a:solidFill>
                      <a:srgbClr val="E0E0E0"/>
                    </a:solidFill>
                  </a:tcPr>
                </a:tc>
                <a:tc>
                  <a:txBody>
                    <a:bodyPr/>
                    <a:lstStyle/>
                    <a:p>
                      <a:pPr algn="ctr">
                        <a:spcBef>
                          <a:spcPts val="0"/>
                        </a:spcBef>
                        <a:spcAft>
                          <a:spcPts val="0"/>
                        </a:spcAft>
                      </a:pPr>
                      <a:r>
                        <a:rPr sz="1100" b="1">
                          <a:solidFill>
                            <a:srgbClr val="333333"/>
                          </a:solidFill>
                          <a:latin typeface="Microsoft YaHei" panose="020B0503020204020204" charset="-122"/>
                        </a:rPr>
                        <a:t>56</a:t>
                      </a:r>
                      <a:endParaRPr sz="1100" b="1">
                        <a:solidFill>
                          <a:srgbClr val="333333"/>
                        </a:solidFill>
                        <a:latin typeface="Microsoft YaHei" panose="020B0503020204020204" charset="-122"/>
                      </a:endParaRPr>
                    </a:p>
                  </a:txBody>
                  <a:tcPr marL="50800" marR="50800" marT="25400" marB="25400" anchor="ctr">
                    <a:solidFill>
                      <a:srgbClr val="E0E0E0"/>
                    </a:solidFill>
                  </a:tcPr>
                </a:tc>
                <a:tc>
                  <a:txBody>
                    <a:bodyPr/>
                    <a:lstStyle/>
                    <a:p>
                      <a:pPr algn="ctr">
                        <a:spcBef>
                          <a:spcPts val="0"/>
                        </a:spcBef>
                        <a:spcAft>
                          <a:spcPts val="0"/>
                        </a:spcAft>
                      </a:pPr>
                      <a:r>
                        <a:rPr sz="1100" b="1">
                          <a:solidFill>
                            <a:srgbClr val="333333"/>
                          </a:solidFill>
                          <a:latin typeface="Microsoft YaHei" panose="020B0503020204020204" charset="-122"/>
                        </a:rPr>
                        <a:t>67</a:t>
                      </a:r>
                      <a:endParaRPr sz="1100" b="1">
                        <a:solidFill>
                          <a:srgbClr val="333333"/>
                        </a:solidFill>
                        <a:latin typeface="Microsoft YaHei" panose="020B0503020204020204" charset="-122"/>
                      </a:endParaRPr>
                    </a:p>
                  </a:txBody>
                  <a:tcPr marL="50800" marR="50800" marT="25400" marB="25400" anchor="ctr">
                    <a:solidFill>
                      <a:srgbClr val="E0E0E0"/>
                    </a:solidFill>
                  </a:tcPr>
                </a:tc>
              </a:tr>
            </a:tbl>
          </a:graphicData>
        </a:graphic>
      </p:graphicFrame>
      <p:sp>
        <p:nvSpPr>
          <p:cNvPr id="5" name="TextBox 4"/>
          <p:cNvSpPr txBox="1"/>
          <p:nvPr/>
        </p:nvSpPr>
        <p:spPr>
          <a:xfrm>
            <a:off x="6949440" y="914400"/>
            <a:ext cx="3840480" cy="321945"/>
          </a:xfrm>
          <a:prstGeom prst="rect">
            <a:avLst/>
          </a:prstGeom>
          <a:noFill/>
        </p:spPr>
        <p:txBody>
          <a:bodyPr wrap="square">
            <a:spAutoFit/>
          </a:bodyPr>
          <a:lstStyle/>
          <a:p>
            <a:pPr algn="l"/>
            <a:r>
              <a:rPr lang="zh-CN" sz="1500" b="1">
                <a:solidFill>
                  <a:srgbClr val="333333"/>
                </a:solidFill>
                <a:latin typeface="Microsoft YaHei" panose="020B0503020204020204" charset="-122"/>
                <a:ea typeface="Microsoft YaHei" panose="020B0503020204020204" charset="-122"/>
              </a:rPr>
              <a:t>潜在</a:t>
            </a:r>
            <a:r>
              <a:rPr sz="1500" b="1">
                <a:solidFill>
                  <a:srgbClr val="333333"/>
                </a:solidFill>
                <a:latin typeface="Microsoft YaHei" panose="020B0503020204020204" charset="-122"/>
                <a:ea typeface="Microsoft YaHei" panose="020B0503020204020204" charset="-122"/>
              </a:rPr>
              <a:t>适用场景</a:t>
            </a:r>
            <a:endParaRPr sz="1500" b="1">
              <a:solidFill>
                <a:srgbClr val="333333"/>
              </a:solidFill>
              <a:latin typeface="Microsoft YaHei" panose="020B0503020204020204" charset="-122"/>
            </a:endParaRPr>
          </a:p>
        </p:txBody>
      </p:sp>
      <p:sp>
        <p:nvSpPr>
          <p:cNvPr id="6" name="Rectangle 5"/>
          <p:cNvSpPr/>
          <p:nvPr/>
        </p:nvSpPr>
        <p:spPr>
          <a:xfrm>
            <a:off x="6949440" y="1234440"/>
            <a:ext cx="3840480" cy="5080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949440" y="1417320"/>
            <a:ext cx="3840480" cy="1096645"/>
          </a:xfrm>
          <a:prstGeom prst="rect">
            <a:avLst/>
          </a:prstGeom>
          <a:noFill/>
        </p:spPr>
        <p:txBody>
          <a:bodyPr wrap="square">
            <a:spAutoFit/>
          </a:bodyPr>
          <a:lstStyle/>
          <a:p>
            <a:pPr algn="l">
              <a:spcAft>
                <a:spcPts val="300"/>
              </a:spcAft>
            </a:pPr>
            <a:r>
              <a:rPr sz="1300" b="1">
                <a:solidFill>
                  <a:srgbClr val="787878"/>
                </a:solidFill>
                <a:latin typeface="Microsoft YaHei" panose="020B0503020204020204" charset="-122"/>
                <a:ea typeface="Microsoft YaHei" panose="020B0503020204020204" charset="-122"/>
              </a:rPr>
              <a:t>Vanilla Claude Code</a:t>
            </a:r>
            <a:endParaRPr sz="1300" b="1">
              <a:solidFill>
                <a:srgbClr val="787878"/>
              </a:solidFill>
              <a:latin typeface="Microsoft YaHei" panose="020B0503020204020204" charset="-122"/>
            </a:endParaRPr>
          </a:p>
          <a:p>
            <a:pPr algn="l">
              <a:spcAft>
                <a:spcPts val="300"/>
              </a:spcAft>
            </a:pPr>
            <a:r>
              <a:rPr sz="1100" b="1">
                <a:solidFill>
                  <a:srgbClr val="333333"/>
                </a:solidFill>
                <a:latin typeface="Microsoft YaHei" panose="020B0503020204020204" charset="-122"/>
                <a:ea typeface="Microsoft YaHei" panose="020B0503020204020204" charset="-122"/>
              </a:rPr>
              <a:t>44/80  </a:t>
            </a:r>
            <a:r>
              <a:rPr lang="zh-CN" sz="1100" b="1">
                <a:solidFill>
                  <a:srgbClr val="333333"/>
                </a:solidFill>
                <a:latin typeface="Microsoft YaHei" panose="020B0503020204020204" charset="-122"/>
                <a:ea typeface="Microsoft YaHei" panose="020B0503020204020204" charset="-122"/>
              </a:rPr>
              <a:t>潜在</a:t>
            </a:r>
            <a:r>
              <a:rPr sz="1100" b="1">
                <a:solidFill>
                  <a:srgbClr val="333333"/>
                </a:solidFill>
                <a:latin typeface="Microsoft YaHei" panose="020B0503020204020204" charset="-122"/>
                <a:ea typeface="Microsoft YaHei" panose="020B0503020204020204" charset="-122"/>
              </a:rPr>
              <a:t>适用：</a:t>
            </a:r>
            <a:endParaRPr sz="1100" b="1">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内部工具脚本、PoC 验证</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Hackathon / 技术预研</a:t>
            </a:r>
            <a:endParaRPr sz="1100" b="0">
              <a:solidFill>
                <a:srgbClr val="333333"/>
              </a:solidFill>
              <a:latin typeface="Microsoft YaHei" panose="020B0503020204020204" charset="-122"/>
            </a:endParaRPr>
          </a:p>
          <a:p>
            <a:pPr algn="l">
              <a:spcAft>
                <a:spcPts val="800"/>
              </a:spcAft>
            </a:pPr>
            <a:r>
              <a:rPr sz="1100" b="0">
                <a:solidFill>
                  <a:srgbClr val="333333"/>
                </a:solidFill>
                <a:latin typeface="Microsoft YaHei" panose="020B0503020204020204" charset="-122"/>
                <a:ea typeface="Microsoft YaHei" panose="020B0503020204020204" charset="-122"/>
              </a:rPr>
              <a:t>• 无跨团队协作需求</a:t>
            </a:r>
            <a:endParaRPr sz="1100" b="0">
              <a:solidFill>
                <a:srgbClr val="333333"/>
              </a:solidFill>
              <a:latin typeface="Microsoft YaHei" panose="020B0503020204020204" charset="-122"/>
            </a:endParaRPr>
          </a:p>
        </p:txBody>
      </p:sp>
      <p:sp>
        <p:nvSpPr>
          <p:cNvPr id="8" name="TextBox 7"/>
          <p:cNvSpPr txBox="1"/>
          <p:nvPr/>
        </p:nvSpPr>
        <p:spPr>
          <a:xfrm>
            <a:off x="6949440" y="2697480"/>
            <a:ext cx="3840480" cy="901700"/>
          </a:xfrm>
          <a:prstGeom prst="rect">
            <a:avLst/>
          </a:prstGeom>
          <a:noFill/>
        </p:spPr>
        <p:txBody>
          <a:bodyPr wrap="square">
            <a:spAutoFit/>
          </a:bodyPr>
          <a:lstStyle/>
          <a:p>
            <a:pPr algn="l">
              <a:spcAft>
                <a:spcPts val="300"/>
              </a:spcAft>
            </a:pPr>
            <a:r>
              <a:rPr sz="1300" b="1">
                <a:solidFill>
                  <a:srgbClr val="0078D4"/>
                </a:solidFill>
                <a:latin typeface="Microsoft YaHei" panose="020B0503020204020204" charset="-122"/>
                <a:ea typeface="Microsoft YaHei" panose="020B0503020204020204" charset="-122"/>
              </a:rPr>
              <a:t>原生 OpenSpec</a:t>
            </a:r>
            <a:endParaRPr sz="1300" b="1">
              <a:solidFill>
                <a:srgbClr val="0078D4"/>
              </a:solidFill>
              <a:latin typeface="Microsoft YaHei" panose="020B0503020204020204" charset="-122"/>
            </a:endParaRPr>
          </a:p>
          <a:p>
            <a:pPr algn="l">
              <a:spcAft>
                <a:spcPts val="300"/>
              </a:spcAft>
            </a:pPr>
            <a:r>
              <a:rPr sz="1100" b="1">
                <a:solidFill>
                  <a:srgbClr val="333333"/>
                </a:solidFill>
                <a:latin typeface="Microsoft YaHei" panose="020B0503020204020204" charset="-122"/>
                <a:ea typeface="Microsoft YaHei" panose="020B0503020204020204" charset="-122"/>
              </a:rPr>
              <a:t>56/80  </a:t>
            </a:r>
            <a:r>
              <a:rPr lang="zh-CN" sz="1100" b="1">
                <a:solidFill>
                  <a:srgbClr val="333333"/>
                </a:solidFill>
                <a:latin typeface="Microsoft YaHei" panose="020B0503020204020204" charset="-122"/>
                <a:ea typeface="Microsoft YaHei" panose="020B0503020204020204" charset="-122"/>
              </a:rPr>
              <a:t>潜在</a:t>
            </a:r>
            <a:r>
              <a:rPr sz="1100" b="1">
                <a:solidFill>
                  <a:srgbClr val="333333"/>
                </a:solidFill>
                <a:latin typeface="Microsoft YaHei" panose="020B0503020204020204" charset="-122"/>
                <a:ea typeface="Microsoft YaHei" panose="020B0503020204020204" charset="-122"/>
              </a:rPr>
              <a:t>适用：</a:t>
            </a:r>
            <a:endParaRPr sz="1100" b="1">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中等规模功能</a:t>
            </a:r>
            <a:r>
              <a:rPr lang="zh-CN" sz="1100" b="0">
                <a:solidFill>
                  <a:srgbClr val="333333"/>
                </a:solidFill>
                <a:latin typeface="Microsoft YaHei" panose="020B0503020204020204" charset="-122"/>
                <a:ea typeface="Microsoft YaHei" panose="020B0503020204020204" charset="-122"/>
              </a:rPr>
              <a:t>生产级别</a:t>
            </a:r>
            <a:r>
              <a:rPr sz="1100" b="0">
                <a:solidFill>
                  <a:srgbClr val="333333"/>
                </a:solidFill>
                <a:latin typeface="Microsoft YaHei" panose="020B0503020204020204" charset="-122"/>
                <a:ea typeface="Microsoft YaHei" panose="020B0503020204020204" charset="-122"/>
              </a:rPr>
              <a:t>模块开发</a:t>
            </a:r>
            <a:endParaRPr sz="1100" b="0">
              <a:solidFill>
                <a:srgbClr val="333333"/>
              </a:solidFill>
              <a:latin typeface="Microsoft YaHei" panose="020B0503020204020204" charset="-122"/>
            </a:endParaRPr>
          </a:p>
          <a:p>
            <a:pPr algn="l">
              <a:spcAft>
                <a:spcPts val="800"/>
              </a:spcAft>
            </a:pPr>
            <a:r>
              <a:rPr sz="1100" b="0">
                <a:solidFill>
                  <a:srgbClr val="333333"/>
                </a:solidFill>
                <a:latin typeface="Microsoft YaHei" panose="020B0503020204020204" charset="-122"/>
                <a:ea typeface="Microsoft YaHei" panose="020B0503020204020204" charset="-122"/>
              </a:rPr>
              <a:t>• 迭代周期较短的版本需求</a:t>
            </a:r>
            <a:endParaRPr sz="1100" b="0">
              <a:solidFill>
                <a:srgbClr val="333333"/>
              </a:solidFill>
              <a:latin typeface="Microsoft YaHei" panose="020B0503020204020204" charset="-122"/>
            </a:endParaRPr>
          </a:p>
        </p:txBody>
      </p:sp>
      <p:sp>
        <p:nvSpPr>
          <p:cNvPr id="9" name="TextBox 8"/>
          <p:cNvSpPr txBox="1"/>
          <p:nvPr/>
        </p:nvSpPr>
        <p:spPr>
          <a:xfrm>
            <a:off x="6949440" y="3977640"/>
            <a:ext cx="3840480" cy="901700"/>
          </a:xfrm>
          <a:prstGeom prst="rect">
            <a:avLst/>
          </a:prstGeom>
          <a:noFill/>
        </p:spPr>
        <p:txBody>
          <a:bodyPr wrap="square">
            <a:spAutoFit/>
          </a:bodyPr>
          <a:lstStyle/>
          <a:p>
            <a:pPr algn="l">
              <a:spcAft>
                <a:spcPts val="300"/>
              </a:spcAft>
            </a:pPr>
            <a:r>
              <a:rPr sz="1300" b="1">
                <a:solidFill>
                  <a:srgbClr val="107C10"/>
                </a:solidFill>
                <a:latin typeface="Microsoft YaHei" panose="020B0503020204020204" charset="-122"/>
                <a:ea typeface="Microsoft YaHei" panose="020B0503020204020204" charset="-122"/>
              </a:rPr>
              <a:t>OpenSpec-HW2</a:t>
            </a:r>
            <a:endParaRPr sz="1300" b="1">
              <a:solidFill>
                <a:srgbClr val="107C10"/>
              </a:solidFill>
              <a:latin typeface="Microsoft YaHei" panose="020B0503020204020204" charset="-122"/>
            </a:endParaRPr>
          </a:p>
          <a:p>
            <a:pPr algn="l">
              <a:spcAft>
                <a:spcPts val="300"/>
              </a:spcAft>
            </a:pPr>
            <a:r>
              <a:rPr sz="1100" b="1">
                <a:solidFill>
                  <a:srgbClr val="333333"/>
                </a:solidFill>
                <a:latin typeface="Microsoft YaHei" panose="020B0503020204020204" charset="-122"/>
                <a:ea typeface="Microsoft YaHei" panose="020B0503020204020204" charset="-122"/>
              </a:rPr>
              <a:t>67/80  </a:t>
            </a:r>
            <a:r>
              <a:rPr lang="zh-CN" sz="1100" b="1">
                <a:solidFill>
                  <a:srgbClr val="333333"/>
                </a:solidFill>
                <a:latin typeface="Microsoft YaHei" panose="020B0503020204020204" charset="-122"/>
                <a:ea typeface="Microsoft YaHei" panose="020B0503020204020204" charset="-122"/>
              </a:rPr>
              <a:t>潜在</a:t>
            </a:r>
            <a:r>
              <a:rPr sz="1100" b="1">
                <a:solidFill>
                  <a:srgbClr val="333333"/>
                </a:solidFill>
                <a:latin typeface="Microsoft YaHei" panose="020B0503020204020204" charset="-122"/>
                <a:ea typeface="Microsoft YaHei" panose="020B0503020204020204" charset="-122"/>
              </a:rPr>
              <a:t>适用：</a:t>
            </a:r>
            <a:endParaRPr sz="1100" b="1">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光/GTS/智驾等团队</a:t>
            </a:r>
            <a:r>
              <a:rPr lang="zh-CN" sz="1100" b="0">
                <a:solidFill>
                  <a:srgbClr val="333333"/>
                </a:solidFill>
                <a:latin typeface="Microsoft YaHei" panose="020B0503020204020204" charset="-122"/>
                <a:ea typeface="Microsoft YaHei" panose="020B0503020204020204" charset="-122"/>
              </a:rPr>
              <a:t>多人</a:t>
            </a:r>
            <a:r>
              <a:rPr sz="1100" b="0">
                <a:solidFill>
                  <a:srgbClr val="333333"/>
                </a:solidFill>
                <a:latin typeface="Microsoft YaHei" panose="020B0503020204020204" charset="-122"/>
                <a:ea typeface="Microsoft YaHei" panose="020B0503020204020204" charset="-122"/>
              </a:rPr>
              <a:t>协作</a:t>
            </a:r>
            <a:r>
              <a:rPr lang="zh-CN" sz="1100" b="0">
                <a:solidFill>
                  <a:srgbClr val="333333"/>
                </a:solidFill>
                <a:latin typeface="Microsoft YaHei" panose="020B0503020204020204" charset="-122"/>
                <a:ea typeface="Microsoft YaHei" panose="020B0503020204020204" charset="-122"/>
              </a:rPr>
              <a:t>生产级别开发</a:t>
            </a:r>
            <a:endParaRPr sz="1100" b="0">
              <a:solidFill>
                <a:srgbClr val="333333"/>
              </a:solidFill>
              <a:latin typeface="Microsoft YaHei" panose="020B0503020204020204" charset="-122"/>
            </a:endParaRPr>
          </a:p>
          <a:p>
            <a:pPr algn="l">
              <a:spcAft>
                <a:spcPts val="800"/>
              </a:spcAft>
            </a:pPr>
            <a:r>
              <a:rPr sz="1100" b="0">
                <a:solidFill>
                  <a:srgbClr val="333333"/>
                </a:solidFill>
                <a:latin typeface="Microsoft YaHei" panose="020B0503020204020204" charset="-122"/>
                <a:ea typeface="Microsoft YaHei" panose="020B0503020204020204" charset="-122"/>
              </a:rPr>
              <a:t>• 长期演进 / 跨团队交接</a:t>
            </a:r>
            <a:endParaRPr sz="1100" b="0">
              <a:solidFill>
                <a:srgbClr val="333333"/>
              </a:solidFill>
              <a:latin typeface="Microsoft YaHei" panose="020B0503020204020204" charset="-122"/>
            </a:endParaRPr>
          </a:p>
        </p:txBody>
      </p:sp>
      <p:sp>
        <p:nvSpPr>
          <p:cNvPr id="10" name="Rectangle 9"/>
          <p:cNvSpPr/>
          <p:nvPr/>
        </p:nvSpPr>
        <p:spPr>
          <a:xfrm>
            <a:off x="457200" y="5074920"/>
            <a:ext cx="10332720" cy="50800"/>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5166360"/>
            <a:ext cx="10332720" cy="699135"/>
          </a:xfrm>
          <a:prstGeom prst="rect">
            <a:avLst/>
          </a:prstGeom>
          <a:noFill/>
        </p:spPr>
        <p:txBody>
          <a:bodyPr wrap="square">
            <a:spAutoFit/>
          </a:bodyPr>
          <a:lstStyle/>
          <a:p>
            <a:pPr algn="l">
              <a:spcAft>
                <a:spcPts val="300"/>
              </a:spcAft>
            </a:pPr>
            <a:r>
              <a:rPr sz="1300" b="1">
                <a:solidFill>
                  <a:srgbClr val="107C10"/>
                </a:solidFill>
                <a:latin typeface="Microsoft YaHei" panose="020B0503020204020204" charset="-122"/>
                <a:ea typeface="Microsoft YaHei" panose="020B0503020204020204" charset="-122"/>
              </a:rPr>
              <a:t>核心结论</a:t>
            </a:r>
            <a:endParaRPr sz="1300" b="1">
              <a:solidFill>
                <a:srgbClr val="107C10"/>
              </a:solidFill>
              <a:latin typeface="Microsoft YaHei" panose="020B0503020204020204" charset="-122"/>
            </a:endParaRPr>
          </a:p>
          <a:p>
            <a:pPr algn="l">
              <a:spcAft>
                <a:spcPts val="200"/>
              </a:spcAft>
            </a:pPr>
            <a:r>
              <a:rPr sz="1200" b="0">
                <a:solidFill>
                  <a:srgbClr val="444444"/>
                </a:solidFill>
                <a:latin typeface="Microsoft YaHei" panose="020B0503020204020204" charset="-122"/>
                <a:ea typeface="Microsoft YaHei" panose="020B0503020204020204" charset="-122"/>
              </a:rPr>
              <a:t>规格化程度直接决定最终质量。Vanilla（无规格）→ 原生 OpenSpec（4 artifact）→ </a:t>
            </a:r>
            <a:r>
              <a:rPr lang="en-US" sz="1200" b="0">
                <a:solidFill>
                  <a:srgbClr val="444444"/>
                </a:solidFill>
                <a:latin typeface="Microsoft YaHei" panose="020B0503020204020204" charset="-122"/>
                <a:ea typeface="Microsoft YaHei" panose="020B0503020204020204" charset="-122"/>
              </a:rPr>
              <a:t>OpenSpec-</a:t>
            </a:r>
            <a:r>
              <a:rPr sz="1200" b="0">
                <a:solidFill>
                  <a:srgbClr val="444444"/>
                </a:solidFill>
                <a:latin typeface="Microsoft YaHei" panose="020B0503020204020204" charset="-122"/>
                <a:ea typeface="Microsoft YaHei" panose="020B0503020204020204" charset="-122"/>
              </a:rPr>
              <a:t>HW2（5 artifact + Usecases），三者总分 44→56→67，呈阶梯式提升</a:t>
            </a:r>
            <a:r>
              <a:rPr lang="en-US" sz="1200" b="0">
                <a:solidFill>
                  <a:srgbClr val="444444"/>
                </a:solidFill>
                <a:latin typeface="Microsoft YaHei" panose="020B0503020204020204" charset="-122"/>
                <a:ea typeface="Microsoft YaHei" panose="020B0503020204020204" charset="-122"/>
              </a:rPr>
              <a:t> </a:t>
            </a:r>
            <a:r>
              <a:rPr sz="1200" b="0">
                <a:solidFill>
                  <a:srgbClr val="444444"/>
                </a:solidFill>
                <a:latin typeface="Microsoft YaHei" panose="020B0503020204020204" charset="-122"/>
                <a:ea typeface="Microsoft YaHei" panose="020B0503020204020204" charset="-122"/>
              </a:rPr>
              <a:t>OpenSpec-HW2 的 Usecases 步骤是</a:t>
            </a:r>
            <a:r>
              <a:rPr lang="zh-CN" sz="1200" b="0">
                <a:solidFill>
                  <a:srgbClr val="444444"/>
                </a:solidFill>
                <a:latin typeface="Microsoft YaHei" panose="020B0503020204020204" charset="-122"/>
                <a:ea typeface="Microsoft YaHei" panose="020B0503020204020204" charset="-122"/>
              </a:rPr>
              <a:t>符合华为实践并且带来实质性提升的</a:t>
            </a:r>
            <a:endParaRPr sz="1200" b="0">
              <a:solidFill>
                <a:srgbClr val="444444"/>
              </a:solidFill>
              <a:latin typeface="Microsoft YaHei" panose="020B0503020204020204" charset="-122"/>
            </a:endParaRPr>
          </a:p>
        </p:txBody>
      </p:sp>
      <p:sp>
        <p:nvSpPr>
          <p:cNvPr id="12" name="TextBox 11"/>
          <p:cNvSpPr txBox="1"/>
          <p:nvPr/>
        </p:nvSpPr>
        <p:spPr>
          <a:xfrm>
            <a:off x="11094085" y="6400800"/>
            <a:ext cx="914400" cy="365760"/>
          </a:xfrm>
          <a:prstGeom prst="rect">
            <a:avLst/>
          </a:prstGeom>
          <a:noFill/>
        </p:spPr>
        <p:txBody>
          <a:bodyPr wrap="square">
            <a:spAutoFit/>
          </a:bodyPr>
          <a:lstStyle/>
          <a:p>
            <a:pPr algn="r"/>
            <a:r>
              <a:rPr sz="1100" b="0">
                <a:solidFill>
                  <a:srgbClr val="999999"/>
                </a:solidFill>
                <a:latin typeface="Microsoft YaHei" panose="020B0503020204020204" charset="-122"/>
                <a:ea typeface="Microsoft YaHei" panose="020B0503020204020204" charset="-122"/>
              </a:rPr>
              <a:t>10/41</a:t>
            </a:r>
            <a:endParaRPr sz="1100" b="0">
              <a:solidFill>
                <a:srgbClr val="999999"/>
              </a:solidFill>
              <a:latin typeface="Microsoft YaHei" panose="020B0503020204020204" charset="-122"/>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54864"/>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829800" cy="521970"/>
          </a:xfrm>
          <a:prstGeom prst="rect">
            <a:avLst/>
          </a:prstGeom>
          <a:noFill/>
        </p:spPr>
        <p:txBody>
          <a:bodyPr wrap="square">
            <a:spAutoFit/>
          </a:bodyPr>
          <a:lstStyle/>
          <a:p>
            <a:pPr algn="l"/>
            <a:r>
              <a:rPr lang="zh-CN" sz="2800" b="1">
                <a:solidFill>
                  <a:srgbClr val="1A1A2E"/>
                </a:solidFill>
                <a:latin typeface="Microsoft YaHei" panose="020B0503020204020204" charset="-122"/>
                <a:ea typeface="Microsoft YaHei" panose="020B0503020204020204" charset="-122"/>
                <a:sym typeface="+mn-ea"/>
              </a:rPr>
              <a:t>实验</a:t>
            </a:r>
            <a:r>
              <a:rPr lang="en-US" altLang="zh-CN" sz="2800" b="1">
                <a:solidFill>
                  <a:srgbClr val="1A1A2E"/>
                </a:solidFill>
                <a:latin typeface="Microsoft YaHei" panose="020B0503020204020204" charset="-122"/>
                <a:ea typeface="Microsoft YaHei" panose="020B0503020204020204" charset="-122"/>
                <a:sym typeface="+mn-ea"/>
              </a:rPr>
              <a:t>2- </a:t>
            </a:r>
            <a:r>
              <a:rPr sz="2800" b="1">
                <a:solidFill>
                  <a:srgbClr val="1A1A2E"/>
                </a:solidFill>
                <a:latin typeface="Microsoft YaHei" panose="020B0503020204020204" charset="-122"/>
                <a:ea typeface="Microsoft YaHei" panose="020B0503020204020204" charset="-122"/>
              </a:rPr>
              <a:t>需求变更实验：OpenSpec-HW2 的迭代维护优势</a:t>
            </a:r>
            <a:endParaRPr sz="2800" b="1">
              <a:solidFill>
                <a:srgbClr val="1A1A2E"/>
              </a:solidFill>
              <a:latin typeface="Microsoft YaHei" panose="020B0503020204020204" charset="-122"/>
            </a:endParaRPr>
          </a:p>
        </p:txBody>
      </p:sp>
      <p:sp>
        <p:nvSpPr>
          <p:cNvPr id="4" name="Rectangle 3"/>
          <p:cNvSpPr/>
          <p:nvPr/>
        </p:nvSpPr>
        <p:spPr>
          <a:xfrm>
            <a:off x="731520" y="960120"/>
            <a:ext cx="1097280"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062355"/>
            <a:ext cx="10058400" cy="583565"/>
          </a:xfrm>
          <a:prstGeom prst="rect">
            <a:avLst/>
          </a:prstGeom>
          <a:noFill/>
        </p:spPr>
        <p:txBody>
          <a:bodyPr wrap="square">
            <a:spAutoFit/>
          </a:bodyPr>
          <a:lstStyle/>
          <a:p>
            <a:r>
              <a:rPr sz="1600">
                <a:solidFill>
                  <a:srgbClr val="1A1A2E"/>
                </a:solidFill>
                <a:latin typeface="Microsoft YaHei" panose="020B0503020204020204" charset="-122"/>
                <a:ea typeface="Microsoft YaHei" panose="020B0503020204020204" charset="-122"/>
              </a:rPr>
              <a:t>前面展示了初始构建的对比。但软件 80% 的成本在维护阶段需求变更时，</a:t>
            </a:r>
            <a:r>
              <a:rPr lang="en-US" sz="1600">
                <a:solidFill>
                  <a:srgbClr val="1A1A2E"/>
                </a:solidFill>
                <a:latin typeface="Microsoft YaHei" panose="020B0503020204020204" charset="-122"/>
                <a:ea typeface="Microsoft YaHei" panose="020B0503020204020204" charset="-122"/>
              </a:rPr>
              <a:t>Vanilla Claude Code</a:t>
            </a:r>
            <a:r>
              <a:rPr lang="zh-CN" altLang="en-US" sz="1600">
                <a:solidFill>
                  <a:srgbClr val="1A1A2E"/>
                </a:solidFill>
                <a:latin typeface="Microsoft YaHei" panose="020B0503020204020204" charset="-122"/>
                <a:ea typeface="Microsoft YaHei" panose="020B0503020204020204" charset="-122"/>
              </a:rPr>
              <a:t>和</a:t>
            </a:r>
            <a:r>
              <a:rPr lang="en-US" altLang="zh-CN" sz="1600">
                <a:solidFill>
                  <a:srgbClr val="1A1A2E"/>
                </a:solidFill>
                <a:latin typeface="Microsoft YaHei" panose="020B0503020204020204" charset="-122"/>
                <a:ea typeface="Microsoft YaHei" panose="020B0503020204020204" charset="-122"/>
              </a:rPr>
              <a:t>Openspec</a:t>
            </a:r>
            <a:r>
              <a:rPr lang="zh-CN" altLang="en-US" sz="1600">
                <a:solidFill>
                  <a:srgbClr val="1A1A2E"/>
                </a:solidFill>
                <a:latin typeface="Microsoft YaHei" panose="020B0503020204020204" charset="-122"/>
                <a:ea typeface="Microsoft YaHei" panose="020B0503020204020204" charset="-122"/>
              </a:rPr>
              <a:t>类</a:t>
            </a:r>
            <a:r>
              <a:rPr lang="en-US" altLang="zh-CN" sz="1600">
                <a:solidFill>
                  <a:srgbClr val="1A1A2E"/>
                </a:solidFill>
                <a:latin typeface="Microsoft YaHei" panose="020B0503020204020204" charset="-122"/>
                <a:ea typeface="Microsoft YaHei" panose="020B0503020204020204" charset="-122"/>
              </a:rPr>
              <a:t>SDD</a:t>
            </a:r>
            <a:r>
              <a:rPr lang="zh-CN" altLang="en-US" sz="1600">
                <a:solidFill>
                  <a:srgbClr val="1A1A2E"/>
                </a:solidFill>
                <a:latin typeface="Microsoft YaHei" panose="020B0503020204020204" charset="-122"/>
                <a:ea typeface="Microsoft YaHei" panose="020B0503020204020204" charset="-122"/>
              </a:rPr>
              <a:t>工具</a:t>
            </a:r>
            <a:r>
              <a:rPr sz="1600">
                <a:solidFill>
                  <a:srgbClr val="1A1A2E"/>
                </a:solidFill>
                <a:latin typeface="Microsoft YaHei" panose="020B0503020204020204" charset="-122"/>
                <a:ea typeface="Microsoft YaHei" panose="020B0503020204020204" charset="-122"/>
              </a:rPr>
              <a:t>差距更大。</a:t>
            </a:r>
            <a:r>
              <a:rPr lang="zh-CN" sz="1600">
                <a:solidFill>
                  <a:srgbClr val="1A1A2E"/>
                </a:solidFill>
                <a:latin typeface="Microsoft YaHei" panose="020B0503020204020204" charset="-122"/>
                <a:ea typeface="Microsoft YaHei" panose="020B0503020204020204" charset="-122"/>
              </a:rPr>
              <a:t>故设计了以下实验，</a:t>
            </a:r>
            <a:r>
              <a:rPr lang="zh-CN" sz="1600" b="1">
                <a:solidFill>
                  <a:srgbClr val="1A1A2E"/>
                </a:solidFill>
                <a:latin typeface="Microsoft YaHei" panose="020B0503020204020204" charset="-122"/>
                <a:ea typeface="Microsoft YaHei" panose="020B0503020204020204" charset="-122"/>
              </a:rPr>
              <a:t>详见</a:t>
            </a:r>
            <a:r>
              <a:rPr lang="en-US" altLang="zh-CN" sz="1600" b="1">
                <a:solidFill>
                  <a:srgbClr val="1A1A2E"/>
                </a:solidFill>
                <a:latin typeface="Microsoft YaHei" panose="020B0503020204020204" charset="-122"/>
                <a:ea typeface="Microsoft YaHei" panose="020B0503020204020204" charset="-122"/>
              </a:rPr>
              <a:t>Demo</a:t>
            </a:r>
            <a:endParaRPr lang="en-US" altLang="zh-CN" sz="1600" b="1">
              <a:solidFill>
                <a:srgbClr val="1A1A2E"/>
              </a:solidFill>
              <a:latin typeface="Microsoft YaHei" panose="020B0503020204020204" charset="-122"/>
              <a:ea typeface="Microsoft YaHei" panose="020B0503020204020204" charset="-122"/>
            </a:endParaRPr>
          </a:p>
        </p:txBody>
      </p:sp>
      <p:sp>
        <p:nvSpPr>
          <p:cNvPr id="6" name="Rectangle 5"/>
          <p:cNvSpPr/>
          <p:nvPr>
            <p:custDataLst>
              <p:tags r:id="rId1"/>
            </p:custDataLst>
          </p:nvPr>
        </p:nvSpPr>
        <p:spPr>
          <a:xfrm>
            <a:off x="457200" y="1920240"/>
            <a:ext cx="5303520" cy="1920240"/>
          </a:xfrm>
          <a:prstGeom prst="rect">
            <a:avLst/>
          </a:prstGeom>
          <a:solidFill>
            <a:srgbClr val="FDF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custDataLst>
              <p:tags r:id="rId2"/>
            </p:custDataLst>
          </p:nvPr>
        </p:nvSpPr>
        <p:spPr>
          <a:xfrm>
            <a:off x="594360" y="1965960"/>
            <a:ext cx="5029200" cy="365760"/>
          </a:xfrm>
          <a:prstGeom prst="rect">
            <a:avLst/>
          </a:prstGeom>
          <a:noFill/>
        </p:spPr>
        <p:txBody>
          <a:bodyPr wrap="square">
            <a:spAutoFit/>
          </a:bodyPr>
          <a:lstStyle/>
          <a:p>
            <a:pPr algn="l"/>
            <a:r>
              <a:rPr sz="1800" b="1">
                <a:solidFill>
                  <a:srgbClr val="E67E22"/>
                </a:solidFill>
                <a:latin typeface="Microsoft YaHei" panose="020B0503020204020204" charset="-122"/>
                <a:ea typeface="Microsoft YaHei" panose="020B0503020204020204" charset="-122"/>
              </a:rPr>
              <a:t>实验场景</a:t>
            </a:r>
            <a:endParaRPr sz="1800" b="1">
              <a:solidFill>
                <a:srgbClr val="E67E22"/>
              </a:solidFill>
              <a:latin typeface="Microsoft YaHei" panose="020B0503020204020204" charset="-122"/>
            </a:endParaRPr>
          </a:p>
        </p:txBody>
      </p:sp>
      <p:sp>
        <p:nvSpPr>
          <p:cNvPr id="8" name="TextBox 7"/>
          <p:cNvSpPr txBox="1"/>
          <p:nvPr>
            <p:custDataLst>
              <p:tags r:id="rId3"/>
            </p:custDataLst>
          </p:nvPr>
        </p:nvSpPr>
        <p:spPr>
          <a:xfrm>
            <a:off x="594360" y="2377440"/>
            <a:ext cx="5029200" cy="1371600"/>
          </a:xfrm>
          <a:prstGeom prst="rect">
            <a:avLst/>
          </a:prstGeom>
          <a:noFill/>
        </p:spPr>
        <p:txBody>
          <a:bodyPr wrap="square">
            <a:spAutoFit/>
          </a:bodyPr>
          <a:lstStyle/>
          <a:p>
            <a:pPr algn="l"/>
            <a:r>
              <a:rPr sz="1400" b="0">
                <a:solidFill>
                  <a:srgbClr val="1A1A2E"/>
                </a:solidFill>
                <a:latin typeface="Microsoft YaHei" panose="020B0503020204020204" charset="-122"/>
                <a:ea typeface="Microsoft YaHei" panose="020B0503020204020204" charset="-122"/>
              </a:rPr>
              <a:t>2024 年有色金属市场剧烈波动，铜价暴涨暴跌。</a:t>
            </a:r>
            <a:endParaRPr sz="1400" b="0">
              <a:solidFill>
                <a:srgbClr val="1A1A2E"/>
              </a:solidFill>
              <a:latin typeface="Microsoft YaHei" panose="020B0503020204020204" charset="-122"/>
            </a:endParaRPr>
          </a:p>
          <a:p>
            <a:pPr algn="l"/>
            <a:r>
              <a:rPr sz="1400" b="0">
                <a:solidFill>
                  <a:srgbClr val="1A1A2E"/>
                </a:solidFill>
                <a:latin typeface="Microsoft YaHei" panose="020B0503020204020204" charset="-122"/>
                <a:ea typeface="Microsoft YaHei" panose="020B0503020204020204" charset="-122"/>
              </a:rPr>
              <a:t>客户反馈：固定参数风控策略反应太迟钝，多次在大幅</a:t>
            </a:r>
            <a:endParaRPr sz="1400" b="0">
              <a:solidFill>
                <a:srgbClr val="1A1A2E"/>
              </a:solidFill>
              <a:latin typeface="Microsoft YaHei" panose="020B0503020204020204" charset="-122"/>
            </a:endParaRPr>
          </a:p>
          <a:p>
            <a:pPr algn="l"/>
            <a:r>
              <a:rPr sz="1400" b="0">
                <a:solidFill>
                  <a:srgbClr val="1A1A2E"/>
                </a:solidFill>
                <a:latin typeface="Microsoft YaHei" panose="020B0503020204020204" charset="-122"/>
                <a:ea typeface="Microsoft YaHei" panose="020B0503020204020204" charset="-122"/>
              </a:rPr>
              <a:t>回撤后才触发止损。产品经理提出 3 项需求变更。</a:t>
            </a:r>
            <a:endParaRPr sz="1400" b="0">
              <a:solidFill>
                <a:srgbClr val="1A1A2E"/>
              </a:solidFill>
              <a:latin typeface="Microsoft YaHei" panose="020B0503020204020204" charset="-122"/>
            </a:endParaRPr>
          </a:p>
        </p:txBody>
      </p:sp>
      <p:sp>
        <p:nvSpPr>
          <p:cNvPr id="9" name="Rectangle 8"/>
          <p:cNvSpPr/>
          <p:nvPr>
            <p:custDataLst>
              <p:tags r:id="rId4"/>
            </p:custDataLst>
          </p:nvPr>
        </p:nvSpPr>
        <p:spPr>
          <a:xfrm>
            <a:off x="6035040" y="1920240"/>
            <a:ext cx="5486400" cy="1920240"/>
          </a:xfrm>
          <a:prstGeom prst="rect">
            <a:avLst/>
          </a:prstGeom>
          <a:solidFill>
            <a:srgbClr val="E8F0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custDataLst>
              <p:tags r:id="rId5"/>
            </p:custDataLst>
          </p:nvPr>
        </p:nvSpPr>
        <p:spPr>
          <a:xfrm>
            <a:off x="6217920" y="1965960"/>
            <a:ext cx="5120640" cy="365760"/>
          </a:xfrm>
          <a:prstGeom prst="rect">
            <a:avLst/>
          </a:prstGeom>
          <a:noFill/>
        </p:spPr>
        <p:txBody>
          <a:bodyPr wrap="square">
            <a:spAutoFit/>
          </a:bodyPr>
          <a:lstStyle/>
          <a:p>
            <a:pPr algn="l"/>
            <a:r>
              <a:rPr sz="1800" b="1">
                <a:solidFill>
                  <a:srgbClr val="0078D4"/>
                </a:solidFill>
                <a:latin typeface="Microsoft YaHei" panose="020B0503020204020204" charset="-122"/>
                <a:ea typeface="Microsoft YaHei" panose="020B0503020204020204" charset="-122"/>
              </a:rPr>
              <a:t>三项需求变更</a:t>
            </a:r>
            <a:endParaRPr sz="1800" b="1">
              <a:solidFill>
                <a:srgbClr val="0078D4"/>
              </a:solidFill>
              <a:latin typeface="Microsoft YaHei" panose="020B0503020204020204" charset="-122"/>
            </a:endParaRPr>
          </a:p>
        </p:txBody>
      </p:sp>
      <p:sp>
        <p:nvSpPr>
          <p:cNvPr id="11" name="TextBox 10"/>
          <p:cNvSpPr txBox="1"/>
          <p:nvPr>
            <p:custDataLst>
              <p:tags r:id="rId6"/>
            </p:custDataLst>
          </p:nvPr>
        </p:nvSpPr>
        <p:spPr>
          <a:xfrm>
            <a:off x="6217920" y="2377440"/>
            <a:ext cx="5120640" cy="1371600"/>
          </a:xfrm>
          <a:prstGeom prst="rect">
            <a:avLst/>
          </a:prstGeom>
          <a:noFill/>
        </p:spPr>
        <p:txBody>
          <a:bodyPr wrap="square">
            <a:spAutoFit/>
          </a:bodyPr>
          <a:lstStyle/>
          <a:p>
            <a:pPr algn="l"/>
            <a:r>
              <a:rPr sz="1300" b="0">
                <a:solidFill>
                  <a:srgbClr val="1A1A2E"/>
                </a:solidFill>
                <a:latin typeface="Microsoft YaHei" panose="020B0503020204020204" charset="-122"/>
                <a:ea typeface="Microsoft YaHei" panose="020B0503020204020204" charset="-122"/>
              </a:rPr>
              <a:t>1. 波动率自适应止损</a:t>
            </a:r>
            <a:endParaRPr sz="1300" b="0">
              <a:solidFill>
                <a:srgbClr val="1A1A2E"/>
              </a:solidFill>
              <a:latin typeface="Microsoft YaHei" panose="020B0503020204020204" charset="-122"/>
            </a:endParaRPr>
          </a:p>
          <a:p>
            <a:pPr algn="l"/>
            <a:r>
              <a:rPr sz="1300" b="0">
                <a:solidFill>
                  <a:srgbClr val="1A1A2E"/>
                </a:solidFill>
                <a:latin typeface="Microsoft YaHei" panose="020B0503020204020204" charset="-122"/>
                <a:ea typeface="Microsoft YaHei" panose="020B0503020204020204" charset="-122"/>
              </a:rPr>
              <a:t>   低波动收紧 → 高波动放宽，避免固定参数的迟钝</a:t>
            </a:r>
            <a:endParaRPr sz="1300" b="0">
              <a:solidFill>
                <a:srgbClr val="1A1A2E"/>
              </a:solidFill>
              <a:latin typeface="Microsoft YaHei" panose="020B0503020204020204" charset="-122"/>
            </a:endParaRPr>
          </a:p>
          <a:p>
            <a:pPr algn="l"/>
            <a:r>
              <a:rPr sz="1300" b="0">
                <a:solidFill>
                  <a:srgbClr val="1A1A2E"/>
                </a:solidFill>
                <a:latin typeface="Microsoft YaHei" panose="020B0503020204020204" charset="-122"/>
                <a:ea typeface="Microsoft YaHei" panose="020B0503020204020204" charset="-122"/>
              </a:rPr>
              <a:t>2. 动态再平衡频率</a:t>
            </a:r>
            <a:endParaRPr sz="1300" b="0">
              <a:solidFill>
                <a:srgbClr val="1A1A2E"/>
              </a:solidFill>
              <a:latin typeface="Microsoft YaHei" panose="020B0503020204020204" charset="-122"/>
            </a:endParaRPr>
          </a:p>
          <a:p>
            <a:pPr algn="l"/>
            <a:r>
              <a:rPr sz="1300" b="0">
                <a:solidFill>
                  <a:srgbClr val="1A1A2E"/>
                </a:solidFill>
                <a:latin typeface="Microsoft YaHei" panose="020B0503020204020204" charset="-122"/>
                <a:ea typeface="Microsoft YaHei" panose="020B0503020204020204" charset="-122"/>
              </a:rPr>
              <a:t>   正常月度 → 高波动双周 → 极端波动周度</a:t>
            </a:r>
            <a:endParaRPr sz="1300" b="0">
              <a:solidFill>
                <a:srgbClr val="1A1A2E"/>
              </a:solidFill>
              <a:latin typeface="Microsoft YaHei" panose="020B0503020204020204" charset="-122"/>
            </a:endParaRPr>
          </a:p>
          <a:p>
            <a:pPr algn="l"/>
            <a:r>
              <a:rPr sz="1300" b="0">
                <a:solidFill>
                  <a:srgbClr val="1A1A2E"/>
                </a:solidFill>
                <a:latin typeface="Microsoft YaHei" panose="020B0503020204020204" charset="-122"/>
                <a:ea typeface="Microsoft YaHei" panose="020B0503020204020204" charset="-122"/>
              </a:rPr>
              <a:t>3. 极端行情熔断机制（全新功能）</a:t>
            </a:r>
            <a:endParaRPr sz="1300" b="0">
              <a:solidFill>
                <a:srgbClr val="1A1A2E"/>
              </a:solidFill>
              <a:latin typeface="Microsoft YaHei" panose="020B0503020204020204" charset="-122"/>
            </a:endParaRPr>
          </a:p>
          <a:p>
            <a:pPr algn="l"/>
            <a:r>
              <a:rPr sz="1300" b="0">
                <a:solidFill>
                  <a:srgbClr val="1A1A2E"/>
                </a:solidFill>
                <a:latin typeface="Microsoft YaHei" panose="020B0503020204020204" charset="-122"/>
                <a:ea typeface="Microsoft YaHei" panose="020B0503020204020204" charset="-122"/>
              </a:rPr>
              <a:t>   单日跌3%减半仓 | 跌5%全清仓 | 恢复需连续回升</a:t>
            </a:r>
            <a:endParaRPr sz="1300" b="0">
              <a:solidFill>
                <a:srgbClr val="1A1A2E"/>
              </a:solidFill>
              <a:latin typeface="Microsoft YaHei" panose="020B0503020204020204" charset="-122"/>
            </a:endParaRPr>
          </a:p>
        </p:txBody>
      </p:sp>
      <p:sp>
        <p:nvSpPr>
          <p:cNvPr id="12" name="Rectangle 11"/>
          <p:cNvSpPr/>
          <p:nvPr>
            <p:custDataLst>
              <p:tags r:id="rId7"/>
            </p:custDataLst>
          </p:nvPr>
        </p:nvSpPr>
        <p:spPr>
          <a:xfrm>
            <a:off x="457200" y="4114800"/>
            <a:ext cx="5303520" cy="182880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custDataLst>
              <p:tags r:id="rId8"/>
            </p:custDataLst>
          </p:nvPr>
        </p:nvSpPr>
        <p:spPr>
          <a:xfrm>
            <a:off x="594360" y="4160520"/>
            <a:ext cx="5029200" cy="337185"/>
          </a:xfrm>
          <a:prstGeom prst="rect">
            <a:avLst/>
          </a:prstGeom>
          <a:noFill/>
        </p:spPr>
        <p:txBody>
          <a:bodyPr wrap="square">
            <a:spAutoFit/>
          </a:bodyPr>
          <a:lstStyle/>
          <a:p>
            <a:pPr algn="l"/>
            <a:r>
              <a:rPr sz="1600" b="1">
                <a:solidFill>
                  <a:srgbClr val="2E7D32"/>
                </a:solidFill>
                <a:latin typeface="Microsoft YaHei" panose="020B0503020204020204" charset="-122"/>
                <a:ea typeface="Microsoft YaHei" panose="020B0503020204020204" charset="-122"/>
              </a:rPr>
              <a:t>OpenSpec-HW2 方法</a:t>
            </a:r>
            <a:endParaRPr sz="1600" b="1">
              <a:solidFill>
                <a:srgbClr val="2E7D32"/>
              </a:solidFill>
              <a:latin typeface="Microsoft YaHei" panose="020B0503020204020204" charset="-122"/>
            </a:endParaRPr>
          </a:p>
        </p:txBody>
      </p:sp>
      <p:sp>
        <p:nvSpPr>
          <p:cNvPr id="14" name="TextBox 13"/>
          <p:cNvSpPr txBox="1"/>
          <p:nvPr>
            <p:custDataLst>
              <p:tags r:id="rId9"/>
            </p:custDataLst>
          </p:nvPr>
        </p:nvSpPr>
        <p:spPr>
          <a:xfrm>
            <a:off x="594360" y="4572000"/>
            <a:ext cx="5029200" cy="1168400"/>
          </a:xfrm>
          <a:prstGeom prst="rect">
            <a:avLst/>
          </a:prstGeom>
          <a:noFill/>
        </p:spPr>
        <p:txBody>
          <a:bodyPr wrap="square">
            <a:spAutoFit/>
          </a:bodyPr>
          <a:lstStyle/>
          <a:p>
            <a:pPr algn="l"/>
            <a:r>
              <a:rPr sz="1300" b="0">
                <a:solidFill>
                  <a:srgbClr val="1A1A2E"/>
                </a:solidFill>
                <a:latin typeface="Microsoft YaHei" panose="020B0503020204020204" charset="-122"/>
                <a:ea typeface="Microsoft YaHei" panose="020B0503020204020204" charset="-122"/>
              </a:rPr>
              <a:t>proposal → usecases → delta specs</a:t>
            </a:r>
            <a:endParaRPr sz="1300" b="0">
              <a:solidFill>
                <a:srgbClr val="1A1A2E"/>
              </a:solidFill>
              <a:latin typeface="Microsoft YaHei" panose="020B0503020204020204" charset="-122"/>
            </a:endParaRPr>
          </a:p>
          <a:p>
            <a:pPr algn="l"/>
            <a:r>
              <a:rPr sz="1300" b="0">
                <a:solidFill>
                  <a:srgbClr val="1A1A2E"/>
                </a:solidFill>
                <a:latin typeface="Microsoft YaHei" panose="020B0503020204020204" charset="-122"/>
                <a:ea typeface="Microsoft YaHei" panose="020B0503020204020204" charset="-122"/>
              </a:rPr>
              <a:t>→ design → tasks → 逐项实现代码</a:t>
            </a:r>
            <a:endParaRPr sz="1300" b="0">
              <a:solidFill>
                <a:srgbClr val="1A1A2E"/>
              </a:solidFill>
              <a:latin typeface="Microsoft YaHei" panose="020B0503020204020204" charset="-122"/>
            </a:endParaRPr>
          </a:p>
          <a:p>
            <a:pPr algn="l"/>
          </a:p>
          <a:p>
            <a:pPr algn="l"/>
            <a:r>
              <a:rPr sz="1300" b="0">
                <a:solidFill>
                  <a:srgbClr val="1A1A2E"/>
                </a:solidFill>
                <a:latin typeface="Microsoft YaHei" panose="020B0503020204020204" charset="-122"/>
                <a:ea typeface="Microsoft YaHei" panose="020B0503020204020204" charset="-122"/>
              </a:rPr>
              <a:t>生成 6 个 artifact 文档（636行），确保编码前</a:t>
            </a:r>
            <a:endParaRPr sz="1300" b="0">
              <a:solidFill>
                <a:srgbClr val="1A1A2E"/>
              </a:solidFill>
              <a:latin typeface="Microsoft YaHei" panose="020B0503020204020204" charset="-122"/>
            </a:endParaRPr>
          </a:p>
          <a:p>
            <a:pPr algn="l"/>
            <a:r>
              <a:rPr sz="1300" b="0">
                <a:solidFill>
                  <a:srgbClr val="1A1A2E"/>
                </a:solidFill>
                <a:latin typeface="Microsoft YaHei" panose="020B0503020204020204" charset="-122"/>
                <a:ea typeface="Microsoft YaHei" panose="020B0503020204020204" charset="-122"/>
              </a:rPr>
              <a:t>完成影响分析和边界场景识别</a:t>
            </a:r>
            <a:endParaRPr sz="1300" b="0">
              <a:solidFill>
                <a:srgbClr val="1A1A2E"/>
              </a:solidFill>
              <a:latin typeface="Microsoft YaHei" panose="020B0503020204020204" charset="-122"/>
            </a:endParaRPr>
          </a:p>
        </p:txBody>
      </p:sp>
      <p:sp>
        <p:nvSpPr>
          <p:cNvPr id="15" name="Rectangle 14"/>
          <p:cNvSpPr/>
          <p:nvPr>
            <p:custDataLst>
              <p:tags r:id="rId10"/>
            </p:custDataLst>
          </p:nvPr>
        </p:nvSpPr>
        <p:spPr>
          <a:xfrm>
            <a:off x="6035040" y="4114800"/>
            <a:ext cx="5486400" cy="182880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custDataLst>
              <p:tags r:id="rId11"/>
            </p:custDataLst>
          </p:nvPr>
        </p:nvSpPr>
        <p:spPr>
          <a:xfrm>
            <a:off x="6217920" y="4160520"/>
            <a:ext cx="5120640" cy="337185"/>
          </a:xfrm>
          <a:prstGeom prst="rect">
            <a:avLst/>
          </a:prstGeom>
          <a:noFill/>
        </p:spPr>
        <p:txBody>
          <a:bodyPr wrap="square">
            <a:spAutoFit/>
          </a:bodyPr>
          <a:lstStyle/>
          <a:p>
            <a:pPr algn="l"/>
            <a:r>
              <a:rPr lang="en-US" sz="1600" b="1">
                <a:solidFill>
                  <a:srgbClr val="C62828"/>
                </a:solidFill>
                <a:latin typeface="Microsoft YaHei" panose="020B0503020204020204" charset="-122"/>
                <a:ea typeface="Microsoft YaHei" panose="020B0503020204020204" charset="-122"/>
              </a:rPr>
              <a:t>Vanilla Claude Code</a:t>
            </a:r>
            <a:r>
              <a:rPr sz="1600" b="1">
                <a:solidFill>
                  <a:srgbClr val="C62828"/>
                </a:solidFill>
                <a:latin typeface="Microsoft YaHei" panose="020B0503020204020204" charset="-122"/>
                <a:ea typeface="Microsoft YaHei" panose="020B0503020204020204" charset="-122"/>
              </a:rPr>
              <a:t> 方法</a:t>
            </a:r>
            <a:endParaRPr sz="1600" b="1">
              <a:solidFill>
                <a:srgbClr val="C62828"/>
              </a:solidFill>
              <a:latin typeface="Microsoft YaHei" panose="020B0503020204020204" charset="-122"/>
            </a:endParaRPr>
          </a:p>
        </p:txBody>
      </p:sp>
      <p:sp>
        <p:nvSpPr>
          <p:cNvPr id="17" name="TextBox 16"/>
          <p:cNvSpPr txBox="1"/>
          <p:nvPr>
            <p:custDataLst>
              <p:tags r:id="rId12"/>
            </p:custDataLst>
          </p:nvPr>
        </p:nvSpPr>
        <p:spPr>
          <a:xfrm>
            <a:off x="6217920" y="4572000"/>
            <a:ext cx="5120640" cy="1168400"/>
          </a:xfrm>
          <a:prstGeom prst="rect">
            <a:avLst/>
          </a:prstGeom>
          <a:noFill/>
        </p:spPr>
        <p:txBody>
          <a:bodyPr wrap="square">
            <a:spAutoFit/>
          </a:bodyPr>
          <a:lstStyle/>
          <a:p>
            <a:pPr algn="l"/>
            <a:r>
              <a:rPr sz="1300" b="0">
                <a:solidFill>
                  <a:srgbClr val="1A1A2E"/>
                </a:solidFill>
                <a:latin typeface="Microsoft YaHei" panose="020B0503020204020204" charset="-122"/>
                <a:ea typeface="Microsoft YaHei" panose="020B0503020204020204" charset="-122"/>
              </a:rPr>
              <a:t>直接拿到需求文档 → 让 AI 编码实现</a:t>
            </a:r>
            <a:endParaRPr sz="1300" b="0">
              <a:solidFill>
                <a:srgbClr val="1A1A2E"/>
              </a:solidFill>
              <a:latin typeface="Microsoft YaHei" panose="020B0503020204020204" charset="-122"/>
            </a:endParaRPr>
          </a:p>
          <a:p>
            <a:pPr algn="l"/>
            <a:r>
              <a:rPr sz="1300" b="0">
                <a:solidFill>
                  <a:srgbClr val="1A1A2E"/>
                </a:solidFill>
                <a:latin typeface="Microsoft YaHei" panose="020B0503020204020204" charset="-122"/>
                <a:ea typeface="Microsoft YaHei" panose="020B0503020204020204" charset="-122"/>
              </a:rPr>
              <a:t>不使用任何规格框架</a:t>
            </a:r>
            <a:endParaRPr sz="1300" b="0">
              <a:solidFill>
                <a:srgbClr val="1A1A2E"/>
              </a:solidFill>
              <a:latin typeface="Microsoft YaHei" panose="020B0503020204020204" charset="-122"/>
            </a:endParaRPr>
          </a:p>
          <a:p>
            <a:pPr algn="l"/>
          </a:p>
          <a:p>
            <a:pPr algn="l"/>
            <a:r>
              <a:rPr sz="1300" b="0">
                <a:solidFill>
                  <a:srgbClr val="1A1A2E"/>
                </a:solidFill>
                <a:latin typeface="Microsoft YaHei" panose="020B0503020204020204" charset="-122"/>
                <a:ea typeface="Microsoft YaHei" panose="020B0503020204020204" charset="-122"/>
              </a:rPr>
              <a:t>模拟</a:t>
            </a:r>
            <a:r>
              <a:rPr lang="en-US" sz="1300" b="0">
                <a:solidFill>
                  <a:srgbClr val="1A1A2E"/>
                </a:solidFill>
                <a:latin typeface="Microsoft YaHei" panose="020B0503020204020204" charset="-122"/>
                <a:ea typeface="Microsoft YaHei" panose="020B0503020204020204" charset="-122"/>
              </a:rPr>
              <a:t>vibe coding</a:t>
            </a:r>
            <a:r>
              <a:rPr sz="1300" b="0">
                <a:solidFill>
                  <a:srgbClr val="1A1A2E"/>
                </a:solidFill>
                <a:latin typeface="Microsoft YaHei" panose="020B0503020204020204" charset="-122"/>
                <a:ea typeface="Microsoft YaHei" panose="020B0503020204020204" charset="-122"/>
              </a:rPr>
              <a:t>最常见的</a:t>
            </a:r>
            <a:r>
              <a:rPr lang="en-US" sz="1300" b="0">
                <a:solidFill>
                  <a:srgbClr val="1A1A2E"/>
                </a:solidFill>
                <a:latin typeface="Microsoft YaHei" panose="020B0503020204020204" charset="-122"/>
                <a:ea typeface="Microsoft YaHei" panose="020B0503020204020204" charset="-122"/>
              </a:rPr>
              <a:t> </a:t>
            </a:r>
            <a:r>
              <a:rPr sz="1300" b="0">
                <a:solidFill>
                  <a:srgbClr val="1A1A2E"/>
                </a:solidFill>
                <a:latin typeface="Microsoft YaHei" panose="020B0503020204020204" charset="-122"/>
                <a:ea typeface="Microsoft YaHei" panose="020B0503020204020204" charset="-122"/>
              </a:rPr>
              <a:t>拿到需求直接写代码</a:t>
            </a:r>
            <a:r>
              <a:rPr lang="en-US" sz="1300" b="0">
                <a:solidFill>
                  <a:srgbClr val="1A1A2E"/>
                </a:solidFill>
                <a:latin typeface="Microsoft YaHei" panose="020B0503020204020204" charset="-122"/>
                <a:ea typeface="Microsoft YaHei" panose="020B0503020204020204" charset="-122"/>
              </a:rPr>
              <a:t> </a:t>
            </a:r>
            <a:r>
              <a:rPr sz="1300" b="0">
                <a:solidFill>
                  <a:srgbClr val="1A1A2E"/>
                </a:solidFill>
                <a:latin typeface="Microsoft YaHei" panose="020B0503020204020204" charset="-122"/>
                <a:ea typeface="Microsoft YaHei" panose="020B0503020204020204" charset="-122"/>
              </a:rPr>
              <a:t>方式</a:t>
            </a:r>
            <a:endParaRPr sz="1300" b="0">
              <a:solidFill>
                <a:srgbClr val="1A1A2E"/>
              </a:solidFill>
              <a:latin typeface="Microsoft YaHei" panose="020B0503020204020204" charset="-122"/>
            </a:endParaRPr>
          </a:p>
          <a:p>
            <a:pPr algn="l"/>
            <a:r>
              <a:rPr sz="1300" b="0">
                <a:solidFill>
                  <a:srgbClr val="1A1A2E"/>
                </a:solidFill>
                <a:latin typeface="Microsoft YaHei" panose="020B0503020204020204" charset="-122"/>
                <a:ea typeface="Microsoft YaHei" panose="020B0503020204020204" charset="-122"/>
              </a:rPr>
              <a:t>无 spec、无 design、无 task 分解</a:t>
            </a:r>
            <a:endParaRPr sz="1300" b="0">
              <a:solidFill>
                <a:srgbClr val="1A1A2E"/>
              </a:solidFill>
              <a:latin typeface="Microsoft YaHei" panose="020B0503020204020204" charset="-122"/>
            </a:endParaRPr>
          </a:p>
        </p:txBody>
      </p:sp>
      <p:sp>
        <p:nvSpPr>
          <p:cNvPr id="18" name="Rectangle 17"/>
          <p:cNvSpPr/>
          <p:nvPr/>
        </p:nvSpPr>
        <p:spPr>
          <a:xfrm>
            <a:off x="365760" y="6126480"/>
            <a:ext cx="11430000" cy="457200"/>
          </a:xfrm>
          <a:prstGeom prst="rect">
            <a:avLst/>
          </a:prstGeom>
          <a:solidFill>
            <a:srgbClr val="E8F0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6171480"/>
            <a:ext cx="11064240" cy="365760"/>
          </a:xfrm>
          <a:prstGeom prst="rect">
            <a:avLst/>
          </a:prstGeom>
          <a:noFill/>
        </p:spPr>
        <p:txBody>
          <a:bodyPr wrap="square">
            <a:spAutoFit/>
          </a:bodyPr>
          <a:lstStyle/>
          <a:p>
            <a:pPr algn="l"/>
            <a:r>
              <a:rPr sz="1300" b="0">
                <a:solidFill>
                  <a:srgbClr val="1A1A2E"/>
                </a:solidFill>
                <a:latin typeface="Microsoft YaHei" panose="020B0503020204020204" charset="-122"/>
                <a:ea typeface="Microsoft YaHei" panose="020B0503020204020204" charset="-122"/>
              </a:rPr>
              <a:t>关键选题：跨风控/回测/策略/配置 4 个模块，同时涉及修改现有功能和新增全新功能，最能体现迭代维护的复杂性</a:t>
            </a:r>
            <a:endParaRPr sz="1300" b="0">
              <a:solidFill>
                <a:srgbClr val="1A1A2E"/>
              </a:solidFill>
              <a:latin typeface="Microsoft YaHei" panose="020B0503020204020204" charset="-122"/>
            </a:endParaRPr>
          </a:p>
        </p:txBody>
      </p:sp>
      <p:sp>
        <p:nvSpPr>
          <p:cNvPr id="71" name="TextBox 70"/>
          <p:cNvSpPr txBox="1"/>
          <p:nvPr/>
        </p:nvSpPr>
        <p:spPr>
          <a:xfrm>
            <a:off x="11094415" y="6400800"/>
            <a:ext cx="914400" cy="365760"/>
          </a:xfrm>
          <a:prstGeom prst="rect">
            <a:avLst/>
          </a:prstGeom>
          <a:noFill/>
        </p:spPr>
        <p:txBody>
          <a:bodyPr wrap="square">
            <a:spAutoFit/>
          </a:bodyPr>
          <a:lstStyle/>
          <a:p>
            <a:pPr algn="l"/>
            <a:r>
              <a:rPr sz="1100" b="0">
                <a:solidFill>
                  <a:srgbClr val="888888"/>
                </a:solidFill>
                <a:latin typeface="Microsoft YaHei" panose="020B0503020204020204" charset="-122"/>
                <a:ea typeface="Microsoft YaHei" panose="020B0503020204020204" charset="-122"/>
              </a:rPr>
              <a:t>11/41</a:t>
            </a:r>
            <a:endParaRPr sz="1100" b="0">
              <a:solidFill>
                <a:srgbClr val="888888"/>
              </a:solidFill>
              <a:latin typeface="Microsoft YaHei" panose="020B0503020204020204" charset="-122"/>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54864"/>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521970"/>
          </a:xfrm>
          <a:prstGeom prst="rect">
            <a:avLst/>
          </a:prstGeom>
          <a:noFill/>
        </p:spPr>
        <p:txBody>
          <a:bodyPr wrap="square">
            <a:spAutoFit/>
          </a:bodyPr>
          <a:lstStyle/>
          <a:p>
            <a:pPr algn="l"/>
            <a:r>
              <a:rPr lang="zh-CN" sz="2800" b="1">
                <a:solidFill>
                  <a:srgbClr val="1A1A2E"/>
                </a:solidFill>
                <a:latin typeface="Microsoft YaHei" panose="020B0503020204020204" charset="-122"/>
                <a:ea typeface="Microsoft YaHei" panose="020B0503020204020204" charset="-122"/>
                <a:sym typeface="+mn-ea"/>
              </a:rPr>
              <a:t>实验</a:t>
            </a:r>
            <a:r>
              <a:rPr lang="en-US" altLang="zh-CN" sz="2800" b="1">
                <a:solidFill>
                  <a:srgbClr val="1A1A2E"/>
                </a:solidFill>
                <a:latin typeface="Microsoft YaHei" panose="020B0503020204020204" charset="-122"/>
                <a:ea typeface="Microsoft YaHei" panose="020B0503020204020204" charset="-122"/>
                <a:sym typeface="+mn-ea"/>
              </a:rPr>
              <a:t>2- </a:t>
            </a:r>
            <a:r>
              <a:rPr sz="2800" b="1">
                <a:solidFill>
                  <a:srgbClr val="1A1A2E"/>
                </a:solidFill>
                <a:latin typeface="Microsoft YaHei" panose="020B0503020204020204" charset="-122"/>
                <a:ea typeface="Microsoft YaHei" panose="020B0503020204020204" charset="-122"/>
                <a:sym typeface="+mn-ea"/>
              </a:rPr>
              <a:t>需求变更</a:t>
            </a:r>
            <a:r>
              <a:rPr sz="2800" b="1">
                <a:solidFill>
                  <a:srgbClr val="1A1A2E"/>
                </a:solidFill>
                <a:latin typeface="Microsoft YaHei" panose="020B0503020204020204" charset="-122"/>
                <a:ea typeface="Microsoft YaHei" panose="020B0503020204020204" charset="-122"/>
              </a:rPr>
              <a:t>实验结果</a:t>
            </a:r>
            <a:r>
              <a:rPr lang="zh-CN" sz="2800" b="1">
                <a:solidFill>
                  <a:srgbClr val="1A1A2E"/>
                </a:solidFill>
                <a:latin typeface="Microsoft YaHei" panose="020B0503020204020204" charset="-122"/>
                <a:ea typeface="Microsoft YaHei" panose="020B0503020204020204" charset="-122"/>
              </a:rPr>
              <a:t>：软件工程维度</a:t>
            </a:r>
            <a:r>
              <a:rPr sz="2800" b="1">
                <a:solidFill>
                  <a:srgbClr val="1A1A2E"/>
                </a:solidFill>
                <a:latin typeface="Microsoft YaHei" panose="020B0503020204020204" charset="-122"/>
                <a:ea typeface="Microsoft YaHei" panose="020B0503020204020204" charset="-122"/>
              </a:rPr>
              <a:t>对比</a:t>
            </a:r>
            <a:endParaRPr sz="2800" b="1">
              <a:solidFill>
                <a:srgbClr val="1A1A2E"/>
              </a:solidFill>
              <a:latin typeface="Microsoft YaHei" panose="020B0503020204020204" charset="-122"/>
            </a:endParaRPr>
          </a:p>
        </p:txBody>
      </p:sp>
      <p:sp>
        <p:nvSpPr>
          <p:cNvPr id="4" name="Rectangle 3"/>
          <p:cNvSpPr/>
          <p:nvPr/>
        </p:nvSpPr>
        <p:spPr>
          <a:xfrm>
            <a:off x="731520" y="960120"/>
            <a:ext cx="1097280"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280160"/>
            <a:ext cx="2560320" cy="420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017520" y="1280160"/>
            <a:ext cx="3840480" cy="4200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0" y="1280160"/>
            <a:ext cx="3840480" cy="420000"/>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698480" y="1280160"/>
            <a:ext cx="1097280" cy="420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7200" y="1340160"/>
            <a:ext cx="2400320" cy="300000"/>
          </a:xfrm>
          <a:prstGeom prst="rect">
            <a:avLst/>
          </a:prstGeom>
          <a:noFill/>
        </p:spPr>
        <p:txBody>
          <a:bodyPr wrap="square">
            <a:spAutoFit/>
          </a:bodyPr>
          <a:lstStyle/>
          <a:p>
            <a:pPr algn="ctr"/>
            <a:r>
              <a:rPr sz="1400" b="1">
                <a:solidFill>
                  <a:srgbClr val="FFFFFF"/>
                </a:solidFill>
                <a:latin typeface="Microsoft YaHei" panose="020B0503020204020204" charset="-122"/>
                <a:ea typeface="Microsoft YaHei" panose="020B0503020204020204" charset="-122"/>
              </a:rPr>
              <a:t>对比维度</a:t>
            </a:r>
            <a:endParaRPr sz="1400" b="1">
              <a:solidFill>
                <a:srgbClr val="FFFFFF"/>
              </a:solidFill>
              <a:latin typeface="Microsoft YaHei" panose="020B0503020204020204" charset="-122"/>
            </a:endParaRPr>
          </a:p>
        </p:txBody>
      </p:sp>
      <p:sp>
        <p:nvSpPr>
          <p:cNvPr id="10" name="TextBox 9"/>
          <p:cNvSpPr txBox="1"/>
          <p:nvPr/>
        </p:nvSpPr>
        <p:spPr>
          <a:xfrm>
            <a:off x="3097520" y="1340160"/>
            <a:ext cx="3680480" cy="300000"/>
          </a:xfrm>
          <a:prstGeom prst="rect">
            <a:avLst/>
          </a:prstGeom>
          <a:noFill/>
        </p:spPr>
        <p:txBody>
          <a:bodyPr wrap="square">
            <a:spAutoFit/>
          </a:bodyPr>
          <a:lstStyle/>
          <a:p>
            <a:pPr algn="ctr"/>
            <a:r>
              <a:rPr sz="1400" b="1">
                <a:solidFill>
                  <a:srgbClr val="FFFFFF"/>
                </a:solidFill>
                <a:latin typeface="Microsoft YaHei" panose="020B0503020204020204" charset="-122"/>
                <a:ea typeface="Microsoft YaHei" panose="020B0503020204020204" charset="-122"/>
              </a:rPr>
              <a:t>OpenSpec-HW2 版</a:t>
            </a:r>
            <a:endParaRPr sz="1400" b="1">
              <a:solidFill>
                <a:srgbClr val="FFFFFF"/>
              </a:solidFill>
              <a:latin typeface="Microsoft YaHei" panose="020B0503020204020204" charset="-122"/>
            </a:endParaRPr>
          </a:p>
        </p:txBody>
      </p:sp>
      <p:sp>
        <p:nvSpPr>
          <p:cNvPr id="11" name="TextBox 10"/>
          <p:cNvSpPr txBox="1"/>
          <p:nvPr/>
        </p:nvSpPr>
        <p:spPr>
          <a:xfrm>
            <a:off x="6938000" y="1340160"/>
            <a:ext cx="3680480" cy="306705"/>
          </a:xfrm>
          <a:prstGeom prst="rect">
            <a:avLst/>
          </a:prstGeom>
          <a:noFill/>
        </p:spPr>
        <p:txBody>
          <a:bodyPr wrap="square">
            <a:spAutoFit/>
          </a:bodyPr>
          <a:lstStyle/>
          <a:p>
            <a:pPr algn="ctr"/>
            <a:r>
              <a:rPr lang="en-US" sz="1400" b="1">
                <a:solidFill>
                  <a:srgbClr val="FFFFFF"/>
                </a:solidFill>
                <a:latin typeface="Microsoft YaHei" panose="020B0503020204020204" charset="-122"/>
                <a:ea typeface="Microsoft YaHei" panose="020B0503020204020204" charset="-122"/>
              </a:rPr>
              <a:t>Vanilla Claude Code</a:t>
            </a:r>
            <a:r>
              <a:rPr sz="1400" b="1">
                <a:solidFill>
                  <a:srgbClr val="FFFFFF"/>
                </a:solidFill>
                <a:latin typeface="Microsoft YaHei" panose="020B0503020204020204" charset="-122"/>
                <a:ea typeface="Microsoft YaHei" panose="020B0503020204020204" charset="-122"/>
              </a:rPr>
              <a:t> 版</a:t>
            </a:r>
            <a:endParaRPr sz="1400" b="1">
              <a:solidFill>
                <a:srgbClr val="FFFFFF"/>
              </a:solidFill>
              <a:latin typeface="Microsoft YaHei" panose="020B0503020204020204" charset="-122"/>
            </a:endParaRPr>
          </a:p>
        </p:txBody>
      </p:sp>
      <p:sp>
        <p:nvSpPr>
          <p:cNvPr id="12" name="TextBox 11"/>
          <p:cNvSpPr txBox="1"/>
          <p:nvPr/>
        </p:nvSpPr>
        <p:spPr>
          <a:xfrm>
            <a:off x="10778480" y="1340160"/>
            <a:ext cx="937280" cy="306705"/>
          </a:xfrm>
          <a:prstGeom prst="rect">
            <a:avLst/>
          </a:prstGeom>
          <a:noFill/>
        </p:spPr>
        <p:txBody>
          <a:bodyPr wrap="square">
            <a:spAutoFit/>
          </a:bodyPr>
          <a:lstStyle/>
          <a:p>
            <a:pPr algn="ctr"/>
            <a:r>
              <a:rPr lang="zh-CN" sz="1400" b="1">
                <a:solidFill>
                  <a:srgbClr val="FFFFFF"/>
                </a:solidFill>
                <a:latin typeface="Microsoft YaHei" panose="020B0503020204020204" charset="-122"/>
                <a:ea typeface="Microsoft YaHei" panose="020B0503020204020204" charset="-122"/>
              </a:rPr>
              <a:t>提升</a:t>
            </a:r>
            <a:endParaRPr lang="zh-CN" sz="1400" b="1">
              <a:solidFill>
                <a:srgbClr val="FFFFFF"/>
              </a:solidFill>
              <a:latin typeface="Microsoft YaHei" panose="020B0503020204020204" charset="-122"/>
              <a:ea typeface="Microsoft YaHei" panose="020B0503020204020204" charset="-122"/>
            </a:endParaRPr>
          </a:p>
        </p:txBody>
      </p:sp>
      <p:sp>
        <p:nvSpPr>
          <p:cNvPr id="13" name="Rectangle 12"/>
          <p:cNvSpPr/>
          <p:nvPr/>
        </p:nvSpPr>
        <p:spPr>
          <a:xfrm>
            <a:off x="457200" y="1700160"/>
            <a:ext cx="2560320" cy="420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017520" y="1700160"/>
            <a:ext cx="3840480" cy="42000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0" y="1700160"/>
            <a:ext cx="3840480" cy="42000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0698480" y="1700160"/>
            <a:ext cx="1097280" cy="420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7200" y="1730160"/>
            <a:ext cx="2400320" cy="360000"/>
          </a:xfrm>
          <a:prstGeom prst="rect">
            <a:avLst/>
          </a:prstGeom>
          <a:noFill/>
        </p:spPr>
        <p:txBody>
          <a:bodyPr wrap="square">
            <a:spAutoFit/>
          </a:bodyPr>
          <a:lstStyle/>
          <a:p>
            <a:pPr algn="l"/>
            <a:r>
              <a:rPr sz="1100" b="1">
                <a:solidFill>
                  <a:srgbClr val="1A1A2E"/>
                </a:solidFill>
                <a:latin typeface="Microsoft YaHei" panose="020B0503020204020204" charset="-122"/>
                <a:ea typeface="Microsoft YaHei" panose="020B0503020204020204" charset="-122"/>
              </a:rPr>
              <a:t>边界场景覆盖</a:t>
            </a:r>
            <a:endParaRPr sz="1100" b="1">
              <a:solidFill>
                <a:srgbClr val="1A1A2E"/>
              </a:solidFill>
              <a:latin typeface="Microsoft YaHei" panose="020B0503020204020204" charset="-122"/>
            </a:endParaRPr>
          </a:p>
        </p:txBody>
      </p:sp>
      <p:sp>
        <p:nvSpPr>
          <p:cNvPr id="18" name="TextBox 17"/>
          <p:cNvSpPr txBox="1"/>
          <p:nvPr/>
        </p:nvSpPr>
        <p:spPr>
          <a:xfrm>
            <a:off x="3097520" y="1720160"/>
            <a:ext cx="3680480" cy="380000"/>
          </a:xfrm>
          <a:prstGeom prst="rect">
            <a:avLst/>
          </a:prstGeom>
          <a:noFill/>
        </p:spPr>
        <p:txBody>
          <a:bodyPr wrap="square">
            <a:spAutoFit/>
          </a:bodyPr>
          <a:lstStyle/>
          <a:p>
            <a:pPr algn="l"/>
            <a:r>
              <a:rPr sz="1000" b="0">
                <a:solidFill>
                  <a:srgbClr val="2E7D32"/>
                </a:solidFill>
                <a:latin typeface="Microsoft YaHei" panose="020B0503020204020204" charset="-122"/>
                <a:ea typeface="Microsoft YaHei" panose="020B0503020204020204" charset="-122"/>
              </a:rPr>
              <a:t>10 个边界场景（含 T+1 冲突、</a:t>
            </a:r>
            <a:endParaRPr sz="1000" b="0">
              <a:solidFill>
                <a:srgbClr val="2E7D32"/>
              </a:solidFill>
              <a:latin typeface="Microsoft YaHei" panose="020B0503020204020204" charset="-122"/>
            </a:endParaRPr>
          </a:p>
          <a:p>
            <a:pPr algn="l"/>
            <a:r>
              <a:rPr sz="1000" b="0">
                <a:solidFill>
                  <a:srgbClr val="2E7D32"/>
                </a:solidFill>
                <a:latin typeface="Microsoft YaHei" panose="020B0503020204020204" charset="-122"/>
                <a:ea typeface="Microsoft YaHei" panose="020B0503020204020204" charset="-122"/>
              </a:rPr>
              <a:t>熔断恢复中断、频率切换等）</a:t>
            </a:r>
            <a:endParaRPr sz="1000" b="0">
              <a:solidFill>
                <a:srgbClr val="2E7D32"/>
              </a:solidFill>
              <a:latin typeface="Microsoft YaHei" panose="020B0503020204020204" charset="-122"/>
            </a:endParaRPr>
          </a:p>
        </p:txBody>
      </p:sp>
      <p:sp>
        <p:nvSpPr>
          <p:cNvPr id="19" name="TextBox 18"/>
          <p:cNvSpPr txBox="1"/>
          <p:nvPr/>
        </p:nvSpPr>
        <p:spPr>
          <a:xfrm>
            <a:off x="6938000" y="1720160"/>
            <a:ext cx="3680480" cy="380000"/>
          </a:xfrm>
          <a:prstGeom prst="rect">
            <a:avLst/>
          </a:prstGeom>
          <a:noFill/>
        </p:spPr>
        <p:txBody>
          <a:bodyPr wrap="square">
            <a:spAutoFit/>
          </a:bodyPr>
          <a:lstStyle/>
          <a:p>
            <a:pPr algn="l"/>
            <a:r>
              <a:rPr sz="1000" b="0">
                <a:solidFill>
                  <a:srgbClr val="C62828"/>
                </a:solidFill>
                <a:latin typeface="Microsoft YaHei" panose="020B0503020204020204" charset="-122"/>
                <a:ea typeface="Microsoft YaHei" panose="020B0503020204020204" charset="-122"/>
              </a:rPr>
              <a:t>2 个边界场景</a:t>
            </a:r>
            <a:endParaRPr sz="1000" b="0">
              <a:solidFill>
                <a:srgbClr val="C62828"/>
              </a:solidFill>
              <a:latin typeface="Microsoft YaHei" panose="020B0503020204020204" charset="-122"/>
            </a:endParaRPr>
          </a:p>
          <a:p>
            <a:pPr algn="l"/>
            <a:r>
              <a:rPr sz="1000" b="0">
                <a:solidFill>
                  <a:srgbClr val="C62828"/>
                </a:solidFill>
                <a:latin typeface="Microsoft YaHei" panose="020B0503020204020204" charset="-122"/>
                <a:ea typeface="Microsoft YaHei" panose="020B0503020204020204" charset="-122"/>
              </a:rPr>
              <a:t>（数据不足、熔断升级）</a:t>
            </a:r>
            <a:endParaRPr sz="1000" b="0">
              <a:solidFill>
                <a:srgbClr val="C62828"/>
              </a:solidFill>
              <a:latin typeface="Microsoft YaHei" panose="020B0503020204020204" charset="-122"/>
            </a:endParaRPr>
          </a:p>
        </p:txBody>
      </p:sp>
      <p:sp>
        <p:nvSpPr>
          <p:cNvPr id="20" name="TextBox 19"/>
          <p:cNvSpPr txBox="1"/>
          <p:nvPr/>
        </p:nvSpPr>
        <p:spPr>
          <a:xfrm>
            <a:off x="10778480" y="1760160"/>
            <a:ext cx="937280" cy="300000"/>
          </a:xfrm>
          <a:prstGeom prst="rect">
            <a:avLst/>
          </a:prstGeom>
          <a:noFill/>
        </p:spPr>
        <p:txBody>
          <a:bodyPr wrap="square">
            <a:spAutoFit/>
          </a:bodyPr>
          <a:lstStyle/>
          <a:p>
            <a:pPr algn="ctr"/>
            <a:r>
              <a:rPr sz="1400" b="1">
                <a:solidFill>
                  <a:srgbClr val="0078D4"/>
                </a:solidFill>
                <a:latin typeface="Microsoft YaHei" panose="020B0503020204020204" charset="-122"/>
                <a:ea typeface="Microsoft YaHei" panose="020B0503020204020204" charset="-122"/>
              </a:rPr>
              <a:t>5x</a:t>
            </a:r>
            <a:endParaRPr sz="1400" b="1">
              <a:solidFill>
                <a:srgbClr val="0078D4"/>
              </a:solidFill>
              <a:latin typeface="Microsoft YaHei" panose="020B0503020204020204" charset="-122"/>
            </a:endParaRPr>
          </a:p>
        </p:txBody>
      </p:sp>
      <p:sp>
        <p:nvSpPr>
          <p:cNvPr id="21" name="Rectangle 20"/>
          <p:cNvSpPr/>
          <p:nvPr/>
        </p:nvSpPr>
        <p:spPr>
          <a:xfrm>
            <a:off x="457200" y="2120160"/>
            <a:ext cx="2560320" cy="42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017520" y="2120160"/>
            <a:ext cx="3840480" cy="420000"/>
          </a:xfrm>
          <a:prstGeom prst="rect">
            <a:avLst/>
          </a:prstGeom>
          <a:solidFill>
            <a:srgbClr val="F1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858000" y="2120160"/>
            <a:ext cx="3840480" cy="420000"/>
          </a:xfrm>
          <a:prstGeom prst="rect">
            <a:avLst/>
          </a:prstGeom>
          <a:solidFill>
            <a:srgbClr val="FC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0698480" y="2120160"/>
            <a:ext cx="1097280" cy="42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7200" y="2150160"/>
            <a:ext cx="2400320" cy="360000"/>
          </a:xfrm>
          <a:prstGeom prst="rect">
            <a:avLst/>
          </a:prstGeom>
          <a:noFill/>
        </p:spPr>
        <p:txBody>
          <a:bodyPr wrap="square">
            <a:spAutoFit/>
          </a:bodyPr>
          <a:lstStyle/>
          <a:p>
            <a:pPr algn="l"/>
            <a:r>
              <a:rPr sz="1100" b="1">
                <a:solidFill>
                  <a:srgbClr val="1A1A2E"/>
                </a:solidFill>
                <a:latin typeface="Microsoft YaHei" panose="020B0503020204020204" charset="-122"/>
                <a:ea typeface="Microsoft YaHei" panose="020B0503020204020204" charset="-122"/>
              </a:rPr>
              <a:t>测试用例</a:t>
            </a:r>
            <a:endParaRPr sz="1100" b="1">
              <a:solidFill>
                <a:srgbClr val="1A1A2E"/>
              </a:solidFill>
              <a:latin typeface="Microsoft YaHei" panose="020B0503020204020204" charset="-122"/>
            </a:endParaRPr>
          </a:p>
        </p:txBody>
      </p:sp>
      <p:sp>
        <p:nvSpPr>
          <p:cNvPr id="26" name="TextBox 25"/>
          <p:cNvSpPr txBox="1"/>
          <p:nvPr/>
        </p:nvSpPr>
        <p:spPr>
          <a:xfrm>
            <a:off x="3097520" y="2140160"/>
            <a:ext cx="3680480" cy="380000"/>
          </a:xfrm>
          <a:prstGeom prst="rect">
            <a:avLst/>
          </a:prstGeom>
          <a:noFill/>
        </p:spPr>
        <p:txBody>
          <a:bodyPr wrap="square">
            <a:spAutoFit/>
          </a:bodyPr>
          <a:lstStyle/>
          <a:p>
            <a:pPr algn="l"/>
            <a:r>
              <a:rPr sz="1000" b="0">
                <a:solidFill>
                  <a:srgbClr val="2E7D32"/>
                </a:solidFill>
                <a:latin typeface="Microsoft YaHei" panose="020B0503020204020204" charset="-122"/>
                <a:ea typeface="Microsoft YaHei" panose="020B0503020204020204" charset="-122"/>
              </a:rPr>
              <a:t>27 个新增测试</a:t>
            </a:r>
            <a:endParaRPr sz="1000" b="0">
              <a:solidFill>
                <a:srgbClr val="2E7D32"/>
              </a:solidFill>
              <a:latin typeface="Microsoft YaHei" panose="020B0503020204020204" charset="-122"/>
            </a:endParaRPr>
          </a:p>
          <a:p>
            <a:pPr algn="l"/>
            <a:r>
              <a:rPr sz="1000" b="0">
                <a:solidFill>
                  <a:srgbClr val="2E7D32"/>
                </a:solidFill>
                <a:latin typeface="Microsoft YaHei" panose="020B0503020204020204" charset="-122"/>
                <a:ea typeface="Microsoft YaHei" panose="020B0503020204020204" charset="-122"/>
              </a:rPr>
              <a:t>（3 个测试文件，pytest 框架）</a:t>
            </a:r>
            <a:endParaRPr sz="1000" b="0">
              <a:solidFill>
                <a:srgbClr val="2E7D32"/>
              </a:solidFill>
              <a:latin typeface="Microsoft YaHei" panose="020B0503020204020204" charset="-122"/>
            </a:endParaRPr>
          </a:p>
        </p:txBody>
      </p:sp>
      <p:sp>
        <p:nvSpPr>
          <p:cNvPr id="27" name="TextBox 26"/>
          <p:cNvSpPr txBox="1"/>
          <p:nvPr/>
        </p:nvSpPr>
        <p:spPr>
          <a:xfrm>
            <a:off x="6938000" y="2140160"/>
            <a:ext cx="3680480" cy="380000"/>
          </a:xfrm>
          <a:prstGeom prst="rect">
            <a:avLst/>
          </a:prstGeom>
          <a:noFill/>
        </p:spPr>
        <p:txBody>
          <a:bodyPr wrap="square">
            <a:spAutoFit/>
          </a:bodyPr>
          <a:lstStyle/>
          <a:p>
            <a:pPr algn="l"/>
            <a:r>
              <a:rPr sz="1000" b="0">
                <a:solidFill>
                  <a:srgbClr val="C62828"/>
                </a:solidFill>
                <a:latin typeface="Microsoft YaHei" panose="020B0503020204020204" charset="-122"/>
                <a:ea typeface="Microsoft YaHei" panose="020B0503020204020204" charset="-122"/>
              </a:rPr>
              <a:t>0 个测试</a:t>
            </a:r>
            <a:endParaRPr sz="1000" b="0">
              <a:solidFill>
                <a:srgbClr val="C62828"/>
              </a:solidFill>
              <a:latin typeface="Microsoft YaHei" panose="020B0503020204020204" charset="-122"/>
            </a:endParaRPr>
          </a:p>
          <a:p>
            <a:pPr algn="l"/>
            <a:r>
              <a:rPr sz="1000" b="0">
                <a:solidFill>
                  <a:srgbClr val="C62828"/>
                </a:solidFill>
                <a:latin typeface="Microsoft YaHei" panose="020B0503020204020204" charset="-122"/>
                <a:ea typeface="Microsoft YaHei" panose="020B0503020204020204" charset="-122"/>
              </a:rPr>
              <a:t>（无任何自动化测试）</a:t>
            </a:r>
            <a:endParaRPr sz="1000" b="0">
              <a:solidFill>
                <a:srgbClr val="C62828"/>
              </a:solidFill>
              <a:latin typeface="Microsoft YaHei" panose="020B0503020204020204" charset="-122"/>
            </a:endParaRPr>
          </a:p>
        </p:txBody>
      </p:sp>
      <p:sp>
        <p:nvSpPr>
          <p:cNvPr id="28" name="TextBox 27"/>
          <p:cNvSpPr txBox="1"/>
          <p:nvPr/>
        </p:nvSpPr>
        <p:spPr>
          <a:xfrm>
            <a:off x="10778480" y="2180160"/>
            <a:ext cx="937280" cy="300000"/>
          </a:xfrm>
          <a:prstGeom prst="rect">
            <a:avLst/>
          </a:prstGeom>
          <a:noFill/>
        </p:spPr>
        <p:txBody>
          <a:bodyPr wrap="square">
            <a:spAutoFit/>
          </a:bodyPr>
          <a:lstStyle/>
          <a:p>
            <a:pPr algn="ctr"/>
            <a:r>
              <a:rPr sz="1400" b="1">
                <a:solidFill>
                  <a:srgbClr val="0078D4"/>
                </a:solidFill>
                <a:latin typeface="Microsoft YaHei" panose="020B0503020204020204" charset="-122"/>
                <a:ea typeface="Microsoft YaHei" panose="020B0503020204020204" charset="-122"/>
              </a:rPr>
              <a:t>∞</a:t>
            </a:r>
            <a:endParaRPr sz="1400" b="1">
              <a:solidFill>
                <a:srgbClr val="0078D4"/>
              </a:solidFill>
              <a:latin typeface="Microsoft YaHei" panose="020B0503020204020204" charset="-122"/>
            </a:endParaRPr>
          </a:p>
        </p:txBody>
      </p:sp>
      <p:sp>
        <p:nvSpPr>
          <p:cNvPr id="29" name="Rectangle 28"/>
          <p:cNvSpPr/>
          <p:nvPr/>
        </p:nvSpPr>
        <p:spPr>
          <a:xfrm>
            <a:off x="457200" y="2540160"/>
            <a:ext cx="2560320" cy="420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017520" y="2540160"/>
            <a:ext cx="3840480" cy="42000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858000" y="2540160"/>
            <a:ext cx="3840480" cy="42000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0698480" y="2540160"/>
            <a:ext cx="1097280" cy="420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37200" y="2570160"/>
            <a:ext cx="2400320" cy="360000"/>
          </a:xfrm>
          <a:prstGeom prst="rect">
            <a:avLst/>
          </a:prstGeom>
          <a:noFill/>
        </p:spPr>
        <p:txBody>
          <a:bodyPr wrap="square">
            <a:spAutoFit/>
          </a:bodyPr>
          <a:lstStyle/>
          <a:p>
            <a:pPr algn="l"/>
            <a:r>
              <a:rPr sz="1100" b="1">
                <a:solidFill>
                  <a:srgbClr val="1A1A2E"/>
                </a:solidFill>
                <a:latin typeface="Microsoft YaHei" panose="020B0503020204020204" charset="-122"/>
                <a:ea typeface="Microsoft YaHei" panose="020B0503020204020204" charset="-122"/>
              </a:rPr>
              <a:t>变更文档</a:t>
            </a:r>
            <a:endParaRPr sz="1100" b="1">
              <a:solidFill>
                <a:srgbClr val="1A1A2E"/>
              </a:solidFill>
              <a:latin typeface="Microsoft YaHei" panose="020B0503020204020204" charset="-122"/>
            </a:endParaRPr>
          </a:p>
        </p:txBody>
      </p:sp>
      <p:sp>
        <p:nvSpPr>
          <p:cNvPr id="34" name="TextBox 33"/>
          <p:cNvSpPr txBox="1"/>
          <p:nvPr/>
        </p:nvSpPr>
        <p:spPr>
          <a:xfrm>
            <a:off x="3097520" y="2560160"/>
            <a:ext cx="3680480" cy="380000"/>
          </a:xfrm>
          <a:prstGeom prst="rect">
            <a:avLst/>
          </a:prstGeom>
          <a:noFill/>
        </p:spPr>
        <p:txBody>
          <a:bodyPr wrap="square">
            <a:spAutoFit/>
          </a:bodyPr>
          <a:lstStyle/>
          <a:p>
            <a:pPr algn="l"/>
            <a:r>
              <a:rPr sz="1000" b="0">
                <a:solidFill>
                  <a:srgbClr val="2E7D32"/>
                </a:solidFill>
                <a:latin typeface="Microsoft YaHei" panose="020B0503020204020204" charset="-122"/>
                <a:ea typeface="Microsoft YaHei" panose="020B0503020204020204" charset="-122"/>
              </a:rPr>
              <a:t>636 行 artifact 文档</a:t>
            </a:r>
            <a:endParaRPr sz="1000" b="0">
              <a:solidFill>
                <a:srgbClr val="2E7D32"/>
              </a:solidFill>
              <a:latin typeface="Microsoft YaHei" panose="020B0503020204020204" charset="-122"/>
            </a:endParaRPr>
          </a:p>
          <a:p>
            <a:pPr algn="l"/>
            <a:r>
              <a:rPr sz="1000" b="0">
                <a:solidFill>
                  <a:srgbClr val="2E7D32"/>
                </a:solidFill>
                <a:latin typeface="Microsoft YaHei" panose="020B0503020204020204" charset="-122"/>
                <a:ea typeface="Microsoft YaHei" panose="020B0503020204020204" charset="-122"/>
              </a:rPr>
              <a:t>（proposal→usecases→specs→design→tasks）</a:t>
            </a:r>
            <a:endParaRPr sz="1000" b="0">
              <a:solidFill>
                <a:srgbClr val="2E7D32"/>
              </a:solidFill>
              <a:latin typeface="Microsoft YaHei" panose="020B0503020204020204" charset="-122"/>
            </a:endParaRPr>
          </a:p>
        </p:txBody>
      </p:sp>
      <p:sp>
        <p:nvSpPr>
          <p:cNvPr id="35" name="TextBox 34"/>
          <p:cNvSpPr txBox="1"/>
          <p:nvPr/>
        </p:nvSpPr>
        <p:spPr>
          <a:xfrm>
            <a:off x="6938000" y="2560160"/>
            <a:ext cx="3680480" cy="380000"/>
          </a:xfrm>
          <a:prstGeom prst="rect">
            <a:avLst/>
          </a:prstGeom>
          <a:noFill/>
        </p:spPr>
        <p:txBody>
          <a:bodyPr wrap="square">
            <a:spAutoFit/>
          </a:bodyPr>
          <a:lstStyle/>
          <a:p>
            <a:pPr algn="l"/>
            <a:r>
              <a:rPr sz="1000" b="0">
                <a:solidFill>
                  <a:srgbClr val="C62828"/>
                </a:solidFill>
                <a:latin typeface="Microsoft YaHei" panose="020B0503020204020204" charset="-122"/>
                <a:ea typeface="Microsoft YaHei" panose="020B0503020204020204" charset="-122"/>
              </a:rPr>
              <a:t>0 行文档</a:t>
            </a:r>
            <a:endParaRPr sz="1000" b="0">
              <a:solidFill>
                <a:srgbClr val="C62828"/>
              </a:solidFill>
              <a:latin typeface="Microsoft YaHei" panose="020B0503020204020204" charset="-122"/>
            </a:endParaRPr>
          </a:p>
          <a:p>
            <a:pPr algn="l"/>
            <a:r>
              <a:rPr sz="1000" b="0">
                <a:solidFill>
                  <a:srgbClr val="C62828"/>
                </a:solidFill>
                <a:latin typeface="Microsoft YaHei" panose="020B0503020204020204" charset="-122"/>
                <a:ea typeface="Microsoft YaHei" panose="020B0503020204020204" charset="-122"/>
              </a:rPr>
              <a:t>（无 proposal、无 design、无记录）</a:t>
            </a:r>
            <a:endParaRPr sz="1000" b="0">
              <a:solidFill>
                <a:srgbClr val="C62828"/>
              </a:solidFill>
              <a:latin typeface="Microsoft YaHei" panose="020B0503020204020204" charset="-122"/>
            </a:endParaRPr>
          </a:p>
        </p:txBody>
      </p:sp>
      <p:sp>
        <p:nvSpPr>
          <p:cNvPr id="36" name="TextBox 35"/>
          <p:cNvSpPr txBox="1"/>
          <p:nvPr/>
        </p:nvSpPr>
        <p:spPr>
          <a:xfrm>
            <a:off x="10778480" y="2600160"/>
            <a:ext cx="937280" cy="300000"/>
          </a:xfrm>
          <a:prstGeom prst="rect">
            <a:avLst/>
          </a:prstGeom>
          <a:noFill/>
        </p:spPr>
        <p:txBody>
          <a:bodyPr wrap="square">
            <a:spAutoFit/>
          </a:bodyPr>
          <a:lstStyle/>
          <a:p>
            <a:pPr algn="ctr"/>
            <a:r>
              <a:rPr sz="1400" b="1">
                <a:solidFill>
                  <a:srgbClr val="0078D4"/>
                </a:solidFill>
                <a:latin typeface="Microsoft YaHei" panose="020B0503020204020204" charset="-122"/>
                <a:ea typeface="Microsoft YaHei" panose="020B0503020204020204" charset="-122"/>
              </a:rPr>
              <a:t>∞</a:t>
            </a:r>
            <a:endParaRPr sz="1400" b="1">
              <a:solidFill>
                <a:srgbClr val="0078D4"/>
              </a:solidFill>
              <a:latin typeface="Microsoft YaHei" panose="020B0503020204020204" charset="-122"/>
            </a:endParaRPr>
          </a:p>
        </p:txBody>
      </p:sp>
      <p:sp>
        <p:nvSpPr>
          <p:cNvPr id="37" name="Rectangle 36"/>
          <p:cNvSpPr/>
          <p:nvPr/>
        </p:nvSpPr>
        <p:spPr>
          <a:xfrm>
            <a:off x="457200" y="2960160"/>
            <a:ext cx="2560320" cy="42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017520" y="2960160"/>
            <a:ext cx="3840480" cy="420000"/>
          </a:xfrm>
          <a:prstGeom prst="rect">
            <a:avLst/>
          </a:prstGeom>
          <a:solidFill>
            <a:srgbClr val="F1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858000" y="2960160"/>
            <a:ext cx="3840480" cy="420000"/>
          </a:xfrm>
          <a:prstGeom prst="rect">
            <a:avLst/>
          </a:prstGeom>
          <a:solidFill>
            <a:srgbClr val="FC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698480" y="2960160"/>
            <a:ext cx="1097280" cy="42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37200" y="2990160"/>
            <a:ext cx="2400320" cy="360000"/>
          </a:xfrm>
          <a:prstGeom prst="rect">
            <a:avLst/>
          </a:prstGeom>
          <a:noFill/>
        </p:spPr>
        <p:txBody>
          <a:bodyPr wrap="square">
            <a:spAutoFit/>
          </a:bodyPr>
          <a:lstStyle/>
          <a:p>
            <a:pPr algn="l"/>
            <a:r>
              <a:rPr sz="1100" b="1">
                <a:solidFill>
                  <a:srgbClr val="1A1A2E"/>
                </a:solidFill>
                <a:latin typeface="Microsoft YaHei" panose="020B0503020204020204" charset="-122"/>
                <a:ea typeface="Microsoft YaHei" panose="020B0503020204020204" charset="-122"/>
              </a:rPr>
              <a:t>代码模块化</a:t>
            </a:r>
            <a:endParaRPr sz="1100" b="1">
              <a:solidFill>
                <a:srgbClr val="1A1A2E"/>
              </a:solidFill>
              <a:latin typeface="Microsoft YaHei" panose="020B0503020204020204" charset="-122"/>
            </a:endParaRPr>
          </a:p>
        </p:txBody>
      </p:sp>
      <p:sp>
        <p:nvSpPr>
          <p:cNvPr id="42" name="TextBox 41"/>
          <p:cNvSpPr txBox="1"/>
          <p:nvPr/>
        </p:nvSpPr>
        <p:spPr>
          <a:xfrm>
            <a:off x="3097520" y="2980160"/>
            <a:ext cx="3680480" cy="380000"/>
          </a:xfrm>
          <a:prstGeom prst="rect">
            <a:avLst/>
          </a:prstGeom>
          <a:noFill/>
        </p:spPr>
        <p:txBody>
          <a:bodyPr wrap="square">
            <a:spAutoFit/>
          </a:bodyPr>
          <a:lstStyle/>
          <a:p>
            <a:pPr algn="l"/>
            <a:r>
              <a:rPr sz="1000" b="0">
                <a:solidFill>
                  <a:srgbClr val="2E7D32"/>
                </a:solidFill>
                <a:latin typeface="Microsoft YaHei" panose="020B0503020204020204" charset="-122"/>
                <a:ea typeface="Microsoft YaHei" panose="020B0503020204020204" charset="-122"/>
              </a:rPr>
              <a:t>7 个文件（2 新模块 + 3 测试 +</a:t>
            </a:r>
            <a:endParaRPr sz="1000" b="0">
              <a:solidFill>
                <a:srgbClr val="2E7D32"/>
              </a:solidFill>
              <a:latin typeface="Microsoft YaHei" panose="020B0503020204020204" charset="-122"/>
            </a:endParaRPr>
          </a:p>
          <a:p>
            <a:pPr algn="l"/>
            <a:r>
              <a:rPr sz="1000" b="0">
                <a:solidFill>
                  <a:srgbClr val="2E7D32"/>
                </a:solidFill>
                <a:latin typeface="Microsoft YaHei" panose="020B0503020204020204" charset="-122"/>
                <a:ea typeface="Microsoft YaHei" panose="020B0503020204020204" charset="-122"/>
              </a:rPr>
              <a:t>2 个修改），单一职责</a:t>
            </a:r>
            <a:endParaRPr sz="1000" b="0">
              <a:solidFill>
                <a:srgbClr val="2E7D32"/>
              </a:solidFill>
              <a:latin typeface="Microsoft YaHei" panose="020B0503020204020204" charset="-122"/>
            </a:endParaRPr>
          </a:p>
        </p:txBody>
      </p:sp>
      <p:sp>
        <p:nvSpPr>
          <p:cNvPr id="43" name="TextBox 42"/>
          <p:cNvSpPr txBox="1"/>
          <p:nvPr/>
        </p:nvSpPr>
        <p:spPr>
          <a:xfrm>
            <a:off x="6938000" y="2980160"/>
            <a:ext cx="3680480" cy="380000"/>
          </a:xfrm>
          <a:prstGeom prst="rect">
            <a:avLst/>
          </a:prstGeom>
          <a:noFill/>
        </p:spPr>
        <p:txBody>
          <a:bodyPr wrap="square">
            <a:spAutoFit/>
          </a:bodyPr>
          <a:lstStyle/>
          <a:p>
            <a:pPr algn="l"/>
            <a:r>
              <a:rPr sz="1000" b="0">
                <a:solidFill>
                  <a:srgbClr val="C62828"/>
                </a:solidFill>
                <a:latin typeface="Microsoft YaHei" panose="020B0503020204020204" charset="-122"/>
                <a:ea typeface="Microsoft YaHei" panose="020B0503020204020204" charset="-122"/>
              </a:rPr>
              <a:t>2 个文件，所有逻辑</a:t>
            </a:r>
            <a:endParaRPr sz="1000" b="0">
              <a:solidFill>
                <a:srgbClr val="C62828"/>
              </a:solidFill>
              <a:latin typeface="Microsoft YaHei" panose="020B0503020204020204" charset="-122"/>
            </a:endParaRPr>
          </a:p>
          <a:p>
            <a:pPr algn="l"/>
            <a:r>
              <a:rPr sz="1000" b="0">
                <a:solidFill>
                  <a:srgbClr val="C62828"/>
                </a:solidFill>
                <a:latin typeface="Microsoft YaHei" panose="020B0503020204020204" charset="-122"/>
                <a:ea typeface="Microsoft YaHei" panose="020B0503020204020204" charset="-122"/>
              </a:rPr>
              <a:t>挤在 backtester.py</a:t>
            </a:r>
            <a:endParaRPr sz="1000" b="0">
              <a:solidFill>
                <a:srgbClr val="C62828"/>
              </a:solidFill>
              <a:latin typeface="Microsoft YaHei" panose="020B0503020204020204" charset="-122"/>
            </a:endParaRPr>
          </a:p>
        </p:txBody>
      </p:sp>
      <p:sp>
        <p:nvSpPr>
          <p:cNvPr id="44" name="TextBox 43"/>
          <p:cNvSpPr txBox="1"/>
          <p:nvPr/>
        </p:nvSpPr>
        <p:spPr>
          <a:xfrm>
            <a:off x="10778480" y="3020160"/>
            <a:ext cx="937280" cy="300000"/>
          </a:xfrm>
          <a:prstGeom prst="rect">
            <a:avLst/>
          </a:prstGeom>
          <a:noFill/>
        </p:spPr>
        <p:txBody>
          <a:bodyPr wrap="square">
            <a:spAutoFit/>
          </a:bodyPr>
          <a:lstStyle/>
          <a:p>
            <a:pPr algn="ctr"/>
            <a:r>
              <a:rPr sz="1400" b="1">
                <a:solidFill>
                  <a:srgbClr val="0078D4"/>
                </a:solidFill>
                <a:latin typeface="Microsoft YaHei" panose="020B0503020204020204" charset="-122"/>
                <a:ea typeface="Microsoft YaHei" panose="020B0503020204020204" charset="-122"/>
              </a:rPr>
              <a:t>3.5x</a:t>
            </a:r>
            <a:endParaRPr sz="1400" b="1">
              <a:solidFill>
                <a:srgbClr val="0078D4"/>
              </a:solidFill>
              <a:latin typeface="Microsoft YaHei" panose="020B0503020204020204" charset="-122"/>
            </a:endParaRPr>
          </a:p>
        </p:txBody>
      </p:sp>
      <p:sp>
        <p:nvSpPr>
          <p:cNvPr id="45" name="Rectangle 44"/>
          <p:cNvSpPr/>
          <p:nvPr/>
        </p:nvSpPr>
        <p:spPr>
          <a:xfrm>
            <a:off x="457200" y="3380160"/>
            <a:ext cx="2560320" cy="420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017520" y="3380160"/>
            <a:ext cx="3840480" cy="42000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858000" y="3380160"/>
            <a:ext cx="3840480" cy="42000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698480" y="3380160"/>
            <a:ext cx="1097280" cy="420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37200" y="3410160"/>
            <a:ext cx="2400320" cy="360000"/>
          </a:xfrm>
          <a:prstGeom prst="rect">
            <a:avLst/>
          </a:prstGeom>
          <a:noFill/>
        </p:spPr>
        <p:txBody>
          <a:bodyPr wrap="square">
            <a:spAutoFit/>
          </a:bodyPr>
          <a:lstStyle/>
          <a:p>
            <a:pPr algn="l"/>
            <a:r>
              <a:rPr sz="1100" b="1">
                <a:solidFill>
                  <a:srgbClr val="1A1A2E"/>
                </a:solidFill>
                <a:latin typeface="Microsoft YaHei" panose="020B0503020204020204" charset="-122"/>
                <a:ea typeface="Microsoft YaHei" panose="020B0503020204020204" charset="-122"/>
              </a:rPr>
              <a:t>新增代码行</a:t>
            </a:r>
            <a:endParaRPr sz="1100" b="1">
              <a:solidFill>
                <a:srgbClr val="1A1A2E"/>
              </a:solidFill>
              <a:latin typeface="Microsoft YaHei" panose="020B0503020204020204" charset="-122"/>
            </a:endParaRPr>
          </a:p>
        </p:txBody>
      </p:sp>
      <p:sp>
        <p:nvSpPr>
          <p:cNvPr id="50" name="TextBox 49"/>
          <p:cNvSpPr txBox="1"/>
          <p:nvPr/>
        </p:nvSpPr>
        <p:spPr>
          <a:xfrm>
            <a:off x="3097520" y="3400160"/>
            <a:ext cx="3680480" cy="380000"/>
          </a:xfrm>
          <a:prstGeom prst="rect">
            <a:avLst/>
          </a:prstGeom>
          <a:noFill/>
        </p:spPr>
        <p:txBody>
          <a:bodyPr wrap="square">
            <a:spAutoFit/>
          </a:bodyPr>
          <a:lstStyle/>
          <a:p>
            <a:pPr algn="l"/>
            <a:r>
              <a:rPr sz="1000" b="0">
                <a:solidFill>
                  <a:srgbClr val="2E7D32"/>
                </a:solidFill>
                <a:latin typeface="Microsoft YaHei" panose="020B0503020204020204" charset="-122"/>
                <a:ea typeface="Microsoft YaHei" panose="020B0503020204020204" charset="-122"/>
              </a:rPr>
              <a:t>662 行（源码 303 + 测试 359）</a:t>
            </a:r>
            <a:endParaRPr sz="1000" b="0">
              <a:solidFill>
                <a:srgbClr val="2E7D32"/>
              </a:solidFill>
              <a:latin typeface="Microsoft YaHei" panose="020B0503020204020204" charset="-122"/>
            </a:endParaRPr>
          </a:p>
          <a:p>
            <a:pPr algn="l"/>
            <a:r>
              <a:rPr sz="1000" b="0">
                <a:solidFill>
                  <a:srgbClr val="2E7D32"/>
                </a:solidFill>
                <a:latin typeface="Microsoft YaHei" panose="020B0503020204020204" charset="-122"/>
                <a:ea typeface="Microsoft YaHei" panose="020B0503020204020204" charset="-122"/>
              </a:rPr>
              <a:t>分布在独立模块</a:t>
            </a:r>
            <a:endParaRPr sz="1000" b="0">
              <a:solidFill>
                <a:srgbClr val="2E7D32"/>
              </a:solidFill>
              <a:latin typeface="Microsoft YaHei" panose="020B0503020204020204" charset="-122"/>
            </a:endParaRPr>
          </a:p>
        </p:txBody>
      </p:sp>
      <p:sp>
        <p:nvSpPr>
          <p:cNvPr id="51" name="TextBox 50"/>
          <p:cNvSpPr txBox="1"/>
          <p:nvPr/>
        </p:nvSpPr>
        <p:spPr>
          <a:xfrm>
            <a:off x="6938000" y="3400160"/>
            <a:ext cx="3680480" cy="380000"/>
          </a:xfrm>
          <a:prstGeom prst="rect">
            <a:avLst/>
          </a:prstGeom>
          <a:noFill/>
        </p:spPr>
        <p:txBody>
          <a:bodyPr wrap="square">
            <a:spAutoFit/>
          </a:bodyPr>
          <a:lstStyle/>
          <a:p>
            <a:pPr algn="l"/>
            <a:r>
              <a:rPr sz="1000" b="0">
                <a:solidFill>
                  <a:srgbClr val="C62828"/>
                </a:solidFill>
                <a:latin typeface="Microsoft YaHei" panose="020B0503020204020204" charset="-122"/>
                <a:ea typeface="Microsoft YaHei" panose="020B0503020204020204" charset="-122"/>
              </a:rPr>
              <a:t>163 行</a:t>
            </a:r>
            <a:endParaRPr sz="1000" b="0">
              <a:solidFill>
                <a:srgbClr val="C62828"/>
              </a:solidFill>
              <a:latin typeface="Microsoft YaHei" panose="020B0503020204020204" charset="-122"/>
            </a:endParaRPr>
          </a:p>
          <a:p>
            <a:pPr algn="l"/>
            <a:r>
              <a:rPr sz="1000" b="0">
                <a:solidFill>
                  <a:srgbClr val="C62828"/>
                </a:solidFill>
                <a:latin typeface="Microsoft YaHei" panose="020B0503020204020204" charset="-122"/>
                <a:ea typeface="Microsoft YaHei" panose="020B0503020204020204" charset="-122"/>
              </a:rPr>
              <a:t>全部混在主函数</a:t>
            </a:r>
            <a:endParaRPr sz="1000" b="0">
              <a:solidFill>
                <a:srgbClr val="C62828"/>
              </a:solidFill>
              <a:latin typeface="Microsoft YaHei" panose="020B0503020204020204" charset="-122"/>
            </a:endParaRPr>
          </a:p>
        </p:txBody>
      </p:sp>
      <p:sp>
        <p:nvSpPr>
          <p:cNvPr id="52" name="TextBox 51"/>
          <p:cNvSpPr txBox="1"/>
          <p:nvPr/>
        </p:nvSpPr>
        <p:spPr>
          <a:xfrm>
            <a:off x="10778480" y="3440160"/>
            <a:ext cx="937280" cy="300000"/>
          </a:xfrm>
          <a:prstGeom prst="rect">
            <a:avLst/>
          </a:prstGeom>
          <a:noFill/>
        </p:spPr>
        <p:txBody>
          <a:bodyPr wrap="square">
            <a:spAutoFit/>
          </a:bodyPr>
          <a:lstStyle/>
          <a:p>
            <a:pPr algn="ctr"/>
            <a:r>
              <a:rPr sz="1400" b="1">
                <a:solidFill>
                  <a:srgbClr val="0078D4"/>
                </a:solidFill>
                <a:latin typeface="Microsoft YaHei" panose="020B0503020204020204" charset="-122"/>
                <a:ea typeface="Microsoft YaHei" panose="020B0503020204020204" charset="-122"/>
              </a:rPr>
              <a:t>4x</a:t>
            </a:r>
            <a:endParaRPr sz="1400" b="1">
              <a:solidFill>
                <a:srgbClr val="0078D4"/>
              </a:solidFill>
              <a:latin typeface="Microsoft YaHei" panose="020B0503020204020204" charset="-122"/>
            </a:endParaRPr>
          </a:p>
        </p:txBody>
      </p:sp>
      <p:sp>
        <p:nvSpPr>
          <p:cNvPr id="53" name="Rectangle 52"/>
          <p:cNvSpPr/>
          <p:nvPr/>
        </p:nvSpPr>
        <p:spPr>
          <a:xfrm>
            <a:off x="457200" y="3800160"/>
            <a:ext cx="2560320" cy="42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3017520" y="3800160"/>
            <a:ext cx="3840480" cy="420000"/>
          </a:xfrm>
          <a:prstGeom prst="rect">
            <a:avLst/>
          </a:prstGeom>
          <a:solidFill>
            <a:srgbClr val="F1F8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858000" y="3800160"/>
            <a:ext cx="3840480" cy="420000"/>
          </a:xfrm>
          <a:prstGeom prst="rect">
            <a:avLst/>
          </a:prstGeom>
          <a:solidFill>
            <a:srgbClr val="FC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0698480" y="3800160"/>
            <a:ext cx="1097280" cy="420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37200" y="3830160"/>
            <a:ext cx="2400320" cy="360000"/>
          </a:xfrm>
          <a:prstGeom prst="rect">
            <a:avLst/>
          </a:prstGeom>
          <a:noFill/>
        </p:spPr>
        <p:txBody>
          <a:bodyPr wrap="square">
            <a:spAutoFit/>
          </a:bodyPr>
          <a:lstStyle/>
          <a:p>
            <a:pPr algn="l"/>
            <a:r>
              <a:rPr sz="1100" b="1">
                <a:solidFill>
                  <a:srgbClr val="1A1A2E"/>
                </a:solidFill>
                <a:latin typeface="Microsoft YaHei" panose="020B0503020204020204" charset="-122"/>
                <a:ea typeface="Microsoft YaHei" panose="020B0503020204020204" charset="-122"/>
              </a:rPr>
              <a:t>遗漏的关键边界</a:t>
            </a:r>
            <a:endParaRPr sz="1100" b="1">
              <a:solidFill>
                <a:srgbClr val="1A1A2E"/>
              </a:solidFill>
              <a:latin typeface="Microsoft YaHei" panose="020B0503020204020204" charset="-122"/>
            </a:endParaRPr>
          </a:p>
        </p:txBody>
      </p:sp>
      <p:sp>
        <p:nvSpPr>
          <p:cNvPr id="58" name="TextBox 57"/>
          <p:cNvSpPr txBox="1"/>
          <p:nvPr/>
        </p:nvSpPr>
        <p:spPr>
          <a:xfrm>
            <a:off x="3097520" y="3820160"/>
            <a:ext cx="3680480" cy="245110"/>
          </a:xfrm>
          <a:prstGeom prst="rect">
            <a:avLst/>
          </a:prstGeom>
          <a:noFill/>
        </p:spPr>
        <p:txBody>
          <a:bodyPr wrap="square">
            <a:spAutoFit/>
          </a:bodyPr>
          <a:lstStyle/>
          <a:p>
            <a:pPr algn="l"/>
            <a:r>
              <a:rPr lang="zh-CN" sz="1000" b="0">
                <a:solidFill>
                  <a:srgbClr val="2E7D32"/>
                </a:solidFill>
                <a:latin typeface="Microsoft YaHei" panose="020B0503020204020204" charset="-122"/>
                <a:ea typeface="Microsoft YaHei" panose="020B0503020204020204" charset="-122"/>
              </a:rPr>
              <a:t>已知</a:t>
            </a:r>
            <a:r>
              <a:rPr lang="en-US" altLang="zh-CN" sz="1000" b="0">
                <a:solidFill>
                  <a:srgbClr val="2E7D32"/>
                </a:solidFill>
                <a:latin typeface="Microsoft YaHei" panose="020B0503020204020204" charset="-122"/>
                <a:ea typeface="Microsoft YaHei" panose="020B0503020204020204" charset="-122"/>
              </a:rPr>
              <a:t> </a:t>
            </a:r>
            <a:r>
              <a:rPr sz="1000" b="0">
                <a:solidFill>
                  <a:srgbClr val="2E7D32"/>
                </a:solidFill>
                <a:latin typeface="Microsoft YaHei" panose="020B0503020204020204" charset="-122"/>
                <a:ea typeface="Microsoft YaHei" panose="020B0503020204020204" charset="-122"/>
              </a:rPr>
              <a:t>0 个</a:t>
            </a:r>
            <a:endParaRPr sz="1000" b="0">
              <a:solidFill>
                <a:srgbClr val="2E7D32"/>
              </a:solidFill>
              <a:latin typeface="Microsoft YaHei" panose="020B0503020204020204" charset="-122"/>
            </a:endParaRPr>
          </a:p>
        </p:txBody>
      </p:sp>
      <p:sp>
        <p:nvSpPr>
          <p:cNvPr id="59" name="TextBox 58"/>
          <p:cNvSpPr txBox="1"/>
          <p:nvPr/>
        </p:nvSpPr>
        <p:spPr>
          <a:xfrm>
            <a:off x="6938000" y="3820160"/>
            <a:ext cx="3680480" cy="398780"/>
          </a:xfrm>
          <a:prstGeom prst="rect">
            <a:avLst/>
          </a:prstGeom>
          <a:noFill/>
        </p:spPr>
        <p:txBody>
          <a:bodyPr wrap="square">
            <a:spAutoFit/>
          </a:bodyPr>
          <a:lstStyle/>
          <a:p>
            <a:pPr algn="l"/>
            <a:r>
              <a:rPr lang="zh-CN" sz="1000" b="0">
                <a:solidFill>
                  <a:srgbClr val="C62828"/>
                </a:solidFill>
                <a:latin typeface="Microsoft YaHei" panose="020B0503020204020204" charset="-122"/>
                <a:ea typeface="Microsoft YaHei" panose="020B0503020204020204" charset="-122"/>
              </a:rPr>
              <a:t>和</a:t>
            </a:r>
            <a:r>
              <a:rPr lang="en-US" altLang="zh-CN" sz="1000" b="0">
                <a:solidFill>
                  <a:srgbClr val="C62828"/>
                </a:solidFill>
                <a:latin typeface="Microsoft YaHei" panose="020B0503020204020204" charset="-122"/>
                <a:ea typeface="Microsoft YaHei" panose="020B0503020204020204" charset="-122"/>
              </a:rPr>
              <a:t>HW2</a:t>
            </a:r>
            <a:r>
              <a:rPr lang="zh-CN" altLang="en-US" sz="1000" b="0">
                <a:solidFill>
                  <a:srgbClr val="C62828"/>
                </a:solidFill>
                <a:latin typeface="Microsoft YaHei" panose="020B0503020204020204" charset="-122"/>
                <a:ea typeface="Microsoft YaHei" panose="020B0503020204020204" charset="-122"/>
              </a:rPr>
              <a:t>相比</a:t>
            </a:r>
            <a:r>
              <a:rPr lang="en-US" altLang="zh-CN" sz="1000" b="0">
                <a:solidFill>
                  <a:srgbClr val="C62828"/>
                </a:solidFill>
                <a:latin typeface="Microsoft YaHei" panose="020B0503020204020204" charset="-122"/>
                <a:ea typeface="Microsoft YaHei" panose="020B0503020204020204" charset="-122"/>
              </a:rPr>
              <a:t> </a:t>
            </a:r>
            <a:r>
              <a:rPr sz="1000" b="0">
                <a:solidFill>
                  <a:srgbClr val="C62828"/>
                </a:solidFill>
                <a:latin typeface="Microsoft YaHei" panose="020B0503020204020204" charset="-122"/>
                <a:ea typeface="Microsoft YaHei" panose="020B0503020204020204" charset="-122"/>
              </a:rPr>
              <a:t>3 个（T+1冲突、渐进恢复、</a:t>
            </a:r>
            <a:endParaRPr sz="1000" b="0">
              <a:solidFill>
                <a:srgbClr val="C62828"/>
              </a:solidFill>
              <a:latin typeface="Microsoft YaHei" panose="020B0503020204020204" charset="-122"/>
            </a:endParaRPr>
          </a:p>
          <a:p>
            <a:pPr algn="l"/>
            <a:r>
              <a:rPr sz="1000" b="0">
                <a:solidFill>
                  <a:srgbClr val="C62828"/>
                </a:solidFill>
                <a:latin typeface="Microsoft YaHei" panose="020B0503020204020204" charset="-122"/>
                <a:ea typeface="Microsoft YaHei" panose="020B0503020204020204" charset="-122"/>
              </a:rPr>
              <a:t>频率切换间隔）</a:t>
            </a:r>
            <a:endParaRPr sz="1000" b="0">
              <a:solidFill>
                <a:srgbClr val="C62828"/>
              </a:solidFill>
              <a:latin typeface="Microsoft YaHei" panose="020B0503020204020204" charset="-122"/>
            </a:endParaRPr>
          </a:p>
        </p:txBody>
      </p:sp>
      <p:sp>
        <p:nvSpPr>
          <p:cNvPr id="60" name="TextBox 59"/>
          <p:cNvSpPr txBox="1"/>
          <p:nvPr/>
        </p:nvSpPr>
        <p:spPr>
          <a:xfrm>
            <a:off x="10778480" y="3860160"/>
            <a:ext cx="937280" cy="300000"/>
          </a:xfrm>
          <a:prstGeom prst="rect">
            <a:avLst/>
          </a:prstGeom>
          <a:noFill/>
        </p:spPr>
        <p:txBody>
          <a:bodyPr wrap="square">
            <a:spAutoFit/>
          </a:bodyPr>
          <a:lstStyle/>
          <a:p>
            <a:pPr algn="ctr"/>
            <a:r>
              <a:rPr sz="1400" b="1">
                <a:solidFill>
                  <a:srgbClr val="0078D4"/>
                </a:solidFill>
                <a:latin typeface="Microsoft YaHei" panose="020B0503020204020204" charset="-122"/>
                <a:ea typeface="Microsoft YaHei" panose="020B0503020204020204" charset="-122"/>
              </a:rPr>
              <a:t>—</a:t>
            </a:r>
            <a:endParaRPr sz="1400" b="1">
              <a:solidFill>
                <a:srgbClr val="0078D4"/>
              </a:solidFill>
              <a:latin typeface="Microsoft YaHei" panose="020B0503020204020204" charset="-122"/>
            </a:endParaRPr>
          </a:p>
        </p:txBody>
      </p:sp>
      <p:sp>
        <p:nvSpPr>
          <p:cNvPr id="61" name="Rectangle 60"/>
          <p:cNvSpPr/>
          <p:nvPr/>
        </p:nvSpPr>
        <p:spPr>
          <a:xfrm>
            <a:off x="457200" y="4220160"/>
            <a:ext cx="2560320" cy="420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3017520" y="4220160"/>
            <a:ext cx="3840480" cy="420000"/>
          </a:xfrm>
          <a:prstGeom prst="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858000" y="4220160"/>
            <a:ext cx="3840480" cy="420000"/>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0698480" y="4220160"/>
            <a:ext cx="1097280" cy="42000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37200" y="4250160"/>
            <a:ext cx="2400320" cy="360000"/>
          </a:xfrm>
          <a:prstGeom prst="rect">
            <a:avLst/>
          </a:prstGeom>
          <a:noFill/>
        </p:spPr>
        <p:txBody>
          <a:bodyPr wrap="square">
            <a:spAutoFit/>
          </a:bodyPr>
          <a:lstStyle/>
          <a:p>
            <a:pPr algn="l"/>
            <a:r>
              <a:rPr sz="1100" b="1">
                <a:solidFill>
                  <a:srgbClr val="1A1A2E"/>
                </a:solidFill>
                <a:latin typeface="Microsoft YaHei" panose="020B0503020204020204" charset="-122"/>
                <a:ea typeface="Microsoft YaHei" panose="020B0503020204020204" charset="-122"/>
              </a:rPr>
              <a:t>可追溯性</a:t>
            </a:r>
            <a:endParaRPr sz="1100" b="1">
              <a:solidFill>
                <a:srgbClr val="1A1A2E"/>
              </a:solidFill>
              <a:latin typeface="Microsoft YaHei" panose="020B0503020204020204" charset="-122"/>
            </a:endParaRPr>
          </a:p>
        </p:txBody>
      </p:sp>
      <p:sp>
        <p:nvSpPr>
          <p:cNvPr id="66" name="TextBox 65"/>
          <p:cNvSpPr txBox="1"/>
          <p:nvPr/>
        </p:nvSpPr>
        <p:spPr>
          <a:xfrm>
            <a:off x="3097520" y="4240160"/>
            <a:ext cx="3680480" cy="380000"/>
          </a:xfrm>
          <a:prstGeom prst="rect">
            <a:avLst/>
          </a:prstGeom>
          <a:noFill/>
        </p:spPr>
        <p:txBody>
          <a:bodyPr wrap="square">
            <a:spAutoFit/>
          </a:bodyPr>
          <a:lstStyle/>
          <a:p>
            <a:pPr algn="l"/>
            <a:r>
              <a:rPr sz="1000" b="0">
                <a:solidFill>
                  <a:srgbClr val="2E7D32"/>
                </a:solidFill>
                <a:latin typeface="Microsoft YaHei" panose="020B0503020204020204" charset="-122"/>
                <a:ea typeface="Microsoft YaHei" panose="020B0503020204020204" charset="-122"/>
              </a:rPr>
              <a:t>完整链路：需求→场景→规格</a:t>
            </a:r>
            <a:endParaRPr sz="1000" b="0">
              <a:solidFill>
                <a:srgbClr val="2E7D32"/>
              </a:solidFill>
              <a:latin typeface="Microsoft YaHei" panose="020B0503020204020204" charset="-122"/>
            </a:endParaRPr>
          </a:p>
          <a:p>
            <a:pPr algn="l"/>
            <a:r>
              <a:rPr sz="1000" b="0">
                <a:solidFill>
                  <a:srgbClr val="2E7D32"/>
                </a:solidFill>
                <a:latin typeface="Microsoft YaHei" panose="020B0503020204020204" charset="-122"/>
                <a:ea typeface="Microsoft YaHei" panose="020B0503020204020204" charset="-122"/>
              </a:rPr>
              <a:t>→设计→任务→代码</a:t>
            </a:r>
            <a:endParaRPr sz="1000" b="0">
              <a:solidFill>
                <a:srgbClr val="2E7D32"/>
              </a:solidFill>
              <a:latin typeface="Microsoft YaHei" panose="020B0503020204020204" charset="-122"/>
            </a:endParaRPr>
          </a:p>
        </p:txBody>
      </p:sp>
      <p:sp>
        <p:nvSpPr>
          <p:cNvPr id="67" name="TextBox 66"/>
          <p:cNvSpPr txBox="1"/>
          <p:nvPr/>
        </p:nvSpPr>
        <p:spPr>
          <a:xfrm>
            <a:off x="6938000" y="4240160"/>
            <a:ext cx="3680480" cy="398780"/>
          </a:xfrm>
          <a:prstGeom prst="rect">
            <a:avLst/>
          </a:prstGeom>
          <a:noFill/>
        </p:spPr>
        <p:txBody>
          <a:bodyPr wrap="square">
            <a:spAutoFit/>
          </a:bodyPr>
          <a:lstStyle/>
          <a:p>
            <a:pPr algn="l"/>
            <a:r>
              <a:rPr sz="1000" b="0">
                <a:solidFill>
                  <a:srgbClr val="C62828"/>
                </a:solidFill>
                <a:latin typeface="Microsoft YaHei" panose="020B0503020204020204" charset="-122"/>
                <a:ea typeface="Microsoft YaHei" panose="020B0503020204020204" charset="-122"/>
              </a:rPr>
              <a:t>仅 git diff</a:t>
            </a:r>
            <a:endParaRPr sz="1000" b="0">
              <a:solidFill>
                <a:srgbClr val="C62828"/>
              </a:solidFill>
              <a:latin typeface="Microsoft YaHei" panose="020B0503020204020204" charset="-122"/>
            </a:endParaRPr>
          </a:p>
          <a:p>
            <a:pPr algn="l"/>
            <a:r>
              <a:rPr lang="zh-CN" sz="1000" b="0">
                <a:solidFill>
                  <a:srgbClr val="C62828"/>
                </a:solidFill>
                <a:latin typeface="Microsoft YaHei" panose="020B0503020204020204" charset="-122"/>
                <a:ea typeface="Microsoft YaHei" panose="020B0503020204020204" charset="-122"/>
              </a:rPr>
              <a:t>潜在一段时间</a:t>
            </a:r>
            <a:r>
              <a:rPr sz="1000" b="0">
                <a:solidFill>
                  <a:srgbClr val="C62828"/>
                </a:solidFill>
                <a:latin typeface="Microsoft YaHei" panose="020B0503020204020204" charset="-122"/>
                <a:ea typeface="Microsoft YaHei" panose="020B0503020204020204" charset="-122"/>
              </a:rPr>
              <a:t>后</a:t>
            </a:r>
            <a:r>
              <a:rPr lang="zh-CN" sz="1000" b="0">
                <a:solidFill>
                  <a:srgbClr val="C62828"/>
                </a:solidFill>
                <a:latin typeface="Microsoft YaHei" panose="020B0503020204020204" charset="-122"/>
                <a:ea typeface="Microsoft YaHei" panose="020B0503020204020204" charset="-122"/>
              </a:rPr>
              <a:t>因文档缺失</a:t>
            </a:r>
            <a:r>
              <a:rPr sz="1000" b="0">
                <a:solidFill>
                  <a:srgbClr val="C62828"/>
                </a:solidFill>
                <a:latin typeface="Microsoft YaHei" panose="020B0503020204020204" charset="-122"/>
                <a:ea typeface="Microsoft YaHei" panose="020B0503020204020204" charset="-122"/>
              </a:rPr>
              <a:t>无法理解变更原因</a:t>
            </a:r>
            <a:endParaRPr sz="1000" b="0">
              <a:solidFill>
                <a:srgbClr val="C62828"/>
              </a:solidFill>
              <a:latin typeface="Microsoft YaHei" panose="020B0503020204020204" charset="-122"/>
            </a:endParaRPr>
          </a:p>
        </p:txBody>
      </p:sp>
      <p:sp>
        <p:nvSpPr>
          <p:cNvPr id="68" name="TextBox 67"/>
          <p:cNvSpPr txBox="1"/>
          <p:nvPr/>
        </p:nvSpPr>
        <p:spPr>
          <a:xfrm>
            <a:off x="10778480" y="4280160"/>
            <a:ext cx="937280" cy="300000"/>
          </a:xfrm>
          <a:prstGeom prst="rect">
            <a:avLst/>
          </a:prstGeom>
          <a:noFill/>
        </p:spPr>
        <p:txBody>
          <a:bodyPr wrap="square">
            <a:spAutoFit/>
          </a:bodyPr>
          <a:lstStyle/>
          <a:p>
            <a:pPr algn="ctr"/>
            <a:r>
              <a:rPr sz="1400" b="1">
                <a:solidFill>
                  <a:srgbClr val="0078D4"/>
                </a:solidFill>
                <a:latin typeface="Microsoft YaHei" panose="020B0503020204020204" charset="-122"/>
                <a:ea typeface="Microsoft YaHei" panose="020B0503020204020204" charset="-122"/>
              </a:rPr>
              <a:t>—</a:t>
            </a:r>
            <a:endParaRPr sz="1400" b="1">
              <a:solidFill>
                <a:srgbClr val="0078D4"/>
              </a:solidFill>
              <a:latin typeface="Microsoft YaHei" panose="020B0503020204020204" charset="-122"/>
            </a:endParaRPr>
          </a:p>
        </p:txBody>
      </p:sp>
      <p:sp>
        <p:nvSpPr>
          <p:cNvPr id="69" name="Rectangle 68"/>
          <p:cNvSpPr/>
          <p:nvPr/>
        </p:nvSpPr>
        <p:spPr>
          <a:xfrm>
            <a:off x="365760" y="4679950"/>
            <a:ext cx="11430000" cy="640080"/>
          </a:xfrm>
          <a:prstGeom prst="rect">
            <a:avLst/>
          </a:prstGeom>
          <a:solidFill>
            <a:srgbClr val="E8F0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548640" y="4725160"/>
            <a:ext cx="11064240" cy="491490"/>
          </a:xfrm>
          <a:prstGeom prst="rect">
            <a:avLst/>
          </a:prstGeom>
          <a:noFill/>
        </p:spPr>
        <p:txBody>
          <a:bodyPr wrap="square">
            <a:spAutoFit/>
          </a:bodyPr>
          <a:lstStyle/>
          <a:p>
            <a:pPr algn="l"/>
            <a:r>
              <a:rPr sz="1300" b="1">
                <a:solidFill>
                  <a:srgbClr val="1A1A2E"/>
                </a:solidFill>
                <a:latin typeface="Microsoft YaHei" panose="020B0503020204020204" charset="-122"/>
                <a:ea typeface="Microsoft YaHei" panose="020B0503020204020204" charset="-122"/>
              </a:rPr>
              <a:t>OpenSpec-HW2 的 usecases 强制思考边界场景</a:t>
            </a:r>
            <a:r>
              <a:rPr lang="zh-CN" sz="1300" b="1">
                <a:solidFill>
                  <a:srgbClr val="1A1A2E"/>
                </a:solidFill>
                <a:latin typeface="Microsoft YaHei" panose="020B0503020204020204" charset="-122"/>
                <a:ea typeface="Microsoft YaHei" panose="020B0503020204020204" charset="-122"/>
              </a:rPr>
              <a:t>而不单纯是</a:t>
            </a:r>
            <a:r>
              <a:rPr lang="en-US" altLang="zh-CN" sz="1300" b="1">
                <a:solidFill>
                  <a:srgbClr val="1A1A2E"/>
                </a:solidFill>
                <a:latin typeface="Microsoft YaHei" panose="020B0503020204020204" charset="-122"/>
                <a:ea typeface="Microsoft YaHei" panose="020B0503020204020204" charset="-122"/>
              </a:rPr>
              <a:t>Happy path</a:t>
            </a:r>
            <a:r>
              <a:rPr sz="1300" b="0">
                <a:solidFill>
                  <a:srgbClr val="1A1A2E"/>
                </a:solidFill>
                <a:latin typeface="Microsoft YaHei" panose="020B0503020204020204" charset="-122"/>
                <a:ea typeface="Microsoft YaHei" panose="020B0503020204020204" charset="-122"/>
              </a:rPr>
              <a:t>，发现了</a:t>
            </a:r>
            <a:r>
              <a:rPr lang="en-US" sz="1300" b="0">
                <a:solidFill>
                  <a:srgbClr val="1A1A2E"/>
                </a:solidFill>
                <a:latin typeface="Microsoft YaHei" panose="020B0503020204020204" charset="-122"/>
                <a:ea typeface="Microsoft YaHei" panose="020B0503020204020204" charset="-122"/>
              </a:rPr>
              <a:t>Vanilla Claude Code</a:t>
            </a:r>
            <a:r>
              <a:rPr sz="1300" b="0">
                <a:solidFill>
                  <a:srgbClr val="1A1A2E"/>
                </a:solidFill>
                <a:latin typeface="Microsoft YaHei" panose="020B0503020204020204" charset="-122"/>
                <a:ea typeface="Microsoft YaHei" panose="020B0503020204020204" charset="-122"/>
              </a:rPr>
              <a:t>遗漏的 3 个关键边界：T+1 冲突、渐进式恢复、频率切换时机</a:t>
            </a:r>
            <a:endParaRPr sz="1300" b="0">
              <a:solidFill>
                <a:srgbClr val="1A1A2E"/>
              </a:solidFill>
              <a:latin typeface="Microsoft YaHei" panose="020B0503020204020204" charset="-122"/>
            </a:endParaRPr>
          </a:p>
        </p:txBody>
      </p:sp>
      <p:sp>
        <p:nvSpPr>
          <p:cNvPr id="71" name="TextBox 70"/>
          <p:cNvSpPr txBox="1"/>
          <p:nvPr/>
        </p:nvSpPr>
        <p:spPr>
          <a:xfrm>
            <a:off x="11094415" y="6400800"/>
            <a:ext cx="914400" cy="365760"/>
          </a:xfrm>
          <a:prstGeom prst="rect">
            <a:avLst/>
          </a:prstGeom>
          <a:noFill/>
        </p:spPr>
        <p:txBody>
          <a:bodyPr wrap="square">
            <a:spAutoFit/>
          </a:bodyPr>
          <a:lstStyle/>
          <a:p>
            <a:pPr algn="l"/>
            <a:r>
              <a:rPr sz="1100" b="0">
                <a:solidFill>
                  <a:srgbClr val="888888"/>
                </a:solidFill>
                <a:latin typeface="Microsoft YaHei" panose="020B0503020204020204" charset="-122"/>
                <a:ea typeface="Microsoft YaHei" panose="020B0503020204020204" charset="-122"/>
              </a:rPr>
              <a:t>12/41</a:t>
            </a:r>
            <a:endParaRPr sz="1100" b="0">
              <a:solidFill>
                <a:srgbClr val="888888"/>
              </a:solidFill>
              <a:latin typeface="Microsoft YaHei" panose="020B0503020204020204" charset="-122"/>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695" cy="54864"/>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521970"/>
          </a:xfrm>
          <a:prstGeom prst="rect">
            <a:avLst/>
          </a:prstGeom>
          <a:noFill/>
        </p:spPr>
        <p:txBody>
          <a:bodyPr wrap="square">
            <a:spAutoFit/>
          </a:bodyPr>
          <a:lstStyle/>
          <a:p>
            <a:pPr algn="l"/>
            <a:r>
              <a:rPr lang="zh-CN" sz="2800" b="1">
                <a:solidFill>
                  <a:srgbClr val="1A1A2E"/>
                </a:solidFill>
                <a:latin typeface="Microsoft YaHei" panose="020B0503020204020204" charset="-122"/>
                <a:ea typeface="Microsoft YaHei" panose="020B0503020204020204" charset="-122"/>
              </a:rPr>
              <a:t>实验</a:t>
            </a:r>
            <a:r>
              <a:rPr lang="en-US" altLang="zh-CN" sz="2800" b="1">
                <a:solidFill>
                  <a:srgbClr val="1A1A2E"/>
                </a:solidFill>
                <a:latin typeface="Microsoft YaHei" panose="020B0503020204020204" charset="-122"/>
                <a:ea typeface="Microsoft YaHei" panose="020B0503020204020204" charset="-122"/>
              </a:rPr>
              <a:t>2-</a:t>
            </a:r>
            <a:r>
              <a:rPr sz="2800" b="1">
                <a:solidFill>
                  <a:srgbClr val="1A1A2E"/>
                </a:solidFill>
                <a:latin typeface="Microsoft YaHei" panose="020B0503020204020204" charset="-122"/>
                <a:ea typeface="Microsoft YaHei" panose="020B0503020204020204" charset="-122"/>
              </a:rPr>
              <a:t>需求变更实验：核心发现与评分</a:t>
            </a:r>
            <a:endParaRPr sz="2800" b="1">
              <a:solidFill>
                <a:srgbClr val="1A1A2E"/>
              </a:solidFill>
              <a:latin typeface="Microsoft YaHei" panose="020B0503020204020204" charset="-122"/>
            </a:endParaRPr>
          </a:p>
        </p:txBody>
      </p:sp>
      <p:sp>
        <p:nvSpPr>
          <p:cNvPr id="4" name="Rectangle 3"/>
          <p:cNvSpPr/>
          <p:nvPr/>
        </p:nvSpPr>
        <p:spPr>
          <a:xfrm>
            <a:off x="731520" y="960120"/>
            <a:ext cx="1097280"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134110"/>
            <a:ext cx="10058400" cy="583565"/>
          </a:xfrm>
          <a:prstGeom prst="rect">
            <a:avLst/>
          </a:prstGeom>
          <a:noFill/>
        </p:spPr>
        <p:txBody>
          <a:bodyPr wrap="square">
            <a:spAutoFit/>
          </a:bodyPr>
          <a:lstStyle/>
          <a:p>
            <a:r>
              <a:rPr sz="1600">
                <a:solidFill>
                  <a:srgbClr val="1A1A2E"/>
                </a:solidFill>
                <a:latin typeface="Microsoft YaHei" panose="020B0503020204020204" charset="-122"/>
                <a:ea typeface="Microsoft YaHei" panose="020B0503020204020204" charset="-122"/>
              </a:rPr>
              <a:t>OpenSpec-HW2</a:t>
            </a:r>
            <a:r>
              <a:rPr lang="en-US" sz="1600">
                <a:solidFill>
                  <a:srgbClr val="1A1A2E"/>
                </a:solidFill>
                <a:latin typeface="Microsoft YaHei" panose="020B0503020204020204" charset="-122"/>
                <a:ea typeface="Microsoft YaHei" panose="020B0503020204020204" charset="-122"/>
              </a:rPr>
              <a:t> </a:t>
            </a:r>
            <a:r>
              <a:rPr lang="zh-CN" altLang="en-US" sz="1600">
                <a:solidFill>
                  <a:srgbClr val="1A1A2E"/>
                </a:solidFill>
                <a:latin typeface="Microsoft YaHei" panose="020B0503020204020204" charset="-122"/>
                <a:ea typeface="Microsoft YaHei" panose="020B0503020204020204" charset="-122"/>
              </a:rPr>
              <a:t>（以及类</a:t>
            </a:r>
            <a:r>
              <a:rPr lang="en-US" altLang="zh-CN" sz="1600">
                <a:solidFill>
                  <a:srgbClr val="1A1A2E"/>
                </a:solidFill>
                <a:latin typeface="Microsoft YaHei" panose="020B0503020204020204" charset="-122"/>
                <a:ea typeface="Microsoft YaHei" panose="020B0503020204020204" charset="-122"/>
              </a:rPr>
              <a:t>OpenSpec</a:t>
            </a:r>
            <a:r>
              <a:rPr lang="zh-CN" altLang="en-US" sz="1600">
                <a:solidFill>
                  <a:srgbClr val="1A1A2E"/>
                </a:solidFill>
                <a:latin typeface="Microsoft YaHei" panose="020B0503020204020204" charset="-122"/>
                <a:ea typeface="Microsoft YaHei" panose="020B0503020204020204" charset="-122"/>
              </a:rPr>
              <a:t>工具）</a:t>
            </a:r>
            <a:r>
              <a:rPr sz="1600">
                <a:solidFill>
                  <a:srgbClr val="1A1A2E"/>
                </a:solidFill>
                <a:latin typeface="Microsoft YaHei" panose="020B0503020204020204" charset="-122"/>
                <a:ea typeface="Microsoft YaHei" panose="020B0503020204020204" charset="-122"/>
              </a:rPr>
              <a:t> 的核心价值不</a:t>
            </a:r>
            <a:r>
              <a:rPr lang="zh-CN" sz="1600">
                <a:solidFill>
                  <a:srgbClr val="1A1A2E"/>
                </a:solidFill>
                <a:latin typeface="Microsoft YaHei" panose="020B0503020204020204" charset="-122"/>
                <a:ea typeface="Microsoft YaHei" panose="020B0503020204020204" charset="-122"/>
              </a:rPr>
              <a:t>光</a:t>
            </a:r>
            <a:r>
              <a:rPr sz="1600">
                <a:solidFill>
                  <a:srgbClr val="1A1A2E"/>
                </a:solidFill>
                <a:latin typeface="Microsoft YaHei" panose="020B0503020204020204" charset="-122"/>
                <a:ea typeface="Microsoft YaHei" panose="020B0503020204020204" charset="-122"/>
              </a:rPr>
              <a:t>在于初始构建，</a:t>
            </a:r>
            <a:r>
              <a:rPr lang="zh-CN" sz="1600">
                <a:solidFill>
                  <a:srgbClr val="1A1A2E"/>
                </a:solidFill>
                <a:latin typeface="Microsoft YaHei" panose="020B0503020204020204" charset="-122"/>
                <a:ea typeface="Microsoft YaHei" panose="020B0503020204020204" charset="-122"/>
              </a:rPr>
              <a:t>也</a:t>
            </a:r>
            <a:r>
              <a:rPr sz="1600">
                <a:solidFill>
                  <a:srgbClr val="1A1A2E"/>
                </a:solidFill>
                <a:latin typeface="Microsoft YaHei" panose="020B0503020204020204" charset="-122"/>
                <a:ea typeface="Microsoft YaHei" panose="020B0503020204020204" charset="-122"/>
              </a:rPr>
              <a:t>在于持续迭代</a:t>
            </a:r>
            <a:r>
              <a:rPr lang="zh-CN" sz="1600">
                <a:solidFill>
                  <a:srgbClr val="1A1A2E"/>
                </a:solidFill>
                <a:latin typeface="Microsoft YaHei" panose="020B0503020204020204" charset="-122"/>
                <a:ea typeface="Microsoft YaHei" panose="020B0503020204020204" charset="-122"/>
              </a:rPr>
              <a:t>，</a:t>
            </a:r>
            <a:r>
              <a:rPr sz="1600">
                <a:solidFill>
                  <a:srgbClr val="1A1A2E"/>
                </a:solidFill>
                <a:latin typeface="Microsoft YaHei" panose="020B0503020204020204" charset="-122"/>
                <a:ea typeface="Microsoft YaHei" panose="020B0503020204020204" charset="-122"/>
              </a:rPr>
              <a:t> 需求变更时差距更加显著</a:t>
            </a:r>
            <a:endParaRPr sz="1600">
              <a:solidFill>
                <a:srgbClr val="1A1A2E"/>
              </a:solidFill>
              <a:latin typeface="Microsoft YaHei" panose="020B0503020204020204" charset="-122"/>
            </a:endParaRPr>
          </a:p>
        </p:txBody>
      </p:sp>
      <p:sp>
        <p:nvSpPr>
          <p:cNvPr id="6" name="Rectangle 5"/>
          <p:cNvSpPr/>
          <p:nvPr/>
        </p:nvSpPr>
        <p:spPr>
          <a:xfrm>
            <a:off x="457200" y="1920240"/>
            <a:ext cx="5303520" cy="3566160"/>
          </a:xfrm>
          <a:prstGeom prst="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965960"/>
            <a:ext cx="5029200" cy="368300"/>
          </a:xfrm>
          <a:prstGeom prst="rect">
            <a:avLst/>
          </a:prstGeom>
          <a:noFill/>
        </p:spPr>
        <p:txBody>
          <a:bodyPr wrap="square">
            <a:spAutoFit/>
          </a:bodyPr>
          <a:lstStyle/>
          <a:p>
            <a:pPr algn="l"/>
            <a:r>
              <a:rPr lang="zh-CN" sz="1800" b="1">
                <a:solidFill>
                  <a:srgbClr val="1A1A2E"/>
                </a:solidFill>
                <a:latin typeface="Microsoft YaHei" panose="020B0503020204020204" charset="-122"/>
                <a:ea typeface="Microsoft YaHei" panose="020B0503020204020204" charset="-122"/>
              </a:rPr>
              <a:t>需求变更</a:t>
            </a:r>
            <a:r>
              <a:rPr sz="1800" b="1">
                <a:solidFill>
                  <a:srgbClr val="1A1A2E"/>
                </a:solidFill>
                <a:latin typeface="Microsoft YaHei" panose="020B0503020204020204" charset="-122"/>
                <a:ea typeface="Microsoft YaHei" panose="020B0503020204020204" charset="-122"/>
              </a:rPr>
              <a:t>评分对比</a:t>
            </a:r>
            <a:endParaRPr sz="1800" b="1">
              <a:solidFill>
                <a:srgbClr val="1A1A2E"/>
              </a:solidFill>
              <a:latin typeface="Microsoft YaHei" panose="020B0503020204020204" charset="-122"/>
            </a:endParaRPr>
          </a:p>
        </p:txBody>
      </p:sp>
      <p:sp>
        <p:nvSpPr>
          <p:cNvPr id="8" name="TextBox 7"/>
          <p:cNvSpPr txBox="1"/>
          <p:nvPr/>
        </p:nvSpPr>
        <p:spPr>
          <a:xfrm>
            <a:off x="640080" y="2468880"/>
            <a:ext cx="1700000" cy="350000"/>
          </a:xfrm>
          <a:prstGeom prst="rect">
            <a:avLst/>
          </a:prstGeom>
          <a:noFill/>
        </p:spPr>
        <p:txBody>
          <a:bodyPr wrap="square">
            <a:spAutoFit/>
          </a:bodyPr>
          <a:lstStyle/>
          <a:p>
            <a:pPr algn="l"/>
            <a:r>
              <a:rPr sz="1200" b="1">
                <a:solidFill>
                  <a:srgbClr val="1A1A2E"/>
                </a:solidFill>
                <a:latin typeface="Microsoft YaHei" panose="020B0503020204020204" charset="-122"/>
                <a:ea typeface="Microsoft YaHei" panose="020B0503020204020204" charset="-122"/>
              </a:rPr>
              <a:t>影响分析准确性</a:t>
            </a:r>
            <a:endParaRPr sz="1200" b="1">
              <a:solidFill>
                <a:srgbClr val="1A1A2E"/>
              </a:solidFill>
              <a:latin typeface="Microsoft YaHei" panose="020B0503020204020204" charset="-122"/>
            </a:endParaRPr>
          </a:p>
        </p:txBody>
      </p:sp>
      <p:sp>
        <p:nvSpPr>
          <p:cNvPr id="9" name="TextBox 8"/>
          <p:cNvSpPr txBox="1"/>
          <p:nvPr/>
        </p:nvSpPr>
        <p:spPr>
          <a:xfrm>
            <a:off x="2400000" y="2468880"/>
            <a:ext cx="1500000" cy="350000"/>
          </a:xfrm>
          <a:prstGeom prst="rect">
            <a:avLst/>
          </a:prstGeom>
          <a:noFill/>
        </p:spPr>
        <p:txBody>
          <a:bodyPr wrap="square">
            <a:spAutoFit/>
          </a:bodyPr>
          <a:lstStyle/>
          <a:p>
            <a:pPr algn="l"/>
            <a:r>
              <a:rPr sz="1300" b="0">
                <a:solidFill>
                  <a:srgbClr val="2E7D32"/>
                </a:solidFill>
                <a:latin typeface="Microsoft YaHei" panose="020B0503020204020204" charset="-122"/>
                <a:ea typeface="Microsoft YaHei" panose="020B0503020204020204" charset="-122"/>
              </a:rPr>
              <a:t>★★★★★</a:t>
            </a:r>
            <a:endParaRPr sz="1300" b="0">
              <a:solidFill>
                <a:srgbClr val="2E7D32"/>
              </a:solidFill>
              <a:latin typeface="Microsoft YaHei" panose="020B0503020204020204" charset="-122"/>
            </a:endParaRPr>
          </a:p>
        </p:txBody>
      </p:sp>
      <p:sp>
        <p:nvSpPr>
          <p:cNvPr id="10" name="TextBox 9"/>
          <p:cNvSpPr txBox="1"/>
          <p:nvPr/>
        </p:nvSpPr>
        <p:spPr>
          <a:xfrm>
            <a:off x="3900000" y="2468880"/>
            <a:ext cx="1500000" cy="350000"/>
          </a:xfrm>
          <a:prstGeom prst="rect">
            <a:avLst/>
          </a:prstGeom>
          <a:noFill/>
        </p:spPr>
        <p:txBody>
          <a:bodyPr wrap="square">
            <a:spAutoFit/>
          </a:bodyPr>
          <a:lstStyle/>
          <a:p>
            <a:pPr algn="l"/>
            <a:r>
              <a:rPr sz="1300" b="0">
                <a:solidFill>
                  <a:srgbClr val="C62828"/>
                </a:solidFill>
                <a:latin typeface="Microsoft YaHei" panose="020B0503020204020204" charset="-122"/>
                <a:ea typeface="Microsoft YaHei" panose="020B0503020204020204" charset="-122"/>
              </a:rPr>
              <a:t>★★☆☆☆</a:t>
            </a:r>
            <a:endParaRPr sz="1300" b="0">
              <a:solidFill>
                <a:srgbClr val="C62828"/>
              </a:solidFill>
              <a:latin typeface="Microsoft YaHei" panose="020B0503020204020204" charset="-122"/>
            </a:endParaRPr>
          </a:p>
        </p:txBody>
      </p:sp>
      <p:sp>
        <p:nvSpPr>
          <p:cNvPr id="11" name="TextBox 10"/>
          <p:cNvSpPr txBox="1"/>
          <p:nvPr/>
        </p:nvSpPr>
        <p:spPr>
          <a:xfrm>
            <a:off x="640080" y="2868880"/>
            <a:ext cx="1700000" cy="350000"/>
          </a:xfrm>
          <a:prstGeom prst="rect">
            <a:avLst/>
          </a:prstGeom>
          <a:noFill/>
        </p:spPr>
        <p:txBody>
          <a:bodyPr wrap="square">
            <a:spAutoFit/>
          </a:bodyPr>
          <a:lstStyle/>
          <a:p>
            <a:pPr algn="l"/>
            <a:r>
              <a:rPr sz="1200" b="1">
                <a:solidFill>
                  <a:srgbClr val="1A1A2E"/>
                </a:solidFill>
                <a:latin typeface="Microsoft YaHei" panose="020B0503020204020204" charset="-122"/>
                <a:ea typeface="Microsoft YaHei" panose="020B0503020204020204" charset="-122"/>
              </a:rPr>
              <a:t>需求覆盖完整性</a:t>
            </a:r>
            <a:endParaRPr sz="1200" b="1">
              <a:solidFill>
                <a:srgbClr val="1A1A2E"/>
              </a:solidFill>
              <a:latin typeface="Microsoft YaHei" panose="020B0503020204020204" charset="-122"/>
            </a:endParaRPr>
          </a:p>
        </p:txBody>
      </p:sp>
      <p:sp>
        <p:nvSpPr>
          <p:cNvPr id="12" name="TextBox 11"/>
          <p:cNvSpPr txBox="1"/>
          <p:nvPr/>
        </p:nvSpPr>
        <p:spPr>
          <a:xfrm>
            <a:off x="2400000" y="2868880"/>
            <a:ext cx="1500000" cy="350000"/>
          </a:xfrm>
          <a:prstGeom prst="rect">
            <a:avLst/>
          </a:prstGeom>
          <a:noFill/>
        </p:spPr>
        <p:txBody>
          <a:bodyPr wrap="square">
            <a:spAutoFit/>
          </a:bodyPr>
          <a:lstStyle/>
          <a:p>
            <a:pPr algn="l"/>
            <a:r>
              <a:rPr sz="1300" b="0">
                <a:solidFill>
                  <a:srgbClr val="2E7D32"/>
                </a:solidFill>
                <a:latin typeface="Microsoft YaHei" panose="020B0503020204020204" charset="-122"/>
                <a:ea typeface="Microsoft YaHei" panose="020B0503020204020204" charset="-122"/>
              </a:rPr>
              <a:t>★★★★★</a:t>
            </a:r>
            <a:endParaRPr sz="1300" b="0">
              <a:solidFill>
                <a:srgbClr val="2E7D32"/>
              </a:solidFill>
              <a:latin typeface="Microsoft YaHei" panose="020B0503020204020204" charset="-122"/>
            </a:endParaRPr>
          </a:p>
        </p:txBody>
      </p:sp>
      <p:sp>
        <p:nvSpPr>
          <p:cNvPr id="13" name="TextBox 12"/>
          <p:cNvSpPr txBox="1"/>
          <p:nvPr/>
        </p:nvSpPr>
        <p:spPr>
          <a:xfrm>
            <a:off x="3900000" y="2868880"/>
            <a:ext cx="1500000" cy="350000"/>
          </a:xfrm>
          <a:prstGeom prst="rect">
            <a:avLst/>
          </a:prstGeom>
          <a:noFill/>
        </p:spPr>
        <p:txBody>
          <a:bodyPr wrap="square">
            <a:spAutoFit/>
          </a:bodyPr>
          <a:lstStyle/>
          <a:p>
            <a:pPr algn="l"/>
            <a:r>
              <a:rPr sz="1300" b="0">
                <a:solidFill>
                  <a:srgbClr val="C62828"/>
                </a:solidFill>
                <a:latin typeface="Microsoft YaHei" panose="020B0503020204020204" charset="-122"/>
                <a:ea typeface="Microsoft YaHei" panose="020B0503020204020204" charset="-122"/>
              </a:rPr>
              <a:t>★★★☆☆</a:t>
            </a:r>
            <a:endParaRPr sz="1300" b="0">
              <a:solidFill>
                <a:srgbClr val="C62828"/>
              </a:solidFill>
              <a:latin typeface="Microsoft YaHei" panose="020B0503020204020204" charset="-122"/>
            </a:endParaRPr>
          </a:p>
        </p:txBody>
      </p:sp>
      <p:sp>
        <p:nvSpPr>
          <p:cNvPr id="14" name="TextBox 13"/>
          <p:cNvSpPr txBox="1"/>
          <p:nvPr/>
        </p:nvSpPr>
        <p:spPr>
          <a:xfrm>
            <a:off x="640080" y="3268880"/>
            <a:ext cx="1700000" cy="350000"/>
          </a:xfrm>
          <a:prstGeom prst="rect">
            <a:avLst/>
          </a:prstGeom>
          <a:noFill/>
        </p:spPr>
        <p:txBody>
          <a:bodyPr wrap="square">
            <a:spAutoFit/>
          </a:bodyPr>
          <a:lstStyle/>
          <a:p>
            <a:pPr algn="l"/>
            <a:r>
              <a:rPr sz="1200" b="1">
                <a:solidFill>
                  <a:srgbClr val="1A1A2E"/>
                </a:solidFill>
                <a:latin typeface="Microsoft YaHei" panose="020B0503020204020204" charset="-122"/>
                <a:ea typeface="Microsoft YaHei" panose="020B0503020204020204" charset="-122"/>
              </a:rPr>
              <a:t>代码变更模块化</a:t>
            </a:r>
            <a:endParaRPr sz="1200" b="1">
              <a:solidFill>
                <a:srgbClr val="1A1A2E"/>
              </a:solidFill>
              <a:latin typeface="Microsoft YaHei" panose="020B0503020204020204" charset="-122"/>
            </a:endParaRPr>
          </a:p>
        </p:txBody>
      </p:sp>
      <p:sp>
        <p:nvSpPr>
          <p:cNvPr id="15" name="TextBox 14"/>
          <p:cNvSpPr txBox="1"/>
          <p:nvPr/>
        </p:nvSpPr>
        <p:spPr>
          <a:xfrm>
            <a:off x="2400000" y="3268880"/>
            <a:ext cx="1500000" cy="350000"/>
          </a:xfrm>
          <a:prstGeom prst="rect">
            <a:avLst/>
          </a:prstGeom>
          <a:noFill/>
        </p:spPr>
        <p:txBody>
          <a:bodyPr wrap="square">
            <a:spAutoFit/>
          </a:bodyPr>
          <a:lstStyle/>
          <a:p>
            <a:pPr algn="l"/>
            <a:r>
              <a:rPr sz="1300" b="0">
                <a:solidFill>
                  <a:srgbClr val="2E7D32"/>
                </a:solidFill>
                <a:latin typeface="Microsoft YaHei" panose="020B0503020204020204" charset="-122"/>
                <a:ea typeface="Microsoft YaHei" panose="020B0503020204020204" charset="-122"/>
              </a:rPr>
              <a:t>★★★★★</a:t>
            </a:r>
            <a:endParaRPr sz="1300" b="0">
              <a:solidFill>
                <a:srgbClr val="2E7D32"/>
              </a:solidFill>
              <a:latin typeface="Microsoft YaHei" panose="020B0503020204020204" charset="-122"/>
            </a:endParaRPr>
          </a:p>
        </p:txBody>
      </p:sp>
      <p:sp>
        <p:nvSpPr>
          <p:cNvPr id="16" name="TextBox 15"/>
          <p:cNvSpPr txBox="1"/>
          <p:nvPr/>
        </p:nvSpPr>
        <p:spPr>
          <a:xfrm>
            <a:off x="3900000" y="3268880"/>
            <a:ext cx="1500000" cy="350000"/>
          </a:xfrm>
          <a:prstGeom prst="rect">
            <a:avLst/>
          </a:prstGeom>
          <a:noFill/>
        </p:spPr>
        <p:txBody>
          <a:bodyPr wrap="square">
            <a:spAutoFit/>
          </a:bodyPr>
          <a:lstStyle/>
          <a:p>
            <a:pPr algn="l"/>
            <a:r>
              <a:rPr sz="1300" b="0">
                <a:solidFill>
                  <a:srgbClr val="C62828"/>
                </a:solidFill>
                <a:latin typeface="Microsoft YaHei" panose="020B0503020204020204" charset="-122"/>
                <a:ea typeface="Microsoft YaHei" panose="020B0503020204020204" charset="-122"/>
              </a:rPr>
              <a:t>★★☆☆☆</a:t>
            </a:r>
            <a:endParaRPr sz="1300" b="0">
              <a:solidFill>
                <a:srgbClr val="C62828"/>
              </a:solidFill>
              <a:latin typeface="Microsoft YaHei" panose="020B0503020204020204" charset="-122"/>
            </a:endParaRPr>
          </a:p>
        </p:txBody>
      </p:sp>
      <p:sp>
        <p:nvSpPr>
          <p:cNvPr id="17" name="TextBox 16"/>
          <p:cNvSpPr txBox="1"/>
          <p:nvPr/>
        </p:nvSpPr>
        <p:spPr>
          <a:xfrm>
            <a:off x="640080" y="3668880"/>
            <a:ext cx="1700000" cy="350000"/>
          </a:xfrm>
          <a:prstGeom prst="rect">
            <a:avLst/>
          </a:prstGeom>
          <a:noFill/>
        </p:spPr>
        <p:txBody>
          <a:bodyPr wrap="square">
            <a:spAutoFit/>
          </a:bodyPr>
          <a:lstStyle/>
          <a:p>
            <a:pPr algn="l"/>
            <a:r>
              <a:rPr sz="1200" b="1">
                <a:solidFill>
                  <a:srgbClr val="1A1A2E"/>
                </a:solidFill>
                <a:latin typeface="Microsoft YaHei" panose="020B0503020204020204" charset="-122"/>
                <a:ea typeface="Microsoft YaHei" panose="020B0503020204020204" charset="-122"/>
              </a:rPr>
              <a:t>测试覆盖</a:t>
            </a:r>
            <a:endParaRPr sz="1200" b="1">
              <a:solidFill>
                <a:srgbClr val="1A1A2E"/>
              </a:solidFill>
              <a:latin typeface="Microsoft YaHei" panose="020B0503020204020204" charset="-122"/>
            </a:endParaRPr>
          </a:p>
        </p:txBody>
      </p:sp>
      <p:sp>
        <p:nvSpPr>
          <p:cNvPr id="18" name="TextBox 17"/>
          <p:cNvSpPr txBox="1"/>
          <p:nvPr/>
        </p:nvSpPr>
        <p:spPr>
          <a:xfrm>
            <a:off x="2400000" y="3668880"/>
            <a:ext cx="1500000" cy="350000"/>
          </a:xfrm>
          <a:prstGeom prst="rect">
            <a:avLst/>
          </a:prstGeom>
          <a:noFill/>
        </p:spPr>
        <p:txBody>
          <a:bodyPr wrap="square">
            <a:spAutoFit/>
          </a:bodyPr>
          <a:lstStyle/>
          <a:p>
            <a:pPr algn="l"/>
            <a:r>
              <a:rPr sz="1300" b="0">
                <a:solidFill>
                  <a:srgbClr val="2E7D32"/>
                </a:solidFill>
                <a:latin typeface="Microsoft YaHei" panose="020B0503020204020204" charset="-122"/>
                <a:ea typeface="Microsoft YaHei" panose="020B0503020204020204" charset="-122"/>
              </a:rPr>
              <a:t>★★★★★</a:t>
            </a:r>
            <a:endParaRPr sz="1300" b="0">
              <a:solidFill>
                <a:srgbClr val="2E7D32"/>
              </a:solidFill>
              <a:latin typeface="Microsoft YaHei" panose="020B0503020204020204" charset="-122"/>
            </a:endParaRPr>
          </a:p>
        </p:txBody>
      </p:sp>
      <p:sp>
        <p:nvSpPr>
          <p:cNvPr id="19" name="TextBox 18"/>
          <p:cNvSpPr txBox="1"/>
          <p:nvPr/>
        </p:nvSpPr>
        <p:spPr>
          <a:xfrm>
            <a:off x="3900000" y="3668880"/>
            <a:ext cx="1500000" cy="350000"/>
          </a:xfrm>
          <a:prstGeom prst="rect">
            <a:avLst/>
          </a:prstGeom>
          <a:noFill/>
        </p:spPr>
        <p:txBody>
          <a:bodyPr wrap="square">
            <a:spAutoFit/>
          </a:bodyPr>
          <a:lstStyle/>
          <a:p>
            <a:pPr algn="l"/>
            <a:r>
              <a:rPr sz="1300" b="0">
                <a:solidFill>
                  <a:srgbClr val="C62828"/>
                </a:solidFill>
                <a:latin typeface="Microsoft YaHei" panose="020B0503020204020204" charset="-122"/>
                <a:ea typeface="Microsoft YaHei" panose="020B0503020204020204" charset="-122"/>
              </a:rPr>
              <a:t>★☆☆☆☆</a:t>
            </a:r>
            <a:endParaRPr sz="1300" b="0">
              <a:solidFill>
                <a:srgbClr val="C62828"/>
              </a:solidFill>
              <a:latin typeface="Microsoft YaHei" panose="020B0503020204020204" charset="-122"/>
            </a:endParaRPr>
          </a:p>
        </p:txBody>
      </p:sp>
      <p:sp>
        <p:nvSpPr>
          <p:cNvPr id="20" name="TextBox 19"/>
          <p:cNvSpPr txBox="1"/>
          <p:nvPr/>
        </p:nvSpPr>
        <p:spPr>
          <a:xfrm>
            <a:off x="640080" y="4068880"/>
            <a:ext cx="1700000" cy="350000"/>
          </a:xfrm>
          <a:prstGeom prst="rect">
            <a:avLst/>
          </a:prstGeom>
          <a:noFill/>
        </p:spPr>
        <p:txBody>
          <a:bodyPr wrap="square">
            <a:spAutoFit/>
          </a:bodyPr>
          <a:lstStyle/>
          <a:p>
            <a:pPr algn="l"/>
            <a:r>
              <a:rPr sz="1200" b="1">
                <a:solidFill>
                  <a:srgbClr val="1A1A2E"/>
                </a:solidFill>
                <a:latin typeface="Microsoft YaHei" panose="020B0503020204020204" charset="-122"/>
                <a:ea typeface="Microsoft YaHei" panose="020B0503020204020204" charset="-122"/>
              </a:rPr>
              <a:t>文档/可追溯性</a:t>
            </a:r>
            <a:endParaRPr sz="1200" b="1">
              <a:solidFill>
                <a:srgbClr val="1A1A2E"/>
              </a:solidFill>
              <a:latin typeface="Microsoft YaHei" panose="020B0503020204020204" charset="-122"/>
            </a:endParaRPr>
          </a:p>
        </p:txBody>
      </p:sp>
      <p:sp>
        <p:nvSpPr>
          <p:cNvPr id="21" name="TextBox 20"/>
          <p:cNvSpPr txBox="1"/>
          <p:nvPr/>
        </p:nvSpPr>
        <p:spPr>
          <a:xfrm>
            <a:off x="2400000" y="4068880"/>
            <a:ext cx="1500000" cy="350000"/>
          </a:xfrm>
          <a:prstGeom prst="rect">
            <a:avLst/>
          </a:prstGeom>
          <a:noFill/>
        </p:spPr>
        <p:txBody>
          <a:bodyPr wrap="square">
            <a:spAutoFit/>
          </a:bodyPr>
          <a:lstStyle/>
          <a:p>
            <a:pPr algn="l"/>
            <a:r>
              <a:rPr sz="1300" b="0">
                <a:solidFill>
                  <a:srgbClr val="2E7D32"/>
                </a:solidFill>
                <a:latin typeface="Microsoft YaHei" panose="020B0503020204020204" charset="-122"/>
                <a:ea typeface="Microsoft YaHei" panose="020B0503020204020204" charset="-122"/>
              </a:rPr>
              <a:t>★★★★★</a:t>
            </a:r>
            <a:endParaRPr sz="1300" b="0">
              <a:solidFill>
                <a:srgbClr val="2E7D32"/>
              </a:solidFill>
              <a:latin typeface="Microsoft YaHei" panose="020B0503020204020204" charset="-122"/>
            </a:endParaRPr>
          </a:p>
        </p:txBody>
      </p:sp>
      <p:sp>
        <p:nvSpPr>
          <p:cNvPr id="22" name="TextBox 21"/>
          <p:cNvSpPr txBox="1"/>
          <p:nvPr/>
        </p:nvSpPr>
        <p:spPr>
          <a:xfrm>
            <a:off x="3900000" y="4068880"/>
            <a:ext cx="1500000" cy="350000"/>
          </a:xfrm>
          <a:prstGeom prst="rect">
            <a:avLst/>
          </a:prstGeom>
          <a:noFill/>
        </p:spPr>
        <p:txBody>
          <a:bodyPr wrap="square">
            <a:spAutoFit/>
          </a:bodyPr>
          <a:lstStyle/>
          <a:p>
            <a:pPr algn="l"/>
            <a:r>
              <a:rPr sz="1300" b="0">
                <a:solidFill>
                  <a:srgbClr val="C62828"/>
                </a:solidFill>
                <a:latin typeface="Microsoft YaHei" panose="020B0503020204020204" charset="-122"/>
                <a:ea typeface="Microsoft YaHei" panose="020B0503020204020204" charset="-122"/>
              </a:rPr>
              <a:t>★☆☆☆☆</a:t>
            </a:r>
            <a:endParaRPr sz="1300" b="0">
              <a:solidFill>
                <a:srgbClr val="C62828"/>
              </a:solidFill>
              <a:latin typeface="Microsoft YaHei" panose="020B0503020204020204" charset="-122"/>
            </a:endParaRPr>
          </a:p>
        </p:txBody>
      </p:sp>
      <p:sp>
        <p:nvSpPr>
          <p:cNvPr id="23" name="TextBox 22"/>
          <p:cNvSpPr txBox="1"/>
          <p:nvPr/>
        </p:nvSpPr>
        <p:spPr>
          <a:xfrm>
            <a:off x="640080" y="4468880"/>
            <a:ext cx="1700000" cy="350000"/>
          </a:xfrm>
          <a:prstGeom prst="rect">
            <a:avLst/>
          </a:prstGeom>
          <a:noFill/>
        </p:spPr>
        <p:txBody>
          <a:bodyPr wrap="square">
            <a:spAutoFit/>
          </a:bodyPr>
          <a:lstStyle/>
          <a:p>
            <a:pPr algn="l"/>
            <a:r>
              <a:rPr sz="1200" b="1">
                <a:solidFill>
                  <a:srgbClr val="1A1A2E"/>
                </a:solidFill>
                <a:latin typeface="Microsoft YaHei" panose="020B0503020204020204" charset="-122"/>
                <a:ea typeface="Microsoft YaHei" panose="020B0503020204020204" charset="-122"/>
              </a:rPr>
              <a:t>回归风险</a:t>
            </a:r>
            <a:endParaRPr sz="1200" b="1">
              <a:solidFill>
                <a:srgbClr val="1A1A2E"/>
              </a:solidFill>
              <a:latin typeface="Microsoft YaHei" panose="020B0503020204020204" charset="-122"/>
            </a:endParaRPr>
          </a:p>
        </p:txBody>
      </p:sp>
      <p:sp>
        <p:nvSpPr>
          <p:cNvPr id="24" name="TextBox 23"/>
          <p:cNvSpPr txBox="1"/>
          <p:nvPr/>
        </p:nvSpPr>
        <p:spPr>
          <a:xfrm>
            <a:off x="2400000" y="4468880"/>
            <a:ext cx="1500000" cy="350000"/>
          </a:xfrm>
          <a:prstGeom prst="rect">
            <a:avLst/>
          </a:prstGeom>
          <a:noFill/>
        </p:spPr>
        <p:txBody>
          <a:bodyPr wrap="square">
            <a:spAutoFit/>
          </a:bodyPr>
          <a:lstStyle/>
          <a:p>
            <a:pPr algn="l"/>
            <a:r>
              <a:rPr sz="1300" b="0">
                <a:solidFill>
                  <a:srgbClr val="2E7D32"/>
                </a:solidFill>
                <a:latin typeface="Microsoft YaHei" panose="020B0503020204020204" charset="-122"/>
                <a:ea typeface="Microsoft YaHei" panose="020B0503020204020204" charset="-122"/>
              </a:rPr>
              <a:t>★★★★★</a:t>
            </a:r>
            <a:endParaRPr sz="1300" b="0">
              <a:solidFill>
                <a:srgbClr val="2E7D32"/>
              </a:solidFill>
              <a:latin typeface="Microsoft YaHei" panose="020B0503020204020204" charset="-122"/>
            </a:endParaRPr>
          </a:p>
        </p:txBody>
      </p:sp>
      <p:sp>
        <p:nvSpPr>
          <p:cNvPr id="25" name="TextBox 24"/>
          <p:cNvSpPr txBox="1"/>
          <p:nvPr/>
        </p:nvSpPr>
        <p:spPr>
          <a:xfrm>
            <a:off x="3900000" y="4468880"/>
            <a:ext cx="1500000" cy="350000"/>
          </a:xfrm>
          <a:prstGeom prst="rect">
            <a:avLst/>
          </a:prstGeom>
          <a:noFill/>
        </p:spPr>
        <p:txBody>
          <a:bodyPr wrap="square">
            <a:spAutoFit/>
          </a:bodyPr>
          <a:lstStyle/>
          <a:p>
            <a:pPr algn="l"/>
            <a:r>
              <a:rPr sz="1300" b="0">
                <a:solidFill>
                  <a:srgbClr val="C62828"/>
                </a:solidFill>
                <a:latin typeface="Microsoft YaHei" panose="020B0503020204020204" charset="-122"/>
                <a:ea typeface="Microsoft YaHei" panose="020B0503020204020204" charset="-122"/>
              </a:rPr>
              <a:t>★★☆☆☆</a:t>
            </a:r>
            <a:endParaRPr sz="1300" b="0">
              <a:solidFill>
                <a:srgbClr val="C62828"/>
              </a:solidFill>
              <a:latin typeface="Microsoft YaHei" panose="020B0503020204020204" charset="-122"/>
            </a:endParaRPr>
          </a:p>
        </p:txBody>
      </p:sp>
      <p:sp>
        <p:nvSpPr>
          <p:cNvPr id="26" name="TextBox 25"/>
          <p:cNvSpPr txBox="1"/>
          <p:nvPr/>
        </p:nvSpPr>
        <p:spPr>
          <a:xfrm>
            <a:off x="640080" y="4868880"/>
            <a:ext cx="1700000" cy="350000"/>
          </a:xfrm>
          <a:prstGeom prst="rect">
            <a:avLst/>
          </a:prstGeom>
          <a:noFill/>
        </p:spPr>
        <p:txBody>
          <a:bodyPr wrap="square">
            <a:spAutoFit/>
          </a:bodyPr>
          <a:lstStyle/>
          <a:p>
            <a:pPr algn="l"/>
            <a:r>
              <a:rPr sz="1200" b="1">
                <a:solidFill>
                  <a:srgbClr val="1A1A2E"/>
                </a:solidFill>
                <a:latin typeface="Microsoft YaHei" panose="020B0503020204020204" charset="-122"/>
                <a:ea typeface="Microsoft YaHei" panose="020B0503020204020204" charset="-122"/>
              </a:rPr>
              <a:t>可复现性</a:t>
            </a:r>
            <a:endParaRPr sz="1200" b="1">
              <a:solidFill>
                <a:srgbClr val="1A1A2E"/>
              </a:solidFill>
              <a:latin typeface="Microsoft YaHei" panose="020B0503020204020204" charset="-122"/>
            </a:endParaRPr>
          </a:p>
        </p:txBody>
      </p:sp>
      <p:sp>
        <p:nvSpPr>
          <p:cNvPr id="27" name="TextBox 26"/>
          <p:cNvSpPr txBox="1"/>
          <p:nvPr/>
        </p:nvSpPr>
        <p:spPr>
          <a:xfrm>
            <a:off x="2400000" y="4868880"/>
            <a:ext cx="1500000" cy="350000"/>
          </a:xfrm>
          <a:prstGeom prst="rect">
            <a:avLst/>
          </a:prstGeom>
          <a:noFill/>
        </p:spPr>
        <p:txBody>
          <a:bodyPr wrap="square">
            <a:spAutoFit/>
          </a:bodyPr>
          <a:lstStyle/>
          <a:p>
            <a:pPr algn="l"/>
            <a:r>
              <a:rPr sz="1300" b="0">
                <a:solidFill>
                  <a:srgbClr val="2E7D32"/>
                </a:solidFill>
                <a:latin typeface="Microsoft YaHei" panose="020B0503020204020204" charset="-122"/>
                <a:ea typeface="Microsoft YaHei" panose="020B0503020204020204" charset="-122"/>
              </a:rPr>
              <a:t>★★★★★</a:t>
            </a:r>
            <a:endParaRPr sz="1300" b="0">
              <a:solidFill>
                <a:srgbClr val="2E7D32"/>
              </a:solidFill>
              <a:latin typeface="Microsoft YaHei" panose="020B0503020204020204" charset="-122"/>
            </a:endParaRPr>
          </a:p>
        </p:txBody>
      </p:sp>
      <p:sp>
        <p:nvSpPr>
          <p:cNvPr id="28" name="TextBox 27"/>
          <p:cNvSpPr txBox="1"/>
          <p:nvPr/>
        </p:nvSpPr>
        <p:spPr>
          <a:xfrm>
            <a:off x="3900000" y="4868880"/>
            <a:ext cx="1500000" cy="350000"/>
          </a:xfrm>
          <a:prstGeom prst="rect">
            <a:avLst/>
          </a:prstGeom>
          <a:noFill/>
        </p:spPr>
        <p:txBody>
          <a:bodyPr wrap="square">
            <a:spAutoFit/>
          </a:bodyPr>
          <a:lstStyle/>
          <a:p>
            <a:pPr algn="l"/>
            <a:r>
              <a:rPr sz="1300" b="0">
                <a:solidFill>
                  <a:srgbClr val="C62828"/>
                </a:solidFill>
                <a:latin typeface="Microsoft YaHei" panose="020B0503020204020204" charset="-122"/>
                <a:ea typeface="Microsoft YaHei" panose="020B0503020204020204" charset="-122"/>
              </a:rPr>
              <a:t>★★☆☆☆</a:t>
            </a:r>
            <a:endParaRPr sz="1300" b="0">
              <a:solidFill>
                <a:srgbClr val="C62828"/>
              </a:solidFill>
              <a:latin typeface="Microsoft YaHei" panose="020B0503020204020204" charset="-122"/>
            </a:endParaRPr>
          </a:p>
        </p:txBody>
      </p:sp>
      <p:sp>
        <p:nvSpPr>
          <p:cNvPr id="29" name="TextBox 28"/>
          <p:cNvSpPr txBox="1"/>
          <p:nvPr/>
        </p:nvSpPr>
        <p:spPr>
          <a:xfrm>
            <a:off x="548640" y="5149215"/>
            <a:ext cx="2787650" cy="337185"/>
          </a:xfrm>
          <a:prstGeom prst="rect">
            <a:avLst/>
          </a:prstGeom>
          <a:noFill/>
        </p:spPr>
        <p:txBody>
          <a:bodyPr wrap="square">
            <a:spAutoFit/>
          </a:bodyPr>
          <a:lstStyle/>
          <a:p>
            <a:pPr algn="l"/>
            <a:r>
              <a:rPr sz="1600" b="1">
                <a:solidFill>
                  <a:srgbClr val="2E7D32"/>
                </a:solidFill>
                <a:latin typeface="Microsoft YaHei" panose="020B0503020204020204" charset="-122"/>
                <a:ea typeface="Microsoft YaHei" panose="020B0503020204020204" charset="-122"/>
              </a:rPr>
              <a:t>总分：</a:t>
            </a:r>
            <a:r>
              <a:rPr lang="en-US" sz="1600" b="1">
                <a:solidFill>
                  <a:srgbClr val="2E7D32"/>
                </a:solidFill>
                <a:latin typeface="Microsoft YaHei" panose="020B0503020204020204" charset="-122"/>
                <a:ea typeface="Microsoft YaHei" panose="020B0503020204020204" charset="-122"/>
              </a:rPr>
              <a:t>                     </a:t>
            </a:r>
            <a:r>
              <a:rPr sz="1600" b="1">
                <a:solidFill>
                  <a:srgbClr val="2E7D32"/>
                </a:solidFill>
                <a:latin typeface="Microsoft YaHei" panose="020B0503020204020204" charset="-122"/>
                <a:ea typeface="Microsoft YaHei" panose="020B0503020204020204" charset="-122"/>
              </a:rPr>
              <a:t>35/35</a:t>
            </a:r>
            <a:endParaRPr sz="1600" b="1">
              <a:solidFill>
                <a:srgbClr val="2E7D32"/>
              </a:solidFill>
              <a:latin typeface="Microsoft YaHei" panose="020B0503020204020204" charset="-122"/>
            </a:endParaRPr>
          </a:p>
        </p:txBody>
      </p:sp>
      <p:sp>
        <p:nvSpPr>
          <p:cNvPr id="30" name="TextBox 29"/>
          <p:cNvSpPr txBox="1"/>
          <p:nvPr/>
        </p:nvSpPr>
        <p:spPr>
          <a:xfrm>
            <a:off x="3411810" y="5149215"/>
            <a:ext cx="1800000" cy="337185"/>
          </a:xfrm>
          <a:prstGeom prst="rect">
            <a:avLst/>
          </a:prstGeom>
          <a:noFill/>
        </p:spPr>
        <p:txBody>
          <a:bodyPr wrap="square">
            <a:spAutoFit/>
          </a:bodyPr>
          <a:lstStyle/>
          <a:p>
            <a:pPr algn="l"/>
            <a:r>
              <a:rPr sz="1600" b="1">
                <a:solidFill>
                  <a:srgbClr val="C62828"/>
                </a:solidFill>
                <a:latin typeface="Microsoft YaHei" panose="020B0503020204020204" charset="-122"/>
                <a:ea typeface="Microsoft YaHei" panose="020B0503020204020204" charset="-122"/>
              </a:rPr>
              <a:t>vs  </a:t>
            </a:r>
            <a:r>
              <a:rPr lang="en-US" sz="1600" b="1">
                <a:solidFill>
                  <a:srgbClr val="C62828"/>
                </a:solidFill>
                <a:latin typeface="Microsoft YaHei" panose="020B0503020204020204" charset="-122"/>
                <a:ea typeface="Microsoft YaHei" panose="020B0503020204020204" charset="-122"/>
              </a:rPr>
              <a:t>   </a:t>
            </a:r>
            <a:r>
              <a:rPr sz="1600" b="1">
                <a:solidFill>
                  <a:srgbClr val="C62828"/>
                </a:solidFill>
                <a:latin typeface="Microsoft YaHei" panose="020B0503020204020204" charset="-122"/>
                <a:ea typeface="Microsoft YaHei" panose="020B0503020204020204" charset="-122"/>
              </a:rPr>
              <a:t>13/35</a:t>
            </a:r>
            <a:endParaRPr sz="1600" b="1">
              <a:solidFill>
                <a:srgbClr val="C62828"/>
              </a:solidFill>
              <a:latin typeface="Microsoft YaHei" panose="020B0503020204020204" charset="-122"/>
            </a:endParaRPr>
          </a:p>
        </p:txBody>
      </p:sp>
      <p:sp>
        <p:nvSpPr>
          <p:cNvPr id="31" name="Rectangle 30"/>
          <p:cNvSpPr/>
          <p:nvPr/>
        </p:nvSpPr>
        <p:spPr>
          <a:xfrm>
            <a:off x="6035040" y="1920240"/>
            <a:ext cx="5486400" cy="3566160"/>
          </a:xfrm>
          <a:prstGeom prst="rect">
            <a:avLst/>
          </a:prstGeom>
          <a:solidFill>
            <a:srgbClr val="E8F0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17920" y="1965960"/>
            <a:ext cx="5120640" cy="365760"/>
          </a:xfrm>
          <a:prstGeom prst="rect">
            <a:avLst/>
          </a:prstGeom>
          <a:noFill/>
        </p:spPr>
        <p:txBody>
          <a:bodyPr wrap="square">
            <a:spAutoFit/>
          </a:bodyPr>
          <a:lstStyle/>
          <a:p>
            <a:pPr algn="l"/>
            <a:r>
              <a:rPr sz="1800" b="1">
                <a:solidFill>
                  <a:srgbClr val="0078D4"/>
                </a:solidFill>
                <a:latin typeface="Microsoft YaHei" panose="020B0503020204020204" charset="-122"/>
                <a:ea typeface="Microsoft YaHei" panose="020B0503020204020204" charset="-122"/>
              </a:rPr>
              <a:t>OpenSpec-HW2 在变更场景的三大核心优势</a:t>
            </a:r>
            <a:endParaRPr sz="1800" b="1">
              <a:solidFill>
                <a:srgbClr val="0078D4"/>
              </a:solidFill>
              <a:latin typeface="Microsoft YaHei" panose="020B0503020204020204" charset="-122"/>
            </a:endParaRPr>
          </a:p>
        </p:txBody>
      </p:sp>
      <p:sp>
        <p:nvSpPr>
          <p:cNvPr id="33" name="Rectangle 32"/>
          <p:cNvSpPr/>
          <p:nvPr/>
        </p:nvSpPr>
        <p:spPr>
          <a:xfrm>
            <a:off x="6217920" y="2468880"/>
            <a:ext cx="51206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5080" y="2514600"/>
            <a:ext cx="4846320" cy="320040"/>
          </a:xfrm>
          <a:prstGeom prst="rect">
            <a:avLst/>
          </a:prstGeom>
          <a:noFill/>
        </p:spPr>
        <p:txBody>
          <a:bodyPr wrap="square">
            <a:spAutoFit/>
          </a:bodyPr>
          <a:lstStyle/>
          <a:p>
            <a:pPr algn="l"/>
            <a:r>
              <a:rPr sz="1400" b="1">
                <a:solidFill>
                  <a:srgbClr val="1A1A2E"/>
                </a:solidFill>
                <a:latin typeface="Microsoft YaHei" panose="020B0503020204020204" charset="-122"/>
                <a:ea typeface="Microsoft YaHei" panose="020B0503020204020204" charset="-122"/>
              </a:rPr>
              <a:t>前置思考 — 编码前完成需求分析</a:t>
            </a:r>
            <a:endParaRPr sz="1400" b="1">
              <a:solidFill>
                <a:srgbClr val="1A1A2E"/>
              </a:solidFill>
              <a:latin typeface="Microsoft YaHei" panose="020B0503020204020204" charset="-122"/>
            </a:endParaRPr>
          </a:p>
        </p:txBody>
      </p:sp>
      <p:sp>
        <p:nvSpPr>
          <p:cNvPr id="35" name="TextBox 34"/>
          <p:cNvSpPr txBox="1"/>
          <p:nvPr/>
        </p:nvSpPr>
        <p:spPr>
          <a:xfrm>
            <a:off x="6309360" y="2738120"/>
            <a:ext cx="5029200" cy="645160"/>
          </a:xfrm>
          <a:prstGeom prst="rect">
            <a:avLst/>
          </a:prstGeom>
          <a:noFill/>
        </p:spPr>
        <p:txBody>
          <a:bodyPr wrap="square">
            <a:spAutoFit/>
          </a:bodyPr>
          <a:lstStyle/>
          <a:p>
            <a:pPr algn="l"/>
            <a:r>
              <a:rPr sz="1200" b="0">
                <a:solidFill>
                  <a:srgbClr val="555555"/>
                </a:solidFill>
                <a:latin typeface="Microsoft YaHei" panose="020B0503020204020204" charset="-122"/>
                <a:ea typeface="Microsoft YaHei" panose="020B0503020204020204" charset="-122"/>
              </a:rPr>
              <a:t>OpenSpec-HW2 的 proposal → usecases → specs 过程强制在写代码前</a:t>
            </a:r>
            <a:endParaRPr sz="1200" b="0">
              <a:solidFill>
                <a:srgbClr val="555555"/>
              </a:solidFill>
              <a:latin typeface="Microsoft YaHei" panose="020B0503020204020204" charset="-122"/>
            </a:endParaRPr>
          </a:p>
          <a:p>
            <a:pPr algn="l"/>
            <a:r>
              <a:rPr sz="1200" b="0">
                <a:solidFill>
                  <a:srgbClr val="555555"/>
                </a:solidFill>
                <a:latin typeface="Microsoft YaHei" panose="020B0503020204020204" charset="-122"/>
                <a:ea typeface="Microsoft YaHei" panose="020B0503020204020204" charset="-122"/>
              </a:rPr>
              <a:t>识别出 10 个边界场景，避免了 3 个关键遗漏</a:t>
            </a:r>
            <a:endParaRPr sz="1200" b="0">
              <a:solidFill>
                <a:srgbClr val="555555"/>
              </a:solidFill>
              <a:latin typeface="Microsoft YaHei" panose="020B0503020204020204" charset="-122"/>
            </a:endParaRPr>
          </a:p>
        </p:txBody>
      </p:sp>
      <p:sp>
        <p:nvSpPr>
          <p:cNvPr id="36" name="Rectangle 35"/>
          <p:cNvSpPr/>
          <p:nvPr/>
        </p:nvSpPr>
        <p:spPr>
          <a:xfrm>
            <a:off x="6217920" y="3474720"/>
            <a:ext cx="51206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55080" y="3520440"/>
            <a:ext cx="4846320" cy="320040"/>
          </a:xfrm>
          <a:prstGeom prst="rect">
            <a:avLst/>
          </a:prstGeom>
          <a:noFill/>
        </p:spPr>
        <p:txBody>
          <a:bodyPr wrap="square">
            <a:spAutoFit/>
          </a:bodyPr>
          <a:lstStyle/>
          <a:p>
            <a:pPr algn="l"/>
            <a:r>
              <a:rPr sz="1400" b="1">
                <a:solidFill>
                  <a:srgbClr val="1A1A2E"/>
                </a:solidFill>
                <a:latin typeface="Microsoft YaHei" panose="020B0503020204020204" charset="-122"/>
                <a:ea typeface="Microsoft YaHei" panose="020B0503020204020204" charset="-122"/>
              </a:rPr>
              <a:t>知识沉淀 — 636 行文档是团队资产</a:t>
            </a:r>
            <a:endParaRPr sz="1400" b="1">
              <a:solidFill>
                <a:srgbClr val="1A1A2E"/>
              </a:solidFill>
              <a:latin typeface="Microsoft YaHei" panose="020B0503020204020204" charset="-122"/>
            </a:endParaRPr>
          </a:p>
        </p:txBody>
      </p:sp>
      <p:sp>
        <p:nvSpPr>
          <p:cNvPr id="38" name="TextBox 37"/>
          <p:cNvSpPr txBox="1"/>
          <p:nvPr/>
        </p:nvSpPr>
        <p:spPr>
          <a:xfrm>
            <a:off x="6355080" y="3840480"/>
            <a:ext cx="4846320" cy="502920"/>
          </a:xfrm>
          <a:prstGeom prst="rect">
            <a:avLst/>
          </a:prstGeom>
          <a:noFill/>
        </p:spPr>
        <p:txBody>
          <a:bodyPr wrap="square">
            <a:spAutoFit/>
          </a:bodyPr>
          <a:lstStyle/>
          <a:p>
            <a:pPr algn="l"/>
            <a:r>
              <a:rPr sz="1200" b="0">
                <a:solidFill>
                  <a:srgbClr val="555555"/>
                </a:solidFill>
                <a:latin typeface="Microsoft YaHei" panose="020B0503020204020204" charset="-122"/>
                <a:ea typeface="Microsoft YaHei" panose="020B0503020204020204" charset="-122"/>
              </a:rPr>
              <a:t>完整的 proposal→specs→design→tasks 链路</a:t>
            </a:r>
            <a:endParaRPr sz="1200" b="0">
              <a:solidFill>
                <a:srgbClr val="555555"/>
              </a:solidFill>
              <a:latin typeface="Microsoft YaHei" panose="020B0503020204020204" charset="-122"/>
            </a:endParaRPr>
          </a:p>
          <a:p>
            <a:pPr algn="l"/>
            <a:r>
              <a:rPr sz="1200" b="0">
                <a:solidFill>
                  <a:srgbClr val="555555"/>
                </a:solidFill>
                <a:latin typeface="Microsoft YaHei" panose="020B0503020204020204" charset="-122"/>
                <a:ea typeface="Microsoft YaHei" panose="020B0503020204020204" charset="-122"/>
              </a:rPr>
              <a:t>6个月后仍可追溯每个变更的动机和设计决策</a:t>
            </a:r>
            <a:endParaRPr sz="1200" b="0">
              <a:solidFill>
                <a:srgbClr val="555555"/>
              </a:solidFill>
              <a:latin typeface="Microsoft YaHei" panose="020B0503020204020204" charset="-122"/>
            </a:endParaRPr>
          </a:p>
        </p:txBody>
      </p:sp>
      <p:sp>
        <p:nvSpPr>
          <p:cNvPr id="39" name="Rectangle 38"/>
          <p:cNvSpPr/>
          <p:nvPr/>
        </p:nvSpPr>
        <p:spPr>
          <a:xfrm>
            <a:off x="6217920" y="4480560"/>
            <a:ext cx="5120640" cy="91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55080" y="4526280"/>
            <a:ext cx="4846320" cy="320040"/>
          </a:xfrm>
          <a:prstGeom prst="rect">
            <a:avLst/>
          </a:prstGeom>
          <a:noFill/>
        </p:spPr>
        <p:txBody>
          <a:bodyPr wrap="square">
            <a:spAutoFit/>
          </a:bodyPr>
          <a:lstStyle/>
          <a:p>
            <a:pPr algn="l"/>
            <a:r>
              <a:rPr sz="1400" b="1">
                <a:solidFill>
                  <a:srgbClr val="1A1A2E"/>
                </a:solidFill>
                <a:latin typeface="Microsoft YaHei" panose="020B0503020204020204" charset="-122"/>
                <a:ea typeface="Microsoft YaHei" panose="020B0503020204020204" charset="-122"/>
              </a:rPr>
              <a:t>质量保障 — tasks 确保测试不被遗忘</a:t>
            </a:r>
            <a:endParaRPr sz="1400" b="1">
              <a:solidFill>
                <a:srgbClr val="1A1A2E"/>
              </a:solidFill>
              <a:latin typeface="Microsoft YaHei" panose="020B0503020204020204" charset="-122"/>
            </a:endParaRPr>
          </a:p>
        </p:txBody>
      </p:sp>
      <p:sp>
        <p:nvSpPr>
          <p:cNvPr id="41" name="TextBox 40"/>
          <p:cNvSpPr txBox="1"/>
          <p:nvPr/>
        </p:nvSpPr>
        <p:spPr>
          <a:xfrm>
            <a:off x="6355080" y="4846320"/>
            <a:ext cx="4846320" cy="460375"/>
          </a:xfrm>
          <a:prstGeom prst="rect">
            <a:avLst/>
          </a:prstGeom>
          <a:noFill/>
        </p:spPr>
        <p:txBody>
          <a:bodyPr wrap="square">
            <a:spAutoFit/>
          </a:bodyPr>
          <a:lstStyle/>
          <a:p>
            <a:pPr algn="l"/>
            <a:r>
              <a:rPr sz="1200" b="0">
                <a:solidFill>
                  <a:srgbClr val="555555"/>
                </a:solidFill>
                <a:latin typeface="Microsoft YaHei" panose="020B0503020204020204" charset="-122"/>
                <a:ea typeface="Microsoft YaHei" panose="020B0503020204020204" charset="-122"/>
              </a:rPr>
              <a:t>tasks.md 显式列出 3 个测试文件 + 27 个测试用例</a:t>
            </a:r>
            <a:endParaRPr sz="1200" b="0">
              <a:solidFill>
                <a:srgbClr val="555555"/>
              </a:solidFill>
              <a:latin typeface="Microsoft YaHei" panose="020B0503020204020204" charset="-122"/>
            </a:endParaRPr>
          </a:p>
          <a:p>
            <a:pPr algn="l"/>
            <a:r>
              <a:rPr lang="en-US" sz="1200" b="0">
                <a:solidFill>
                  <a:srgbClr val="555555"/>
                </a:solidFill>
                <a:latin typeface="Microsoft YaHei" panose="020B0503020204020204" charset="-122"/>
                <a:ea typeface="Microsoft YaHei" panose="020B0503020204020204" charset="-122"/>
              </a:rPr>
              <a:t>Vanilla Claude Code</a:t>
            </a:r>
            <a:r>
              <a:rPr sz="1200" b="0">
                <a:solidFill>
                  <a:srgbClr val="555555"/>
                </a:solidFill>
                <a:latin typeface="Microsoft YaHei" panose="020B0503020204020204" charset="-122"/>
                <a:ea typeface="Microsoft YaHei" panose="020B0503020204020204" charset="-122"/>
              </a:rPr>
              <a:t>版：0 测试，无法验证任何逻辑正确性</a:t>
            </a:r>
            <a:endParaRPr sz="1200" b="0">
              <a:solidFill>
                <a:srgbClr val="555555"/>
              </a:solidFill>
              <a:latin typeface="Microsoft YaHei" panose="020B0503020204020204" charset="-122"/>
            </a:endParaRPr>
          </a:p>
        </p:txBody>
      </p:sp>
      <p:sp>
        <p:nvSpPr>
          <p:cNvPr id="42" name="Rectangle 41"/>
          <p:cNvSpPr/>
          <p:nvPr/>
        </p:nvSpPr>
        <p:spPr>
          <a:xfrm>
            <a:off x="365760" y="5867400"/>
            <a:ext cx="11430000" cy="457200"/>
          </a:xfrm>
          <a:prstGeom prst="rect">
            <a:avLst/>
          </a:prstGeom>
          <a:solidFill>
            <a:srgbClr val="E8F0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5912400"/>
            <a:ext cx="11064240" cy="365760"/>
          </a:xfrm>
          <a:prstGeom prst="rect">
            <a:avLst/>
          </a:prstGeom>
          <a:noFill/>
        </p:spPr>
        <p:txBody>
          <a:bodyPr wrap="square">
            <a:spAutoFit/>
          </a:bodyPr>
          <a:lstStyle/>
          <a:p>
            <a:pPr algn="l"/>
            <a:r>
              <a:rPr sz="1300" b="0">
                <a:solidFill>
                  <a:srgbClr val="1A1A2E"/>
                </a:solidFill>
                <a:latin typeface="Microsoft YaHei" panose="020B0503020204020204" charset="-122"/>
                <a:ea typeface="Microsoft YaHei" panose="020B0503020204020204" charset="-122"/>
              </a:rPr>
              <a:t>实验完整数据见 testing_projct_quant_requirement_changing_experiment/comparison/result.md</a:t>
            </a:r>
            <a:endParaRPr sz="1300" b="0">
              <a:solidFill>
                <a:srgbClr val="1A1A2E"/>
              </a:solidFill>
              <a:latin typeface="Microsoft YaHei" panose="020B0503020204020204" charset="-122"/>
            </a:endParaRPr>
          </a:p>
        </p:txBody>
      </p:sp>
      <p:sp>
        <p:nvSpPr>
          <p:cNvPr id="71" name="TextBox 70"/>
          <p:cNvSpPr txBox="1"/>
          <p:nvPr/>
        </p:nvSpPr>
        <p:spPr>
          <a:xfrm>
            <a:off x="11094415" y="6400800"/>
            <a:ext cx="914400" cy="365760"/>
          </a:xfrm>
          <a:prstGeom prst="rect">
            <a:avLst/>
          </a:prstGeom>
          <a:noFill/>
        </p:spPr>
        <p:txBody>
          <a:bodyPr wrap="square">
            <a:spAutoFit/>
          </a:bodyPr>
          <a:lstStyle/>
          <a:p>
            <a:pPr algn="l"/>
            <a:r>
              <a:rPr sz="1100" b="0">
                <a:solidFill>
                  <a:srgbClr val="888888"/>
                </a:solidFill>
                <a:latin typeface="Microsoft YaHei" panose="020B0503020204020204" charset="-122"/>
                <a:ea typeface="Microsoft YaHei" panose="020B0503020204020204" charset="-122"/>
              </a:rPr>
              <a:t>13/41</a:t>
            </a:r>
            <a:endParaRPr sz="1100" b="0">
              <a:solidFill>
                <a:srgbClr val="888888"/>
              </a:solidFill>
              <a:latin typeface="Microsoft YaHei" panose="020B0503020204020204" charset="-122"/>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ctrTitle"/>
          </p:nvPr>
        </p:nvSpPr>
        <p:spPr>
          <a:xfrm>
            <a:off x="685800" y="2130425"/>
            <a:ext cx="9423400" cy="1470025"/>
          </a:xfrm>
        </p:spPr>
        <p:txBody>
          <a:bodyPr>
            <a:normAutofit/>
          </a:bodyPr>
          <a:p>
            <a:r>
              <a:rPr lang="en-US"/>
              <a:t>OpenSpec-HW2 </a:t>
            </a:r>
            <a:r>
              <a:rPr lang="zh-CN" altLang="en-US"/>
              <a:t>（类</a:t>
            </a:r>
            <a:r>
              <a:rPr lang="en-US" altLang="zh-CN"/>
              <a:t>OpenSpec</a:t>
            </a:r>
            <a:r>
              <a:rPr lang="zh-CN" altLang="en-US"/>
              <a:t>工具）的价值和潜在研究</a:t>
            </a:r>
            <a:r>
              <a:rPr lang="zh-CN" altLang="en-US"/>
              <a:t>方向</a:t>
            </a:r>
            <a:endParaRPr lang="zh-CN"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Rectangle 1"/>
          <p:cNvSpPr/>
          <p:nvPr/>
        </p:nvSpPr>
        <p:spPr>
          <a:xfrm>
            <a:off x="0" y="0"/>
            <a:ext cx="12191365" cy="5486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43510" y="228600"/>
            <a:ext cx="11887200" cy="521970"/>
          </a:xfrm>
          <a:prstGeom prst="rect">
            <a:avLst/>
          </a:prstGeom>
          <a:noFill/>
        </p:spPr>
        <p:txBody>
          <a:bodyPr wrap="square">
            <a:spAutoFit/>
          </a:bodyPr>
          <a:lstStyle/>
          <a:p>
            <a:pPr algn="l"/>
            <a:r>
              <a:rPr sz="2800" b="1">
                <a:solidFill>
                  <a:srgbClr val="1A1A2E"/>
                </a:solidFill>
                <a:latin typeface="Microsoft YaHei" panose="020B0503020204020204" charset="-122"/>
                <a:ea typeface="Microsoft YaHei" panose="020B0503020204020204" charset="-122"/>
              </a:rPr>
              <a:t>为什么公司需要 OpenSpec</a:t>
            </a:r>
            <a:r>
              <a:rPr lang="en-US" sz="2800" b="1">
                <a:solidFill>
                  <a:srgbClr val="1A1A2E"/>
                </a:solidFill>
                <a:latin typeface="Microsoft YaHei" panose="020B0503020204020204" charset="-122"/>
                <a:ea typeface="Microsoft YaHei" panose="020B0503020204020204" charset="-122"/>
              </a:rPr>
              <a:t>-HW2</a:t>
            </a:r>
            <a:r>
              <a:rPr lang="zh-CN" altLang="en-US" sz="2800" b="1">
                <a:solidFill>
                  <a:srgbClr val="1A1A2E"/>
                </a:solidFill>
                <a:latin typeface="Microsoft YaHei" panose="020B0503020204020204" charset="-122"/>
                <a:ea typeface="Microsoft YaHei" panose="020B0503020204020204" charset="-122"/>
              </a:rPr>
              <a:t>（</a:t>
            </a:r>
            <a:r>
              <a:rPr lang="en-US" altLang="zh-CN" sz="2800" b="1">
                <a:solidFill>
                  <a:srgbClr val="1A1A2E"/>
                </a:solidFill>
                <a:latin typeface="Microsoft YaHei" panose="020B0503020204020204" charset="-122"/>
                <a:ea typeface="Microsoft YaHei" panose="020B0503020204020204" charset="-122"/>
              </a:rPr>
              <a:t>OpenSpec</a:t>
            </a:r>
            <a:r>
              <a:rPr lang="zh-CN" altLang="en-US" sz="2800" b="1">
                <a:solidFill>
                  <a:srgbClr val="1A1A2E"/>
                </a:solidFill>
                <a:latin typeface="Microsoft YaHei" panose="020B0503020204020204" charset="-122"/>
                <a:ea typeface="Microsoft YaHei" panose="020B0503020204020204" charset="-122"/>
              </a:rPr>
              <a:t>类似工具平台</a:t>
            </a:r>
            <a:r>
              <a:rPr lang="en-US" altLang="zh-CN" sz="2800" b="1">
                <a:solidFill>
                  <a:srgbClr val="1A1A2E"/>
                </a:solidFill>
                <a:latin typeface="Microsoft YaHei" panose="020B0503020204020204" charset="-122"/>
                <a:ea typeface="Microsoft YaHei" panose="020B0503020204020204" charset="-122"/>
              </a:rPr>
              <a:t>）</a:t>
            </a:r>
            <a:endParaRPr lang="en-US" altLang="zh-CN" sz="2800" b="1">
              <a:solidFill>
                <a:srgbClr val="1A1A2E"/>
              </a:solidFill>
              <a:latin typeface="Microsoft YaHei" panose="020B0503020204020204" charset="-122"/>
            </a:endParaRPr>
          </a:p>
        </p:txBody>
      </p:sp>
      <p:sp>
        <p:nvSpPr>
          <p:cNvPr id="4" name="TextBox 3"/>
          <p:cNvSpPr txBox="1"/>
          <p:nvPr/>
        </p:nvSpPr>
        <p:spPr>
          <a:xfrm>
            <a:off x="457200" y="777240"/>
            <a:ext cx="10637520" cy="491490"/>
          </a:xfrm>
          <a:prstGeom prst="rect">
            <a:avLst/>
          </a:prstGeom>
          <a:noFill/>
        </p:spPr>
        <p:txBody>
          <a:bodyPr wrap="square">
            <a:spAutoFit/>
          </a:bodyPr>
          <a:lstStyle/>
          <a:p>
            <a:pPr algn="l"/>
            <a:r>
              <a:rPr lang="en-US" sz="1300" b="0">
                <a:solidFill>
                  <a:srgbClr val="444444"/>
                </a:solidFill>
                <a:latin typeface="Microsoft YaHei" panose="020B0503020204020204" charset="-122"/>
                <a:ea typeface="Microsoft YaHei" panose="020B0503020204020204" charset="-122"/>
              </a:rPr>
              <a:t>Agentic </a:t>
            </a:r>
            <a:r>
              <a:rPr lang="en-US" sz="1300" b="0">
                <a:solidFill>
                  <a:srgbClr val="444444"/>
                </a:solidFill>
                <a:latin typeface="Microsoft YaHei" panose="020B0503020204020204" charset="-122"/>
                <a:ea typeface="Microsoft YaHei" panose="020B0503020204020204" charset="-122"/>
              </a:rPr>
              <a:t>Coding工具（Claude Code、Cursor 等）快速普及但治理严重缺失。OpenSpec-HW2 填补从「写出代码」到「规范地写生产级可追溯代码」的空白。</a:t>
            </a:r>
            <a:endParaRPr sz="1400" b="0">
              <a:solidFill>
                <a:srgbClr val="555555"/>
              </a:solidFill>
              <a:latin typeface="Microsoft YaHei" panose="020B0503020204020204" charset="-122"/>
            </a:endParaRPr>
          </a:p>
        </p:txBody>
      </p:sp>
      <p:sp>
        <p:nvSpPr>
          <p:cNvPr id="5" name="Rounded Rectangle 4"/>
          <p:cNvSpPr/>
          <p:nvPr/>
        </p:nvSpPr>
        <p:spPr>
          <a:xfrm>
            <a:off x="457200" y="1371600"/>
            <a:ext cx="3246120" cy="640080"/>
          </a:xfrm>
          <a:prstGeom prst="round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417320"/>
            <a:ext cx="3246120" cy="320040"/>
          </a:xfrm>
          <a:prstGeom prst="rect">
            <a:avLst/>
          </a:prstGeom>
          <a:noFill/>
        </p:spPr>
        <p:txBody>
          <a:bodyPr wrap="square">
            <a:spAutoFit/>
          </a:bodyPr>
          <a:lstStyle/>
          <a:p>
            <a:pPr algn="ctr"/>
            <a:r>
              <a:rPr sz="2000" b="1">
                <a:solidFill>
                  <a:srgbClr val="FFFFFF"/>
                </a:solidFill>
                <a:latin typeface="Microsoft YaHei" panose="020B0503020204020204" charset="-122"/>
                <a:ea typeface="Microsoft YaHei" panose="020B0503020204020204" charset="-122"/>
              </a:rPr>
              <a:t>规范化</a:t>
            </a:r>
            <a:endParaRPr sz="2000" b="1">
              <a:solidFill>
                <a:srgbClr val="FFFFFF"/>
              </a:solidFill>
              <a:latin typeface="Microsoft YaHei" panose="020B0503020204020204" charset="-122"/>
            </a:endParaRPr>
          </a:p>
        </p:txBody>
      </p:sp>
      <p:sp>
        <p:nvSpPr>
          <p:cNvPr id="7" name="TextBox 6"/>
          <p:cNvSpPr txBox="1"/>
          <p:nvPr/>
        </p:nvSpPr>
        <p:spPr>
          <a:xfrm>
            <a:off x="457200" y="1691640"/>
            <a:ext cx="3246120" cy="260350"/>
          </a:xfrm>
          <a:prstGeom prst="rect">
            <a:avLst/>
          </a:prstGeom>
          <a:noFill/>
        </p:spPr>
        <p:txBody>
          <a:bodyPr wrap="square">
            <a:spAutoFit/>
          </a:bodyPr>
          <a:lstStyle/>
          <a:p>
            <a:pPr algn="ctr"/>
            <a:r>
              <a:rPr sz="1100" b="0">
                <a:solidFill>
                  <a:srgbClr val="DDEEFF"/>
                </a:solidFill>
                <a:latin typeface="Microsoft YaHei" panose="020B0503020204020204" charset="-122"/>
                <a:ea typeface="Microsoft YaHei" panose="020B0503020204020204" charset="-122"/>
              </a:rPr>
              <a:t>让 </a:t>
            </a:r>
            <a:r>
              <a:rPr lang="en-US" sz="1100" b="0">
                <a:solidFill>
                  <a:srgbClr val="DDEEFF"/>
                </a:solidFill>
                <a:latin typeface="Microsoft YaHei" panose="020B0503020204020204" charset="-122"/>
                <a:ea typeface="Microsoft YaHei" panose="020B0503020204020204" charset="-122"/>
              </a:rPr>
              <a:t>Agnetic Coding </a:t>
            </a:r>
            <a:r>
              <a:rPr sz="1100" b="0">
                <a:solidFill>
                  <a:srgbClr val="DDEEFF"/>
                </a:solidFill>
                <a:latin typeface="Microsoft YaHei" panose="020B0503020204020204" charset="-122"/>
                <a:ea typeface="Microsoft YaHei" panose="020B0503020204020204" charset="-122"/>
              </a:rPr>
              <a:t>有章可循</a:t>
            </a:r>
            <a:endParaRPr sz="1100" b="0">
              <a:solidFill>
                <a:srgbClr val="DDEEFF"/>
              </a:solidFill>
              <a:latin typeface="Microsoft YaHei" panose="020B0503020204020204" charset="-122"/>
            </a:endParaRPr>
          </a:p>
        </p:txBody>
      </p:sp>
      <p:sp>
        <p:nvSpPr>
          <p:cNvPr id="8" name="Rounded Rectangle 7"/>
          <p:cNvSpPr/>
          <p:nvPr/>
        </p:nvSpPr>
        <p:spPr>
          <a:xfrm>
            <a:off x="457200" y="2103120"/>
            <a:ext cx="3246120" cy="3657600"/>
          </a:xfrm>
          <a:prstGeom prst="roundRect">
            <a:avLst/>
          </a:prstGeom>
          <a:solidFill>
            <a:srgbClr val="E8F4FD"/>
          </a:solidFill>
          <a:ln w="1905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240280"/>
            <a:ext cx="54864" cy="1143000"/>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10" name="TextBox 9"/>
          <p:cNvSpPr txBox="1"/>
          <p:nvPr/>
        </p:nvSpPr>
        <p:spPr>
          <a:xfrm>
            <a:off x="704088" y="2240280"/>
            <a:ext cx="2834640" cy="1065530"/>
          </a:xfrm>
          <a:prstGeom prst="rect">
            <a:avLst/>
          </a:prstGeom>
          <a:noFill/>
        </p:spPr>
        <p:txBody>
          <a:bodyPr wrap="square">
            <a:spAutoFit/>
          </a:bodyPr>
          <a:lstStyle/>
          <a:p>
            <a:pPr algn="l">
              <a:spcBef>
                <a:spcPts val="0"/>
              </a:spcBef>
              <a:spcAft>
                <a:spcPts val="400"/>
              </a:spcAft>
            </a:pPr>
            <a:r>
              <a:rPr sz="1200" b="1">
                <a:solidFill>
                  <a:srgbClr val="0070C0"/>
                </a:solidFill>
                <a:latin typeface="Microsoft YaHei" panose="020B0503020204020204" charset="-122"/>
                <a:ea typeface="Microsoft YaHei" panose="020B0503020204020204" charset="-122"/>
              </a:rPr>
              <a:t>统一工作流标准</a:t>
            </a:r>
            <a:endParaRPr sz="1200" b="1">
              <a:solidFill>
                <a:srgbClr val="0070C0"/>
              </a:solidFill>
              <a:latin typeface="Microsoft YaHei" panose="020B0503020204020204" charset="-122"/>
            </a:endParaRPr>
          </a:p>
          <a:p>
            <a:pPr algn="l">
              <a:spcBef>
                <a:spcPts val="0"/>
              </a:spcBef>
              <a:spcAft>
                <a:spcPts val="0"/>
              </a:spcAft>
            </a:pPr>
            <a:r>
              <a:rPr lang="en-US" sz="1200" b="0">
                <a:solidFill>
                  <a:srgbClr val="555555"/>
                </a:solidFill>
                <a:latin typeface="Microsoft YaHei" panose="020B0503020204020204" charset="-122"/>
                <a:ea typeface="Microsoft YaHei" panose="020B0503020204020204" charset="-122"/>
              </a:rPr>
              <a:t>Agentic Coding </a:t>
            </a:r>
            <a:r>
              <a:rPr sz="1200" b="0">
                <a:solidFill>
                  <a:srgbClr val="555555"/>
                </a:solidFill>
                <a:latin typeface="Microsoft YaHei" panose="020B0503020204020204" charset="-122"/>
                <a:ea typeface="Microsoft YaHei" panose="020B0503020204020204" charset="-122"/>
              </a:rPr>
              <a:t>遵循 proposal → </a:t>
            </a:r>
            <a:r>
              <a:rPr lang="en-US" sz="1200" b="0">
                <a:solidFill>
                  <a:srgbClr val="555555"/>
                </a:solidFill>
                <a:latin typeface="Microsoft YaHei" panose="020B0503020204020204" charset="-122"/>
                <a:ea typeface="Microsoft YaHei" panose="020B0503020204020204" charset="-122"/>
              </a:rPr>
              <a:t>usecase</a:t>
            </a:r>
            <a:r>
              <a:rPr sz="1200">
                <a:solidFill>
                  <a:srgbClr val="555555"/>
                </a:solidFill>
                <a:latin typeface="Microsoft YaHei" panose="020B0503020204020204" charset="-122"/>
                <a:ea typeface="Microsoft YaHei" panose="020B0503020204020204" charset="-122"/>
                <a:sym typeface="+mn-ea"/>
              </a:rPr>
              <a:t>→ </a:t>
            </a:r>
            <a:r>
              <a:rPr sz="1200" b="0">
                <a:solidFill>
                  <a:srgbClr val="555555"/>
                </a:solidFill>
                <a:latin typeface="Microsoft YaHei" panose="020B0503020204020204" charset="-122"/>
                <a:ea typeface="Microsoft YaHei" panose="020B0503020204020204" charset="-122"/>
              </a:rPr>
              <a:t>spec → design → task → implement </a:t>
            </a:r>
            <a:r>
              <a:rPr lang="zh-CN" sz="1200" b="0">
                <a:solidFill>
                  <a:srgbClr val="555555"/>
                </a:solidFill>
                <a:latin typeface="Microsoft YaHei" panose="020B0503020204020204" charset="-122"/>
                <a:ea typeface="Microsoft YaHei" panose="020B0503020204020204" charset="-122"/>
              </a:rPr>
              <a:t>标准</a:t>
            </a:r>
            <a:r>
              <a:rPr lang="en-US" altLang="zh-CN" sz="1200" b="0">
                <a:solidFill>
                  <a:srgbClr val="555555"/>
                </a:solidFill>
                <a:latin typeface="Microsoft YaHei" panose="020B0503020204020204" charset="-122"/>
                <a:ea typeface="Microsoft YaHei" panose="020B0503020204020204" charset="-122"/>
              </a:rPr>
              <a:t>RE</a:t>
            </a:r>
            <a:r>
              <a:rPr sz="1200" b="0">
                <a:solidFill>
                  <a:srgbClr val="555555"/>
                </a:solidFill>
                <a:latin typeface="Microsoft YaHei" panose="020B0503020204020204" charset="-122"/>
                <a:ea typeface="Microsoft YaHei" panose="020B0503020204020204" charset="-122"/>
              </a:rPr>
              <a:t>流程，AI 不再各行其是</a:t>
            </a:r>
            <a:endParaRPr sz="1200" b="0">
              <a:solidFill>
                <a:srgbClr val="555555"/>
              </a:solidFill>
              <a:latin typeface="Microsoft YaHei" panose="020B0503020204020204" charset="-122"/>
            </a:endParaRPr>
          </a:p>
        </p:txBody>
      </p:sp>
      <p:sp>
        <p:nvSpPr>
          <p:cNvPr id="11" name="Rectangle 10"/>
          <p:cNvSpPr/>
          <p:nvPr/>
        </p:nvSpPr>
        <p:spPr>
          <a:xfrm>
            <a:off x="566928" y="3456432"/>
            <a:ext cx="54864" cy="1143000"/>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12" name="TextBox 11"/>
          <p:cNvSpPr txBox="1"/>
          <p:nvPr/>
        </p:nvSpPr>
        <p:spPr>
          <a:xfrm>
            <a:off x="704088" y="3456432"/>
            <a:ext cx="2834640" cy="881380"/>
          </a:xfrm>
          <a:prstGeom prst="rect">
            <a:avLst/>
          </a:prstGeom>
          <a:noFill/>
        </p:spPr>
        <p:txBody>
          <a:bodyPr wrap="square">
            <a:spAutoFit/>
          </a:bodyPr>
          <a:lstStyle/>
          <a:p>
            <a:pPr algn="l">
              <a:spcBef>
                <a:spcPts val="0"/>
              </a:spcBef>
              <a:spcAft>
                <a:spcPts val="400"/>
              </a:spcAft>
            </a:pPr>
            <a:r>
              <a:rPr sz="1200" b="1">
                <a:solidFill>
                  <a:srgbClr val="0070C0"/>
                </a:solidFill>
                <a:latin typeface="Microsoft YaHei" panose="020B0503020204020204" charset="-122"/>
                <a:ea typeface="Microsoft YaHei" panose="020B0503020204020204" charset="-122"/>
              </a:rPr>
              <a:t>需求有据可查</a:t>
            </a:r>
            <a:endParaRPr sz="1200" b="1">
              <a:solidFill>
                <a:srgbClr val="0070C0"/>
              </a:solidFill>
              <a:latin typeface="Microsoft YaHei" panose="020B0503020204020204" charset="-122"/>
            </a:endParaRPr>
          </a:p>
          <a:p>
            <a:pPr algn="l">
              <a:spcBef>
                <a:spcPts val="0"/>
              </a:spcBef>
              <a:spcAft>
                <a:spcPts val="0"/>
              </a:spcAft>
            </a:pPr>
            <a:r>
              <a:rPr sz="1200" b="0">
                <a:solidFill>
                  <a:srgbClr val="555555"/>
                </a:solidFill>
                <a:latin typeface="Microsoft YaHei" panose="020B0503020204020204" charset="-122"/>
                <a:ea typeface="Microsoft YaHei" panose="020B0503020204020204" charset="-122"/>
              </a:rPr>
              <a:t>每个变更都有 proposal（为什么改）spec（改什么）design（怎么做</a:t>
            </a:r>
            <a:r>
              <a:rPr lang="zh-CN" sz="1200" b="0">
                <a:solidFill>
                  <a:srgbClr val="555555"/>
                </a:solidFill>
                <a:latin typeface="Microsoft YaHei" panose="020B0503020204020204" charset="-122"/>
                <a:ea typeface="Microsoft YaHei" panose="020B0503020204020204" charset="-122"/>
              </a:rPr>
              <a:t>）而不是和</a:t>
            </a:r>
            <a:r>
              <a:rPr lang="en-US" altLang="zh-CN" sz="1200" b="0">
                <a:solidFill>
                  <a:srgbClr val="555555"/>
                </a:solidFill>
                <a:latin typeface="Microsoft YaHei" panose="020B0503020204020204" charset="-122"/>
                <a:ea typeface="Microsoft YaHei" panose="020B0503020204020204" charset="-122"/>
              </a:rPr>
              <a:t>Claude Code</a:t>
            </a:r>
            <a:r>
              <a:rPr lang="zh-CN" altLang="en-US" sz="1200" b="0">
                <a:solidFill>
                  <a:srgbClr val="555555"/>
                </a:solidFill>
                <a:latin typeface="Microsoft YaHei" panose="020B0503020204020204" charset="-122"/>
                <a:ea typeface="Microsoft YaHei" panose="020B0503020204020204" charset="-122"/>
              </a:rPr>
              <a:t>的</a:t>
            </a:r>
            <a:r>
              <a:rPr lang="zh-CN" altLang="en-US" sz="1200" b="0">
                <a:solidFill>
                  <a:srgbClr val="555555"/>
                </a:solidFill>
                <a:latin typeface="Microsoft YaHei" panose="020B0503020204020204" charset="-122"/>
                <a:ea typeface="Microsoft YaHei" panose="020B0503020204020204" charset="-122"/>
              </a:rPr>
              <a:t>聊天记录</a:t>
            </a:r>
            <a:endParaRPr lang="zh-CN" altLang="en-US" sz="1200" b="0">
              <a:solidFill>
                <a:srgbClr val="555555"/>
              </a:solidFill>
              <a:latin typeface="Microsoft YaHei" panose="020B0503020204020204" charset="-122"/>
              <a:ea typeface="Microsoft YaHei" panose="020B0503020204020204" charset="-122"/>
            </a:endParaRPr>
          </a:p>
        </p:txBody>
      </p:sp>
      <p:sp>
        <p:nvSpPr>
          <p:cNvPr id="13" name="Rectangle 12"/>
          <p:cNvSpPr/>
          <p:nvPr/>
        </p:nvSpPr>
        <p:spPr>
          <a:xfrm>
            <a:off x="567055" y="4672330"/>
            <a:ext cx="76200" cy="777240"/>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14" name="TextBox 13"/>
          <p:cNvSpPr txBox="1"/>
          <p:nvPr/>
        </p:nvSpPr>
        <p:spPr>
          <a:xfrm>
            <a:off x="704088" y="4672584"/>
            <a:ext cx="2834640" cy="911860"/>
          </a:xfrm>
          <a:prstGeom prst="rect">
            <a:avLst/>
          </a:prstGeom>
          <a:noFill/>
        </p:spPr>
        <p:txBody>
          <a:bodyPr wrap="square">
            <a:spAutoFit/>
          </a:bodyPr>
          <a:lstStyle/>
          <a:p>
            <a:pPr algn="l">
              <a:spcBef>
                <a:spcPts val="0"/>
              </a:spcBef>
              <a:spcAft>
                <a:spcPts val="400"/>
              </a:spcAft>
            </a:pPr>
            <a:r>
              <a:rPr sz="1400" b="1">
                <a:solidFill>
                  <a:srgbClr val="0070C0"/>
                </a:solidFill>
                <a:latin typeface="Microsoft YaHei" panose="020B0503020204020204" charset="-122"/>
                <a:ea typeface="Microsoft YaHei" panose="020B0503020204020204" charset="-122"/>
              </a:rPr>
              <a:t>验收有标准可依</a:t>
            </a:r>
            <a:endParaRPr sz="1400" b="1">
              <a:solidFill>
                <a:srgbClr val="0070C0"/>
              </a:solidFill>
              <a:latin typeface="Microsoft YaHei" panose="020B0503020204020204" charset="-122"/>
            </a:endParaRPr>
          </a:p>
          <a:p>
            <a:pPr algn="l">
              <a:spcBef>
                <a:spcPts val="0"/>
              </a:spcBef>
              <a:spcAft>
                <a:spcPts val="0"/>
              </a:spcAft>
            </a:pPr>
            <a:r>
              <a:rPr lang="en-US" sz="1200" b="0">
                <a:solidFill>
                  <a:srgbClr val="555555"/>
                </a:solidFill>
                <a:latin typeface="Microsoft YaHei" panose="020B0503020204020204" charset="-122"/>
                <a:ea typeface="Microsoft YaHei" panose="020B0503020204020204" charset="-122"/>
              </a:rPr>
              <a:t>S</a:t>
            </a:r>
            <a:r>
              <a:rPr sz="1200" b="0">
                <a:solidFill>
                  <a:srgbClr val="555555"/>
                </a:solidFill>
                <a:latin typeface="Microsoft YaHei" panose="020B0503020204020204" charset="-122"/>
                <a:ea typeface="Microsoft YaHei" panose="020B0503020204020204" charset="-122"/>
              </a:rPr>
              <a:t>DD 场景（Given/When/Then）提供明确的验收条件，代码好不好有客观依据</a:t>
            </a:r>
            <a:endParaRPr sz="1200" b="0">
              <a:solidFill>
                <a:srgbClr val="555555"/>
              </a:solidFill>
              <a:latin typeface="Microsoft YaHei" panose="020B0503020204020204" charset="-122"/>
            </a:endParaRPr>
          </a:p>
        </p:txBody>
      </p:sp>
      <p:sp>
        <p:nvSpPr>
          <p:cNvPr id="15" name="Rectangle 14"/>
          <p:cNvSpPr/>
          <p:nvPr/>
        </p:nvSpPr>
        <p:spPr>
          <a:xfrm>
            <a:off x="640080" y="3383280"/>
            <a:ext cx="2880360" cy="635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16" name="Rectangle 15"/>
          <p:cNvSpPr/>
          <p:nvPr/>
        </p:nvSpPr>
        <p:spPr>
          <a:xfrm>
            <a:off x="640080" y="4599432"/>
            <a:ext cx="2880360" cy="635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17" name="Rounded Rectangle 16"/>
          <p:cNvSpPr/>
          <p:nvPr/>
        </p:nvSpPr>
        <p:spPr>
          <a:xfrm>
            <a:off x="3886200" y="1371600"/>
            <a:ext cx="3246120" cy="64008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86200" y="1417320"/>
            <a:ext cx="3246120" cy="320040"/>
          </a:xfrm>
          <a:prstGeom prst="rect">
            <a:avLst/>
          </a:prstGeom>
          <a:noFill/>
        </p:spPr>
        <p:txBody>
          <a:bodyPr wrap="square">
            <a:spAutoFit/>
          </a:bodyPr>
          <a:lstStyle/>
          <a:p>
            <a:pPr algn="ctr"/>
            <a:r>
              <a:rPr sz="2000" b="1">
                <a:solidFill>
                  <a:srgbClr val="FFFFFF"/>
                </a:solidFill>
                <a:latin typeface="Microsoft YaHei" panose="020B0503020204020204" charset="-122"/>
                <a:ea typeface="Microsoft YaHei" panose="020B0503020204020204" charset="-122"/>
              </a:rPr>
              <a:t>可追溯</a:t>
            </a:r>
            <a:endParaRPr sz="2000" b="1">
              <a:solidFill>
                <a:srgbClr val="FFFFFF"/>
              </a:solidFill>
              <a:latin typeface="Microsoft YaHei" panose="020B0503020204020204" charset="-122"/>
            </a:endParaRPr>
          </a:p>
        </p:txBody>
      </p:sp>
      <p:sp>
        <p:nvSpPr>
          <p:cNvPr id="19" name="TextBox 18"/>
          <p:cNvSpPr txBox="1"/>
          <p:nvPr/>
        </p:nvSpPr>
        <p:spPr>
          <a:xfrm>
            <a:off x="3886200" y="1691640"/>
            <a:ext cx="3246120" cy="260350"/>
          </a:xfrm>
          <a:prstGeom prst="rect">
            <a:avLst/>
          </a:prstGeom>
          <a:noFill/>
        </p:spPr>
        <p:txBody>
          <a:bodyPr wrap="square">
            <a:spAutoFit/>
          </a:bodyPr>
          <a:lstStyle/>
          <a:p>
            <a:pPr algn="ctr"/>
            <a:r>
              <a:rPr lang="zh-CN" sz="1100" b="0">
                <a:solidFill>
                  <a:srgbClr val="DDEEFF"/>
                </a:solidFill>
                <a:latin typeface="Microsoft YaHei" panose="020B0503020204020204" charset="-122"/>
                <a:ea typeface="Microsoft YaHei" panose="020B0503020204020204" charset="-122"/>
              </a:rPr>
              <a:t>让</a:t>
            </a:r>
            <a:r>
              <a:rPr lang="en-US" altLang="zh-CN" sz="1100" b="0">
                <a:solidFill>
                  <a:srgbClr val="DDEEFF"/>
                </a:solidFill>
                <a:latin typeface="Microsoft YaHei" panose="020B0503020204020204" charset="-122"/>
                <a:ea typeface="Microsoft YaHei" panose="020B0503020204020204" charset="-122"/>
              </a:rPr>
              <a:t>Agentic Coding </a:t>
            </a:r>
            <a:r>
              <a:rPr sz="1100" b="0">
                <a:solidFill>
                  <a:srgbClr val="DDEEFF"/>
                </a:solidFill>
                <a:latin typeface="Microsoft YaHei" panose="020B0503020204020204" charset="-122"/>
                <a:ea typeface="Microsoft YaHei" panose="020B0503020204020204" charset="-122"/>
              </a:rPr>
              <a:t>每一步决策都有据可查</a:t>
            </a:r>
            <a:endParaRPr sz="1100" b="0">
              <a:solidFill>
                <a:srgbClr val="DDEEFF"/>
              </a:solidFill>
              <a:latin typeface="Microsoft YaHei" panose="020B0503020204020204" charset="-122"/>
            </a:endParaRPr>
          </a:p>
        </p:txBody>
      </p:sp>
      <p:sp>
        <p:nvSpPr>
          <p:cNvPr id="20" name="Rounded Rectangle 19"/>
          <p:cNvSpPr/>
          <p:nvPr/>
        </p:nvSpPr>
        <p:spPr>
          <a:xfrm>
            <a:off x="3886200" y="2103120"/>
            <a:ext cx="3246120" cy="3657600"/>
          </a:xfrm>
          <a:prstGeom prst="roundRect">
            <a:avLst/>
          </a:prstGeom>
          <a:solidFill>
            <a:srgbClr val="E8F8E8"/>
          </a:solidFill>
          <a:ln w="1905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95928" y="2240280"/>
            <a:ext cx="54864" cy="11430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22" name="TextBox 21"/>
          <p:cNvSpPr txBox="1"/>
          <p:nvPr/>
        </p:nvSpPr>
        <p:spPr>
          <a:xfrm>
            <a:off x="4133088" y="2240280"/>
            <a:ext cx="2834640" cy="881380"/>
          </a:xfrm>
          <a:prstGeom prst="rect">
            <a:avLst/>
          </a:prstGeom>
          <a:noFill/>
        </p:spPr>
        <p:txBody>
          <a:bodyPr wrap="square">
            <a:spAutoFit/>
          </a:bodyPr>
          <a:lstStyle/>
          <a:p>
            <a:pPr algn="l">
              <a:spcBef>
                <a:spcPts val="0"/>
              </a:spcBef>
              <a:spcAft>
                <a:spcPts val="400"/>
              </a:spcAft>
            </a:pPr>
            <a:r>
              <a:rPr sz="1200" b="1">
                <a:solidFill>
                  <a:srgbClr val="27AE60"/>
                </a:solidFill>
                <a:latin typeface="Microsoft YaHei" panose="020B0503020204020204" charset="-122"/>
                <a:ea typeface="Microsoft YaHei" panose="020B0503020204020204" charset="-122"/>
              </a:rPr>
              <a:t>变更全链路追踪</a:t>
            </a:r>
            <a:endParaRPr sz="1200" b="1">
              <a:solidFill>
                <a:srgbClr val="27AE60"/>
              </a:solidFill>
              <a:latin typeface="Microsoft YaHei" panose="020B0503020204020204" charset="-122"/>
            </a:endParaRPr>
          </a:p>
          <a:p>
            <a:pPr algn="l">
              <a:spcBef>
                <a:spcPts val="0"/>
              </a:spcBef>
              <a:spcAft>
                <a:spcPts val="0"/>
              </a:spcAft>
            </a:pPr>
            <a:r>
              <a:rPr sz="1200" b="0">
                <a:solidFill>
                  <a:srgbClr val="555555"/>
                </a:solidFill>
                <a:latin typeface="Microsoft YaHei" panose="020B0503020204020204" charset="-122"/>
                <a:ea typeface="Microsoft YaHei" panose="020B0503020204020204" charset="-122"/>
              </a:rPr>
              <a:t>从需求到设计到任务到代码，每一步都有</a:t>
            </a:r>
            <a:r>
              <a:rPr lang="zh-CN" sz="1200" b="0">
                <a:solidFill>
                  <a:srgbClr val="555555"/>
                </a:solidFill>
                <a:latin typeface="Microsoft YaHei" panose="020B0503020204020204" charset="-122"/>
                <a:ea typeface="Microsoft YaHei" panose="020B0503020204020204" charset="-122"/>
              </a:rPr>
              <a:t>对应的</a:t>
            </a:r>
            <a:r>
              <a:rPr sz="1200" b="0">
                <a:solidFill>
                  <a:srgbClr val="555555"/>
                </a:solidFill>
                <a:latin typeface="Microsoft YaHei" panose="020B0503020204020204" charset="-122"/>
                <a:ea typeface="Microsoft YaHei" panose="020B0503020204020204" charset="-122"/>
              </a:rPr>
              <a:t>文档记录</a:t>
            </a:r>
            <a:r>
              <a:rPr lang="zh-CN" sz="1200" b="0">
                <a:solidFill>
                  <a:srgbClr val="555555"/>
                </a:solidFill>
                <a:latin typeface="Microsoft YaHei" panose="020B0503020204020204" charset="-122"/>
                <a:ea typeface="Microsoft YaHei" panose="020B0503020204020204" charset="-122"/>
              </a:rPr>
              <a:t>，大大提高了</a:t>
            </a:r>
            <a:r>
              <a:rPr lang="en-US" altLang="zh-CN" sz="1200" b="0">
                <a:solidFill>
                  <a:srgbClr val="555555"/>
                </a:solidFill>
                <a:latin typeface="Microsoft YaHei" panose="020B0503020204020204" charset="-122"/>
                <a:ea typeface="Microsoft YaHei" panose="020B0503020204020204" charset="-122"/>
              </a:rPr>
              <a:t>Code</a:t>
            </a:r>
            <a:r>
              <a:rPr lang="zh-CN" altLang="en-US" sz="1200" b="0">
                <a:solidFill>
                  <a:srgbClr val="555555"/>
                </a:solidFill>
                <a:latin typeface="Microsoft YaHei" panose="020B0503020204020204" charset="-122"/>
                <a:ea typeface="Microsoft YaHei" panose="020B0503020204020204" charset="-122"/>
              </a:rPr>
              <a:t>到</a:t>
            </a:r>
            <a:r>
              <a:rPr lang="en-US" altLang="zh-CN" sz="1200" b="0">
                <a:solidFill>
                  <a:srgbClr val="555555"/>
                </a:solidFill>
                <a:latin typeface="Microsoft YaHei" panose="020B0503020204020204" charset="-122"/>
                <a:ea typeface="Microsoft YaHei" panose="020B0503020204020204" charset="-122"/>
              </a:rPr>
              <a:t>Spec</a:t>
            </a:r>
            <a:r>
              <a:rPr lang="zh-CN" altLang="en-US" sz="1200" b="0">
                <a:solidFill>
                  <a:srgbClr val="555555"/>
                </a:solidFill>
                <a:latin typeface="Microsoft YaHei" panose="020B0503020204020204" charset="-122"/>
                <a:ea typeface="Microsoft YaHei" panose="020B0503020204020204" charset="-122"/>
              </a:rPr>
              <a:t>的</a:t>
            </a:r>
            <a:r>
              <a:rPr lang="zh-CN" altLang="en-US" sz="1200" b="0">
                <a:solidFill>
                  <a:srgbClr val="555555"/>
                </a:solidFill>
                <a:latin typeface="Microsoft YaHei" panose="020B0503020204020204" charset="-122"/>
                <a:ea typeface="Microsoft YaHei" panose="020B0503020204020204" charset="-122"/>
              </a:rPr>
              <a:t>可追溯性</a:t>
            </a:r>
            <a:endParaRPr lang="zh-CN" altLang="en-US" sz="1200" b="0">
              <a:solidFill>
                <a:srgbClr val="555555"/>
              </a:solidFill>
              <a:latin typeface="Microsoft YaHei" panose="020B0503020204020204" charset="-122"/>
              <a:ea typeface="Microsoft YaHei" panose="020B0503020204020204" charset="-122"/>
            </a:endParaRPr>
          </a:p>
        </p:txBody>
      </p:sp>
      <p:sp>
        <p:nvSpPr>
          <p:cNvPr id="23" name="Rectangle 22"/>
          <p:cNvSpPr/>
          <p:nvPr/>
        </p:nvSpPr>
        <p:spPr>
          <a:xfrm>
            <a:off x="3995928" y="3456432"/>
            <a:ext cx="54864" cy="11430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24" name="TextBox 23"/>
          <p:cNvSpPr txBox="1"/>
          <p:nvPr/>
        </p:nvSpPr>
        <p:spPr>
          <a:xfrm>
            <a:off x="4133088" y="3456432"/>
            <a:ext cx="2834640" cy="881380"/>
          </a:xfrm>
          <a:prstGeom prst="rect">
            <a:avLst/>
          </a:prstGeom>
          <a:noFill/>
        </p:spPr>
        <p:txBody>
          <a:bodyPr wrap="square">
            <a:spAutoFit/>
          </a:bodyPr>
          <a:lstStyle/>
          <a:p>
            <a:pPr algn="l">
              <a:spcBef>
                <a:spcPts val="0"/>
              </a:spcBef>
              <a:spcAft>
                <a:spcPts val="400"/>
              </a:spcAft>
            </a:pPr>
            <a:r>
              <a:rPr sz="1200" b="1">
                <a:solidFill>
                  <a:srgbClr val="27AE60"/>
                </a:solidFill>
                <a:latin typeface="Microsoft YaHei" panose="020B0503020204020204" charset="-122"/>
                <a:ea typeface="Microsoft YaHei" panose="020B0503020204020204" charset="-122"/>
              </a:rPr>
              <a:t>审计友好</a:t>
            </a:r>
            <a:endParaRPr sz="1200" b="1">
              <a:solidFill>
                <a:srgbClr val="27AE60"/>
              </a:solidFill>
              <a:latin typeface="Microsoft YaHei" panose="020B0503020204020204" charset="-122"/>
            </a:endParaRPr>
          </a:p>
          <a:p>
            <a:pPr algn="l">
              <a:spcBef>
                <a:spcPts val="0"/>
              </a:spcBef>
              <a:spcAft>
                <a:spcPts val="0"/>
              </a:spcAft>
            </a:pPr>
            <a:r>
              <a:rPr sz="1200" b="0">
                <a:solidFill>
                  <a:srgbClr val="555555"/>
                </a:solidFill>
                <a:latin typeface="Microsoft YaHei" panose="020B0503020204020204" charset="-122"/>
                <a:ea typeface="Microsoft YaHei" panose="020B0503020204020204" charset="-122"/>
              </a:rPr>
              <a:t>归档机制保留完整上下文，</a:t>
            </a:r>
            <a:r>
              <a:rPr lang="zh-CN" sz="1200" b="0">
                <a:solidFill>
                  <a:srgbClr val="555555"/>
                </a:solidFill>
                <a:latin typeface="Microsoft YaHei" panose="020B0503020204020204" charset="-122"/>
                <a:ea typeface="Microsoft YaHei" panose="020B0503020204020204" charset="-122"/>
              </a:rPr>
              <a:t>更好的</a:t>
            </a:r>
            <a:r>
              <a:rPr sz="1200" b="0">
                <a:solidFill>
                  <a:srgbClr val="555555"/>
                </a:solidFill>
                <a:latin typeface="Microsoft YaHei" panose="020B0503020204020204" charset="-122"/>
                <a:ea typeface="Microsoft YaHei" panose="020B0503020204020204" charset="-122"/>
              </a:rPr>
              <a:t>满足合规要求；</a:t>
            </a:r>
            <a:r>
              <a:rPr lang="zh-CN" sz="1200" b="0">
                <a:solidFill>
                  <a:srgbClr val="555555"/>
                </a:solidFill>
                <a:latin typeface="Microsoft YaHei" panose="020B0503020204020204" charset="-122"/>
                <a:ea typeface="Microsoft YaHei" panose="020B0503020204020204" charset="-122"/>
              </a:rPr>
              <a:t>人类</a:t>
            </a:r>
            <a:r>
              <a:rPr sz="1200" b="0">
                <a:solidFill>
                  <a:srgbClr val="555555"/>
                </a:solidFill>
                <a:latin typeface="Microsoft YaHei" panose="020B0503020204020204" charset="-122"/>
                <a:ea typeface="Microsoft YaHei" panose="020B0503020204020204" charset="-122"/>
              </a:rPr>
              <a:t>监管审查时能</a:t>
            </a:r>
            <a:r>
              <a:rPr lang="zh-CN" sz="1200" b="0">
                <a:solidFill>
                  <a:srgbClr val="555555"/>
                </a:solidFill>
                <a:latin typeface="Microsoft YaHei" panose="020B0503020204020204" charset="-122"/>
                <a:ea typeface="Microsoft YaHei" panose="020B0503020204020204" charset="-122"/>
              </a:rPr>
              <a:t>通过</a:t>
            </a:r>
            <a:r>
              <a:rPr lang="en-US" altLang="zh-CN" sz="1200" b="0">
                <a:solidFill>
                  <a:srgbClr val="555555"/>
                </a:solidFill>
                <a:latin typeface="Microsoft YaHei" panose="020B0503020204020204" charset="-122"/>
                <a:ea typeface="Microsoft YaHei" panose="020B0503020204020204" charset="-122"/>
              </a:rPr>
              <a:t>Spec</a:t>
            </a:r>
            <a:r>
              <a:rPr lang="zh-CN" altLang="en-US" sz="1200" b="0">
                <a:solidFill>
                  <a:srgbClr val="555555"/>
                </a:solidFill>
                <a:latin typeface="Microsoft YaHei" panose="020B0503020204020204" charset="-122"/>
                <a:ea typeface="Microsoft YaHei" panose="020B0503020204020204" charset="-122"/>
              </a:rPr>
              <a:t>看出</a:t>
            </a:r>
            <a:r>
              <a:rPr sz="1200" b="0">
                <a:solidFill>
                  <a:srgbClr val="555555"/>
                </a:solidFill>
                <a:latin typeface="Microsoft YaHei" panose="020B0503020204020204" charset="-122"/>
                <a:ea typeface="Microsoft YaHei" panose="020B0503020204020204" charset="-122"/>
              </a:rPr>
              <a:t>完整的决策链条</a:t>
            </a:r>
            <a:endParaRPr sz="1200" b="0">
              <a:solidFill>
                <a:srgbClr val="555555"/>
              </a:solidFill>
              <a:latin typeface="Microsoft YaHei" panose="020B0503020204020204" charset="-122"/>
            </a:endParaRPr>
          </a:p>
        </p:txBody>
      </p:sp>
      <p:sp>
        <p:nvSpPr>
          <p:cNvPr id="25" name="Rectangle 24"/>
          <p:cNvSpPr/>
          <p:nvPr/>
        </p:nvSpPr>
        <p:spPr>
          <a:xfrm>
            <a:off x="3996055" y="4672330"/>
            <a:ext cx="76200" cy="756285"/>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26" name="TextBox 25"/>
          <p:cNvSpPr txBox="1"/>
          <p:nvPr/>
        </p:nvSpPr>
        <p:spPr>
          <a:xfrm>
            <a:off x="4133088" y="4672584"/>
            <a:ext cx="2834640" cy="696595"/>
          </a:xfrm>
          <a:prstGeom prst="rect">
            <a:avLst/>
          </a:prstGeom>
          <a:noFill/>
        </p:spPr>
        <p:txBody>
          <a:bodyPr wrap="square">
            <a:spAutoFit/>
          </a:bodyPr>
          <a:lstStyle/>
          <a:p>
            <a:pPr algn="l">
              <a:spcBef>
                <a:spcPts val="0"/>
              </a:spcBef>
              <a:spcAft>
                <a:spcPts val="400"/>
              </a:spcAft>
            </a:pPr>
            <a:r>
              <a:rPr sz="1200" b="1">
                <a:solidFill>
                  <a:srgbClr val="27AE60"/>
                </a:solidFill>
                <a:latin typeface="Microsoft YaHei" panose="020B0503020204020204" charset="-122"/>
                <a:ea typeface="Microsoft YaHei" panose="020B0503020204020204" charset="-122"/>
              </a:rPr>
              <a:t>决策可</a:t>
            </a:r>
            <a:r>
              <a:rPr lang="zh-CN" sz="1200" b="1">
                <a:solidFill>
                  <a:srgbClr val="27AE60"/>
                </a:solidFill>
                <a:latin typeface="Microsoft YaHei" panose="020B0503020204020204" charset="-122"/>
                <a:ea typeface="Microsoft YaHei" panose="020B0503020204020204" charset="-122"/>
              </a:rPr>
              <a:t>追溯</a:t>
            </a:r>
            <a:endParaRPr sz="1200" b="1">
              <a:solidFill>
                <a:srgbClr val="27AE60"/>
              </a:solidFill>
              <a:latin typeface="Microsoft YaHei" panose="020B0503020204020204" charset="-122"/>
            </a:endParaRPr>
          </a:p>
          <a:p>
            <a:pPr algn="l">
              <a:spcBef>
                <a:spcPts val="0"/>
              </a:spcBef>
              <a:spcAft>
                <a:spcPts val="0"/>
              </a:spcAft>
            </a:pPr>
            <a:r>
              <a:rPr sz="1200" b="0">
                <a:solidFill>
                  <a:srgbClr val="555555"/>
                </a:solidFill>
                <a:latin typeface="Microsoft YaHei" panose="020B0503020204020204" charset="-122"/>
                <a:ea typeface="Microsoft YaHei" panose="020B0503020204020204" charset="-122"/>
              </a:rPr>
              <a:t>design.md 记录技术选型理由和替代方案权衡</a:t>
            </a:r>
            <a:r>
              <a:rPr lang="zh-CN" sz="1200" b="0">
                <a:solidFill>
                  <a:srgbClr val="555555"/>
                </a:solidFill>
                <a:latin typeface="Microsoft YaHei" panose="020B0503020204020204" charset="-122"/>
                <a:ea typeface="Microsoft YaHei" panose="020B0503020204020204" charset="-122"/>
              </a:rPr>
              <a:t>，完整记录选择</a:t>
            </a:r>
            <a:r>
              <a:rPr lang="zh-CN" sz="1200" b="0">
                <a:solidFill>
                  <a:srgbClr val="555555"/>
                </a:solidFill>
                <a:latin typeface="Microsoft YaHei" panose="020B0503020204020204" charset="-122"/>
                <a:ea typeface="Microsoft YaHei" panose="020B0503020204020204" charset="-122"/>
              </a:rPr>
              <a:t>原因</a:t>
            </a:r>
            <a:endParaRPr lang="zh-CN" sz="1200" b="0">
              <a:solidFill>
                <a:srgbClr val="555555"/>
              </a:solidFill>
              <a:latin typeface="Microsoft YaHei" panose="020B0503020204020204" charset="-122"/>
              <a:ea typeface="Microsoft YaHei" panose="020B0503020204020204" charset="-122"/>
            </a:endParaRPr>
          </a:p>
        </p:txBody>
      </p:sp>
      <p:sp>
        <p:nvSpPr>
          <p:cNvPr id="27" name="Rectangle 26"/>
          <p:cNvSpPr/>
          <p:nvPr/>
        </p:nvSpPr>
        <p:spPr>
          <a:xfrm>
            <a:off x="4069080" y="3383280"/>
            <a:ext cx="2880360" cy="635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28" name="Rectangle 27"/>
          <p:cNvSpPr/>
          <p:nvPr/>
        </p:nvSpPr>
        <p:spPr>
          <a:xfrm>
            <a:off x="4069080" y="4599432"/>
            <a:ext cx="2880360" cy="635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29" name="Rounded Rectangle 28"/>
          <p:cNvSpPr/>
          <p:nvPr/>
        </p:nvSpPr>
        <p:spPr>
          <a:xfrm>
            <a:off x="7315200" y="1371600"/>
            <a:ext cx="3246120" cy="640080"/>
          </a:xfrm>
          <a:prstGeom prst="round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0" y="1417320"/>
            <a:ext cx="3246120" cy="320040"/>
          </a:xfrm>
          <a:prstGeom prst="rect">
            <a:avLst/>
          </a:prstGeom>
          <a:noFill/>
        </p:spPr>
        <p:txBody>
          <a:bodyPr wrap="square">
            <a:spAutoFit/>
          </a:bodyPr>
          <a:lstStyle/>
          <a:p>
            <a:pPr algn="ctr"/>
            <a:r>
              <a:rPr sz="2000" b="1">
                <a:solidFill>
                  <a:srgbClr val="FFFFFF"/>
                </a:solidFill>
                <a:latin typeface="Microsoft YaHei" panose="020B0503020204020204" charset="-122"/>
                <a:ea typeface="Microsoft YaHei" panose="020B0503020204020204" charset="-122"/>
              </a:rPr>
              <a:t>可协作</a:t>
            </a:r>
            <a:endParaRPr sz="2000" b="1">
              <a:solidFill>
                <a:srgbClr val="FFFFFF"/>
              </a:solidFill>
              <a:latin typeface="Microsoft YaHei" panose="020B0503020204020204" charset="-122"/>
            </a:endParaRPr>
          </a:p>
        </p:txBody>
      </p:sp>
      <p:sp>
        <p:nvSpPr>
          <p:cNvPr id="31" name="TextBox 30"/>
          <p:cNvSpPr txBox="1"/>
          <p:nvPr/>
        </p:nvSpPr>
        <p:spPr>
          <a:xfrm>
            <a:off x="7315200" y="1691640"/>
            <a:ext cx="3246120" cy="260350"/>
          </a:xfrm>
          <a:prstGeom prst="rect">
            <a:avLst/>
          </a:prstGeom>
          <a:noFill/>
        </p:spPr>
        <p:txBody>
          <a:bodyPr wrap="square">
            <a:spAutoFit/>
          </a:bodyPr>
          <a:lstStyle/>
          <a:p>
            <a:pPr algn="ctr"/>
            <a:r>
              <a:rPr sz="1100" b="0">
                <a:solidFill>
                  <a:srgbClr val="DDEEFF"/>
                </a:solidFill>
                <a:latin typeface="Microsoft YaHei" panose="020B0503020204020204" charset="-122"/>
                <a:ea typeface="Microsoft YaHei" panose="020B0503020204020204" charset="-122"/>
              </a:rPr>
              <a:t>团队</a:t>
            </a:r>
            <a:r>
              <a:rPr lang="zh-CN" sz="1100" b="0">
                <a:solidFill>
                  <a:srgbClr val="DDEEFF"/>
                </a:solidFill>
                <a:latin typeface="Microsoft YaHei" panose="020B0503020204020204" charset="-122"/>
                <a:ea typeface="Microsoft YaHei" panose="020B0503020204020204" charset="-122"/>
              </a:rPr>
              <a:t>协作</a:t>
            </a:r>
            <a:r>
              <a:rPr lang="en-US" altLang="zh-CN" sz="1100" b="0">
                <a:solidFill>
                  <a:srgbClr val="DDEEFF"/>
                </a:solidFill>
                <a:latin typeface="Microsoft YaHei" panose="020B0503020204020204" charset="-122"/>
                <a:ea typeface="Microsoft YaHei" panose="020B0503020204020204" charset="-122"/>
              </a:rPr>
              <a:t>Agentic Coding</a:t>
            </a:r>
            <a:r>
              <a:rPr lang="zh-CN" altLang="en-US" sz="1100" b="0">
                <a:solidFill>
                  <a:srgbClr val="DDEEFF"/>
                </a:solidFill>
                <a:latin typeface="Microsoft YaHei" panose="020B0503020204020204" charset="-122"/>
                <a:ea typeface="Microsoft YaHei" panose="020B0503020204020204" charset="-122"/>
              </a:rPr>
              <a:t>不再靠聊天</a:t>
            </a:r>
            <a:r>
              <a:rPr lang="zh-CN" altLang="en-US" sz="1100" b="0">
                <a:solidFill>
                  <a:srgbClr val="DDEEFF"/>
                </a:solidFill>
                <a:latin typeface="Microsoft YaHei" panose="020B0503020204020204" charset="-122"/>
                <a:ea typeface="Microsoft YaHei" panose="020B0503020204020204" charset="-122"/>
              </a:rPr>
              <a:t>对齐</a:t>
            </a:r>
            <a:endParaRPr lang="zh-CN" altLang="en-US" sz="1100" b="0">
              <a:solidFill>
                <a:srgbClr val="DDEEFF"/>
              </a:solidFill>
              <a:latin typeface="Microsoft YaHei" panose="020B0503020204020204" charset="-122"/>
              <a:ea typeface="Microsoft YaHei" panose="020B0503020204020204" charset="-122"/>
            </a:endParaRPr>
          </a:p>
        </p:txBody>
      </p:sp>
      <p:sp>
        <p:nvSpPr>
          <p:cNvPr id="32" name="Rounded Rectangle 31"/>
          <p:cNvSpPr/>
          <p:nvPr/>
        </p:nvSpPr>
        <p:spPr>
          <a:xfrm>
            <a:off x="7315200" y="2103120"/>
            <a:ext cx="3246120" cy="3657600"/>
          </a:xfrm>
          <a:prstGeom prst="roundRect">
            <a:avLst/>
          </a:prstGeom>
          <a:solidFill>
            <a:srgbClr val="FFF3E0"/>
          </a:solidFill>
          <a:ln w="1905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424928" y="2240280"/>
            <a:ext cx="54864" cy="114300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34" name="TextBox 33"/>
          <p:cNvSpPr txBox="1"/>
          <p:nvPr/>
        </p:nvSpPr>
        <p:spPr>
          <a:xfrm>
            <a:off x="7562088" y="2240280"/>
            <a:ext cx="2834640" cy="881380"/>
          </a:xfrm>
          <a:prstGeom prst="rect">
            <a:avLst/>
          </a:prstGeom>
          <a:noFill/>
        </p:spPr>
        <p:txBody>
          <a:bodyPr wrap="square">
            <a:spAutoFit/>
          </a:bodyPr>
          <a:lstStyle/>
          <a:p>
            <a:pPr algn="l">
              <a:spcBef>
                <a:spcPts val="0"/>
              </a:spcBef>
              <a:spcAft>
                <a:spcPts val="400"/>
              </a:spcAft>
            </a:pPr>
            <a:r>
              <a:rPr sz="1200" b="1">
                <a:solidFill>
                  <a:srgbClr val="FF8C00"/>
                </a:solidFill>
                <a:latin typeface="Microsoft YaHei" panose="020B0503020204020204" charset="-122"/>
                <a:ea typeface="Microsoft YaHei" panose="020B0503020204020204" charset="-122"/>
              </a:rPr>
              <a:t>多人并行不冲突</a:t>
            </a:r>
            <a:endParaRPr sz="1200" b="1">
              <a:solidFill>
                <a:srgbClr val="FF8C00"/>
              </a:solidFill>
              <a:latin typeface="Microsoft YaHei" panose="020B0503020204020204" charset="-122"/>
            </a:endParaRPr>
          </a:p>
          <a:p>
            <a:pPr algn="l">
              <a:spcBef>
                <a:spcPts val="0"/>
              </a:spcBef>
              <a:spcAft>
                <a:spcPts val="0"/>
              </a:spcAft>
            </a:pPr>
            <a:r>
              <a:rPr sz="1200" b="0">
                <a:solidFill>
                  <a:srgbClr val="555555"/>
                </a:solidFill>
                <a:latin typeface="Microsoft YaHei" panose="020B0503020204020204" charset="-122"/>
                <a:ea typeface="Microsoft YaHei" panose="020B0503020204020204" charset="-122"/>
              </a:rPr>
              <a:t>Delta spec 机制让不同变更可以并行推进，各自只描述自己的增量，合并时冲突</a:t>
            </a:r>
            <a:r>
              <a:rPr lang="zh-CN" sz="1200" b="0">
                <a:solidFill>
                  <a:srgbClr val="555555"/>
                </a:solidFill>
                <a:latin typeface="Microsoft YaHei" panose="020B0503020204020204" charset="-122"/>
                <a:ea typeface="Microsoft YaHei" panose="020B0503020204020204" charset="-122"/>
              </a:rPr>
              <a:t>能够被通过检测</a:t>
            </a:r>
            <a:r>
              <a:rPr lang="en-US" altLang="zh-CN" sz="1200" b="0">
                <a:solidFill>
                  <a:srgbClr val="555555"/>
                </a:solidFill>
                <a:latin typeface="Microsoft YaHei" panose="020B0503020204020204" charset="-122"/>
                <a:ea typeface="Microsoft YaHei" panose="020B0503020204020204" charset="-122"/>
              </a:rPr>
              <a:t>Spec</a:t>
            </a:r>
            <a:r>
              <a:rPr lang="zh-CN" altLang="en-US" sz="1200" b="0">
                <a:solidFill>
                  <a:srgbClr val="555555"/>
                </a:solidFill>
                <a:latin typeface="Microsoft YaHei" panose="020B0503020204020204" charset="-122"/>
                <a:ea typeface="Microsoft YaHei" panose="020B0503020204020204" charset="-122"/>
              </a:rPr>
              <a:t>检测</a:t>
            </a:r>
            <a:r>
              <a:rPr lang="zh-CN" altLang="en-US" sz="1200" b="0">
                <a:solidFill>
                  <a:srgbClr val="555555"/>
                </a:solidFill>
                <a:latin typeface="Microsoft YaHei" panose="020B0503020204020204" charset="-122"/>
                <a:ea typeface="Microsoft YaHei" panose="020B0503020204020204" charset="-122"/>
              </a:rPr>
              <a:t>到</a:t>
            </a:r>
            <a:endParaRPr lang="zh-CN" altLang="en-US" sz="1200" b="0">
              <a:solidFill>
                <a:srgbClr val="555555"/>
              </a:solidFill>
              <a:latin typeface="Microsoft YaHei" panose="020B0503020204020204" charset="-122"/>
              <a:ea typeface="Microsoft YaHei" panose="020B0503020204020204" charset="-122"/>
            </a:endParaRPr>
          </a:p>
        </p:txBody>
      </p:sp>
      <p:sp>
        <p:nvSpPr>
          <p:cNvPr id="35" name="Rectangle 34"/>
          <p:cNvSpPr/>
          <p:nvPr/>
        </p:nvSpPr>
        <p:spPr>
          <a:xfrm>
            <a:off x="7424928" y="3456432"/>
            <a:ext cx="54864" cy="114300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36" name="TextBox 35"/>
          <p:cNvSpPr txBox="1"/>
          <p:nvPr/>
        </p:nvSpPr>
        <p:spPr>
          <a:xfrm>
            <a:off x="7562088" y="3456432"/>
            <a:ext cx="2834640" cy="1065530"/>
          </a:xfrm>
          <a:prstGeom prst="rect">
            <a:avLst/>
          </a:prstGeom>
          <a:noFill/>
        </p:spPr>
        <p:txBody>
          <a:bodyPr wrap="square">
            <a:spAutoFit/>
          </a:bodyPr>
          <a:lstStyle/>
          <a:p>
            <a:pPr algn="l">
              <a:spcBef>
                <a:spcPts val="0"/>
              </a:spcBef>
              <a:spcAft>
                <a:spcPts val="400"/>
              </a:spcAft>
            </a:pPr>
            <a:r>
              <a:rPr sz="1200" b="1">
                <a:solidFill>
                  <a:srgbClr val="FF8C00"/>
                </a:solidFill>
                <a:latin typeface="Microsoft YaHei" panose="020B0503020204020204" charset="-122"/>
                <a:ea typeface="Microsoft YaHei" panose="020B0503020204020204" charset="-122"/>
              </a:rPr>
              <a:t>上下文可共享</a:t>
            </a:r>
            <a:endParaRPr sz="1200" b="1">
              <a:solidFill>
                <a:srgbClr val="FF8C00"/>
              </a:solidFill>
              <a:latin typeface="Microsoft YaHei" panose="020B0503020204020204" charset="-122"/>
            </a:endParaRPr>
          </a:p>
          <a:p>
            <a:pPr algn="l">
              <a:spcBef>
                <a:spcPts val="0"/>
              </a:spcBef>
              <a:spcAft>
                <a:spcPts val="0"/>
              </a:spcAft>
            </a:pPr>
            <a:r>
              <a:rPr sz="1200" b="0">
                <a:solidFill>
                  <a:srgbClr val="555555"/>
                </a:solidFill>
                <a:latin typeface="Microsoft YaHei" panose="020B0503020204020204" charset="-122"/>
                <a:ea typeface="Microsoft YaHei" panose="020B0503020204020204" charset="-122"/>
              </a:rPr>
              <a:t>规格文件是团队共享资产，不是某个人的 IDE 聊天记录；任何人</a:t>
            </a:r>
            <a:r>
              <a:rPr lang="zh-CN" sz="1200" b="0">
                <a:solidFill>
                  <a:srgbClr val="555555"/>
                </a:solidFill>
                <a:latin typeface="Microsoft YaHei" panose="020B0503020204020204" charset="-122"/>
                <a:ea typeface="Microsoft YaHei" panose="020B0503020204020204" charset="-122"/>
              </a:rPr>
              <a:t>在使用</a:t>
            </a:r>
            <a:r>
              <a:rPr lang="en-US" altLang="zh-CN" sz="1200" b="0">
                <a:solidFill>
                  <a:srgbClr val="555555"/>
                </a:solidFill>
                <a:latin typeface="Microsoft YaHei" panose="020B0503020204020204" charset="-122"/>
                <a:ea typeface="Microsoft YaHei" panose="020B0503020204020204" charset="-122"/>
              </a:rPr>
              <a:t>Agentic Coding</a:t>
            </a:r>
            <a:r>
              <a:rPr lang="zh-CN" altLang="en-US" sz="1200" b="0">
                <a:solidFill>
                  <a:srgbClr val="555555"/>
                </a:solidFill>
                <a:latin typeface="Microsoft YaHei" panose="020B0503020204020204" charset="-122"/>
                <a:ea typeface="Microsoft YaHei" panose="020B0503020204020204" charset="-122"/>
              </a:rPr>
              <a:t>的时候</a:t>
            </a:r>
            <a:r>
              <a:rPr lang="en-US" altLang="zh-CN" sz="1200" b="0">
                <a:solidFill>
                  <a:srgbClr val="555555"/>
                </a:solidFill>
                <a:latin typeface="Microsoft YaHei" panose="020B0503020204020204" charset="-122"/>
                <a:ea typeface="Microsoft YaHei" panose="020B0503020204020204" charset="-122"/>
              </a:rPr>
              <a:t>Agent</a:t>
            </a:r>
            <a:r>
              <a:rPr sz="1200" b="0">
                <a:solidFill>
                  <a:srgbClr val="555555"/>
                </a:solidFill>
                <a:latin typeface="Microsoft YaHei" panose="020B0503020204020204" charset="-122"/>
                <a:ea typeface="Microsoft YaHei" panose="020B0503020204020204" charset="-122"/>
              </a:rPr>
              <a:t>都能读懂系统全貌</a:t>
            </a:r>
            <a:endParaRPr sz="1200" b="0">
              <a:solidFill>
                <a:srgbClr val="555555"/>
              </a:solidFill>
              <a:latin typeface="Microsoft YaHei" panose="020B0503020204020204" charset="-122"/>
            </a:endParaRPr>
          </a:p>
        </p:txBody>
      </p:sp>
      <p:sp>
        <p:nvSpPr>
          <p:cNvPr id="37" name="Rectangle 36"/>
          <p:cNvSpPr/>
          <p:nvPr/>
        </p:nvSpPr>
        <p:spPr>
          <a:xfrm flipH="1">
            <a:off x="7413625" y="4672330"/>
            <a:ext cx="76200" cy="775970"/>
          </a:xfrm>
          <a:prstGeom prst="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38" name="TextBox 37"/>
          <p:cNvSpPr txBox="1"/>
          <p:nvPr/>
        </p:nvSpPr>
        <p:spPr>
          <a:xfrm>
            <a:off x="7562088" y="4672584"/>
            <a:ext cx="2834640" cy="1065530"/>
          </a:xfrm>
          <a:prstGeom prst="rect">
            <a:avLst/>
          </a:prstGeom>
          <a:noFill/>
        </p:spPr>
        <p:txBody>
          <a:bodyPr wrap="square">
            <a:spAutoFit/>
          </a:bodyPr>
          <a:lstStyle/>
          <a:p>
            <a:pPr algn="l">
              <a:spcBef>
                <a:spcPts val="0"/>
              </a:spcBef>
              <a:spcAft>
                <a:spcPts val="400"/>
              </a:spcAft>
            </a:pPr>
            <a:r>
              <a:rPr sz="1200" b="1">
                <a:solidFill>
                  <a:srgbClr val="FF8C00"/>
                </a:solidFill>
                <a:latin typeface="Microsoft YaHei" panose="020B0503020204020204" charset="-122"/>
                <a:ea typeface="Microsoft YaHei" panose="020B0503020204020204" charset="-122"/>
              </a:rPr>
              <a:t>快速</a:t>
            </a:r>
            <a:r>
              <a:rPr lang="zh-CN" sz="1200" b="1">
                <a:solidFill>
                  <a:srgbClr val="FF8C00"/>
                </a:solidFill>
                <a:latin typeface="Microsoft YaHei" panose="020B0503020204020204" charset="-122"/>
                <a:ea typeface="Microsoft YaHei" panose="020B0503020204020204" charset="-122"/>
              </a:rPr>
              <a:t>上</a:t>
            </a:r>
            <a:r>
              <a:rPr sz="1200" b="1">
                <a:solidFill>
                  <a:srgbClr val="FF8C00"/>
                </a:solidFill>
                <a:latin typeface="Microsoft YaHei" panose="020B0503020204020204" charset="-122"/>
                <a:ea typeface="Microsoft YaHei" panose="020B0503020204020204" charset="-122"/>
              </a:rPr>
              <a:t>手</a:t>
            </a:r>
            <a:endParaRPr sz="1200" b="1">
              <a:solidFill>
                <a:srgbClr val="FF8C00"/>
              </a:solidFill>
              <a:latin typeface="Microsoft YaHei" panose="020B0503020204020204" charset="-122"/>
            </a:endParaRPr>
          </a:p>
          <a:p>
            <a:pPr algn="l">
              <a:spcBef>
                <a:spcPts val="0"/>
              </a:spcBef>
              <a:spcAft>
                <a:spcPts val="0"/>
              </a:spcAft>
            </a:pPr>
            <a:r>
              <a:rPr sz="1200" b="0">
                <a:solidFill>
                  <a:srgbClr val="555555"/>
                </a:solidFill>
                <a:latin typeface="Microsoft YaHei" panose="020B0503020204020204" charset="-122"/>
                <a:ea typeface="Microsoft YaHei" panose="020B0503020204020204" charset="-122"/>
              </a:rPr>
              <a:t>读 specs + design + archived changes 即可</a:t>
            </a:r>
            <a:r>
              <a:rPr lang="zh-CN" sz="1200" b="0">
                <a:solidFill>
                  <a:srgbClr val="555555"/>
                </a:solidFill>
                <a:latin typeface="Microsoft YaHei" panose="020B0503020204020204" charset="-122"/>
                <a:ea typeface="Microsoft YaHei" panose="020B0503020204020204" charset="-122"/>
              </a:rPr>
              <a:t>理解</a:t>
            </a:r>
            <a:r>
              <a:rPr sz="1200" b="0">
                <a:solidFill>
                  <a:srgbClr val="555555"/>
                </a:solidFill>
                <a:latin typeface="Microsoft YaHei" panose="020B0503020204020204" charset="-122"/>
                <a:ea typeface="Microsoft YaHei" panose="020B0503020204020204" charset="-122"/>
              </a:rPr>
              <a:t>系统演化历程</a:t>
            </a:r>
            <a:r>
              <a:rPr lang="zh-CN" sz="1200" b="0">
                <a:solidFill>
                  <a:srgbClr val="555555"/>
                </a:solidFill>
                <a:latin typeface="Microsoft YaHei" panose="020B0503020204020204" charset="-122"/>
                <a:ea typeface="Microsoft YaHei" panose="020B0503020204020204" charset="-122"/>
              </a:rPr>
              <a:t>，没有类似于</a:t>
            </a:r>
            <a:r>
              <a:rPr sz="1200" b="0">
                <a:solidFill>
                  <a:srgbClr val="555555"/>
                </a:solidFill>
                <a:latin typeface="Microsoft YaHei" panose="020B0503020204020204" charset="-122"/>
                <a:ea typeface="Microsoft YaHei" panose="020B0503020204020204" charset="-122"/>
              </a:rPr>
              <a:t>"这段代码</a:t>
            </a:r>
            <a:r>
              <a:rPr lang="en-US" sz="1200" b="0">
                <a:solidFill>
                  <a:srgbClr val="555555"/>
                </a:solidFill>
                <a:latin typeface="Microsoft YaHei" panose="020B0503020204020204" charset="-122"/>
                <a:ea typeface="Microsoft YaHei" panose="020B0503020204020204" charset="-122"/>
              </a:rPr>
              <a:t>Agent</a:t>
            </a:r>
            <a:r>
              <a:rPr lang="zh-CN" altLang="en-US" sz="1200" b="0">
                <a:solidFill>
                  <a:srgbClr val="555555"/>
                </a:solidFill>
                <a:latin typeface="Microsoft YaHei" panose="020B0503020204020204" charset="-122"/>
                <a:ea typeface="Microsoft YaHei" panose="020B0503020204020204" charset="-122"/>
              </a:rPr>
              <a:t>当时</a:t>
            </a:r>
            <a:r>
              <a:rPr sz="1200" b="0">
                <a:solidFill>
                  <a:srgbClr val="555555"/>
                </a:solidFill>
                <a:latin typeface="Microsoft YaHei" panose="020B0503020204020204" charset="-122"/>
                <a:ea typeface="Microsoft YaHei" panose="020B0503020204020204" charset="-122"/>
              </a:rPr>
              <a:t>为什么这样写"</a:t>
            </a:r>
            <a:r>
              <a:rPr lang="zh-CN" sz="1200" b="0">
                <a:solidFill>
                  <a:srgbClr val="555555"/>
                </a:solidFill>
                <a:latin typeface="Microsoft YaHei" panose="020B0503020204020204" charset="-122"/>
                <a:ea typeface="Microsoft YaHei" panose="020B0503020204020204" charset="-122"/>
              </a:rPr>
              <a:t>的</a:t>
            </a:r>
            <a:r>
              <a:rPr lang="zh-CN" sz="1200" b="0">
                <a:solidFill>
                  <a:srgbClr val="555555"/>
                </a:solidFill>
                <a:latin typeface="Microsoft YaHei" panose="020B0503020204020204" charset="-122"/>
                <a:ea typeface="Microsoft YaHei" panose="020B0503020204020204" charset="-122"/>
              </a:rPr>
              <a:t>问题</a:t>
            </a:r>
            <a:endParaRPr lang="zh-CN" sz="1200" b="0">
              <a:solidFill>
                <a:srgbClr val="555555"/>
              </a:solidFill>
              <a:latin typeface="Microsoft YaHei" panose="020B0503020204020204" charset="-122"/>
              <a:ea typeface="Microsoft YaHei" panose="020B0503020204020204" charset="-122"/>
            </a:endParaRPr>
          </a:p>
        </p:txBody>
      </p:sp>
      <p:sp>
        <p:nvSpPr>
          <p:cNvPr id="39" name="Rectangle 38"/>
          <p:cNvSpPr/>
          <p:nvPr/>
        </p:nvSpPr>
        <p:spPr>
          <a:xfrm>
            <a:off x="7498080" y="3383280"/>
            <a:ext cx="2880360" cy="635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40" name="Rectangle 39"/>
          <p:cNvSpPr/>
          <p:nvPr/>
        </p:nvSpPr>
        <p:spPr>
          <a:xfrm>
            <a:off x="7498080" y="4599432"/>
            <a:ext cx="2880360" cy="635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200"/>
          </a:p>
        </p:txBody>
      </p:sp>
      <p:sp>
        <p:nvSpPr>
          <p:cNvPr id="41" name="Rounded Rectangle 40"/>
          <p:cNvSpPr/>
          <p:nvPr/>
        </p:nvSpPr>
        <p:spPr>
          <a:xfrm>
            <a:off x="457200" y="5897880"/>
            <a:ext cx="10241280" cy="502920"/>
          </a:xfrm>
          <a:prstGeom prst="round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7200" y="5989320"/>
            <a:ext cx="10346055" cy="306705"/>
          </a:xfrm>
          <a:prstGeom prst="rect">
            <a:avLst/>
          </a:prstGeom>
          <a:noFill/>
        </p:spPr>
        <p:txBody>
          <a:bodyPr wrap="square">
            <a:spAutoFit/>
          </a:bodyPr>
          <a:lstStyle/>
          <a:p>
            <a:pPr algn="l">
              <a:spcBef>
                <a:spcPts val="0"/>
              </a:spcBef>
              <a:spcAft>
                <a:spcPts val="0"/>
              </a:spcAft>
            </a:pPr>
            <a:r>
              <a:rPr sz="1400" b="1">
                <a:solidFill>
                  <a:srgbClr val="FFCC00"/>
                </a:solidFill>
                <a:latin typeface="Microsoft YaHei" panose="020B0503020204020204" charset="-122"/>
                <a:ea typeface="Microsoft YaHei" panose="020B0503020204020204" charset="-122"/>
              </a:rPr>
              <a:t>一句话总结：</a:t>
            </a:r>
            <a:r>
              <a:rPr sz="1400" b="0">
                <a:solidFill>
                  <a:srgbClr val="FFFFFF"/>
                </a:solidFill>
                <a:latin typeface="Microsoft YaHei" panose="020B0503020204020204" charset="-122"/>
                <a:ea typeface="Microsoft YaHei" panose="020B0503020204020204" charset="-122"/>
              </a:rPr>
              <a:t>OpenSpec 让 </a:t>
            </a:r>
            <a:r>
              <a:rPr lang="en-US" sz="1400" b="0">
                <a:solidFill>
                  <a:srgbClr val="FFFFFF"/>
                </a:solidFill>
                <a:latin typeface="Microsoft YaHei" panose="020B0503020204020204" charset="-122"/>
                <a:ea typeface="Microsoft YaHei" panose="020B0503020204020204" charset="-122"/>
              </a:rPr>
              <a:t>Agentic Coding </a:t>
            </a:r>
            <a:r>
              <a:rPr sz="1400" b="0">
                <a:solidFill>
                  <a:srgbClr val="FFFFFF"/>
                </a:solidFill>
                <a:latin typeface="Microsoft YaHei" panose="020B0503020204020204" charset="-122"/>
                <a:ea typeface="Microsoft YaHei" panose="020B0503020204020204" charset="-122"/>
              </a:rPr>
              <a:t>从</a:t>
            </a:r>
            <a:r>
              <a:rPr lang="en-US" sz="1400" b="0">
                <a:solidFill>
                  <a:srgbClr val="FFFFFF"/>
                </a:solidFill>
                <a:latin typeface="Microsoft YaHei" panose="020B0503020204020204" charset="-122"/>
                <a:ea typeface="Microsoft YaHei" panose="020B0503020204020204" charset="-122"/>
              </a:rPr>
              <a:t>vibe coding</a:t>
            </a:r>
            <a:r>
              <a:rPr sz="1400" b="0">
                <a:solidFill>
                  <a:srgbClr val="FFFFFF"/>
                </a:solidFill>
                <a:latin typeface="Microsoft YaHei" panose="020B0503020204020204" charset="-122"/>
                <a:ea typeface="Microsoft YaHei" panose="020B0503020204020204" charset="-122"/>
              </a:rPr>
              <a:t>变成</a:t>
            </a:r>
            <a:r>
              <a:rPr lang="en-US" sz="1400" b="0">
                <a:solidFill>
                  <a:srgbClr val="FFFFFF"/>
                </a:solidFill>
                <a:latin typeface="Microsoft YaHei" panose="020B0503020204020204" charset="-122"/>
                <a:ea typeface="Microsoft YaHei" panose="020B0503020204020204" charset="-122"/>
              </a:rPr>
              <a:t> spec driven development, </a:t>
            </a:r>
            <a:r>
              <a:rPr lang="zh-CN" altLang="en-US" sz="1400" b="0">
                <a:solidFill>
                  <a:srgbClr val="FFFFFF"/>
                </a:solidFill>
                <a:latin typeface="Microsoft YaHei" panose="020B0503020204020204" charset="-122"/>
                <a:ea typeface="Microsoft YaHei" panose="020B0503020204020204" charset="-122"/>
              </a:rPr>
              <a:t>增强了</a:t>
            </a:r>
            <a:r>
              <a:rPr lang="en-US" altLang="zh-CN" sz="1400" b="0">
                <a:solidFill>
                  <a:srgbClr val="FFFFFF"/>
                </a:solidFill>
                <a:latin typeface="Microsoft YaHei" panose="020B0503020204020204" charset="-122"/>
                <a:ea typeface="Microsoft YaHei" panose="020B0503020204020204" charset="-122"/>
              </a:rPr>
              <a:t>code</a:t>
            </a:r>
            <a:r>
              <a:rPr lang="zh-CN" altLang="en-US" sz="1400" b="0">
                <a:solidFill>
                  <a:srgbClr val="FFFFFF"/>
                </a:solidFill>
                <a:latin typeface="Microsoft YaHei" panose="020B0503020204020204" charset="-122"/>
                <a:ea typeface="Microsoft YaHei" panose="020B0503020204020204" charset="-122"/>
              </a:rPr>
              <a:t>规范程度和</a:t>
            </a:r>
            <a:r>
              <a:rPr lang="zh-CN" altLang="en-US" sz="1400" b="0">
                <a:solidFill>
                  <a:srgbClr val="FFFFFF"/>
                </a:solidFill>
                <a:latin typeface="Microsoft YaHei" panose="020B0503020204020204" charset="-122"/>
                <a:ea typeface="Microsoft YaHei" panose="020B0503020204020204" charset="-122"/>
              </a:rPr>
              <a:t>可追溯性</a:t>
            </a:r>
            <a:endParaRPr lang="zh-CN" altLang="en-US" sz="1400" b="0">
              <a:solidFill>
                <a:srgbClr val="FFFFFF"/>
              </a:solidFill>
              <a:latin typeface="Microsoft YaHei" panose="020B0503020204020204" charset="-122"/>
              <a:ea typeface="Microsoft YaHei" panose="020B0503020204020204" charset="-122"/>
            </a:endParaRPr>
          </a:p>
        </p:txBody>
      </p:sp>
      <p:sp>
        <p:nvSpPr>
          <p:cNvPr id="43" name="TextBox 42"/>
          <p:cNvSpPr txBox="1"/>
          <p:nvPr/>
        </p:nvSpPr>
        <p:spPr>
          <a:xfrm>
            <a:off x="11094085" y="6400800"/>
            <a:ext cx="914400" cy="365760"/>
          </a:xfrm>
          <a:prstGeom prst="rect">
            <a:avLst/>
          </a:prstGeom>
          <a:noFill/>
        </p:spPr>
        <p:txBody>
          <a:bodyPr wrap="square">
            <a:spAutoFit/>
          </a:bodyPr>
          <a:lstStyle/>
          <a:p>
            <a:pPr algn="r"/>
            <a:r>
              <a:rPr sz="1000" b="0">
                <a:solidFill>
                  <a:srgbClr val="999999"/>
                </a:solidFill>
                <a:latin typeface="Microsoft YaHei" panose="020B0503020204020204" charset="-122"/>
                <a:ea typeface="Microsoft YaHei" panose="020B0503020204020204" charset="-122"/>
              </a:rPr>
              <a:t>15/41</a:t>
            </a:r>
            <a:endParaRPr sz="1000" b="0">
              <a:solidFill>
                <a:srgbClr val="999999"/>
              </a:solidFill>
              <a:latin typeface="Microsoft YaHei" panose="020B0503020204020204" charset="-122"/>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92405"/>
            <a:ext cx="11200000" cy="398780"/>
          </a:xfrm>
          <a:prstGeom prst="rect">
            <a:avLst/>
          </a:prstGeom>
          <a:noFill/>
        </p:spPr>
        <p:txBody>
          <a:bodyPr wrap="square">
            <a:spAutoFit/>
          </a:bodyPr>
          <a:lstStyle/>
          <a:p>
            <a:pPr algn="l"/>
            <a:r>
              <a:rPr lang="zh-CN" sz="2000" b="1">
                <a:solidFill>
                  <a:srgbClr val="1A1A2E"/>
                </a:solidFill>
                <a:latin typeface="Microsoft YaHei" panose="020B0503020204020204" charset="-122"/>
                <a:ea typeface="Microsoft YaHei" panose="020B0503020204020204" charset="-122"/>
              </a:rPr>
              <a:t>外部</a:t>
            </a:r>
            <a:r>
              <a:rPr sz="2000" b="1">
                <a:solidFill>
                  <a:srgbClr val="1A1A2E"/>
                </a:solidFill>
                <a:latin typeface="Microsoft YaHei" panose="020B0503020204020204" charset="-122"/>
                <a:ea typeface="Microsoft YaHei" panose="020B0503020204020204" charset="-122"/>
              </a:rPr>
              <a:t>竞品分析：各厂的 Spec-Driven 产品布局</a:t>
            </a:r>
            <a:endParaRPr sz="2000" b="1">
              <a:solidFill>
                <a:srgbClr val="1A1A2E"/>
              </a:solidFill>
            </a:endParaRPr>
          </a:p>
        </p:txBody>
      </p:sp>
      <p:sp>
        <p:nvSpPr>
          <p:cNvPr id="4" name="Rectangle 3"/>
          <p:cNvSpPr/>
          <p:nvPr/>
        </p:nvSpPr>
        <p:spPr>
          <a:xfrm>
            <a:off x="457200" y="594360"/>
            <a:ext cx="1097280" cy="457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0080"/>
            <a:ext cx="11200000" cy="260350"/>
          </a:xfrm>
          <a:prstGeom prst="rect">
            <a:avLst/>
          </a:prstGeom>
          <a:noFill/>
        </p:spPr>
        <p:txBody>
          <a:bodyPr wrap="square">
            <a:spAutoFit/>
          </a:bodyPr>
          <a:lstStyle/>
          <a:p>
            <a:pPr algn="l"/>
            <a:r>
              <a:rPr sz="1100">
                <a:solidFill>
                  <a:srgbClr val="555555"/>
                </a:solidFill>
                <a:latin typeface="Microsoft YaHei" panose="020B0503020204020204" charset="-122"/>
                <a:ea typeface="Microsoft YaHei" panose="020B0503020204020204" charset="-122"/>
              </a:rPr>
              <a:t>这个方向不只我们在看——2025年下半年起，7 家公司发布规格驱动类 AI 编程产品，说明方向正确但竞争加剧</a:t>
            </a:r>
            <a:endParaRPr sz="1100" b="0">
              <a:solidFill>
                <a:srgbClr val="C0392B"/>
              </a:solidFill>
            </a:endParaRPr>
          </a:p>
        </p:txBody>
      </p:sp>
      <p:graphicFrame>
        <p:nvGraphicFramePr>
          <p:cNvPr id="6" name="Table 5"/>
          <p:cNvGraphicFramePr>
            <a:graphicFrameLocks noGrp="1"/>
          </p:cNvGraphicFramePr>
          <p:nvPr/>
        </p:nvGraphicFramePr>
        <p:xfrm>
          <a:off x="274320" y="998220"/>
          <a:ext cx="11643995" cy="4176395"/>
        </p:xfrm>
        <a:graphic>
          <a:graphicData uri="http://schemas.openxmlformats.org/drawingml/2006/table">
            <a:tbl>
              <a:tblPr firstRow="1" bandRow="1">
                <a:tableStyleId>{5C22544A-7EE6-4342-B048-85BDC9FD1C3A}</a:tableStyleId>
              </a:tblPr>
              <a:tblGrid>
                <a:gridCol w="2117090"/>
                <a:gridCol w="3175635"/>
                <a:gridCol w="4763770"/>
                <a:gridCol w="1587500"/>
              </a:tblGrid>
              <a:tr h="335915">
                <a:tc>
                  <a:txBody>
                    <a:bodyPr/>
                    <a:lstStyle/>
                    <a:p>
                      <a:pPr algn="ctr"/>
                      <a:r>
                        <a:rPr sz="900" b="1">
                          <a:solidFill>
                            <a:srgbClr val="FFFFFF"/>
                          </a:solidFill>
                        </a:rPr>
                        <a:t>公司</a:t>
                      </a:r>
                      <a:endParaRPr sz="900" b="1">
                        <a:solidFill>
                          <a:srgbClr val="FFFFFF"/>
                        </a:solidFill>
                      </a:endParaRPr>
                    </a:p>
                  </a:txBody>
                  <a:tcPr>
                    <a:solidFill>
                      <a:srgbClr val="2C3E50"/>
                    </a:solidFill>
                  </a:tcPr>
                </a:tc>
                <a:tc>
                  <a:txBody>
                    <a:bodyPr/>
                    <a:lstStyle/>
                    <a:p>
                      <a:pPr algn="ctr"/>
                      <a:r>
                        <a:rPr sz="900" b="1">
                          <a:solidFill>
                            <a:srgbClr val="FFFFFF"/>
                          </a:solidFill>
                        </a:rPr>
                        <a:t>产品</a:t>
                      </a:r>
                      <a:endParaRPr sz="900" b="1">
                        <a:solidFill>
                          <a:srgbClr val="FFFFFF"/>
                        </a:solidFill>
                      </a:endParaRPr>
                    </a:p>
                  </a:txBody>
                  <a:tcPr>
                    <a:solidFill>
                      <a:srgbClr val="2C3E50"/>
                    </a:solidFill>
                  </a:tcPr>
                </a:tc>
                <a:tc>
                  <a:txBody>
                    <a:bodyPr/>
                    <a:lstStyle/>
                    <a:p>
                      <a:pPr algn="ctr"/>
                      <a:r>
                        <a:rPr sz="900" b="1">
                          <a:solidFill>
                            <a:srgbClr val="FFFFFF"/>
                          </a:solidFill>
                        </a:rPr>
                        <a:t>规格/需求治理核心能力</a:t>
                      </a:r>
                      <a:endParaRPr sz="900" b="1">
                        <a:solidFill>
                          <a:srgbClr val="FFFFFF"/>
                        </a:solidFill>
                      </a:endParaRPr>
                    </a:p>
                  </a:txBody>
                  <a:tcPr>
                    <a:solidFill>
                      <a:srgbClr val="2C3E50"/>
                    </a:solidFill>
                  </a:tcPr>
                </a:tc>
                <a:tc>
                  <a:txBody>
                    <a:bodyPr/>
                    <a:lstStyle/>
                    <a:p>
                      <a:pPr algn="ctr"/>
                      <a:r>
                        <a:rPr sz="900" b="1">
                          <a:solidFill>
                            <a:srgbClr val="FFFFFF"/>
                          </a:solidFill>
                        </a:rPr>
                        <a:t>发布时间</a:t>
                      </a:r>
                      <a:endParaRPr sz="900" b="1">
                        <a:solidFill>
                          <a:srgbClr val="FFFFFF"/>
                        </a:solidFill>
                      </a:endParaRPr>
                    </a:p>
                  </a:txBody>
                  <a:tcPr>
                    <a:solidFill>
                      <a:srgbClr val="2C3E50"/>
                    </a:solidFill>
                  </a:tcPr>
                </a:tc>
              </a:tr>
              <a:tr h="548640">
                <a:tc>
                  <a:txBody>
                    <a:bodyPr/>
                    <a:lstStyle/>
                    <a:p>
                      <a:pPr algn="ctr"/>
                      <a:r>
                        <a:rPr sz="1200" b="1">
                          <a:solidFill>
                            <a:srgbClr val="2C2C2C"/>
                          </a:solidFill>
                        </a:rPr>
                        <a:t>Amazon (AWS)</a:t>
                      </a:r>
                      <a:endParaRPr sz="1200" b="1">
                        <a:solidFill>
                          <a:srgbClr val="2C2C2C"/>
                        </a:solidFill>
                      </a:endParaRPr>
                    </a:p>
                  </a:txBody>
                  <a:tcPr>
                    <a:solidFill>
                      <a:srgbClr val="FDEDED"/>
                    </a:solidFill>
                  </a:tcPr>
                </a:tc>
                <a:tc>
                  <a:txBody>
                    <a:bodyPr/>
                    <a:lstStyle/>
                    <a:p>
                      <a:pPr algn="ctr"/>
                      <a:r>
                        <a:rPr sz="1200">
                          <a:solidFill>
                            <a:srgbClr val="2C2C2C"/>
                          </a:solidFill>
                        </a:rPr>
                        <a:t>Kiro IDE</a:t>
                      </a:r>
                      <a:endParaRPr sz="1200">
                        <a:solidFill>
                          <a:srgbClr val="2C2C2C"/>
                        </a:solidFill>
                      </a:endParaRPr>
                    </a:p>
                  </a:txBody>
                  <a:tcPr>
                    <a:solidFill>
                      <a:srgbClr val="FDEDED"/>
                    </a:solidFill>
                  </a:tcPr>
                </a:tc>
                <a:tc>
                  <a:txBody>
                    <a:bodyPr/>
                    <a:lstStyle/>
                    <a:p>
                      <a:pPr algn="l"/>
                      <a:r>
                        <a:rPr sz="1200">
                          <a:solidFill>
                            <a:srgbClr val="2C2C2C"/>
                          </a:solidFill>
                        </a:rPr>
                        <a:t>3阶段 Spec工作流（EARS语法）</a:t>
                      </a:r>
                      <a:endParaRPr sz="1200">
                        <a:solidFill>
                          <a:srgbClr val="2C2C2C"/>
                        </a:solidFill>
                      </a:endParaRPr>
                    </a:p>
                    <a:p>
                      <a:pPr algn="l"/>
                      <a:r>
                        <a:rPr sz="1200">
                          <a:solidFill>
                            <a:srgbClr val="2C2C2C"/>
                          </a:solidFill>
                        </a:rPr>
                        <a:t>requirements → design → tasks</a:t>
                      </a:r>
                      <a:endParaRPr sz="1200">
                        <a:solidFill>
                          <a:srgbClr val="2C2C2C"/>
                        </a:solidFill>
                      </a:endParaRPr>
                    </a:p>
                    <a:p>
                      <a:pPr algn="l"/>
                      <a:r>
                        <a:rPr sz="1200">
                          <a:solidFill>
                            <a:srgbClr val="2C2C2C"/>
                          </a:solidFill>
                        </a:rPr>
                        <a:t>已 GA，有自治 Agent + 属性测试</a:t>
                      </a:r>
                      <a:endParaRPr sz="1200">
                        <a:solidFill>
                          <a:srgbClr val="2C2C2C"/>
                        </a:solidFill>
                      </a:endParaRPr>
                    </a:p>
                  </a:txBody>
                  <a:tcPr>
                    <a:solidFill>
                      <a:srgbClr val="FDEDED"/>
                    </a:solidFill>
                  </a:tcPr>
                </a:tc>
                <a:tc>
                  <a:txBody>
                    <a:bodyPr/>
                    <a:lstStyle/>
                    <a:p>
                      <a:pPr algn="ctr"/>
                      <a:r>
                        <a:rPr sz="1200">
                          <a:solidFill>
                            <a:srgbClr val="2C2C2C"/>
                          </a:solidFill>
                        </a:rPr>
                        <a:t>2025.7</a:t>
                      </a:r>
                      <a:endParaRPr sz="1200">
                        <a:solidFill>
                          <a:srgbClr val="2C2C2C"/>
                        </a:solidFill>
                      </a:endParaRPr>
                    </a:p>
                    <a:p>
                      <a:pPr algn="ctr"/>
                      <a:r>
                        <a:rPr sz="1200">
                          <a:solidFill>
                            <a:srgbClr val="2C2C2C"/>
                          </a:solidFill>
                        </a:rPr>
                        <a:t>GA 11月</a:t>
                      </a:r>
                      <a:endParaRPr sz="1200">
                        <a:solidFill>
                          <a:srgbClr val="2C2C2C"/>
                        </a:solidFill>
                      </a:endParaRPr>
                    </a:p>
                  </a:txBody>
                  <a:tcPr>
                    <a:solidFill>
                      <a:srgbClr val="FDEDED"/>
                    </a:solidFill>
                  </a:tcPr>
                </a:tc>
              </a:tr>
              <a:tr h="548640">
                <a:tc>
                  <a:txBody>
                    <a:bodyPr/>
                    <a:lstStyle/>
                    <a:p>
                      <a:pPr algn="ctr"/>
                      <a:r>
                        <a:rPr sz="1200" b="1">
                          <a:solidFill>
                            <a:srgbClr val="2C2C2C"/>
                          </a:solidFill>
                        </a:rPr>
                        <a:t>GitHub</a:t>
                      </a:r>
                      <a:endParaRPr sz="1200" b="1">
                        <a:solidFill>
                          <a:srgbClr val="2C2C2C"/>
                        </a:solidFill>
                      </a:endParaRPr>
                    </a:p>
                  </a:txBody>
                  <a:tcPr>
                    <a:solidFill>
                      <a:srgbClr val="FDEDED"/>
                    </a:solidFill>
                  </a:tcPr>
                </a:tc>
                <a:tc>
                  <a:txBody>
                    <a:bodyPr/>
                    <a:lstStyle/>
                    <a:p>
                      <a:pPr algn="ctr"/>
                      <a:r>
                        <a:rPr sz="1200">
                          <a:solidFill>
                            <a:srgbClr val="2C2C2C"/>
                          </a:solidFill>
                        </a:rPr>
                        <a:t>Spec Kit</a:t>
                      </a:r>
                      <a:endParaRPr sz="1200">
                        <a:solidFill>
                          <a:srgbClr val="2C2C2C"/>
                        </a:solidFill>
                      </a:endParaRPr>
                    </a:p>
                  </a:txBody>
                  <a:tcPr>
                    <a:solidFill>
                      <a:srgbClr val="FDEDED"/>
                    </a:solidFill>
                  </a:tcPr>
                </a:tc>
                <a:tc>
                  <a:txBody>
                    <a:bodyPr/>
                    <a:lstStyle/>
                    <a:p>
                      <a:pPr algn="l"/>
                      <a:r>
                        <a:rPr sz="1200">
                          <a:solidFill>
                            <a:srgbClr val="2C2C2C"/>
                          </a:solidFill>
                        </a:rPr>
                        <a:t>开源 SDD 工具包（39.3k stars）</a:t>
                      </a:r>
                      <a:endParaRPr sz="1200">
                        <a:solidFill>
                          <a:srgbClr val="2C2C2C"/>
                        </a:solidFill>
                      </a:endParaRPr>
                    </a:p>
                    <a:p>
                      <a:pPr algn="l"/>
                      <a:r>
                        <a:rPr sz="1200">
                          <a:solidFill>
                            <a:srgbClr val="2C2C2C"/>
                          </a:solidFill>
                        </a:rPr>
                        <a:t>Constitution → Specify → Plan → Tasks</a:t>
                      </a:r>
                      <a:endParaRPr sz="1200">
                        <a:solidFill>
                          <a:srgbClr val="2C2C2C"/>
                        </a:solidFill>
                      </a:endParaRPr>
                    </a:p>
                    <a:p>
                      <a:pPr algn="l"/>
                      <a:r>
                        <a:rPr sz="1200">
                          <a:solidFill>
                            <a:srgbClr val="2C2C2C"/>
                          </a:solidFill>
                        </a:rPr>
                        <a:t>支持 17+ AI Agent，工具无关</a:t>
                      </a:r>
                      <a:endParaRPr sz="1200">
                        <a:solidFill>
                          <a:srgbClr val="2C2C2C"/>
                        </a:solidFill>
                      </a:endParaRPr>
                    </a:p>
                  </a:txBody>
                  <a:tcPr>
                    <a:solidFill>
                      <a:srgbClr val="FDEDED"/>
                    </a:solidFill>
                  </a:tcPr>
                </a:tc>
                <a:tc>
                  <a:txBody>
                    <a:bodyPr/>
                    <a:lstStyle/>
                    <a:p>
                      <a:pPr algn="ctr"/>
                      <a:r>
                        <a:rPr sz="1200">
                          <a:solidFill>
                            <a:srgbClr val="2C2C2C"/>
                          </a:solidFill>
                        </a:rPr>
                        <a:t>2025.9</a:t>
                      </a:r>
                      <a:endParaRPr sz="1200">
                        <a:solidFill>
                          <a:srgbClr val="2C2C2C"/>
                        </a:solidFill>
                      </a:endParaRPr>
                    </a:p>
                  </a:txBody>
                  <a:tcPr>
                    <a:solidFill>
                      <a:srgbClr val="FDEDED"/>
                    </a:solidFill>
                  </a:tcPr>
                </a:tc>
              </a:tr>
              <a:tr h="548640">
                <a:tc>
                  <a:txBody>
                    <a:bodyPr/>
                    <a:lstStyle/>
                    <a:p>
                      <a:pPr algn="ctr"/>
                      <a:r>
                        <a:rPr sz="1200" b="1">
                          <a:solidFill>
                            <a:srgbClr val="2C2C2C"/>
                          </a:solidFill>
                        </a:rPr>
                        <a:t>阿里</a:t>
                      </a:r>
                      <a:endParaRPr sz="1200" b="1">
                        <a:solidFill>
                          <a:srgbClr val="2C2C2C"/>
                        </a:solidFill>
                      </a:endParaRPr>
                    </a:p>
                  </a:txBody>
                  <a:tcPr>
                    <a:solidFill>
                      <a:srgbClr val="E8F0FE"/>
                    </a:solidFill>
                  </a:tcPr>
                </a:tc>
                <a:tc>
                  <a:txBody>
                    <a:bodyPr/>
                    <a:lstStyle/>
                    <a:p>
                      <a:pPr algn="ctr"/>
                      <a:r>
                        <a:rPr sz="1200">
                          <a:solidFill>
                            <a:srgbClr val="2C2C2C"/>
                          </a:solidFill>
                        </a:rPr>
                        <a:t>Qoder</a:t>
                      </a:r>
                      <a:endParaRPr sz="1200">
                        <a:solidFill>
                          <a:srgbClr val="2C2C2C"/>
                        </a:solidFill>
                      </a:endParaRPr>
                    </a:p>
                    <a:p>
                      <a:pPr algn="ctr"/>
                      <a:r>
                        <a:rPr sz="1200">
                          <a:solidFill>
                            <a:srgbClr val="2C2C2C"/>
                          </a:solidFill>
                        </a:rPr>
                        <a:t>(Quest Mode)</a:t>
                      </a:r>
                      <a:endParaRPr sz="1200">
                        <a:solidFill>
                          <a:srgbClr val="2C2C2C"/>
                        </a:solidFill>
                      </a:endParaRPr>
                    </a:p>
                  </a:txBody>
                  <a:tcPr>
                    <a:solidFill>
                      <a:srgbClr val="E8F0FE"/>
                    </a:solidFill>
                  </a:tcPr>
                </a:tc>
                <a:tc>
                  <a:txBody>
                    <a:bodyPr/>
                    <a:lstStyle/>
                    <a:p>
                      <a:pPr algn="l"/>
                      <a:r>
                        <a:rPr sz="1200">
                          <a:solidFill>
                            <a:srgbClr val="2C2C2C"/>
                          </a:solidFill>
                        </a:rPr>
                        <a:t>显式要求写 spec 再执行</a:t>
                      </a:r>
                      <a:endParaRPr sz="1200">
                        <a:solidFill>
                          <a:srgbClr val="2C2C2C"/>
                        </a:solidFill>
                      </a:endParaRPr>
                    </a:p>
                    <a:p>
                      <a:pPr algn="l"/>
                      <a:r>
                        <a:rPr sz="1200">
                          <a:solidFill>
                            <a:srgbClr val="2C2C2C"/>
                          </a:solidFill>
                        </a:rPr>
                        <a:t>Quest 1.0 自进化 Agent</a:t>
                      </a:r>
                      <a:endParaRPr sz="1200">
                        <a:solidFill>
                          <a:srgbClr val="2C2C2C"/>
                        </a:solidFill>
                      </a:endParaRPr>
                    </a:p>
                    <a:p>
                      <a:pPr algn="l"/>
                      <a:r>
                        <a:rPr sz="1200">
                          <a:solidFill>
                            <a:srgbClr val="2C2C2C"/>
                          </a:solidFill>
                        </a:rPr>
                        <a:t>可检索 10万+ 代码文件</a:t>
                      </a:r>
                      <a:endParaRPr sz="1200">
                        <a:solidFill>
                          <a:srgbClr val="2C2C2C"/>
                        </a:solidFill>
                      </a:endParaRPr>
                    </a:p>
                  </a:txBody>
                  <a:tcPr>
                    <a:solidFill>
                      <a:srgbClr val="E8F0FE"/>
                    </a:solidFill>
                  </a:tcPr>
                </a:tc>
                <a:tc>
                  <a:txBody>
                    <a:bodyPr/>
                    <a:lstStyle/>
                    <a:p>
                      <a:pPr algn="ctr"/>
                      <a:r>
                        <a:rPr sz="1200">
                          <a:solidFill>
                            <a:srgbClr val="2C2C2C"/>
                          </a:solidFill>
                        </a:rPr>
                        <a:t>2025.8</a:t>
                      </a:r>
                      <a:endParaRPr sz="1200">
                        <a:solidFill>
                          <a:srgbClr val="2C2C2C"/>
                        </a:solidFill>
                      </a:endParaRPr>
                    </a:p>
                    <a:p>
                      <a:pPr algn="ctr"/>
                      <a:r>
                        <a:rPr sz="1200">
                          <a:solidFill>
                            <a:srgbClr val="2C2C2C"/>
                          </a:solidFill>
                        </a:rPr>
                        <a:t>Quest 1月26年</a:t>
                      </a:r>
                      <a:endParaRPr sz="1200">
                        <a:solidFill>
                          <a:srgbClr val="2C2C2C"/>
                        </a:solidFill>
                      </a:endParaRPr>
                    </a:p>
                  </a:txBody>
                  <a:tcPr>
                    <a:solidFill>
                      <a:srgbClr val="E8F0FE"/>
                    </a:solidFill>
                  </a:tcPr>
                </a:tc>
              </a:tr>
              <a:tr h="548640">
                <a:tc>
                  <a:txBody>
                    <a:bodyPr/>
                    <a:lstStyle/>
                    <a:p>
                      <a:pPr algn="ctr"/>
                      <a:r>
                        <a:rPr sz="1200" b="1">
                          <a:solidFill>
                            <a:srgbClr val="2C2C2C"/>
                          </a:solidFill>
                        </a:rPr>
                        <a:t>腾讯</a:t>
                      </a:r>
                      <a:endParaRPr sz="1200" b="1">
                        <a:solidFill>
                          <a:srgbClr val="2C2C2C"/>
                        </a:solidFill>
                      </a:endParaRPr>
                    </a:p>
                  </a:txBody>
                  <a:tcPr>
                    <a:solidFill>
                      <a:srgbClr val="E8F0FE"/>
                    </a:solidFill>
                  </a:tcPr>
                </a:tc>
                <a:tc>
                  <a:txBody>
                    <a:bodyPr/>
                    <a:lstStyle/>
                    <a:p>
                      <a:pPr algn="ctr"/>
                      <a:r>
                        <a:rPr sz="1200">
                          <a:solidFill>
                            <a:srgbClr val="2C2C2C"/>
                          </a:solidFill>
                        </a:rPr>
                        <a:t>CodeBuddy IDE</a:t>
                      </a:r>
                      <a:endParaRPr sz="1200">
                        <a:solidFill>
                          <a:srgbClr val="2C2C2C"/>
                        </a:solidFill>
                      </a:endParaRPr>
                    </a:p>
                  </a:txBody>
                  <a:tcPr>
                    <a:solidFill>
                      <a:srgbClr val="E8F0FE"/>
                    </a:solidFill>
                  </a:tcPr>
                </a:tc>
                <a:tc>
                  <a:txBody>
                    <a:bodyPr/>
                    <a:lstStyle/>
                    <a:p>
                      <a:pPr algn="l"/>
                      <a:r>
                        <a:rPr sz="1200">
                          <a:solidFill>
                            <a:srgbClr val="2C2C2C"/>
                          </a:solidFill>
                        </a:rPr>
                        <a:t>自动生成 PRD/TRD/DRD 文档</a:t>
                      </a:r>
                      <a:endParaRPr sz="1200">
                        <a:solidFill>
                          <a:srgbClr val="2C2C2C"/>
                        </a:solidFill>
                      </a:endParaRPr>
                    </a:p>
                    <a:p>
                      <a:pPr algn="l"/>
                      <a:r>
                        <a:rPr sz="1200">
                          <a:solidFill>
                            <a:srgbClr val="2C2C2C"/>
                          </a:solidFill>
                        </a:rPr>
                        <a:t>Figma 设计稿 → 前后端代码</a:t>
                      </a:r>
                      <a:endParaRPr sz="1200">
                        <a:solidFill>
                          <a:srgbClr val="2C2C2C"/>
                        </a:solidFill>
                      </a:endParaRPr>
                    </a:p>
                    <a:p>
                      <a:pPr algn="l"/>
                      <a:r>
                        <a:rPr sz="1200">
                          <a:solidFill>
                            <a:srgbClr val="2C2C2C"/>
                          </a:solidFill>
                        </a:rPr>
                        <a:t>ADP 3.0 合规监控 + 风控</a:t>
                      </a:r>
                      <a:endParaRPr sz="1200">
                        <a:solidFill>
                          <a:srgbClr val="2C2C2C"/>
                        </a:solidFill>
                      </a:endParaRPr>
                    </a:p>
                  </a:txBody>
                  <a:tcPr>
                    <a:solidFill>
                      <a:srgbClr val="E8F0FE"/>
                    </a:solidFill>
                  </a:tcPr>
                </a:tc>
                <a:tc>
                  <a:txBody>
                    <a:bodyPr/>
                    <a:lstStyle/>
                    <a:p>
                      <a:pPr algn="ctr"/>
                      <a:r>
                        <a:rPr sz="1200">
                          <a:solidFill>
                            <a:srgbClr val="2C2C2C"/>
                          </a:solidFill>
                        </a:rPr>
                        <a:t>2025.7</a:t>
                      </a:r>
                      <a:endParaRPr sz="1200">
                        <a:solidFill>
                          <a:srgbClr val="2C2C2C"/>
                        </a:solidFill>
                      </a:endParaRPr>
                    </a:p>
                  </a:txBody>
                  <a:tcPr>
                    <a:solidFill>
                      <a:srgbClr val="E8F0FE"/>
                    </a:solidFill>
                  </a:tcPr>
                </a:tc>
              </a:tr>
              <a:tr h="548640">
                <a:tc>
                  <a:txBody>
                    <a:bodyPr/>
                    <a:lstStyle/>
                    <a:p>
                      <a:pPr algn="ctr"/>
                      <a:r>
                        <a:rPr sz="1200" b="1">
                          <a:solidFill>
                            <a:srgbClr val="2C2C2C"/>
                          </a:solidFill>
                        </a:rPr>
                        <a:t>字节跳动</a:t>
                      </a:r>
                      <a:endParaRPr sz="1200" b="1">
                        <a:solidFill>
                          <a:srgbClr val="2C2C2C"/>
                        </a:solidFill>
                      </a:endParaRPr>
                    </a:p>
                  </a:txBody>
                  <a:tcPr>
                    <a:solidFill>
                      <a:srgbClr val="E8F0FE"/>
                    </a:solidFill>
                  </a:tcPr>
                </a:tc>
                <a:tc>
                  <a:txBody>
                    <a:bodyPr/>
                    <a:lstStyle/>
                    <a:p>
                      <a:pPr algn="ctr"/>
                      <a:r>
                        <a:rPr sz="1200">
                          <a:solidFill>
                            <a:srgbClr val="2C2C2C"/>
                          </a:solidFill>
                        </a:rPr>
                        <a:t>Trae SOLO</a:t>
                      </a:r>
                      <a:endParaRPr sz="1200">
                        <a:solidFill>
                          <a:srgbClr val="2C2C2C"/>
                        </a:solidFill>
                      </a:endParaRPr>
                    </a:p>
                  </a:txBody>
                  <a:tcPr>
                    <a:solidFill>
                      <a:srgbClr val="E8F0FE"/>
                    </a:solidFill>
                  </a:tcPr>
                </a:tc>
                <a:tc>
                  <a:txBody>
                    <a:bodyPr/>
                    <a:lstStyle/>
                    <a:p>
                      <a:pPr algn="l"/>
                      <a:r>
                        <a:rPr sz="1200">
                          <a:solidFill>
                            <a:srgbClr val="2C2C2C"/>
                          </a:solidFill>
                        </a:rPr>
                        <a:t>需求 → PRD → 代码 → 部署全链路</a:t>
                      </a:r>
                      <a:endParaRPr sz="1200">
                        <a:solidFill>
                          <a:srgbClr val="2C2C2C"/>
                        </a:solidFill>
                      </a:endParaRPr>
                    </a:p>
                    <a:p>
                      <a:pPr algn="l"/>
                      <a:r>
                        <a:rPr sz="1200">
                          <a:solidFill>
                            <a:srgbClr val="2C2C2C"/>
                          </a:solidFill>
                        </a:rPr>
                        <a:t>92% 用户满意度，98% 中文解析</a:t>
                      </a:r>
                      <a:endParaRPr sz="1200">
                        <a:solidFill>
                          <a:srgbClr val="2C2C2C"/>
                        </a:solidFill>
                      </a:endParaRPr>
                    </a:p>
                    <a:p>
                      <a:pPr algn="l"/>
                      <a:r>
                        <a:rPr sz="1200">
                          <a:solidFill>
                            <a:srgbClr val="2C2C2C"/>
                          </a:solidFill>
                        </a:rPr>
                        <a:t>预测 2026年 85% 工具将具备此能力</a:t>
                      </a:r>
                      <a:endParaRPr sz="1200">
                        <a:solidFill>
                          <a:srgbClr val="2C2C2C"/>
                        </a:solidFill>
                      </a:endParaRPr>
                    </a:p>
                  </a:txBody>
                  <a:tcPr>
                    <a:solidFill>
                      <a:srgbClr val="E8F0FE"/>
                    </a:solidFill>
                  </a:tcPr>
                </a:tc>
                <a:tc>
                  <a:txBody>
                    <a:bodyPr/>
                    <a:lstStyle/>
                    <a:p>
                      <a:pPr algn="ctr"/>
                      <a:r>
                        <a:rPr sz="1200">
                          <a:solidFill>
                            <a:srgbClr val="2C2C2C"/>
                          </a:solidFill>
                        </a:rPr>
                        <a:t>2025.7</a:t>
                      </a:r>
                      <a:endParaRPr sz="1200">
                        <a:solidFill>
                          <a:srgbClr val="2C2C2C"/>
                        </a:solidFill>
                      </a:endParaRPr>
                    </a:p>
                  </a:txBody>
                  <a:tcPr>
                    <a:solidFill>
                      <a:srgbClr val="E8F0FE"/>
                    </a:solidFill>
                  </a:tcPr>
                </a:tc>
              </a:tr>
              <a:tr h="548640">
                <a:tc>
                  <a:txBody>
                    <a:bodyPr/>
                    <a:lstStyle/>
                    <a:p>
                      <a:pPr algn="ctr"/>
                      <a:r>
                        <a:rPr sz="1200" b="1">
                          <a:solidFill>
                            <a:srgbClr val="2C2C2C"/>
                          </a:solidFill>
                        </a:rPr>
                        <a:t>百度</a:t>
                      </a:r>
                      <a:endParaRPr sz="1200" b="1">
                        <a:solidFill>
                          <a:srgbClr val="2C2C2C"/>
                        </a:solidFill>
                      </a:endParaRPr>
                    </a:p>
                  </a:txBody>
                  <a:tcPr>
                    <a:solidFill>
                      <a:srgbClr val="E8F0FE"/>
                    </a:solidFill>
                  </a:tcPr>
                </a:tc>
                <a:tc>
                  <a:txBody>
                    <a:bodyPr/>
                    <a:lstStyle/>
                    <a:p>
                      <a:pPr algn="ctr"/>
                      <a:r>
                        <a:rPr sz="1200">
                          <a:solidFill>
                            <a:srgbClr val="2C2C2C"/>
                          </a:solidFill>
                        </a:rPr>
                        <a:t>Comate + Zulu</a:t>
                      </a:r>
                      <a:endParaRPr sz="1200">
                        <a:solidFill>
                          <a:srgbClr val="2C2C2C"/>
                        </a:solidFill>
                      </a:endParaRPr>
                    </a:p>
                  </a:txBody>
                  <a:tcPr>
                    <a:solidFill>
                      <a:srgbClr val="E8F0FE"/>
                    </a:solidFill>
                  </a:tcPr>
                </a:tc>
                <a:tc>
                  <a:txBody>
                    <a:bodyPr/>
                    <a:lstStyle/>
                    <a:p>
                      <a:pPr algn="l"/>
                      <a:r>
                        <a:rPr sz="1200">
                          <a:solidFill>
                            <a:srgbClr val="2C2C2C"/>
                          </a:solidFill>
                        </a:rPr>
                        <a:t>NL 需求 → 代码 → 部署，自修复</a:t>
                      </a:r>
                      <a:endParaRPr sz="1200">
                        <a:solidFill>
                          <a:srgbClr val="2C2C2C"/>
                        </a:solidFill>
                      </a:endParaRPr>
                    </a:p>
                    <a:p>
                      <a:pPr algn="l"/>
                      <a:r>
                        <a:rPr sz="1200">
                          <a:solidFill>
                            <a:srgbClr val="2C2C2C"/>
                          </a:solidFill>
                        </a:rPr>
                        <a:t>43% 百度内部代码由 AI 生成</a:t>
                      </a:r>
                      <a:endParaRPr sz="1200">
                        <a:solidFill>
                          <a:srgbClr val="2C2C2C"/>
                        </a:solidFill>
                      </a:endParaRPr>
                    </a:p>
                    <a:p>
                      <a:pPr algn="l"/>
                      <a:r>
                        <a:rPr sz="1200">
                          <a:solidFill>
                            <a:srgbClr val="2C2C2C"/>
                          </a:solidFill>
                        </a:rPr>
                        <a:t>1000万+ 开发者用户</a:t>
                      </a:r>
                      <a:endParaRPr sz="1200">
                        <a:solidFill>
                          <a:srgbClr val="2C2C2C"/>
                        </a:solidFill>
                      </a:endParaRPr>
                    </a:p>
                  </a:txBody>
                  <a:tcPr>
                    <a:solidFill>
                      <a:srgbClr val="E8F0FE"/>
                    </a:solidFill>
                  </a:tcPr>
                </a:tc>
                <a:tc>
                  <a:txBody>
                    <a:bodyPr/>
                    <a:lstStyle/>
                    <a:p>
                      <a:pPr algn="ctr"/>
                      <a:r>
                        <a:rPr sz="1200">
                          <a:solidFill>
                            <a:srgbClr val="2C2C2C"/>
                          </a:solidFill>
                        </a:rPr>
                        <a:t>2025年中</a:t>
                      </a:r>
                      <a:endParaRPr sz="1200">
                        <a:solidFill>
                          <a:srgbClr val="2C2C2C"/>
                        </a:solidFill>
                      </a:endParaRPr>
                    </a:p>
                  </a:txBody>
                  <a:tcPr>
                    <a:solidFill>
                      <a:srgbClr val="E8F0FE"/>
                    </a:solidFill>
                  </a:tcPr>
                </a:tc>
              </a:tr>
            </a:tbl>
          </a:graphicData>
        </a:graphic>
      </p:graphicFrame>
      <p:sp>
        <p:nvSpPr>
          <p:cNvPr id="7" name="Rectangle 6"/>
          <p:cNvSpPr/>
          <p:nvPr/>
        </p:nvSpPr>
        <p:spPr>
          <a:xfrm>
            <a:off x="274320" y="5166360"/>
            <a:ext cx="11643360" cy="1280160"/>
          </a:xfrm>
          <a:prstGeom prst="rect">
            <a:avLst/>
          </a:prstGeom>
          <a:solidFill>
            <a:srgbClr val="FD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5211320"/>
            <a:ext cx="11200000" cy="274320"/>
          </a:xfrm>
          <a:prstGeom prst="rect">
            <a:avLst/>
          </a:prstGeom>
          <a:noFill/>
        </p:spPr>
        <p:txBody>
          <a:bodyPr wrap="square">
            <a:spAutoFit/>
          </a:bodyPr>
          <a:lstStyle/>
          <a:p>
            <a:pPr algn="l"/>
            <a:r>
              <a:rPr sz="1300" b="1">
                <a:solidFill>
                  <a:srgbClr val="2C3E50"/>
                </a:solidFill>
                <a:latin typeface="Microsoft YaHei" panose="020B0503020204020204" charset="-122"/>
                <a:ea typeface="Microsoft YaHei" panose="020B0503020204020204" charset="-122"/>
              </a:rPr>
              <a:t>竞争格局启示</a:t>
            </a:r>
            <a:endParaRPr sz="1300" b="1">
              <a:solidFill>
                <a:srgbClr val="C0392B"/>
              </a:solidFill>
            </a:endParaRPr>
          </a:p>
        </p:txBody>
      </p:sp>
      <p:sp>
        <p:nvSpPr>
          <p:cNvPr id="9" name="TextBox 8"/>
          <p:cNvSpPr txBox="1"/>
          <p:nvPr/>
        </p:nvSpPr>
        <p:spPr>
          <a:xfrm>
            <a:off x="457200" y="5532120"/>
            <a:ext cx="3748280" cy="922020"/>
          </a:xfrm>
          <a:prstGeom prst="rect">
            <a:avLst/>
          </a:prstGeom>
          <a:noFill/>
        </p:spPr>
        <p:txBody>
          <a:bodyPr wrap="square">
            <a:spAutoFit/>
          </a:bodyPr>
          <a:lstStyle/>
          <a:p>
            <a:pPr algn="l">
              <a:lnSpc>
                <a:spcPts val="1200"/>
              </a:lnSpc>
            </a:pPr>
            <a:r>
              <a:rPr sz="1200">
                <a:solidFill>
                  <a:srgbClr val="2C3E50"/>
                </a:solidFill>
                <a:latin typeface="Microsoft YaHei" panose="020B0503020204020204" charset="-122"/>
                <a:ea typeface="Microsoft YaHei" panose="020B0503020204020204" charset="-122"/>
              </a:rPr>
              <a:t>标准化</a:t>
            </a:r>
            <a:r>
              <a:rPr lang="zh-CN" sz="1200">
                <a:solidFill>
                  <a:srgbClr val="2C3E50"/>
                </a:solidFill>
                <a:latin typeface="Microsoft YaHei" panose="020B0503020204020204" charset="-122"/>
                <a:ea typeface="Microsoft YaHei" panose="020B0503020204020204" charset="-122"/>
              </a:rPr>
              <a:t>压力：</a:t>
            </a:r>
            <a:endParaRPr sz="1200" b="0">
              <a:solidFill>
                <a:srgbClr val="8B0000"/>
              </a:solidFill>
            </a:endParaRPr>
          </a:p>
          <a:p>
            <a:pPr algn="l">
              <a:lnSpc>
                <a:spcPts val="1200"/>
              </a:lnSpc>
            </a:pPr>
            <a:endParaRPr sz="1200" b="0">
              <a:solidFill>
                <a:srgbClr val="8B0000"/>
              </a:solidFill>
            </a:endParaRPr>
          </a:p>
          <a:p>
            <a:pPr algn="l">
              <a:lnSpc>
                <a:spcPts val="1200"/>
              </a:lnSpc>
            </a:pPr>
            <a:endParaRPr sz="1200" b="0">
              <a:solidFill>
                <a:srgbClr val="8B0000"/>
              </a:solidFill>
            </a:endParaRPr>
          </a:p>
          <a:p>
            <a:r>
              <a:rPr sz="1200">
                <a:solidFill>
                  <a:srgbClr val="2C3E50"/>
                </a:solidFill>
                <a:latin typeface="Microsoft YaHei" panose="020B0503020204020204" charset="-122"/>
                <a:ea typeface="Microsoft YaHei" panose="020B0503020204020204" charset="-122"/>
              </a:rPr>
              <a:t>Kiro的EARS + Spec Kit的Constitution</a:t>
            </a:r>
            <a:endParaRPr sz="1200">
              <a:solidFill>
                <a:srgbClr val="2C3E50"/>
              </a:solidFill>
              <a:latin typeface="Microsoft YaHei" panose="020B0503020204020204" charset="-122"/>
              <a:ea typeface="Microsoft YaHei" panose="020B0503020204020204" charset="-122"/>
            </a:endParaRPr>
          </a:p>
          <a:p>
            <a:r>
              <a:rPr sz="1200">
                <a:solidFill>
                  <a:srgbClr val="2C3E50"/>
                </a:solidFill>
                <a:latin typeface="Microsoft YaHei" panose="020B0503020204020204" charset="-122"/>
                <a:ea typeface="Microsoft YaHei" panose="020B0503020204020204" charset="-122"/>
              </a:rPr>
              <a:t>正在成为事实上的行业标准</a:t>
            </a:r>
            <a:endParaRPr sz="1200">
              <a:solidFill>
                <a:srgbClr val="2C3E50"/>
              </a:solidFill>
              <a:latin typeface="Microsoft YaHei" panose="020B0503020204020204" charset="-122"/>
              <a:ea typeface="Microsoft YaHei" panose="020B0503020204020204" charset="-122"/>
            </a:endParaRPr>
          </a:p>
        </p:txBody>
      </p:sp>
      <p:sp>
        <p:nvSpPr>
          <p:cNvPr id="10" name="TextBox 9"/>
          <p:cNvSpPr txBox="1"/>
          <p:nvPr/>
        </p:nvSpPr>
        <p:spPr>
          <a:xfrm>
            <a:off x="4297680" y="5532120"/>
            <a:ext cx="3748280" cy="922020"/>
          </a:xfrm>
          <a:prstGeom prst="rect">
            <a:avLst/>
          </a:prstGeom>
          <a:noFill/>
        </p:spPr>
        <p:txBody>
          <a:bodyPr wrap="square">
            <a:spAutoFit/>
          </a:bodyPr>
          <a:lstStyle/>
          <a:p>
            <a:pPr algn="l">
              <a:lnSpc>
                <a:spcPts val="1200"/>
              </a:lnSpc>
            </a:pPr>
            <a:r>
              <a:rPr sz="1200">
                <a:solidFill>
                  <a:srgbClr val="2C3E50"/>
                </a:solidFill>
                <a:latin typeface="Microsoft YaHei" panose="020B0503020204020204" charset="-122"/>
                <a:ea typeface="Microsoft YaHei" panose="020B0503020204020204" charset="-122"/>
              </a:rPr>
              <a:t>平台绑定趋势</a:t>
            </a:r>
            <a:r>
              <a:rPr lang="zh-CN" sz="1200">
                <a:solidFill>
                  <a:srgbClr val="2C3E50"/>
                </a:solidFill>
                <a:latin typeface="Microsoft YaHei" panose="020B0503020204020204" charset="-122"/>
                <a:ea typeface="Microsoft YaHei" panose="020B0503020204020204" charset="-122"/>
              </a:rPr>
              <a:t>：</a:t>
            </a:r>
            <a:endParaRPr sz="1200" b="0">
              <a:solidFill>
                <a:srgbClr val="8B0000"/>
              </a:solidFill>
            </a:endParaRPr>
          </a:p>
          <a:p>
            <a:pPr algn="l">
              <a:lnSpc>
                <a:spcPts val="1200"/>
              </a:lnSpc>
            </a:pPr>
            <a:endParaRPr sz="1200" b="0">
              <a:solidFill>
                <a:srgbClr val="8B0000"/>
              </a:solidFill>
            </a:endParaRPr>
          </a:p>
          <a:p>
            <a:pPr algn="l">
              <a:lnSpc>
                <a:spcPts val="1200"/>
              </a:lnSpc>
            </a:pPr>
            <a:endParaRPr sz="1200" b="0">
              <a:solidFill>
                <a:srgbClr val="8B0000"/>
              </a:solidFill>
            </a:endParaRPr>
          </a:p>
          <a:p>
            <a:r>
              <a:rPr sz="1200">
                <a:solidFill>
                  <a:srgbClr val="2C3E50"/>
                </a:solidFill>
                <a:latin typeface="Microsoft YaHei" panose="020B0503020204020204" charset="-122"/>
                <a:ea typeface="Microsoft YaHei" panose="020B0503020204020204" charset="-122"/>
              </a:rPr>
              <a:t>各厂将spec治理嵌入自家IDE</a:t>
            </a:r>
            <a:endParaRPr sz="1200">
              <a:solidFill>
                <a:srgbClr val="2C3E50"/>
              </a:solidFill>
              <a:latin typeface="Microsoft YaHei" panose="020B0503020204020204" charset="-122"/>
              <a:ea typeface="Microsoft YaHei" panose="020B0503020204020204" charset="-122"/>
            </a:endParaRPr>
          </a:p>
          <a:p>
            <a:r>
              <a:rPr sz="1200">
                <a:solidFill>
                  <a:srgbClr val="2C3E50"/>
                </a:solidFill>
                <a:latin typeface="Microsoft YaHei" panose="020B0503020204020204" charset="-122"/>
                <a:ea typeface="Microsoft YaHei" panose="020B0503020204020204" charset="-122"/>
              </a:rPr>
              <a:t>工具无关的轻量级方案仍有空间</a:t>
            </a:r>
            <a:endParaRPr sz="1200">
              <a:solidFill>
                <a:srgbClr val="2C3E50"/>
              </a:solidFill>
              <a:latin typeface="Microsoft YaHei" panose="020B0503020204020204" charset="-122"/>
              <a:ea typeface="Microsoft YaHei" panose="020B0503020204020204" charset="-122"/>
            </a:endParaRPr>
          </a:p>
        </p:txBody>
      </p:sp>
      <p:sp>
        <p:nvSpPr>
          <p:cNvPr id="11" name="TextBox 10"/>
          <p:cNvSpPr txBox="1"/>
          <p:nvPr/>
        </p:nvSpPr>
        <p:spPr>
          <a:xfrm>
            <a:off x="8138160" y="5532120"/>
            <a:ext cx="3748405" cy="863600"/>
          </a:xfrm>
          <a:prstGeom prst="rect">
            <a:avLst/>
          </a:prstGeom>
          <a:noFill/>
        </p:spPr>
        <p:txBody>
          <a:bodyPr wrap="square">
            <a:noAutofit/>
          </a:bodyPr>
          <a:lstStyle/>
          <a:p>
            <a:pPr algn="l">
              <a:lnSpc>
                <a:spcPts val="1200"/>
              </a:lnSpc>
            </a:pPr>
            <a:r>
              <a:rPr sz="1200">
                <a:solidFill>
                  <a:srgbClr val="2C3E50"/>
                </a:solidFill>
                <a:latin typeface="Microsoft YaHei" panose="020B0503020204020204" charset="-122"/>
                <a:ea typeface="Microsoft YaHei" panose="020B0503020204020204" charset="-122"/>
              </a:rPr>
              <a:t>差异化空间</a:t>
            </a:r>
            <a:r>
              <a:rPr lang="zh-CN" sz="1200">
                <a:solidFill>
                  <a:srgbClr val="2C3E50"/>
                </a:solidFill>
                <a:latin typeface="Microsoft YaHei" panose="020B0503020204020204" charset="-122"/>
                <a:ea typeface="Microsoft YaHei" panose="020B0503020204020204" charset="-122"/>
              </a:rPr>
              <a:t>：</a:t>
            </a:r>
            <a:endParaRPr sz="1200" b="0">
              <a:solidFill>
                <a:srgbClr val="8B0000"/>
              </a:solidFill>
            </a:endParaRPr>
          </a:p>
          <a:p>
            <a:pPr algn="l">
              <a:lnSpc>
                <a:spcPts val="1200"/>
              </a:lnSpc>
            </a:pPr>
            <a:endParaRPr sz="1200" b="0">
              <a:solidFill>
                <a:srgbClr val="8B0000"/>
              </a:solidFill>
            </a:endParaRPr>
          </a:p>
          <a:p>
            <a:pPr algn="l">
              <a:lnSpc>
                <a:spcPts val="1200"/>
              </a:lnSpc>
            </a:pPr>
            <a:endParaRPr sz="1200" b="0">
              <a:solidFill>
                <a:srgbClr val="8B0000"/>
              </a:solidFill>
            </a:endParaRPr>
          </a:p>
          <a:p>
            <a:r>
              <a:rPr sz="1200">
                <a:solidFill>
                  <a:srgbClr val="2C3E50"/>
                </a:solidFill>
                <a:latin typeface="Microsoft YaHei" panose="020B0503020204020204" charset="-122"/>
                <a:ea typeface="Microsoft YaHei" panose="020B0503020204020204" charset="-122"/>
              </a:rPr>
              <a:t>所有竞品均缺少brownfield变更管理</a:t>
            </a:r>
            <a:endParaRPr sz="1200">
              <a:solidFill>
                <a:srgbClr val="2C3E50"/>
              </a:solidFill>
              <a:latin typeface="Microsoft YaHei" panose="020B0503020204020204" charset="-122"/>
              <a:ea typeface="Microsoft YaHei" panose="020B0503020204020204" charset="-122"/>
            </a:endParaRPr>
          </a:p>
          <a:p>
            <a:r>
              <a:rPr sz="1200">
                <a:solidFill>
                  <a:srgbClr val="2C3E50"/>
                </a:solidFill>
                <a:latin typeface="Microsoft YaHei" panose="020B0503020204020204" charset="-122"/>
                <a:ea typeface="Microsoft YaHei" panose="020B0503020204020204" charset="-122"/>
              </a:rPr>
              <a:t>和delta spec演进能力</a:t>
            </a:r>
            <a:endParaRPr sz="1200">
              <a:solidFill>
                <a:srgbClr val="2C3E50"/>
              </a:solidFill>
              <a:latin typeface="Microsoft YaHei" panose="020B0503020204020204" charset="-122"/>
              <a:ea typeface="Microsoft YaHei" panose="020B0503020204020204" charset="-122"/>
            </a:endParaRPr>
          </a:p>
        </p:txBody>
      </p:sp>
      <p:sp>
        <p:nvSpPr>
          <p:cNvPr id="13" name="TextBox 12"/>
          <p:cNvSpPr txBox="1"/>
          <p:nvPr/>
        </p:nvSpPr>
        <p:spPr>
          <a:xfrm>
            <a:off x="11094415" y="6400800"/>
            <a:ext cx="914400" cy="365760"/>
          </a:xfrm>
          <a:prstGeom prst="rect">
            <a:avLst/>
          </a:prstGeom>
          <a:noFill/>
        </p:spPr>
        <p:txBody>
          <a:bodyPr wrap="square">
            <a:spAutoFit/>
          </a:bodyPr>
          <a:lstStyle/>
          <a:p>
            <a:pPr algn="l"/>
            <a:r>
              <a:rPr sz="1000" b="0">
                <a:solidFill>
                  <a:srgbClr val="999999"/>
                </a:solidFill>
                <a:latin typeface="Microsoft YaHei" panose="020B0503020204020204" charset="-122"/>
                <a:ea typeface="Microsoft YaHei" panose="020B0503020204020204" charset="-122"/>
              </a:rPr>
              <a:t>16/41</a:t>
            </a:r>
            <a:endParaRPr sz="1000" b="0">
              <a:solidFill>
                <a:srgbClr val="999999"/>
              </a:solidFill>
            </a:endParaRPr>
          </a:p>
        </p:txBody>
      </p:sp>
    </p:spTree>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p:sp>
        <p:nvSpPr>
          <p:cNvPr id="2" name="Rectangle 1"/>
          <p:cNvSpPr/>
          <p:nvPr/>
        </p:nvSpPr>
        <p:spPr>
          <a:xfrm>
            <a:off x="0" y="0"/>
            <a:ext cx="12188952" cy="54864"/>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465"/>
            <a:ext cx="10789920" cy="460375"/>
          </a:xfrm>
          <a:prstGeom prst="rect">
            <a:avLst/>
          </a:prstGeom>
          <a:noFill/>
        </p:spPr>
        <p:txBody>
          <a:bodyPr wrap="square">
            <a:spAutoFit/>
          </a:bodyPr>
          <a:lstStyle/>
          <a:p>
            <a:r>
              <a:rPr lang="zh-CN" sz="2400" b="1">
                <a:solidFill>
                  <a:srgbClr val="1A1A2E"/>
                </a:solidFill>
                <a:latin typeface="Microsoft YaHei" panose="020B0503020204020204" charset="-122"/>
                <a:ea typeface="Microsoft YaHei" panose="020B0503020204020204" charset="-122"/>
              </a:rPr>
              <a:t>内部与</a:t>
            </a:r>
            <a:r>
              <a:rPr lang="en-US" altLang="zh-CN" sz="2400" b="1">
                <a:solidFill>
                  <a:srgbClr val="1A1A2E"/>
                </a:solidFill>
                <a:latin typeface="Microsoft YaHei" panose="020B0503020204020204" charset="-122"/>
                <a:ea typeface="Microsoft YaHei" panose="020B0503020204020204" charset="-122"/>
              </a:rPr>
              <a:t>CodeArt</a:t>
            </a:r>
            <a:r>
              <a:rPr sz="2400" b="1">
                <a:solidFill>
                  <a:srgbClr val="1A1A2E"/>
                </a:solidFill>
                <a:latin typeface="Microsoft YaHei" panose="020B0503020204020204" charset="-122"/>
                <a:ea typeface="Microsoft YaHei" panose="020B0503020204020204" charset="-122"/>
              </a:rPr>
              <a:t>对比：Pony Agent + CodeArts Req  vs  OpenSpec-HW2</a:t>
            </a:r>
            <a:endParaRPr sz="2400" b="1">
              <a:solidFill>
                <a:srgbClr val="1A1A2E"/>
              </a:solidFill>
            </a:endParaRPr>
          </a:p>
        </p:txBody>
      </p:sp>
      <p:sp>
        <p:nvSpPr>
          <p:cNvPr id="4" name="TextBox 3"/>
          <p:cNvSpPr txBox="1"/>
          <p:nvPr/>
        </p:nvSpPr>
        <p:spPr>
          <a:xfrm>
            <a:off x="457200" y="658368"/>
            <a:ext cx="10058400" cy="320040"/>
          </a:xfrm>
          <a:prstGeom prst="rect">
            <a:avLst/>
          </a:prstGeom>
          <a:noFill/>
        </p:spPr>
        <p:txBody>
          <a:bodyPr wrap="none">
            <a:spAutoFit/>
          </a:bodyPr>
          <a:lstStyle/>
          <a:p>
            <a:r>
              <a:rPr sz="1300" b="0">
                <a:solidFill>
                  <a:srgbClr val="999999"/>
                </a:solidFill>
                <a:latin typeface="Microsoft YaHei" panose="020B0503020204020204" charset="-122"/>
                <a:ea typeface="Microsoft YaHei" panose="020B0503020204020204" charset="-122"/>
              </a:rPr>
              <a:t>同是“需求→规格”的智能化，但结构化深度和演进能力差异显著</a:t>
            </a:r>
            <a:endParaRPr sz="1300" b="0">
              <a:solidFill>
                <a:srgbClr val="999999"/>
              </a:solidFill>
            </a:endParaRPr>
          </a:p>
        </p:txBody>
      </p:sp>
      <p:sp>
        <p:nvSpPr>
          <p:cNvPr id="5" name="Rectangle 4"/>
          <p:cNvSpPr/>
          <p:nvPr/>
        </p:nvSpPr>
        <p:spPr>
          <a:xfrm>
            <a:off x="457200" y="1051560"/>
            <a:ext cx="10972800" cy="10972"/>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6" name="Rounded Rectangle 5"/>
          <p:cNvSpPr/>
          <p:nvPr/>
        </p:nvSpPr>
        <p:spPr>
          <a:xfrm>
            <a:off x="457200" y="1170432"/>
            <a:ext cx="2560320" cy="320040"/>
          </a:xfrm>
          <a:prstGeom prst="round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7" name="Rounded Rectangle 6"/>
          <p:cNvSpPr/>
          <p:nvPr/>
        </p:nvSpPr>
        <p:spPr>
          <a:xfrm>
            <a:off x="3108960" y="1170432"/>
            <a:ext cx="4023360" cy="320040"/>
          </a:xfrm>
          <a:prstGeom prst="roundRect">
            <a:avLst/>
          </a:prstGeom>
          <a:solidFill>
            <a:srgbClr val="C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8" name="Rounded Rectangle 7"/>
          <p:cNvSpPr/>
          <p:nvPr/>
        </p:nvSpPr>
        <p:spPr>
          <a:xfrm>
            <a:off x="7223760" y="1170432"/>
            <a:ext cx="4206240" cy="320040"/>
          </a:xfrm>
          <a:prstGeom prst="round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9" name="TextBox 8"/>
          <p:cNvSpPr txBox="1"/>
          <p:nvPr/>
        </p:nvSpPr>
        <p:spPr>
          <a:xfrm>
            <a:off x="1390650" y="1179576"/>
            <a:ext cx="693420" cy="245110"/>
          </a:xfrm>
          <a:prstGeom prst="rect">
            <a:avLst/>
          </a:prstGeom>
          <a:noFill/>
        </p:spPr>
        <p:txBody>
          <a:bodyPr wrap="none">
            <a:spAutoFit/>
          </a:bodyPr>
          <a:lstStyle/>
          <a:p>
            <a:pPr algn="ctr"/>
            <a:r>
              <a:rPr sz="1000" b="1">
                <a:solidFill>
                  <a:srgbClr val="FFFFFF"/>
                </a:solidFill>
                <a:latin typeface="Microsoft YaHei" panose="020B0503020204020204" charset="-122"/>
                <a:ea typeface="Microsoft YaHei" panose="020B0503020204020204" charset="-122"/>
              </a:rPr>
              <a:t>对比维度</a:t>
            </a:r>
            <a:endParaRPr sz="1000" b="1">
              <a:solidFill>
                <a:srgbClr val="FFFFFF"/>
              </a:solidFill>
              <a:latin typeface="Microsoft YaHei" panose="020B0503020204020204" charset="-122"/>
              <a:ea typeface="Microsoft YaHei" panose="020B0503020204020204" charset="-122"/>
            </a:endParaRPr>
          </a:p>
        </p:txBody>
      </p:sp>
      <p:sp>
        <p:nvSpPr>
          <p:cNvPr id="10" name="TextBox 9"/>
          <p:cNvSpPr txBox="1"/>
          <p:nvPr/>
        </p:nvSpPr>
        <p:spPr>
          <a:xfrm>
            <a:off x="4168456" y="1179576"/>
            <a:ext cx="1904365" cy="245110"/>
          </a:xfrm>
          <a:prstGeom prst="rect">
            <a:avLst/>
          </a:prstGeom>
          <a:noFill/>
        </p:spPr>
        <p:txBody>
          <a:bodyPr wrap="none">
            <a:spAutoFit/>
          </a:bodyPr>
          <a:lstStyle/>
          <a:p>
            <a:pPr algn="ctr"/>
            <a:r>
              <a:rPr sz="1000" b="1">
                <a:solidFill>
                  <a:srgbClr val="FFFFFF"/>
                </a:solidFill>
                <a:latin typeface="Microsoft YaHei" panose="020B0503020204020204" charset="-122"/>
                <a:ea typeface="Microsoft YaHei" panose="020B0503020204020204" charset="-122"/>
              </a:rPr>
              <a:t>Pony Agent + CodeArts Req</a:t>
            </a:r>
            <a:endParaRPr sz="1000" b="1">
              <a:solidFill>
                <a:srgbClr val="FFFFFF"/>
              </a:solidFill>
              <a:latin typeface="Microsoft YaHei" panose="020B0503020204020204" charset="-122"/>
              <a:ea typeface="Microsoft YaHei" panose="020B0503020204020204" charset="-122"/>
            </a:endParaRPr>
          </a:p>
        </p:txBody>
      </p:sp>
      <p:sp>
        <p:nvSpPr>
          <p:cNvPr id="11" name="TextBox 10"/>
          <p:cNvSpPr txBox="1"/>
          <p:nvPr/>
        </p:nvSpPr>
        <p:spPr>
          <a:xfrm>
            <a:off x="8728075" y="1179576"/>
            <a:ext cx="1197610" cy="245110"/>
          </a:xfrm>
          <a:prstGeom prst="rect">
            <a:avLst/>
          </a:prstGeom>
          <a:noFill/>
        </p:spPr>
        <p:txBody>
          <a:bodyPr wrap="none">
            <a:spAutoFit/>
          </a:bodyPr>
          <a:lstStyle/>
          <a:p>
            <a:pPr algn="ctr"/>
            <a:r>
              <a:rPr sz="1000" b="1">
                <a:solidFill>
                  <a:srgbClr val="FFFFFF"/>
                </a:solidFill>
                <a:latin typeface="Microsoft YaHei" panose="020B0503020204020204" charset="-122"/>
                <a:ea typeface="Microsoft YaHei" panose="020B0503020204020204" charset="-122"/>
              </a:rPr>
              <a:t>OpenSpec-HW2</a:t>
            </a:r>
            <a:endParaRPr sz="1000" b="1">
              <a:solidFill>
                <a:srgbClr val="FFFFFF"/>
              </a:solidFill>
              <a:latin typeface="Microsoft YaHei" panose="020B0503020204020204" charset="-122"/>
              <a:ea typeface="Microsoft YaHei" panose="020B0503020204020204" charset="-122"/>
            </a:endParaRPr>
          </a:p>
        </p:txBody>
      </p:sp>
      <p:sp>
        <p:nvSpPr>
          <p:cNvPr id="12" name="Rounded Rectangle 11"/>
          <p:cNvSpPr/>
          <p:nvPr/>
        </p:nvSpPr>
        <p:spPr>
          <a:xfrm>
            <a:off x="457200" y="1554480"/>
            <a:ext cx="2560320" cy="530352"/>
          </a:xfrm>
          <a:prstGeom prst="round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13" name="Rounded Rectangle 12"/>
          <p:cNvSpPr/>
          <p:nvPr/>
        </p:nvSpPr>
        <p:spPr>
          <a:xfrm>
            <a:off x="3108960" y="1554480"/>
            <a:ext cx="4023360" cy="530352"/>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14" name="Rounded Rectangle 13"/>
          <p:cNvSpPr/>
          <p:nvPr/>
        </p:nvSpPr>
        <p:spPr>
          <a:xfrm>
            <a:off x="7223760" y="1554480"/>
            <a:ext cx="4206240" cy="530352"/>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15" name="TextBox 14"/>
          <p:cNvSpPr txBox="1"/>
          <p:nvPr/>
        </p:nvSpPr>
        <p:spPr>
          <a:xfrm>
            <a:off x="530352" y="1591056"/>
            <a:ext cx="2414015" cy="245110"/>
          </a:xfrm>
          <a:prstGeom prst="rect">
            <a:avLst/>
          </a:prstGeom>
          <a:noFill/>
        </p:spPr>
        <p:txBody>
          <a:bodyPr wrap="square">
            <a:spAutoFit/>
          </a:bodyPr>
          <a:lstStyle/>
          <a:p>
            <a:r>
              <a:rPr sz="1000" b="1">
                <a:solidFill>
                  <a:srgbClr val="333333"/>
                </a:solidFill>
                <a:latin typeface="Microsoft YaHei" panose="020B0503020204020204" charset="-122"/>
                <a:ea typeface="Microsoft YaHei" panose="020B0503020204020204" charset="-122"/>
              </a:rPr>
              <a:t>需求输入方式</a:t>
            </a:r>
            <a:endParaRPr sz="1000" b="1">
              <a:solidFill>
                <a:srgbClr val="333333"/>
              </a:solidFill>
              <a:latin typeface="Microsoft YaHei" panose="020B0503020204020204" charset="-122"/>
              <a:ea typeface="Microsoft YaHei" panose="020B0503020204020204" charset="-122"/>
            </a:endParaRPr>
          </a:p>
        </p:txBody>
      </p:sp>
      <p:sp>
        <p:nvSpPr>
          <p:cNvPr id="16" name="TextBox 15"/>
          <p:cNvSpPr txBox="1"/>
          <p:nvPr/>
        </p:nvSpPr>
        <p:spPr>
          <a:xfrm>
            <a:off x="3182112" y="1572768"/>
            <a:ext cx="3877056" cy="398780"/>
          </a:xfrm>
          <a:prstGeom prst="rect">
            <a:avLst/>
          </a:prstGeom>
          <a:noFill/>
        </p:spPr>
        <p:txBody>
          <a:bodyPr wrap="square">
            <a:spAutoFit/>
          </a:bodyPr>
          <a:lstStyle/>
          <a:p>
            <a:r>
              <a:rPr sz="1000" b="0">
                <a:solidFill>
                  <a:srgbClr val="333333"/>
                </a:solidFill>
                <a:latin typeface="Microsoft YaHei" panose="020B0503020204020204" charset="-122"/>
                <a:ea typeface="Microsoft YaHei" panose="020B0503020204020204" charset="-122"/>
              </a:rPr>
              <a:t>自然语言 → Pony 生成需求文档</a:t>
            </a:r>
            <a:endParaRPr sz="1000" b="0">
              <a:solidFill>
                <a:srgbClr val="333333"/>
              </a:solidFill>
            </a:endParaRPr>
          </a:p>
          <a:p>
            <a:r>
              <a:rPr sz="1000" b="0">
                <a:solidFill>
                  <a:srgbClr val="999999"/>
                </a:solidFill>
                <a:latin typeface="Microsoft YaHei" panose="020B0503020204020204" charset="-122"/>
                <a:ea typeface="Microsoft YaHei" panose="020B0503020204020204" charset="-122"/>
              </a:rPr>
              <a:t>/pony 分解需求 → 功能清单 + 优先级</a:t>
            </a:r>
            <a:endParaRPr sz="1000" b="0">
              <a:solidFill>
                <a:srgbClr val="999999"/>
              </a:solidFill>
            </a:endParaRPr>
          </a:p>
        </p:txBody>
      </p:sp>
      <p:sp>
        <p:nvSpPr>
          <p:cNvPr id="17" name="TextBox 16"/>
          <p:cNvSpPr txBox="1"/>
          <p:nvPr/>
        </p:nvSpPr>
        <p:spPr>
          <a:xfrm>
            <a:off x="7296912" y="1572768"/>
            <a:ext cx="4059935" cy="398780"/>
          </a:xfrm>
          <a:prstGeom prst="rect">
            <a:avLst/>
          </a:prstGeom>
          <a:noFill/>
        </p:spPr>
        <p:txBody>
          <a:bodyPr wrap="square">
            <a:spAutoFit/>
          </a:bodyPr>
          <a:lstStyle/>
          <a:p>
            <a:r>
              <a:rPr sz="1000" b="1">
                <a:solidFill>
                  <a:srgbClr val="107C10"/>
                </a:solidFill>
                <a:latin typeface="Microsoft YaHei" panose="020B0503020204020204" charset="-122"/>
                <a:ea typeface="Microsoft YaHei" panose="020B0503020204020204" charset="-122"/>
              </a:rPr>
              <a:t>Proposal → Usecases → Specs 多步演进</a:t>
            </a:r>
            <a:endParaRPr sz="1000" b="1">
              <a:solidFill>
                <a:srgbClr val="107C10"/>
              </a:solidFill>
            </a:endParaRPr>
          </a:p>
          <a:p>
            <a:r>
              <a:rPr sz="1000" b="0">
                <a:solidFill>
                  <a:srgbClr val="555555"/>
                </a:solidFill>
                <a:latin typeface="Microsoft YaHei" panose="020B0503020204020204" charset="-122"/>
                <a:ea typeface="Microsoft YaHei" panose="020B0503020204020204" charset="-122"/>
              </a:rPr>
              <a:t>每步基于前一步的结构化产出推导</a:t>
            </a:r>
            <a:endParaRPr sz="1000" b="0">
              <a:solidFill>
                <a:srgbClr val="555555"/>
              </a:solidFill>
            </a:endParaRPr>
          </a:p>
        </p:txBody>
      </p:sp>
      <p:sp>
        <p:nvSpPr>
          <p:cNvPr id="18" name="Rounded Rectangle 17"/>
          <p:cNvSpPr/>
          <p:nvPr/>
        </p:nvSpPr>
        <p:spPr>
          <a:xfrm>
            <a:off x="457200" y="2112264"/>
            <a:ext cx="2560320" cy="530352"/>
          </a:xfrm>
          <a:prstGeom prst="round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19" name="Rounded Rectangle 18"/>
          <p:cNvSpPr/>
          <p:nvPr/>
        </p:nvSpPr>
        <p:spPr>
          <a:xfrm>
            <a:off x="3108960" y="2112264"/>
            <a:ext cx="4023360" cy="530352"/>
          </a:xfrm>
          <a:prstGeom prst="roundRect">
            <a:avLst/>
          </a:prstGeom>
          <a:solidFill>
            <a:srgbClr val="FEF5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20" name="Rounded Rectangle 19"/>
          <p:cNvSpPr/>
          <p:nvPr/>
        </p:nvSpPr>
        <p:spPr>
          <a:xfrm>
            <a:off x="7223760" y="2112264"/>
            <a:ext cx="4206240" cy="530352"/>
          </a:xfrm>
          <a:prstGeom prst="roundRect">
            <a:avLst/>
          </a:prstGeom>
          <a:solidFill>
            <a:srgbClr val="FEF5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21" name="TextBox 20"/>
          <p:cNvSpPr txBox="1"/>
          <p:nvPr/>
        </p:nvSpPr>
        <p:spPr>
          <a:xfrm>
            <a:off x="530352" y="2148840"/>
            <a:ext cx="2414015" cy="245110"/>
          </a:xfrm>
          <a:prstGeom prst="rect">
            <a:avLst/>
          </a:prstGeom>
          <a:noFill/>
        </p:spPr>
        <p:txBody>
          <a:bodyPr wrap="square">
            <a:spAutoFit/>
          </a:bodyPr>
          <a:lstStyle/>
          <a:p>
            <a:r>
              <a:rPr sz="1000" b="1">
                <a:solidFill>
                  <a:srgbClr val="333333"/>
                </a:solidFill>
                <a:latin typeface="Microsoft YaHei" panose="020B0503020204020204" charset="-122"/>
                <a:ea typeface="Microsoft YaHei" panose="020B0503020204020204" charset="-122"/>
              </a:rPr>
              <a:t>需求结构化程度</a:t>
            </a:r>
            <a:endParaRPr sz="1000" b="1">
              <a:solidFill>
                <a:srgbClr val="333333"/>
              </a:solidFill>
              <a:latin typeface="Microsoft YaHei" panose="020B0503020204020204" charset="-122"/>
              <a:ea typeface="Microsoft YaHei" panose="020B0503020204020204" charset="-122"/>
            </a:endParaRPr>
          </a:p>
        </p:txBody>
      </p:sp>
      <p:sp>
        <p:nvSpPr>
          <p:cNvPr id="22" name="TextBox 21"/>
          <p:cNvSpPr txBox="1"/>
          <p:nvPr/>
        </p:nvSpPr>
        <p:spPr>
          <a:xfrm>
            <a:off x="3182112" y="2130552"/>
            <a:ext cx="3877056" cy="398780"/>
          </a:xfrm>
          <a:prstGeom prst="rect">
            <a:avLst/>
          </a:prstGeom>
          <a:noFill/>
        </p:spPr>
        <p:txBody>
          <a:bodyPr wrap="square">
            <a:spAutoFit/>
          </a:bodyPr>
          <a:lstStyle/>
          <a:p>
            <a:r>
              <a:rPr sz="1000" b="0">
                <a:solidFill>
                  <a:srgbClr val="333333"/>
                </a:solidFill>
                <a:latin typeface="Microsoft YaHei" panose="020B0503020204020204" charset="-122"/>
                <a:ea typeface="Microsoft YaHei" panose="020B0503020204020204" charset="-122"/>
              </a:rPr>
              <a:t>文档级：生成需求描述文档</a:t>
            </a:r>
            <a:endParaRPr sz="1000" b="0">
              <a:solidFill>
                <a:srgbClr val="333333"/>
              </a:solidFill>
            </a:endParaRPr>
          </a:p>
          <a:p>
            <a:r>
              <a:rPr sz="1000" b="0">
                <a:solidFill>
                  <a:srgbClr val="999999"/>
                </a:solidFill>
                <a:latin typeface="Microsoft YaHei" panose="020B0503020204020204" charset="-122"/>
                <a:ea typeface="Microsoft YaHei" panose="020B0503020204020204" charset="-122"/>
              </a:rPr>
              <a:t>IPD 模板：RR → IR → SR → AR 分层</a:t>
            </a:r>
            <a:endParaRPr sz="1000" b="0">
              <a:solidFill>
                <a:srgbClr val="999999"/>
              </a:solidFill>
            </a:endParaRPr>
          </a:p>
        </p:txBody>
      </p:sp>
      <p:sp>
        <p:nvSpPr>
          <p:cNvPr id="23" name="TextBox 22"/>
          <p:cNvSpPr txBox="1"/>
          <p:nvPr/>
        </p:nvSpPr>
        <p:spPr>
          <a:xfrm>
            <a:off x="7296912" y="2130552"/>
            <a:ext cx="4059935" cy="398780"/>
          </a:xfrm>
          <a:prstGeom prst="rect">
            <a:avLst/>
          </a:prstGeom>
          <a:noFill/>
        </p:spPr>
        <p:txBody>
          <a:bodyPr wrap="square">
            <a:spAutoFit/>
          </a:bodyPr>
          <a:lstStyle/>
          <a:p>
            <a:r>
              <a:rPr sz="1000" b="1">
                <a:solidFill>
                  <a:srgbClr val="107C10"/>
                </a:solidFill>
                <a:latin typeface="Microsoft YaHei" panose="020B0503020204020204" charset="-122"/>
                <a:ea typeface="Microsoft YaHei" panose="020B0503020204020204" charset="-122"/>
              </a:rPr>
              <a:t>场景级：Given / When / Then 可测试规格</a:t>
            </a:r>
            <a:endParaRPr sz="1000" b="1">
              <a:solidFill>
                <a:srgbClr val="107C10"/>
              </a:solidFill>
            </a:endParaRPr>
          </a:p>
          <a:p>
            <a:r>
              <a:rPr sz="1000" b="0">
                <a:solidFill>
                  <a:srgbClr val="555555"/>
                </a:solidFill>
                <a:latin typeface="Microsoft YaHei" panose="020B0503020204020204" charset="-122"/>
                <a:ea typeface="Microsoft YaHei" panose="020B0503020204020204" charset="-122"/>
              </a:rPr>
              <a:t>每条 Spec 绑定具体 Usecase 来源</a:t>
            </a:r>
            <a:endParaRPr sz="1000" b="0">
              <a:solidFill>
                <a:srgbClr val="555555"/>
              </a:solidFill>
            </a:endParaRPr>
          </a:p>
        </p:txBody>
      </p:sp>
      <p:sp>
        <p:nvSpPr>
          <p:cNvPr id="24" name="Rounded Rectangle 23"/>
          <p:cNvSpPr/>
          <p:nvPr/>
        </p:nvSpPr>
        <p:spPr>
          <a:xfrm>
            <a:off x="457200" y="2670048"/>
            <a:ext cx="2560320" cy="530352"/>
          </a:xfrm>
          <a:prstGeom prst="round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25" name="Rounded Rectangle 24"/>
          <p:cNvSpPr/>
          <p:nvPr/>
        </p:nvSpPr>
        <p:spPr>
          <a:xfrm>
            <a:off x="3108960" y="2670048"/>
            <a:ext cx="4023360" cy="530352"/>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26" name="Rounded Rectangle 25"/>
          <p:cNvSpPr/>
          <p:nvPr/>
        </p:nvSpPr>
        <p:spPr>
          <a:xfrm>
            <a:off x="7223760" y="2670048"/>
            <a:ext cx="4206240" cy="530352"/>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27" name="TextBox 26"/>
          <p:cNvSpPr txBox="1"/>
          <p:nvPr/>
        </p:nvSpPr>
        <p:spPr>
          <a:xfrm>
            <a:off x="530352" y="2706624"/>
            <a:ext cx="2414015" cy="245110"/>
          </a:xfrm>
          <a:prstGeom prst="rect">
            <a:avLst/>
          </a:prstGeom>
          <a:noFill/>
        </p:spPr>
        <p:txBody>
          <a:bodyPr wrap="square">
            <a:spAutoFit/>
          </a:bodyPr>
          <a:lstStyle/>
          <a:p>
            <a:r>
              <a:rPr sz="1000" b="1">
                <a:solidFill>
                  <a:srgbClr val="333333"/>
                </a:solidFill>
                <a:latin typeface="Microsoft YaHei" panose="020B0503020204020204" charset="-122"/>
                <a:ea typeface="Microsoft YaHei" panose="020B0503020204020204" charset="-122"/>
              </a:rPr>
              <a:t>异常/边界覆盖</a:t>
            </a:r>
            <a:endParaRPr sz="1000" b="1">
              <a:solidFill>
                <a:srgbClr val="333333"/>
              </a:solidFill>
              <a:latin typeface="Microsoft YaHei" panose="020B0503020204020204" charset="-122"/>
              <a:ea typeface="Microsoft YaHei" panose="020B0503020204020204" charset="-122"/>
            </a:endParaRPr>
          </a:p>
        </p:txBody>
      </p:sp>
      <p:sp>
        <p:nvSpPr>
          <p:cNvPr id="28" name="TextBox 27"/>
          <p:cNvSpPr txBox="1"/>
          <p:nvPr/>
        </p:nvSpPr>
        <p:spPr>
          <a:xfrm>
            <a:off x="3182112" y="2688336"/>
            <a:ext cx="3877056" cy="398780"/>
          </a:xfrm>
          <a:prstGeom prst="rect">
            <a:avLst/>
          </a:prstGeom>
          <a:noFill/>
        </p:spPr>
        <p:txBody>
          <a:bodyPr wrap="square">
            <a:spAutoFit/>
          </a:bodyPr>
          <a:lstStyle/>
          <a:p>
            <a:r>
              <a:rPr sz="1000" b="0">
                <a:solidFill>
                  <a:srgbClr val="333333"/>
                </a:solidFill>
                <a:latin typeface="Microsoft YaHei" panose="020B0503020204020204" charset="-122"/>
                <a:ea typeface="Microsoft YaHei" panose="020B0503020204020204" charset="-122"/>
              </a:rPr>
              <a:t>依赖 AI 自行判断</a:t>
            </a:r>
            <a:endParaRPr sz="1000" b="0">
              <a:solidFill>
                <a:srgbClr val="333333"/>
              </a:solidFill>
            </a:endParaRPr>
          </a:p>
          <a:p>
            <a:r>
              <a:rPr sz="1000" b="0">
                <a:solidFill>
                  <a:srgbClr val="999999"/>
                </a:solidFill>
                <a:latin typeface="Microsoft YaHei" panose="020B0503020204020204" charset="-122"/>
                <a:ea typeface="Microsoft YaHei" panose="020B0503020204020204" charset="-122"/>
              </a:rPr>
              <a:t>无强制的异常场景梳理机制</a:t>
            </a:r>
            <a:endParaRPr sz="1000" b="0">
              <a:solidFill>
                <a:srgbClr val="999999"/>
              </a:solidFill>
            </a:endParaRPr>
          </a:p>
        </p:txBody>
      </p:sp>
      <p:sp>
        <p:nvSpPr>
          <p:cNvPr id="29" name="TextBox 28"/>
          <p:cNvSpPr txBox="1"/>
          <p:nvPr/>
        </p:nvSpPr>
        <p:spPr>
          <a:xfrm>
            <a:off x="7296912" y="2688336"/>
            <a:ext cx="4059935" cy="398780"/>
          </a:xfrm>
          <a:prstGeom prst="rect">
            <a:avLst/>
          </a:prstGeom>
          <a:noFill/>
        </p:spPr>
        <p:txBody>
          <a:bodyPr wrap="square">
            <a:spAutoFit/>
          </a:bodyPr>
          <a:lstStyle/>
          <a:p>
            <a:r>
              <a:rPr sz="1000" b="1">
                <a:solidFill>
                  <a:srgbClr val="107C10"/>
                </a:solidFill>
                <a:latin typeface="Microsoft YaHei" panose="020B0503020204020204" charset="-122"/>
                <a:ea typeface="Microsoft YaHei" panose="020B0503020204020204" charset="-122"/>
              </a:rPr>
              <a:t>Usecases 的 Extensions 强制梳理异常路径</a:t>
            </a:r>
            <a:endParaRPr sz="1000" b="1">
              <a:solidFill>
                <a:srgbClr val="107C10"/>
              </a:solidFill>
            </a:endParaRPr>
          </a:p>
          <a:p>
            <a:r>
              <a:rPr sz="1000" b="0">
                <a:solidFill>
                  <a:srgbClr val="555555"/>
                </a:solidFill>
                <a:latin typeface="Microsoft YaHei" panose="020B0503020204020204" charset="-122"/>
                <a:ea typeface="Microsoft YaHei" panose="020B0503020204020204" charset="-122"/>
              </a:rPr>
              <a:t>实测比原生版多发现 3 个关键边界场景</a:t>
            </a:r>
            <a:endParaRPr sz="1000" b="0">
              <a:solidFill>
                <a:srgbClr val="555555"/>
              </a:solidFill>
            </a:endParaRPr>
          </a:p>
        </p:txBody>
      </p:sp>
      <p:sp>
        <p:nvSpPr>
          <p:cNvPr id="30" name="Rounded Rectangle 29"/>
          <p:cNvSpPr/>
          <p:nvPr/>
        </p:nvSpPr>
        <p:spPr>
          <a:xfrm>
            <a:off x="457200" y="3227832"/>
            <a:ext cx="2560320" cy="530352"/>
          </a:xfrm>
          <a:prstGeom prst="round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31" name="Rounded Rectangle 30"/>
          <p:cNvSpPr/>
          <p:nvPr/>
        </p:nvSpPr>
        <p:spPr>
          <a:xfrm>
            <a:off x="3108960" y="3227832"/>
            <a:ext cx="4023360" cy="530352"/>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32" name="Rounded Rectangle 31"/>
          <p:cNvSpPr/>
          <p:nvPr/>
        </p:nvSpPr>
        <p:spPr>
          <a:xfrm>
            <a:off x="7223760" y="3227832"/>
            <a:ext cx="4206240" cy="530352"/>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33" name="TextBox 32"/>
          <p:cNvSpPr txBox="1"/>
          <p:nvPr/>
        </p:nvSpPr>
        <p:spPr>
          <a:xfrm>
            <a:off x="530352" y="3264408"/>
            <a:ext cx="2414015" cy="245110"/>
          </a:xfrm>
          <a:prstGeom prst="rect">
            <a:avLst/>
          </a:prstGeom>
          <a:noFill/>
        </p:spPr>
        <p:txBody>
          <a:bodyPr wrap="square">
            <a:spAutoFit/>
          </a:bodyPr>
          <a:lstStyle/>
          <a:p>
            <a:r>
              <a:rPr sz="1000" b="1">
                <a:solidFill>
                  <a:srgbClr val="333333"/>
                </a:solidFill>
                <a:latin typeface="Microsoft YaHei" panose="020B0503020204020204" charset="-122"/>
                <a:ea typeface="Microsoft YaHei" panose="020B0503020204020204" charset="-122"/>
              </a:rPr>
              <a:t>变更管理</a:t>
            </a:r>
            <a:endParaRPr sz="1000" b="1">
              <a:solidFill>
                <a:srgbClr val="333333"/>
              </a:solidFill>
              <a:latin typeface="Microsoft YaHei" panose="020B0503020204020204" charset="-122"/>
              <a:ea typeface="Microsoft YaHei" panose="020B0503020204020204" charset="-122"/>
            </a:endParaRPr>
          </a:p>
        </p:txBody>
      </p:sp>
      <p:sp>
        <p:nvSpPr>
          <p:cNvPr id="34" name="TextBox 33"/>
          <p:cNvSpPr txBox="1"/>
          <p:nvPr/>
        </p:nvSpPr>
        <p:spPr>
          <a:xfrm>
            <a:off x="3182112" y="3246120"/>
            <a:ext cx="3877056" cy="398780"/>
          </a:xfrm>
          <a:prstGeom prst="rect">
            <a:avLst/>
          </a:prstGeom>
          <a:noFill/>
        </p:spPr>
        <p:txBody>
          <a:bodyPr wrap="square">
            <a:spAutoFit/>
          </a:bodyPr>
          <a:lstStyle/>
          <a:p>
            <a:r>
              <a:rPr sz="1000" b="0">
                <a:solidFill>
                  <a:srgbClr val="333333"/>
                </a:solidFill>
                <a:latin typeface="Microsoft YaHei" panose="020B0503020204020204" charset="-122"/>
                <a:ea typeface="Microsoft YaHei" panose="020B0503020204020204" charset="-122"/>
              </a:rPr>
              <a:t>需求文档整体替换或人工修改</a:t>
            </a:r>
            <a:endParaRPr sz="1000" b="0">
              <a:solidFill>
                <a:srgbClr val="333333"/>
              </a:solidFill>
            </a:endParaRPr>
          </a:p>
          <a:p>
            <a:r>
              <a:rPr sz="1000" b="0">
                <a:solidFill>
                  <a:srgbClr val="999999"/>
                </a:solidFill>
                <a:latin typeface="Microsoft YaHei" panose="020B0503020204020204" charset="-122"/>
                <a:ea typeface="Microsoft YaHei" panose="020B0503020204020204" charset="-122"/>
              </a:rPr>
              <a:t>无 delta 机制，变更历史不透明</a:t>
            </a:r>
            <a:endParaRPr sz="1000" b="0">
              <a:solidFill>
                <a:srgbClr val="999999"/>
              </a:solidFill>
            </a:endParaRPr>
          </a:p>
        </p:txBody>
      </p:sp>
      <p:sp>
        <p:nvSpPr>
          <p:cNvPr id="35" name="TextBox 34"/>
          <p:cNvSpPr txBox="1"/>
          <p:nvPr/>
        </p:nvSpPr>
        <p:spPr>
          <a:xfrm>
            <a:off x="7296912" y="3246120"/>
            <a:ext cx="4059935" cy="398780"/>
          </a:xfrm>
          <a:prstGeom prst="rect">
            <a:avLst/>
          </a:prstGeom>
          <a:noFill/>
        </p:spPr>
        <p:txBody>
          <a:bodyPr wrap="square">
            <a:spAutoFit/>
          </a:bodyPr>
          <a:lstStyle/>
          <a:p>
            <a:r>
              <a:rPr sz="1000" b="1">
                <a:solidFill>
                  <a:srgbClr val="107C10"/>
                </a:solidFill>
                <a:latin typeface="Microsoft YaHei" panose="020B0503020204020204" charset="-122"/>
                <a:ea typeface="Microsoft YaHei" panose="020B0503020204020204" charset="-122"/>
              </a:rPr>
              <a:t>Delta Spec：只描述 ADDED / MODIFIED / REMOVED</a:t>
            </a:r>
            <a:endParaRPr sz="1000" b="1">
              <a:solidFill>
                <a:srgbClr val="107C10"/>
              </a:solidFill>
            </a:endParaRPr>
          </a:p>
          <a:p>
            <a:r>
              <a:rPr sz="1000" b="0">
                <a:solidFill>
                  <a:srgbClr val="555555"/>
                </a:solidFill>
                <a:latin typeface="Microsoft YaHei" panose="020B0503020204020204" charset="-122"/>
                <a:ea typeface="Microsoft YaHei" panose="020B0503020204020204" charset="-122"/>
              </a:rPr>
              <a:t>变更意图显式记录，可审查可回溯</a:t>
            </a:r>
            <a:endParaRPr sz="1000" b="0">
              <a:solidFill>
                <a:srgbClr val="555555"/>
              </a:solidFill>
            </a:endParaRPr>
          </a:p>
        </p:txBody>
      </p:sp>
      <p:sp>
        <p:nvSpPr>
          <p:cNvPr id="36" name="Rounded Rectangle 35"/>
          <p:cNvSpPr/>
          <p:nvPr/>
        </p:nvSpPr>
        <p:spPr>
          <a:xfrm>
            <a:off x="457200" y="3785615"/>
            <a:ext cx="2560320" cy="530352"/>
          </a:xfrm>
          <a:prstGeom prst="roundRect">
            <a:avLst/>
          </a:prstGeom>
          <a:solidFill>
            <a:srgbClr val="F0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37" name="Rounded Rectangle 36"/>
          <p:cNvSpPr/>
          <p:nvPr/>
        </p:nvSpPr>
        <p:spPr>
          <a:xfrm>
            <a:off x="3108960" y="3785615"/>
            <a:ext cx="4023360" cy="530352"/>
          </a:xfrm>
          <a:prstGeom prst="roundRect">
            <a:avLst/>
          </a:prstGeom>
          <a:solidFill>
            <a:srgbClr val="FEF5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38" name="Rounded Rectangle 37"/>
          <p:cNvSpPr/>
          <p:nvPr/>
        </p:nvSpPr>
        <p:spPr>
          <a:xfrm>
            <a:off x="7223760" y="3785615"/>
            <a:ext cx="4206240" cy="530352"/>
          </a:xfrm>
          <a:prstGeom prst="roundRect">
            <a:avLst/>
          </a:prstGeom>
          <a:solidFill>
            <a:srgbClr val="FEF5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00"/>
          </a:p>
        </p:txBody>
      </p:sp>
      <p:sp>
        <p:nvSpPr>
          <p:cNvPr id="39" name="TextBox 38"/>
          <p:cNvSpPr txBox="1"/>
          <p:nvPr/>
        </p:nvSpPr>
        <p:spPr>
          <a:xfrm>
            <a:off x="530352" y="3822191"/>
            <a:ext cx="2414015" cy="245110"/>
          </a:xfrm>
          <a:prstGeom prst="rect">
            <a:avLst/>
          </a:prstGeom>
          <a:noFill/>
        </p:spPr>
        <p:txBody>
          <a:bodyPr wrap="square">
            <a:spAutoFit/>
          </a:bodyPr>
          <a:lstStyle/>
          <a:p>
            <a:r>
              <a:rPr sz="1000" b="1">
                <a:solidFill>
                  <a:srgbClr val="333333"/>
                </a:solidFill>
                <a:latin typeface="Microsoft YaHei" panose="020B0503020204020204" charset="-122"/>
                <a:ea typeface="Microsoft YaHei" panose="020B0503020204020204" charset="-122"/>
              </a:rPr>
              <a:t>Spec 演进能力</a:t>
            </a:r>
            <a:endParaRPr sz="1000" b="1">
              <a:solidFill>
                <a:srgbClr val="333333"/>
              </a:solidFill>
              <a:latin typeface="Microsoft YaHei" panose="020B0503020204020204" charset="-122"/>
              <a:ea typeface="Microsoft YaHei" panose="020B0503020204020204" charset="-122"/>
            </a:endParaRPr>
          </a:p>
        </p:txBody>
      </p:sp>
      <p:sp>
        <p:nvSpPr>
          <p:cNvPr id="40" name="TextBox 39"/>
          <p:cNvSpPr txBox="1"/>
          <p:nvPr/>
        </p:nvSpPr>
        <p:spPr>
          <a:xfrm>
            <a:off x="3182112" y="3803903"/>
            <a:ext cx="3877056" cy="398780"/>
          </a:xfrm>
          <a:prstGeom prst="rect">
            <a:avLst/>
          </a:prstGeom>
          <a:noFill/>
        </p:spPr>
        <p:txBody>
          <a:bodyPr wrap="square">
            <a:spAutoFit/>
          </a:bodyPr>
          <a:lstStyle/>
          <a:p>
            <a:r>
              <a:rPr sz="1000" b="0">
                <a:solidFill>
                  <a:srgbClr val="333333"/>
                </a:solidFill>
                <a:latin typeface="Microsoft YaHei" panose="020B0503020204020204" charset="-122"/>
                <a:ea typeface="Microsoft YaHei" panose="020B0503020204020204" charset="-122"/>
              </a:rPr>
              <a:t>需求文档为一次性产出</a:t>
            </a:r>
            <a:endParaRPr sz="1000" b="0">
              <a:solidFill>
                <a:srgbClr val="333333"/>
              </a:solidFill>
            </a:endParaRPr>
          </a:p>
          <a:p>
            <a:r>
              <a:rPr sz="1000" b="0">
                <a:solidFill>
                  <a:srgbClr val="999999"/>
                </a:solidFill>
                <a:latin typeface="Microsoft YaHei" panose="020B0503020204020204" charset="-122"/>
                <a:ea typeface="Microsoft YaHei" panose="020B0503020204020204" charset="-122"/>
              </a:rPr>
              <a:t>无归档合并、无“活文档”演进机制</a:t>
            </a:r>
            <a:endParaRPr sz="1000" b="0">
              <a:solidFill>
                <a:srgbClr val="999999"/>
              </a:solidFill>
            </a:endParaRPr>
          </a:p>
        </p:txBody>
      </p:sp>
      <p:sp>
        <p:nvSpPr>
          <p:cNvPr id="41" name="TextBox 40"/>
          <p:cNvSpPr txBox="1"/>
          <p:nvPr/>
        </p:nvSpPr>
        <p:spPr>
          <a:xfrm>
            <a:off x="7296912" y="3803903"/>
            <a:ext cx="4059935" cy="398780"/>
          </a:xfrm>
          <a:prstGeom prst="rect">
            <a:avLst/>
          </a:prstGeom>
          <a:noFill/>
        </p:spPr>
        <p:txBody>
          <a:bodyPr wrap="square">
            <a:spAutoFit/>
          </a:bodyPr>
          <a:lstStyle/>
          <a:p>
            <a:r>
              <a:rPr sz="1000" b="1">
                <a:solidFill>
                  <a:srgbClr val="107C10"/>
                </a:solidFill>
                <a:latin typeface="Microsoft YaHei" panose="020B0503020204020204" charset="-122"/>
                <a:ea typeface="Microsoft YaHei" panose="020B0503020204020204" charset="-122"/>
              </a:rPr>
              <a:t>Archive 归档 → delta 合并到 main specs</a:t>
            </a:r>
            <a:endParaRPr sz="1000" b="1">
              <a:solidFill>
                <a:srgbClr val="107C10"/>
              </a:solidFill>
            </a:endParaRPr>
          </a:p>
          <a:p>
            <a:r>
              <a:rPr sz="1000" b="0">
                <a:solidFill>
                  <a:srgbClr val="555555"/>
                </a:solidFill>
                <a:latin typeface="Microsoft YaHei" panose="020B0503020204020204" charset="-122"/>
                <a:ea typeface="Microsoft YaHei" panose="020B0503020204020204" charset="-122"/>
              </a:rPr>
              <a:t>Specs 随迭代持续演进，永远反映最新状态</a:t>
            </a:r>
            <a:endParaRPr sz="1000" b="0">
              <a:solidFill>
                <a:srgbClr val="555555"/>
              </a:solidFill>
            </a:endParaRPr>
          </a:p>
        </p:txBody>
      </p:sp>
      <p:sp>
        <p:nvSpPr>
          <p:cNvPr id="48" name="Rounded Rectangle 47"/>
          <p:cNvSpPr/>
          <p:nvPr/>
        </p:nvSpPr>
        <p:spPr>
          <a:xfrm>
            <a:off x="457200" y="5029200"/>
            <a:ext cx="10789920" cy="960120"/>
          </a:xfrm>
          <a:prstGeom prst="round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0080" y="5074920"/>
            <a:ext cx="10424160" cy="889000"/>
          </a:xfrm>
          <a:prstGeom prst="rect">
            <a:avLst/>
          </a:prstGeom>
          <a:noFill/>
        </p:spPr>
        <p:txBody>
          <a:bodyPr wrap="square">
            <a:spAutoFit/>
          </a:bodyPr>
          <a:lstStyle/>
          <a:p>
            <a:r>
              <a:rPr sz="1300" b="1">
                <a:solidFill>
                  <a:srgbClr val="E86C00"/>
                </a:solidFill>
                <a:latin typeface="Microsoft YaHei" panose="020B0503020204020204" charset="-122"/>
                <a:ea typeface="Microsoft YaHei" panose="020B0503020204020204" charset="-122"/>
              </a:rPr>
              <a:t>核心差异</a:t>
            </a:r>
            <a:r>
              <a:rPr lang="en-US" sz="1300" b="1">
                <a:solidFill>
                  <a:srgbClr val="E86C00"/>
                </a:solidFill>
                <a:latin typeface="Microsoft YaHei" panose="020B0503020204020204" charset="-122"/>
                <a:ea typeface="Microsoft YaHei" panose="020B0503020204020204" charset="-122"/>
              </a:rPr>
              <a:t>： Pony Agent</a:t>
            </a:r>
            <a:r>
              <a:rPr lang="zh-CN" altLang="en-US" sz="1300" b="1">
                <a:solidFill>
                  <a:srgbClr val="E86C00"/>
                </a:solidFill>
                <a:latin typeface="Microsoft YaHei" panose="020B0503020204020204" charset="-122"/>
                <a:ea typeface="Microsoft YaHei" panose="020B0503020204020204" charset="-122"/>
              </a:rPr>
              <a:t>对于</a:t>
            </a:r>
            <a:r>
              <a:rPr lang="en-US" altLang="zh-CN" sz="1300" b="1">
                <a:solidFill>
                  <a:srgbClr val="E86C00"/>
                </a:solidFill>
                <a:latin typeface="Microsoft YaHei" panose="020B0503020204020204" charset="-122"/>
                <a:ea typeface="Microsoft YaHei" panose="020B0503020204020204" charset="-122"/>
              </a:rPr>
              <a:t>Agentic Code</a:t>
            </a:r>
            <a:r>
              <a:rPr lang="zh-CN" altLang="en-US" sz="1300" b="1">
                <a:solidFill>
                  <a:srgbClr val="E86C00"/>
                </a:solidFill>
                <a:latin typeface="Microsoft YaHei" panose="020B0503020204020204" charset="-122"/>
                <a:ea typeface="Microsoft YaHei" panose="020B0503020204020204" charset="-122"/>
              </a:rPr>
              <a:t>的需求治理深度不够</a:t>
            </a:r>
            <a:endParaRPr sz="1300" b="1">
              <a:solidFill>
                <a:srgbClr val="E86C00"/>
              </a:solidFill>
            </a:endParaRPr>
          </a:p>
          <a:p>
            <a:pPr>
              <a:spcBef>
                <a:spcPts val="300"/>
              </a:spcBef>
            </a:pPr>
            <a:r>
              <a:rPr sz="1100" b="0">
                <a:solidFill>
                  <a:srgbClr val="CCCCCC"/>
                </a:solidFill>
                <a:latin typeface="Microsoft YaHei" panose="020B0503020204020204" charset="-122"/>
                <a:ea typeface="Microsoft YaHei" panose="020B0503020204020204" charset="-122"/>
              </a:rPr>
              <a:t>Pony Agent </a:t>
            </a:r>
            <a:r>
              <a:rPr lang="zh-CN" sz="1100" b="0">
                <a:solidFill>
                  <a:srgbClr val="CCCCCC"/>
                </a:solidFill>
                <a:latin typeface="Microsoft YaHei" panose="020B0503020204020204" charset="-122"/>
                <a:ea typeface="Microsoft YaHei" panose="020B0503020204020204" charset="-122"/>
              </a:rPr>
              <a:t>部分</a:t>
            </a:r>
            <a:r>
              <a:rPr sz="1100" b="0">
                <a:solidFill>
                  <a:srgbClr val="CCCCCC"/>
                </a:solidFill>
                <a:latin typeface="Microsoft YaHei" panose="020B0503020204020204" charset="-122"/>
                <a:ea typeface="Microsoft YaHei" panose="020B0503020204020204" charset="-122"/>
              </a:rPr>
              <a:t>解决“把模糊需求变成文档”，OpenSpec-HW2 </a:t>
            </a:r>
            <a:r>
              <a:rPr lang="zh-CN" sz="1100" b="0">
                <a:solidFill>
                  <a:srgbClr val="CCCCCC"/>
                </a:solidFill>
                <a:latin typeface="Microsoft YaHei" panose="020B0503020204020204" charset="-122"/>
                <a:ea typeface="Microsoft YaHei" panose="020B0503020204020204" charset="-122"/>
              </a:rPr>
              <a:t>潜在</a:t>
            </a:r>
            <a:r>
              <a:rPr sz="1100" b="0">
                <a:solidFill>
                  <a:srgbClr val="CCCCCC"/>
                </a:solidFill>
                <a:latin typeface="Microsoft YaHei" panose="020B0503020204020204" charset="-122"/>
                <a:ea typeface="Microsoft YaHei" panose="020B0503020204020204" charset="-122"/>
              </a:rPr>
              <a:t>解决“把需求变成可测试、可追溯、可演进的结构化规格”。</a:t>
            </a:r>
            <a:endParaRPr sz="1100" b="0">
              <a:solidFill>
                <a:srgbClr val="CCCCCC"/>
              </a:solidFill>
            </a:endParaRPr>
          </a:p>
          <a:p>
            <a:pPr>
              <a:spcBef>
                <a:spcPts val="200"/>
              </a:spcBef>
            </a:pPr>
            <a:r>
              <a:rPr sz="1100" b="0">
                <a:solidFill>
                  <a:srgbClr val="CCCCCC"/>
                </a:solidFill>
                <a:latin typeface="Microsoft YaHei" panose="020B0503020204020204" charset="-122"/>
                <a:ea typeface="Microsoft YaHei" panose="020B0503020204020204" charset="-122"/>
              </a:rPr>
              <a:t>类比：Pony 像一个“需求写手”（写完交付），OpenSpec 像一个“需求工程体系”（写完还要维护、演进、追溯）。</a:t>
            </a:r>
            <a:endParaRPr sz="1100" b="0">
              <a:solidFill>
                <a:srgbClr val="CCCCCC"/>
              </a:solidFill>
            </a:endParaRPr>
          </a:p>
          <a:p>
            <a:pPr>
              <a:spcBef>
                <a:spcPts val="200"/>
              </a:spcBef>
            </a:pPr>
            <a:r>
              <a:rPr sz="1100" b="0">
                <a:solidFill>
                  <a:srgbClr val="CCCCCC"/>
                </a:solidFill>
                <a:latin typeface="Microsoft YaHei" panose="020B0503020204020204" charset="-122"/>
                <a:ea typeface="Microsoft YaHei" panose="020B0503020204020204" charset="-122"/>
              </a:rPr>
              <a:t>CodeArts Req 的 IPD 追溯链</a:t>
            </a:r>
            <a:r>
              <a:rPr lang="zh-CN" sz="1100" b="0">
                <a:solidFill>
                  <a:srgbClr val="CCCCCC"/>
                </a:solidFill>
                <a:latin typeface="Microsoft YaHei" panose="020B0503020204020204" charset="-122"/>
                <a:ea typeface="Microsoft YaHei" panose="020B0503020204020204" charset="-122"/>
              </a:rPr>
              <a:t>有一定追溯能力</a:t>
            </a:r>
            <a:r>
              <a:rPr sz="1100" b="0">
                <a:solidFill>
                  <a:srgbClr val="CCCCCC"/>
                </a:solidFill>
                <a:latin typeface="Microsoft YaHei" panose="020B0503020204020204" charset="-122"/>
                <a:ea typeface="Microsoft YaHei" panose="020B0503020204020204" charset="-122"/>
              </a:rPr>
              <a:t>，但其</a:t>
            </a:r>
            <a:r>
              <a:rPr lang="en-US" sz="1100" b="0">
                <a:solidFill>
                  <a:srgbClr val="CCCCCC"/>
                </a:solidFill>
                <a:latin typeface="Microsoft YaHei" panose="020B0503020204020204" charset="-122"/>
                <a:ea typeface="Microsoft YaHei" panose="020B0503020204020204" charset="-122"/>
              </a:rPr>
              <a:t>Spec</a:t>
            </a:r>
            <a:r>
              <a:rPr sz="1100" b="0">
                <a:solidFill>
                  <a:srgbClr val="CCCCCC"/>
                </a:solidFill>
                <a:latin typeface="Microsoft YaHei" panose="020B0503020204020204" charset="-122"/>
                <a:ea typeface="Microsoft YaHei" panose="020B0503020204020204" charset="-122"/>
              </a:rPr>
              <a:t>规格仍是传统需求文档，缺少 OpenSpec 的 BDD 场景规格和 delta 变更管理。</a:t>
            </a:r>
            <a:endParaRPr sz="1100" b="0">
              <a:solidFill>
                <a:srgbClr val="CCCCCC"/>
              </a:solidFill>
            </a:endParaRPr>
          </a:p>
        </p:txBody>
      </p:sp>
      <p:sp>
        <p:nvSpPr>
          <p:cNvPr id="50" name="TextBox 49"/>
          <p:cNvSpPr txBox="1"/>
          <p:nvPr/>
        </p:nvSpPr>
        <p:spPr>
          <a:xfrm>
            <a:off x="457200" y="6053328"/>
            <a:ext cx="9144000" cy="228600"/>
          </a:xfrm>
          <a:prstGeom prst="rect">
            <a:avLst/>
          </a:prstGeom>
          <a:noFill/>
        </p:spPr>
        <p:txBody>
          <a:bodyPr wrap="none">
            <a:spAutoFit/>
          </a:bodyPr>
          <a:lstStyle/>
          <a:p>
            <a:r>
              <a:rPr sz="800" b="0">
                <a:solidFill>
                  <a:srgbClr val="999999"/>
                </a:solidFill>
                <a:latin typeface="Microsoft YaHei" panose="020B0503020204020204" charset="-122"/>
                <a:ea typeface="Microsoft YaHei" panose="020B0503020204020204" charset="-122"/>
              </a:rPr>
              <a:t>数据来源：华为云 CodeArts Req 官方文档 | IT之家 (2025.6) | AI工具集 | Martin Fowler SDD 对比</a:t>
            </a:r>
            <a:endParaRPr sz="800" b="0">
              <a:solidFill>
                <a:srgbClr val="999999"/>
              </a:solidFill>
            </a:endParaRPr>
          </a:p>
        </p:txBody>
      </p:sp>
      <p:sp>
        <p:nvSpPr>
          <p:cNvPr id="51" name="TextBox 50"/>
          <p:cNvSpPr txBox="1"/>
          <p:nvPr/>
        </p:nvSpPr>
        <p:spPr>
          <a:xfrm>
            <a:off x="11091672" y="6400800"/>
            <a:ext cx="914400" cy="365760"/>
          </a:xfrm>
          <a:prstGeom prst="rect">
            <a:avLst/>
          </a:prstGeom>
          <a:noFill/>
        </p:spPr>
        <p:txBody>
          <a:bodyPr wrap="none">
            <a:spAutoFit/>
          </a:bodyPr>
          <a:lstStyle/>
          <a:p>
            <a:pPr algn="r"/>
            <a:r>
              <a:rPr sz="1000" b="0">
                <a:solidFill>
                  <a:srgbClr val="999999"/>
                </a:solidFill>
                <a:latin typeface="Microsoft YaHei" panose="020B0503020204020204" charset="-122"/>
                <a:ea typeface="Microsoft YaHei" panose="020B0503020204020204" charset="-122"/>
              </a:rPr>
              <a:t>17/41</a:t>
            </a:r>
            <a:endParaRPr sz="1000" b="0">
              <a:solidFill>
                <a:srgbClr val="999999"/>
              </a:solidFill>
            </a:endParaRPr>
          </a:p>
        </p:txBody>
      </p:sp>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88952"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84848"/>
            <a:ext cx="12188952" cy="73152"/>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82880"/>
            <a:ext cx="10972800" cy="460375"/>
          </a:xfrm>
          <a:prstGeom prst="rect">
            <a:avLst/>
          </a:prstGeom>
          <a:noFill/>
        </p:spPr>
        <p:txBody>
          <a:bodyPr wrap="square">
            <a:spAutoFit/>
          </a:bodyPr>
          <a:lstStyle/>
          <a:p>
            <a:r>
              <a:rPr sz="2400" b="1">
                <a:solidFill>
                  <a:srgbClr val="1A1A2E"/>
                </a:solidFill>
                <a:latin typeface="Microsoft YaHei" panose="020B0503020204020204" charset="-122"/>
                <a:ea typeface="Microsoft YaHei" panose="020B0503020204020204" charset="-122"/>
              </a:rPr>
              <a:t>OpenSpec</a:t>
            </a:r>
            <a:r>
              <a:rPr lang="en-US" sz="2400" b="1">
                <a:solidFill>
                  <a:srgbClr val="1A1A2E"/>
                </a:solidFill>
                <a:latin typeface="Microsoft YaHei" panose="020B0503020204020204" charset="-122"/>
                <a:ea typeface="Microsoft YaHei" panose="020B0503020204020204" charset="-122"/>
              </a:rPr>
              <a:t>-HW2  </a:t>
            </a:r>
            <a:r>
              <a:rPr lang="zh-CN" altLang="en-US" sz="2400" b="1">
                <a:solidFill>
                  <a:srgbClr val="1A1A2E"/>
                </a:solidFill>
                <a:latin typeface="Microsoft YaHei" panose="020B0503020204020204" charset="-122"/>
                <a:ea typeface="Microsoft YaHei" panose="020B0503020204020204" charset="-122"/>
              </a:rPr>
              <a:t>（或类似工具平台）</a:t>
            </a:r>
            <a:r>
              <a:rPr sz="2400" b="1">
                <a:solidFill>
                  <a:srgbClr val="1A1A2E"/>
                </a:solidFill>
                <a:latin typeface="Microsoft YaHei" panose="020B0503020204020204" charset="-122"/>
                <a:ea typeface="Microsoft YaHei" panose="020B0503020204020204" charset="-122"/>
              </a:rPr>
              <a:t> 现有不足与改进空间</a:t>
            </a:r>
            <a:endParaRPr sz="2400" b="1">
              <a:solidFill>
                <a:srgbClr val="1A1A2E"/>
              </a:solidFill>
              <a:latin typeface="Microsoft YaHei" panose="020B0503020204020204" charset="-122"/>
              <a:ea typeface="Microsoft YaHei" panose="020B0503020204020204" charset="-122"/>
            </a:endParaRPr>
          </a:p>
        </p:txBody>
      </p:sp>
      <p:sp>
        <p:nvSpPr>
          <p:cNvPr id="5" name="TextBox 4"/>
          <p:cNvSpPr txBox="1"/>
          <p:nvPr/>
        </p:nvSpPr>
        <p:spPr>
          <a:xfrm>
            <a:off x="640080" y="685800"/>
            <a:ext cx="10972800" cy="365760"/>
          </a:xfrm>
          <a:prstGeom prst="rect">
            <a:avLst/>
          </a:prstGeom>
          <a:noFill/>
        </p:spPr>
        <p:txBody>
          <a:bodyPr wrap="square">
            <a:spAutoFit/>
          </a:bodyPr>
          <a:lstStyle/>
          <a:p>
            <a:r>
              <a:rPr sz="1300" b="0">
                <a:solidFill>
                  <a:srgbClr val="555555"/>
                </a:solidFill>
                <a:latin typeface="Microsoft YaHei" panose="020B0503020204020204" charset="-122"/>
                <a:ea typeface="Microsoft YaHei" panose="020B0503020204020204" charset="-122"/>
              </a:rPr>
              <a:t>竞品未解决这些问题 → 改进这些不足既能补自身短板，又能形成差异化优势</a:t>
            </a:r>
            <a:endParaRPr sz="1300" b="0">
              <a:solidFill>
                <a:srgbClr val="555555"/>
              </a:solidFill>
              <a:latin typeface="Microsoft YaHei" panose="020B0503020204020204" charset="-122"/>
              <a:ea typeface="Microsoft YaHei" panose="020B0503020204020204" charset="-122"/>
            </a:endParaRPr>
          </a:p>
        </p:txBody>
      </p:sp>
      <p:sp>
        <p:nvSpPr>
          <p:cNvPr id="6" name="Rectangle 5"/>
          <p:cNvSpPr/>
          <p:nvPr/>
        </p:nvSpPr>
        <p:spPr>
          <a:xfrm>
            <a:off x="640080" y="1097280"/>
            <a:ext cx="10881360" cy="18288"/>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457200" cy="274320"/>
          </a:xfrm>
          <a:prstGeom prst="rect">
            <a:avLst/>
          </a:prstGeom>
          <a:noFill/>
        </p:spPr>
        <p:txBody>
          <a:bodyPr wrap="square">
            <a:spAutoFit/>
          </a:bodyPr>
          <a:lstStyle/>
          <a:p>
            <a:r>
              <a:rPr sz="1100" b="1">
                <a:solidFill>
                  <a:srgbClr val="888888"/>
                </a:solidFill>
                <a:latin typeface="Microsoft YaHei" panose="020B0503020204020204" charset="-122"/>
                <a:ea typeface="Microsoft YaHei" panose="020B0503020204020204" charset="-122"/>
              </a:rPr>
              <a:t>#</a:t>
            </a:r>
            <a:endParaRPr sz="1100" b="1">
              <a:solidFill>
                <a:srgbClr val="888888"/>
              </a:solidFill>
              <a:latin typeface="Microsoft YaHei" panose="020B0503020204020204" charset="-122"/>
              <a:ea typeface="Microsoft YaHei" panose="020B0503020204020204" charset="-122"/>
            </a:endParaRPr>
          </a:p>
        </p:txBody>
      </p:sp>
      <p:sp>
        <p:nvSpPr>
          <p:cNvPr id="8" name="TextBox 7"/>
          <p:cNvSpPr txBox="1"/>
          <p:nvPr/>
        </p:nvSpPr>
        <p:spPr>
          <a:xfrm>
            <a:off x="1897380" y="1224915"/>
            <a:ext cx="4114800" cy="274320"/>
          </a:xfrm>
          <a:prstGeom prst="rect">
            <a:avLst/>
          </a:prstGeom>
          <a:noFill/>
        </p:spPr>
        <p:txBody>
          <a:bodyPr wrap="square">
            <a:spAutoFit/>
          </a:bodyPr>
          <a:lstStyle/>
          <a:p>
            <a:r>
              <a:rPr sz="1200" b="1">
                <a:solidFill>
                  <a:srgbClr val="1A1A2E"/>
                </a:solidFill>
                <a:latin typeface="Microsoft YaHei" panose="020B0503020204020204" charset="-122"/>
                <a:ea typeface="Microsoft YaHei" panose="020B0503020204020204" charset="-122"/>
              </a:rPr>
              <a:t>OpenSpec 现有不足</a:t>
            </a:r>
            <a:endParaRPr sz="1200" b="1">
              <a:solidFill>
                <a:srgbClr val="1A1A2E"/>
              </a:solidFill>
              <a:latin typeface="Microsoft YaHei" panose="020B0503020204020204" charset="-122"/>
              <a:ea typeface="Microsoft YaHei" panose="020B0503020204020204" charset="-122"/>
            </a:endParaRPr>
          </a:p>
        </p:txBody>
      </p:sp>
      <p:sp>
        <p:nvSpPr>
          <p:cNvPr id="10" name="TextBox 9"/>
          <p:cNvSpPr txBox="1"/>
          <p:nvPr/>
        </p:nvSpPr>
        <p:spPr>
          <a:xfrm>
            <a:off x="6986905" y="1194435"/>
            <a:ext cx="3200400" cy="274320"/>
          </a:xfrm>
          <a:prstGeom prst="rect">
            <a:avLst/>
          </a:prstGeom>
          <a:noFill/>
        </p:spPr>
        <p:txBody>
          <a:bodyPr wrap="square">
            <a:spAutoFit/>
          </a:bodyPr>
          <a:lstStyle/>
          <a:p>
            <a:r>
              <a:rPr sz="1200" b="1">
                <a:solidFill>
                  <a:srgbClr val="0078D4"/>
                </a:solidFill>
                <a:latin typeface="Microsoft YaHei" panose="020B0503020204020204" charset="-122"/>
                <a:ea typeface="Microsoft YaHei" panose="020B0503020204020204" charset="-122"/>
              </a:rPr>
              <a:t>→ 改进方向</a:t>
            </a:r>
            <a:endParaRPr sz="1200" b="1">
              <a:solidFill>
                <a:srgbClr val="0078D4"/>
              </a:solidFill>
              <a:latin typeface="Microsoft YaHei" panose="020B0503020204020204" charset="-122"/>
              <a:ea typeface="Microsoft YaHei" panose="020B0503020204020204" charset="-122"/>
            </a:endParaRPr>
          </a:p>
        </p:txBody>
      </p:sp>
      <p:sp>
        <p:nvSpPr>
          <p:cNvPr id="11" name="Rectangle 10"/>
          <p:cNvSpPr/>
          <p:nvPr/>
        </p:nvSpPr>
        <p:spPr>
          <a:xfrm>
            <a:off x="640080" y="1508760"/>
            <a:ext cx="10881360" cy="9144"/>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606040"/>
            <a:ext cx="10881360" cy="9144"/>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3703320"/>
            <a:ext cx="10881360" cy="9144"/>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4800600"/>
            <a:ext cx="10881360" cy="9144"/>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1645920"/>
            <a:ext cx="457200" cy="274320"/>
          </a:xfrm>
          <a:prstGeom prst="rect">
            <a:avLst/>
          </a:prstGeom>
          <a:noFill/>
        </p:spPr>
        <p:txBody>
          <a:bodyPr wrap="square">
            <a:spAutoFit/>
          </a:bodyPr>
          <a:lstStyle/>
          <a:p>
            <a:r>
              <a:rPr sz="1800" b="1">
                <a:solidFill>
                  <a:srgbClr val="0078D4"/>
                </a:solidFill>
                <a:latin typeface="Microsoft YaHei" panose="020B0503020204020204" charset="-122"/>
                <a:ea typeface="Microsoft YaHei" panose="020B0503020204020204" charset="-122"/>
              </a:rPr>
              <a:t>1</a:t>
            </a:r>
            <a:endParaRPr sz="1800" b="1">
              <a:solidFill>
                <a:srgbClr val="0078D4"/>
              </a:solidFill>
              <a:latin typeface="Microsoft YaHei" panose="020B0503020204020204" charset="-122"/>
              <a:ea typeface="Microsoft YaHei" panose="020B0503020204020204" charset="-122"/>
            </a:endParaRPr>
          </a:p>
        </p:txBody>
      </p:sp>
      <p:sp>
        <p:nvSpPr>
          <p:cNvPr id="16" name="TextBox 15"/>
          <p:cNvSpPr txBox="1"/>
          <p:nvPr/>
        </p:nvSpPr>
        <p:spPr>
          <a:xfrm>
            <a:off x="1897380" y="1609090"/>
            <a:ext cx="4023360" cy="598805"/>
          </a:xfrm>
          <a:prstGeom prst="rect">
            <a:avLst/>
          </a:prstGeom>
          <a:noFill/>
        </p:spPr>
        <p:txBody>
          <a:bodyPr wrap="square">
            <a:spAutoFit/>
          </a:bodyPr>
          <a:lstStyle/>
          <a:p>
            <a:r>
              <a:rPr sz="1100" b="1">
                <a:solidFill>
                  <a:srgbClr val="333333"/>
                </a:solidFill>
                <a:latin typeface="Microsoft YaHei" panose="020B0503020204020204" charset="-122"/>
                <a:ea typeface="Microsoft YaHei" panose="020B0503020204020204" charset="-122"/>
              </a:rPr>
              <a:t>没有 Spec 质量审查机制</a:t>
            </a:r>
            <a:endParaRPr sz="1100" b="1">
              <a:solidFill>
                <a:srgbClr val="333333"/>
              </a:solidFill>
              <a:latin typeface="Microsoft YaHei" panose="020B0503020204020204" charset="-122"/>
              <a:ea typeface="Microsoft YaHei" panose="020B0503020204020204" charset="-122"/>
            </a:endParaRPr>
          </a:p>
          <a:p>
            <a:r>
              <a:rPr sz="1100" b="0">
                <a:solidFill>
                  <a:srgbClr val="333333"/>
                </a:solidFill>
                <a:latin typeface="Microsoft YaHei" panose="020B0503020204020204" charset="-122"/>
                <a:ea typeface="Microsoft YaHei" panose="020B0503020204020204" charset="-122"/>
              </a:rPr>
              <a:t>Spec 生成后直接用于实现，遗漏、矛盾、</a:t>
            </a:r>
            <a:endParaRPr sz="1100" b="0">
              <a:solidFill>
                <a:srgbClr val="333333"/>
              </a:solidFill>
              <a:latin typeface="Microsoft YaHei" panose="020B0503020204020204" charset="-122"/>
              <a:ea typeface="Microsoft YaHei" panose="020B0503020204020204" charset="-122"/>
            </a:endParaRPr>
          </a:p>
          <a:p>
            <a:r>
              <a:rPr sz="1100" b="0">
                <a:solidFill>
                  <a:srgbClr val="333333"/>
                </a:solidFill>
                <a:latin typeface="Microsoft YaHei" panose="020B0503020204020204" charset="-122"/>
                <a:ea typeface="Microsoft YaHei" panose="020B0503020204020204" charset="-122"/>
              </a:rPr>
              <a:t>模糊之处</a:t>
            </a:r>
            <a:r>
              <a:rPr lang="zh-CN" sz="1100" b="0">
                <a:solidFill>
                  <a:srgbClr val="333333"/>
                </a:solidFill>
                <a:latin typeface="Microsoft YaHei" panose="020B0503020204020204" charset="-122"/>
                <a:ea typeface="Microsoft YaHei" panose="020B0503020204020204" charset="-122"/>
              </a:rPr>
              <a:t>需要依赖用户进行</a:t>
            </a:r>
            <a:r>
              <a:rPr sz="1100" b="0">
                <a:solidFill>
                  <a:srgbClr val="333333"/>
                </a:solidFill>
                <a:latin typeface="Microsoft YaHei" panose="020B0503020204020204" charset="-122"/>
                <a:ea typeface="Microsoft YaHei" panose="020B0503020204020204" charset="-122"/>
              </a:rPr>
              <a:t>人工</a:t>
            </a:r>
            <a:r>
              <a:rPr lang="zh-CN" sz="1100" b="0">
                <a:solidFill>
                  <a:srgbClr val="333333"/>
                </a:solidFill>
                <a:latin typeface="Microsoft YaHei" panose="020B0503020204020204" charset="-122"/>
                <a:ea typeface="Microsoft YaHei" panose="020B0503020204020204" charset="-122"/>
              </a:rPr>
              <a:t>检查</a:t>
            </a:r>
            <a:r>
              <a:rPr sz="1100" b="0">
                <a:solidFill>
                  <a:srgbClr val="333333"/>
                </a:solidFill>
                <a:latin typeface="Microsoft YaHei" panose="020B0503020204020204" charset="-122"/>
                <a:ea typeface="Microsoft YaHei" panose="020B0503020204020204" charset="-122"/>
              </a:rPr>
              <a:t>发现</a:t>
            </a:r>
            <a:endParaRPr sz="1100" b="0">
              <a:solidFill>
                <a:srgbClr val="333333"/>
              </a:solidFill>
              <a:latin typeface="Microsoft YaHei" panose="020B0503020204020204" charset="-122"/>
              <a:ea typeface="Microsoft YaHei" panose="020B0503020204020204" charset="-122"/>
            </a:endParaRPr>
          </a:p>
        </p:txBody>
      </p:sp>
      <p:sp>
        <p:nvSpPr>
          <p:cNvPr id="18" name="TextBox 17"/>
          <p:cNvSpPr txBox="1"/>
          <p:nvPr/>
        </p:nvSpPr>
        <p:spPr>
          <a:xfrm>
            <a:off x="6986905" y="1600200"/>
            <a:ext cx="2926080" cy="914400"/>
          </a:xfrm>
          <a:prstGeom prst="rect">
            <a:avLst/>
          </a:prstGeom>
          <a:noFill/>
        </p:spPr>
        <p:txBody>
          <a:bodyPr wrap="square">
            <a:spAutoFit/>
          </a:bodyPr>
          <a:lstStyle/>
          <a:p>
            <a:r>
              <a:rPr sz="1100" b="1">
                <a:solidFill>
                  <a:srgbClr val="0078D4"/>
                </a:solidFill>
                <a:latin typeface="Microsoft YaHei" panose="020B0503020204020204" charset="-122"/>
                <a:ea typeface="Microsoft YaHei" panose="020B0503020204020204" charset="-122"/>
              </a:rPr>
              <a:t>Multi-Perspective</a:t>
            </a:r>
            <a:endParaRPr sz="1100" b="1">
              <a:solidFill>
                <a:srgbClr val="0078D4"/>
              </a:solidFill>
              <a:latin typeface="Microsoft YaHei" panose="020B0503020204020204" charset="-122"/>
              <a:ea typeface="Microsoft YaHei" panose="020B0503020204020204" charset="-122"/>
            </a:endParaRPr>
          </a:p>
          <a:p>
            <a:r>
              <a:rPr sz="1100" b="1">
                <a:solidFill>
                  <a:srgbClr val="0078D4"/>
                </a:solidFill>
                <a:latin typeface="Microsoft YaHei" panose="020B0503020204020204" charset="-122"/>
                <a:ea typeface="Microsoft YaHei" panose="020B0503020204020204" charset="-122"/>
              </a:rPr>
              <a:t>Spec Testing</a:t>
            </a:r>
            <a:endParaRPr sz="1100" b="1">
              <a:solidFill>
                <a:srgbClr val="0078D4"/>
              </a:solidFill>
              <a:latin typeface="Microsoft YaHei" panose="020B0503020204020204" charset="-122"/>
              <a:ea typeface="Microsoft YaHei" panose="020B0503020204020204" charset="-122"/>
            </a:endParaRPr>
          </a:p>
          <a:p>
            <a:r>
              <a:rPr sz="1100" b="0">
                <a:solidFill>
                  <a:srgbClr val="0078D4"/>
                </a:solidFill>
                <a:latin typeface="Microsoft YaHei" panose="020B0503020204020204" charset="-122"/>
                <a:ea typeface="Microsoft YaHei" panose="020B0503020204020204" charset="-122"/>
              </a:rPr>
              <a:t>多视角自动审查 spec 完整性</a:t>
            </a:r>
            <a:endParaRPr sz="1100" b="0">
              <a:solidFill>
                <a:srgbClr val="0078D4"/>
              </a:solidFill>
              <a:latin typeface="Microsoft YaHei" panose="020B0503020204020204" charset="-122"/>
              <a:ea typeface="Microsoft YaHei" panose="020B0503020204020204" charset="-122"/>
            </a:endParaRPr>
          </a:p>
        </p:txBody>
      </p:sp>
      <p:sp>
        <p:nvSpPr>
          <p:cNvPr id="19" name="TextBox 18"/>
          <p:cNvSpPr txBox="1"/>
          <p:nvPr/>
        </p:nvSpPr>
        <p:spPr>
          <a:xfrm>
            <a:off x="640080" y="2743200"/>
            <a:ext cx="457200" cy="274320"/>
          </a:xfrm>
          <a:prstGeom prst="rect">
            <a:avLst/>
          </a:prstGeom>
          <a:noFill/>
        </p:spPr>
        <p:txBody>
          <a:bodyPr wrap="square">
            <a:spAutoFit/>
          </a:bodyPr>
          <a:lstStyle/>
          <a:p>
            <a:r>
              <a:rPr sz="1800" b="1">
                <a:solidFill>
                  <a:srgbClr val="107C10"/>
                </a:solidFill>
                <a:latin typeface="Microsoft YaHei" panose="020B0503020204020204" charset="-122"/>
                <a:ea typeface="Microsoft YaHei" panose="020B0503020204020204" charset="-122"/>
              </a:rPr>
              <a:t>2</a:t>
            </a:r>
            <a:endParaRPr sz="1800" b="1">
              <a:solidFill>
                <a:srgbClr val="107C10"/>
              </a:solidFill>
              <a:latin typeface="Microsoft YaHei" panose="020B0503020204020204" charset="-122"/>
              <a:ea typeface="Microsoft YaHei" panose="020B0503020204020204" charset="-122"/>
            </a:endParaRPr>
          </a:p>
        </p:txBody>
      </p:sp>
      <p:sp>
        <p:nvSpPr>
          <p:cNvPr id="20" name="TextBox 19"/>
          <p:cNvSpPr txBox="1"/>
          <p:nvPr/>
        </p:nvSpPr>
        <p:spPr>
          <a:xfrm>
            <a:off x="1897380" y="2715260"/>
            <a:ext cx="4023360" cy="598805"/>
          </a:xfrm>
          <a:prstGeom prst="rect">
            <a:avLst/>
          </a:prstGeom>
          <a:noFill/>
        </p:spPr>
        <p:txBody>
          <a:bodyPr wrap="square">
            <a:spAutoFit/>
          </a:bodyPr>
          <a:lstStyle/>
          <a:p>
            <a:r>
              <a:rPr sz="1100" b="1">
                <a:solidFill>
                  <a:srgbClr val="333333"/>
                </a:solidFill>
                <a:latin typeface="Microsoft YaHei" panose="020B0503020204020204" charset="-122"/>
                <a:ea typeface="Microsoft YaHei" panose="020B0503020204020204" charset="-122"/>
              </a:rPr>
              <a:t>Spec 只是 Markdown 文档</a:t>
            </a:r>
            <a:endParaRPr sz="1100" b="1">
              <a:solidFill>
                <a:srgbClr val="333333"/>
              </a:solidFill>
              <a:latin typeface="Microsoft YaHei" panose="020B0503020204020204" charset="-122"/>
              <a:ea typeface="Microsoft YaHei" panose="020B0503020204020204" charset="-122"/>
            </a:endParaRPr>
          </a:p>
          <a:p>
            <a:r>
              <a:rPr sz="1100" b="0">
                <a:solidFill>
                  <a:srgbClr val="333333"/>
                </a:solidFill>
                <a:latin typeface="Microsoft YaHei" panose="020B0503020204020204" charset="-122"/>
                <a:ea typeface="Microsoft YaHei" panose="020B0503020204020204" charset="-122"/>
              </a:rPr>
              <a:t>Apply 阶段 AI </a:t>
            </a:r>
            <a:r>
              <a:rPr lang="zh-CN" sz="1100" b="0">
                <a:solidFill>
                  <a:srgbClr val="333333"/>
                </a:solidFill>
                <a:latin typeface="Microsoft YaHei" panose="020B0503020204020204" charset="-122"/>
                <a:ea typeface="Microsoft YaHei" panose="020B0503020204020204" charset="-122"/>
              </a:rPr>
              <a:t>可能潜在的</a:t>
            </a:r>
            <a:r>
              <a:rPr sz="1100" b="0">
                <a:solidFill>
                  <a:srgbClr val="333333"/>
                </a:solidFill>
                <a:latin typeface="Microsoft YaHei" panose="020B0503020204020204" charset="-122"/>
                <a:ea typeface="Microsoft YaHei" panose="020B0503020204020204" charset="-122"/>
              </a:rPr>
              <a:t>偏离 spec</a:t>
            </a:r>
            <a:r>
              <a:rPr lang="zh-CN" sz="1100" b="0">
                <a:solidFill>
                  <a:srgbClr val="333333"/>
                </a:solidFill>
                <a:latin typeface="Microsoft YaHei" panose="020B0503020204020204" charset="-122"/>
                <a:ea typeface="Microsoft YaHei" panose="020B0503020204020204" charset="-122"/>
              </a:rPr>
              <a:t>，如果</a:t>
            </a:r>
            <a:r>
              <a:rPr sz="1100" b="0">
                <a:solidFill>
                  <a:srgbClr val="333333"/>
                </a:solidFill>
                <a:latin typeface="Microsoft YaHei" panose="020B0503020204020204" charset="-122"/>
                <a:ea typeface="Microsoft YaHei" panose="020B0503020204020204" charset="-122"/>
              </a:rPr>
              <a:t>没有</a:t>
            </a:r>
            <a:endParaRPr sz="1100" b="0">
              <a:solidFill>
                <a:srgbClr val="333333"/>
              </a:solidFill>
              <a:latin typeface="Microsoft YaHei" panose="020B0503020204020204" charset="-122"/>
              <a:ea typeface="Microsoft YaHei" panose="020B0503020204020204" charset="-122"/>
            </a:endParaRPr>
          </a:p>
          <a:p>
            <a:r>
              <a:rPr sz="1100" b="0">
                <a:solidFill>
                  <a:srgbClr val="333333"/>
                </a:solidFill>
                <a:latin typeface="Microsoft YaHei" panose="020B0503020204020204" charset="-122"/>
                <a:ea typeface="Microsoft YaHei" panose="020B0503020204020204" charset="-122"/>
              </a:rPr>
              <a:t>强制约束机制，违规无法自动拦截</a:t>
            </a:r>
            <a:endParaRPr sz="1100" b="0">
              <a:solidFill>
                <a:srgbClr val="333333"/>
              </a:solidFill>
              <a:latin typeface="Microsoft YaHei" panose="020B0503020204020204" charset="-122"/>
              <a:ea typeface="Microsoft YaHei" panose="020B0503020204020204" charset="-122"/>
            </a:endParaRPr>
          </a:p>
        </p:txBody>
      </p:sp>
      <p:sp>
        <p:nvSpPr>
          <p:cNvPr id="22" name="TextBox 21"/>
          <p:cNvSpPr txBox="1"/>
          <p:nvPr/>
        </p:nvSpPr>
        <p:spPr>
          <a:xfrm>
            <a:off x="7063740" y="2697480"/>
            <a:ext cx="2926080" cy="914400"/>
          </a:xfrm>
          <a:prstGeom prst="rect">
            <a:avLst/>
          </a:prstGeom>
          <a:noFill/>
        </p:spPr>
        <p:txBody>
          <a:bodyPr wrap="square">
            <a:spAutoFit/>
          </a:bodyPr>
          <a:lstStyle/>
          <a:p>
            <a:r>
              <a:rPr sz="1100" b="1">
                <a:solidFill>
                  <a:srgbClr val="107C10"/>
                </a:solidFill>
                <a:latin typeface="Microsoft YaHei" panose="020B0503020204020204" charset="-122"/>
                <a:ea typeface="Microsoft YaHei" panose="020B0503020204020204" charset="-122"/>
              </a:rPr>
              <a:t>Spec-as-Runtime</a:t>
            </a:r>
            <a:endParaRPr sz="1100" b="1">
              <a:solidFill>
                <a:srgbClr val="107C10"/>
              </a:solidFill>
              <a:latin typeface="Microsoft YaHei" panose="020B0503020204020204" charset="-122"/>
              <a:ea typeface="Microsoft YaHei" panose="020B0503020204020204" charset="-122"/>
            </a:endParaRPr>
          </a:p>
          <a:p>
            <a:r>
              <a:rPr sz="1100" b="1">
                <a:solidFill>
                  <a:srgbClr val="107C10"/>
                </a:solidFill>
                <a:latin typeface="Microsoft YaHei" panose="020B0503020204020204" charset="-122"/>
                <a:ea typeface="Microsoft YaHei" panose="020B0503020204020204" charset="-122"/>
              </a:rPr>
              <a:t>Guardrail</a:t>
            </a:r>
            <a:endParaRPr sz="1100" b="1">
              <a:solidFill>
                <a:srgbClr val="107C10"/>
              </a:solidFill>
              <a:latin typeface="Microsoft YaHei" panose="020B0503020204020204" charset="-122"/>
              <a:ea typeface="Microsoft YaHei" panose="020B0503020204020204" charset="-122"/>
            </a:endParaRPr>
          </a:p>
          <a:p>
            <a:r>
              <a:rPr sz="1100" b="0">
                <a:solidFill>
                  <a:srgbClr val="107C10"/>
                </a:solidFill>
                <a:latin typeface="Microsoft YaHei" panose="020B0503020204020204" charset="-122"/>
                <a:ea typeface="Microsoft YaHei" panose="020B0503020204020204" charset="-122"/>
              </a:rPr>
              <a:t>Spec 编译为运行时约束</a:t>
            </a:r>
            <a:endParaRPr sz="1100" b="0">
              <a:solidFill>
                <a:srgbClr val="107C10"/>
              </a:solidFill>
              <a:latin typeface="Microsoft YaHei" panose="020B0503020204020204" charset="-122"/>
              <a:ea typeface="Microsoft YaHei" panose="020B0503020204020204" charset="-122"/>
            </a:endParaRPr>
          </a:p>
        </p:txBody>
      </p:sp>
      <p:sp>
        <p:nvSpPr>
          <p:cNvPr id="23" name="TextBox 22"/>
          <p:cNvSpPr txBox="1"/>
          <p:nvPr/>
        </p:nvSpPr>
        <p:spPr>
          <a:xfrm>
            <a:off x="640080" y="3840480"/>
            <a:ext cx="457200" cy="274320"/>
          </a:xfrm>
          <a:prstGeom prst="rect">
            <a:avLst/>
          </a:prstGeom>
          <a:noFill/>
        </p:spPr>
        <p:txBody>
          <a:bodyPr wrap="square">
            <a:spAutoFit/>
          </a:bodyPr>
          <a:lstStyle/>
          <a:p>
            <a:r>
              <a:rPr sz="1800" b="1">
                <a:solidFill>
                  <a:srgbClr val="E86C00"/>
                </a:solidFill>
                <a:latin typeface="Microsoft YaHei" panose="020B0503020204020204" charset="-122"/>
                <a:ea typeface="Microsoft YaHei" panose="020B0503020204020204" charset="-122"/>
              </a:rPr>
              <a:t>3</a:t>
            </a:r>
            <a:endParaRPr sz="1800" b="1">
              <a:solidFill>
                <a:srgbClr val="E86C00"/>
              </a:solidFill>
              <a:latin typeface="Microsoft YaHei" panose="020B0503020204020204" charset="-122"/>
              <a:ea typeface="Microsoft YaHei" panose="020B0503020204020204" charset="-122"/>
            </a:endParaRPr>
          </a:p>
        </p:txBody>
      </p:sp>
      <p:sp>
        <p:nvSpPr>
          <p:cNvPr id="24" name="TextBox 23"/>
          <p:cNvSpPr txBox="1"/>
          <p:nvPr/>
        </p:nvSpPr>
        <p:spPr>
          <a:xfrm>
            <a:off x="1897380" y="3803650"/>
            <a:ext cx="4023360" cy="598805"/>
          </a:xfrm>
          <a:prstGeom prst="rect">
            <a:avLst/>
          </a:prstGeom>
          <a:noFill/>
        </p:spPr>
        <p:txBody>
          <a:bodyPr wrap="square">
            <a:spAutoFit/>
          </a:bodyPr>
          <a:lstStyle/>
          <a:p>
            <a:r>
              <a:rPr sz="1100" b="1">
                <a:solidFill>
                  <a:srgbClr val="333333"/>
                </a:solidFill>
                <a:latin typeface="Microsoft YaHei" panose="020B0503020204020204" charset="-122"/>
                <a:ea typeface="Microsoft YaHei" panose="020B0503020204020204" charset="-122"/>
              </a:rPr>
              <a:t>每次</a:t>
            </a:r>
            <a:r>
              <a:rPr lang="en-US" sz="1100" b="1">
                <a:solidFill>
                  <a:srgbClr val="333333"/>
                </a:solidFill>
                <a:latin typeface="Microsoft YaHei" panose="020B0503020204020204" charset="-122"/>
                <a:ea typeface="Microsoft YaHei" panose="020B0503020204020204" charset="-122"/>
              </a:rPr>
              <a:t>Spec</a:t>
            </a:r>
            <a:r>
              <a:rPr sz="1100" b="1">
                <a:solidFill>
                  <a:srgbClr val="333333"/>
                </a:solidFill>
                <a:latin typeface="Microsoft YaHei" panose="020B0503020204020204" charset="-122"/>
                <a:ea typeface="Microsoft YaHei" panose="020B0503020204020204" charset="-122"/>
              </a:rPr>
              <a:t>变更从零开始，无经验积累</a:t>
            </a:r>
            <a:endParaRPr sz="1100" b="1">
              <a:solidFill>
                <a:srgbClr val="333333"/>
              </a:solidFill>
              <a:latin typeface="Microsoft YaHei" panose="020B0503020204020204" charset="-122"/>
              <a:ea typeface="Microsoft YaHei" panose="020B0503020204020204" charset="-122"/>
            </a:endParaRPr>
          </a:p>
          <a:p>
            <a:r>
              <a:rPr sz="1100" b="0">
                <a:solidFill>
                  <a:srgbClr val="333333"/>
                </a:solidFill>
                <a:latin typeface="Microsoft YaHei" panose="020B0503020204020204" charset="-122"/>
                <a:ea typeface="Microsoft YaHei" panose="020B0503020204020204" charset="-122"/>
              </a:rPr>
              <a:t>不会从历史项目中学习哪些 spec 写法</a:t>
            </a:r>
            <a:endParaRPr sz="1100" b="0">
              <a:solidFill>
                <a:srgbClr val="333333"/>
              </a:solidFill>
              <a:latin typeface="Microsoft YaHei" panose="020B0503020204020204" charset="-122"/>
              <a:ea typeface="Microsoft YaHei" panose="020B0503020204020204" charset="-122"/>
            </a:endParaRPr>
          </a:p>
          <a:p>
            <a:r>
              <a:rPr sz="1100" b="0">
                <a:solidFill>
                  <a:srgbClr val="333333"/>
                </a:solidFill>
                <a:latin typeface="Microsoft YaHei" panose="020B0503020204020204" charset="-122"/>
                <a:ea typeface="Microsoft YaHei" panose="020B0503020204020204" charset="-122"/>
              </a:rPr>
              <a:t>有效，反复踩同样的坑</a:t>
            </a:r>
            <a:endParaRPr sz="1100" b="0">
              <a:solidFill>
                <a:srgbClr val="333333"/>
              </a:solidFill>
              <a:latin typeface="Microsoft YaHei" panose="020B0503020204020204" charset="-122"/>
              <a:ea typeface="Microsoft YaHei" panose="020B0503020204020204" charset="-122"/>
            </a:endParaRPr>
          </a:p>
        </p:txBody>
      </p:sp>
      <p:sp>
        <p:nvSpPr>
          <p:cNvPr id="26" name="TextBox 25"/>
          <p:cNvSpPr txBox="1"/>
          <p:nvPr/>
        </p:nvSpPr>
        <p:spPr>
          <a:xfrm>
            <a:off x="7124065" y="3794760"/>
            <a:ext cx="2926080" cy="914400"/>
          </a:xfrm>
          <a:prstGeom prst="rect">
            <a:avLst/>
          </a:prstGeom>
          <a:noFill/>
        </p:spPr>
        <p:txBody>
          <a:bodyPr wrap="square">
            <a:spAutoFit/>
          </a:bodyPr>
          <a:lstStyle/>
          <a:p>
            <a:r>
              <a:rPr sz="1100" b="1">
                <a:solidFill>
                  <a:srgbClr val="E86C00"/>
                </a:solidFill>
                <a:latin typeface="Microsoft YaHei" panose="020B0503020204020204" charset="-122"/>
                <a:ea typeface="Microsoft YaHei" panose="020B0503020204020204" charset="-122"/>
              </a:rPr>
              <a:t>Self-Evolving</a:t>
            </a:r>
            <a:endParaRPr sz="1100" b="1">
              <a:solidFill>
                <a:srgbClr val="E86C00"/>
              </a:solidFill>
              <a:latin typeface="Microsoft YaHei" panose="020B0503020204020204" charset="-122"/>
              <a:ea typeface="Microsoft YaHei" panose="020B0503020204020204" charset="-122"/>
            </a:endParaRPr>
          </a:p>
          <a:p>
            <a:r>
              <a:rPr sz="1100" b="1">
                <a:solidFill>
                  <a:srgbClr val="E86C00"/>
                </a:solidFill>
                <a:latin typeface="Microsoft YaHei" panose="020B0503020204020204" charset="-122"/>
                <a:ea typeface="Microsoft YaHei" panose="020B0503020204020204" charset="-122"/>
              </a:rPr>
              <a:t>Spec Agents</a:t>
            </a:r>
            <a:endParaRPr sz="1100" b="1">
              <a:solidFill>
                <a:srgbClr val="E86C00"/>
              </a:solidFill>
              <a:latin typeface="Microsoft YaHei" panose="020B0503020204020204" charset="-122"/>
              <a:ea typeface="Microsoft YaHei" panose="020B0503020204020204" charset="-122"/>
            </a:endParaRPr>
          </a:p>
          <a:p>
            <a:r>
              <a:rPr sz="1100" b="0">
                <a:solidFill>
                  <a:srgbClr val="E86C00"/>
                </a:solidFill>
                <a:latin typeface="Microsoft YaHei" panose="020B0503020204020204" charset="-122"/>
                <a:ea typeface="Microsoft YaHei" panose="020B0503020204020204" charset="-122"/>
              </a:rPr>
              <a:t>自动提炼经验，持续进化</a:t>
            </a:r>
            <a:endParaRPr sz="1100" b="0">
              <a:solidFill>
                <a:srgbClr val="E86C00"/>
              </a:solidFill>
              <a:latin typeface="Microsoft YaHei" panose="020B0503020204020204" charset="-122"/>
              <a:ea typeface="Microsoft YaHei" panose="020B0503020204020204" charset="-122"/>
            </a:endParaRPr>
          </a:p>
        </p:txBody>
      </p:sp>
      <p:sp>
        <p:nvSpPr>
          <p:cNvPr id="27" name="TextBox 26"/>
          <p:cNvSpPr txBox="1"/>
          <p:nvPr/>
        </p:nvSpPr>
        <p:spPr>
          <a:xfrm>
            <a:off x="640080" y="4937760"/>
            <a:ext cx="457200" cy="274320"/>
          </a:xfrm>
          <a:prstGeom prst="rect">
            <a:avLst/>
          </a:prstGeom>
          <a:noFill/>
        </p:spPr>
        <p:txBody>
          <a:bodyPr wrap="square">
            <a:spAutoFit/>
          </a:bodyPr>
          <a:lstStyle/>
          <a:p>
            <a:r>
              <a:rPr sz="1800" b="1">
                <a:solidFill>
                  <a:srgbClr val="D13438"/>
                </a:solidFill>
                <a:latin typeface="Microsoft YaHei" panose="020B0503020204020204" charset="-122"/>
                <a:ea typeface="Microsoft YaHei" panose="020B0503020204020204" charset="-122"/>
              </a:rPr>
              <a:t>4</a:t>
            </a:r>
            <a:endParaRPr sz="1800" b="1">
              <a:solidFill>
                <a:srgbClr val="D13438"/>
              </a:solidFill>
              <a:latin typeface="Microsoft YaHei" panose="020B0503020204020204" charset="-122"/>
              <a:ea typeface="Microsoft YaHei" panose="020B0503020204020204" charset="-122"/>
            </a:endParaRPr>
          </a:p>
        </p:txBody>
      </p:sp>
      <p:sp>
        <p:nvSpPr>
          <p:cNvPr id="28" name="TextBox 27"/>
          <p:cNvSpPr txBox="1"/>
          <p:nvPr/>
        </p:nvSpPr>
        <p:spPr>
          <a:xfrm>
            <a:off x="1897380" y="4892040"/>
            <a:ext cx="4023360" cy="598805"/>
          </a:xfrm>
          <a:prstGeom prst="rect">
            <a:avLst/>
          </a:prstGeom>
          <a:noFill/>
        </p:spPr>
        <p:txBody>
          <a:bodyPr wrap="square">
            <a:spAutoFit/>
          </a:bodyPr>
          <a:lstStyle/>
          <a:p>
            <a:r>
              <a:rPr sz="1100" b="1">
                <a:solidFill>
                  <a:srgbClr val="333333"/>
                </a:solidFill>
                <a:latin typeface="Microsoft YaHei" panose="020B0503020204020204" charset="-122"/>
                <a:ea typeface="Microsoft YaHei" panose="020B0503020204020204" charset="-122"/>
              </a:rPr>
              <a:t>通用框架，不懂行业知识</a:t>
            </a:r>
            <a:endParaRPr sz="1100" b="1">
              <a:solidFill>
                <a:srgbClr val="333333"/>
              </a:solidFill>
              <a:latin typeface="Microsoft YaHei" panose="020B0503020204020204" charset="-122"/>
              <a:ea typeface="Microsoft YaHei" panose="020B0503020204020204" charset="-122"/>
            </a:endParaRPr>
          </a:p>
          <a:p>
            <a:r>
              <a:rPr sz="1100" b="0">
                <a:solidFill>
                  <a:srgbClr val="333333"/>
                </a:solidFill>
                <a:latin typeface="Microsoft YaHei" panose="020B0503020204020204" charset="-122"/>
                <a:ea typeface="Microsoft YaHei" panose="020B0503020204020204" charset="-122"/>
              </a:rPr>
              <a:t>不理解 </a:t>
            </a:r>
            <a:r>
              <a:rPr lang="zh-CN" sz="1100" b="0">
                <a:solidFill>
                  <a:srgbClr val="333333"/>
                </a:solidFill>
                <a:latin typeface="Microsoft YaHei" panose="020B0503020204020204" charset="-122"/>
                <a:ea typeface="Microsoft YaHei" panose="020B0503020204020204" charset="-122"/>
              </a:rPr>
              <a:t>类似于通讯的</a:t>
            </a:r>
            <a:r>
              <a:rPr sz="1100" b="0">
                <a:solidFill>
                  <a:srgbClr val="333333"/>
                </a:solidFill>
                <a:latin typeface="Microsoft YaHei" panose="020B0503020204020204" charset="-122"/>
                <a:ea typeface="Microsoft YaHei" panose="020B0503020204020204" charset="-122"/>
              </a:rPr>
              <a:t>3GPP 等行业术语</a:t>
            </a:r>
            <a:endParaRPr sz="1100" b="0">
              <a:solidFill>
                <a:srgbClr val="333333"/>
              </a:solidFill>
              <a:latin typeface="Microsoft YaHei" panose="020B0503020204020204" charset="-122"/>
              <a:ea typeface="Microsoft YaHei" panose="020B0503020204020204" charset="-122"/>
            </a:endParaRPr>
          </a:p>
          <a:p>
            <a:r>
              <a:rPr sz="1100" b="0">
                <a:solidFill>
                  <a:srgbClr val="333333"/>
                </a:solidFill>
                <a:latin typeface="Microsoft YaHei" panose="020B0503020204020204" charset="-122"/>
                <a:ea typeface="Microsoft YaHei" panose="020B0503020204020204" charset="-122"/>
              </a:rPr>
              <a:t>和合规要求，生成的 spec 缺乏行业深度</a:t>
            </a:r>
            <a:endParaRPr sz="1100" b="0">
              <a:solidFill>
                <a:srgbClr val="333333"/>
              </a:solidFill>
              <a:latin typeface="Microsoft YaHei" panose="020B0503020204020204" charset="-122"/>
              <a:ea typeface="Microsoft YaHei" panose="020B0503020204020204" charset="-122"/>
            </a:endParaRPr>
          </a:p>
        </p:txBody>
      </p:sp>
      <p:sp>
        <p:nvSpPr>
          <p:cNvPr id="30" name="TextBox 29"/>
          <p:cNvSpPr txBox="1"/>
          <p:nvPr/>
        </p:nvSpPr>
        <p:spPr>
          <a:xfrm>
            <a:off x="7124065" y="4892040"/>
            <a:ext cx="2926080" cy="914400"/>
          </a:xfrm>
          <a:prstGeom prst="rect">
            <a:avLst/>
          </a:prstGeom>
          <a:noFill/>
        </p:spPr>
        <p:txBody>
          <a:bodyPr wrap="square">
            <a:spAutoFit/>
          </a:bodyPr>
          <a:lstStyle/>
          <a:p>
            <a:r>
              <a:rPr sz="1100" b="1">
                <a:solidFill>
                  <a:srgbClr val="D13438"/>
                </a:solidFill>
                <a:latin typeface="Microsoft YaHei" panose="020B0503020204020204" charset="-122"/>
                <a:ea typeface="Microsoft YaHei" panose="020B0503020204020204" charset="-122"/>
              </a:rPr>
              <a:t>Domain-Specific</a:t>
            </a:r>
            <a:endParaRPr sz="1100" b="1">
              <a:solidFill>
                <a:srgbClr val="D13438"/>
              </a:solidFill>
              <a:latin typeface="Microsoft YaHei" panose="020B0503020204020204" charset="-122"/>
              <a:ea typeface="Microsoft YaHei" panose="020B0503020204020204" charset="-122"/>
            </a:endParaRPr>
          </a:p>
          <a:p>
            <a:r>
              <a:rPr sz="1100" b="1">
                <a:solidFill>
                  <a:srgbClr val="D13438"/>
                </a:solidFill>
                <a:latin typeface="Microsoft YaHei" panose="020B0503020204020204" charset="-122"/>
                <a:ea typeface="Microsoft YaHei" panose="020B0503020204020204" charset="-122"/>
              </a:rPr>
              <a:t>Packs</a:t>
            </a:r>
            <a:endParaRPr sz="1100" b="1">
              <a:solidFill>
                <a:srgbClr val="D13438"/>
              </a:solidFill>
              <a:latin typeface="Microsoft YaHei" panose="020B0503020204020204" charset="-122"/>
              <a:ea typeface="Microsoft YaHei" panose="020B0503020204020204" charset="-122"/>
            </a:endParaRPr>
          </a:p>
          <a:p>
            <a:r>
              <a:rPr sz="1100" b="0">
                <a:solidFill>
                  <a:srgbClr val="D13438"/>
                </a:solidFill>
                <a:latin typeface="Microsoft YaHei" panose="020B0503020204020204" charset="-122"/>
                <a:ea typeface="Microsoft YaHei" panose="020B0503020204020204" charset="-122"/>
              </a:rPr>
              <a:t>行业知识预配置包</a:t>
            </a:r>
            <a:endParaRPr sz="1100" b="0">
              <a:solidFill>
                <a:srgbClr val="D13438"/>
              </a:solidFill>
              <a:latin typeface="Microsoft YaHei" panose="020B0503020204020204" charset="-122"/>
              <a:ea typeface="Microsoft YaHei" panose="020B0503020204020204" charset="-122"/>
            </a:endParaRPr>
          </a:p>
        </p:txBody>
      </p:sp>
      <p:sp>
        <p:nvSpPr>
          <p:cNvPr id="31" name="Rectangle 30"/>
          <p:cNvSpPr/>
          <p:nvPr/>
        </p:nvSpPr>
        <p:spPr>
          <a:xfrm>
            <a:off x="640080" y="5897880"/>
            <a:ext cx="10881360" cy="9144"/>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5989320"/>
            <a:ext cx="10881360" cy="365760"/>
          </a:xfrm>
          <a:prstGeom prst="rect">
            <a:avLst/>
          </a:prstGeom>
          <a:noFill/>
        </p:spPr>
        <p:txBody>
          <a:bodyPr wrap="square">
            <a:spAutoFit/>
          </a:bodyPr>
          <a:lstStyle/>
          <a:p>
            <a:r>
              <a:rPr sz="1200" b="0">
                <a:solidFill>
                  <a:srgbClr val="1A1A2E"/>
                </a:solidFill>
                <a:latin typeface="Microsoft YaHei" panose="020B0503020204020204" charset="-122"/>
                <a:ea typeface="Microsoft YaHei" panose="020B0503020204020204" charset="-122"/>
              </a:rPr>
              <a:t>这四个不足既是 OpenSpec 自身的改进目标，也恰好是所有竞品的共同盲区——改进它们就是我们的差异化路径。</a:t>
            </a:r>
            <a:endParaRPr sz="1200" b="0">
              <a:solidFill>
                <a:srgbClr val="1A1A2E"/>
              </a:solidFill>
              <a:latin typeface="Microsoft YaHei" panose="020B0503020204020204" charset="-122"/>
              <a:ea typeface="Microsoft YaHei" panose="020B0503020204020204" charset="-122"/>
            </a:endParaRPr>
          </a:p>
        </p:txBody>
      </p:sp>
      <p:sp>
        <p:nvSpPr>
          <p:cNvPr id="33" name="TextBox 32"/>
          <p:cNvSpPr txBox="1"/>
          <p:nvPr/>
        </p:nvSpPr>
        <p:spPr>
          <a:xfrm>
            <a:off x="11109960" y="6400800"/>
            <a:ext cx="914400" cy="365760"/>
          </a:xfrm>
          <a:prstGeom prst="rect">
            <a:avLst/>
          </a:prstGeom>
          <a:noFill/>
        </p:spPr>
        <p:txBody>
          <a:bodyPr wrap="square">
            <a:spAutoFit/>
          </a:bodyPr>
          <a:lstStyle/>
          <a:p>
            <a:endParaRPr sz="1000" b="0">
              <a:solidFill>
                <a:srgbClr val="333333"/>
              </a:solidFill>
              <a:latin typeface="Microsoft YaHei" panose="020B0503020204020204" charset="-122"/>
              <a:ea typeface="Microsoft YaHei" panose="020B0503020204020204" charset="-122"/>
            </a:endParaRPr>
          </a:p>
        </p:txBody>
      </p:sp>
      <p:sp>
        <p:nvSpPr>
          <p:cNvPr id="34" name="TextBox 33"/>
          <p:cNvSpPr txBox="1"/>
          <p:nvPr/>
        </p:nvSpPr>
        <p:spPr>
          <a:xfrm>
            <a:off x="11109960" y="6400800"/>
            <a:ext cx="822960" cy="365760"/>
          </a:xfrm>
          <a:prstGeom prst="rect">
            <a:avLst/>
          </a:prstGeom>
          <a:noFill/>
        </p:spPr>
        <p:txBody>
          <a:bodyPr wrap="none">
            <a:spAutoFit/>
          </a:bodyPr>
          <a:lstStyle/>
          <a:p>
            <a:r>
              <a:rPr sz="1000">
                <a:solidFill>
                  <a:srgbClr val="333333"/>
                </a:solidFill>
                <a:latin typeface="Microsoft YaHei" panose="020B0503020204020204" charset="-122"/>
                <a:ea typeface="Microsoft YaHei" panose="020B0503020204020204" charset="-122"/>
              </a:rPr>
              <a:t>18/41</a:t>
            </a:r>
            <a:endParaRPr sz="1000">
              <a:solidFill>
                <a:srgbClr val="333333"/>
              </a:solidFill>
              <a:latin typeface="Microsoft YaHei" panose="020B0503020204020204" charset="-122"/>
              <a:ea typeface="Microsoft YaHei" panose="020B0503020204020204" charset="-122"/>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p:sp>
        <p:nvSpPr>
          <p:cNvPr id="2" name="Rectangle 1"/>
          <p:cNvSpPr/>
          <p:nvPr/>
        </p:nvSpPr>
        <p:spPr>
          <a:xfrm>
            <a:off x="0" y="0"/>
            <a:ext cx="12191695" cy="54864"/>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491490"/>
          </a:xfrm>
          <a:prstGeom prst="rect">
            <a:avLst/>
          </a:prstGeom>
          <a:noFill/>
        </p:spPr>
        <p:txBody>
          <a:bodyPr wrap="square">
            <a:spAutoFit/>
          </a:bodyPr>
          <a:lstStyle/>
          <a:p>
            <a:pPr algn="l"/>
            <a:r>
              <a:rPr lang="en-US" altLang="zh-CN" sz="2600" b="1">
                <a:solidFill>
                  <a:srgbClr val="333333"/>
                </a:solidFill>
                <a:latin typeface="Microsoft YaHei" panose="020B0503020204020204" charset="-122"/>
                <a:ea typeface="Microsoft YaHei" panose="020B0503020204020204" charset="-122"/>
              </a:rPr>
              <a:t>Openspec-HW2</a:t>
            </a:r>
            <a:r>
              <a:rPr lang="zh-CN" altLang="en-US" sz="2600" b="1">
                <a:solidFill>
                  <a:srgbClr val="333333"/>
                </a:solidFill>
                <a:latin typeface="Microsoft YaHei" panose="020B0503020204020204" charset="-122"/>
                <a:ea typeface="Microsoft YaHei" panose="020B0503020204020204" charset="-122"/>
              </a:rPr>
              <a:t>（或类似工具平台）</a:t>
            </a:r>
            <a:r>
              <a:rPr lang="zh-CN" sz="2600" b="1">
                <a:solidFill>
                  <a:srgbClr val="333333"/>
                </a:solidFill>
                <a:latin typeface="Microsoft YaHei" panose="020B0503020204020204" charset="-122"/>
                <a:ea typeface="Microsoft YaHei" panose="020B0503020204020204" charset="-122"/>
              </a:rPr>
              <a:t>潜在</a:t>
            </a:r>
            <a:r>
              <a:rPr sz="2600" b="1">
                <a:solidFill>
                  <a:srgbClr val="333333"/>
                </a:solidFill>
                <a:latin typeface="Microsoft YaHei" panose="020B0503020204020204" charset="-122"/>
                <a:ea typeface="Microsoft YaHei" panose="020B0503020204020204" charset="-122"/>
              </a:rPr>
              <a:t>的研究方向</a:t>
            </a:r>
            <a:endParaRPr sz="2600" b="1">
              <a:solidFill>
                <a:srgbClr val="333333"/>
              </a:solidFill>
              <a:latin typeface="Microsoft YaHei" panose="020B0503020204020204" charset="-122"/>
            </a:endParaRPr>
          </a:p>
        </p:txBody>
      </p:sp>
      <p:sp>
        <p:nvSpPr>
          <p:cNvPr id="4" name="Rectangle 3"/>
          <p:cNvSpPr/>
          <p:nvPr/>
        </p:nvSpPr>
        <p:spPr>
          <a:xfrm>
            <a:off x="731520" y="920000"/>
            <a:ext cx="1097280" cy="45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custDataLst>
              <p:tags r:id="rId1"/>
            </p:custDataLst>
          </p:nvPr>
        </p:nvSpPr>
        <p:spPr>
          <a:xfrm>
            <a:off x="2199895" y="1119990"/>
            <a:ext cx="3500000" cy="2400000"/>
          </a:xfrm>
          <a:prstGeom prst="roundRect">
            <a:avLst/>
          </a:prstGeom>
          <a:solidFill>
            <a:srgbClr val="E8F4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custDataLst>
              <p:tags r:id="rId2"/>
            </p:custDataLst>
          </p:nvPr>
        </p:nvSpPr>
        <p:spPr>
          <a:xfrm>
            <a:off x="2199895" y="1119990"/>
            <a:ext cx="3500000" cy="65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custDataLst>
              <p:tags r:id="rId3"/>
            </p:custDataLst>
          </p:nvPr>
        </p:nvSpPr>
        <p:spPr>
          <a:xfrm>
            <a:off x="2319895" y="1269990"/>
            <a:ext cx="360000" cy="36000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custDataLst>
              <p:tags r:id="rId4"/>
            </p:custDataLst>
          </p:nvPr>
        </p:nvSpPr>
        <p:spPr>
          <a:xfrm>
            <a:off x="2319895" y="1289990"/>
            <a:ext cx="360000" cy="340000"/>
          </a:xfrm>
          <a:prstGeom prst="rect">
            <a:avLst/>
          </a:prstGeom>
          <a:noFill/>
        </p:spPr>
        <p:txBody>
          <a:bodyPr wrap="square">
            <a:spAutoFit/>
          </a:bodyPr>
          <a:lstStyle/>
          <a:p>
            <a:pPr algn="ctr"/>
            <a:r>
              <a:rPr sz="1800" b="1">
                <a:solidFill>
                  <a:srgbClr val="FFFFFF"/>
                </a:solidFill>
                <a:latin typeface="Microsoft YaHei" panose="020B0503020204020204" charset="-122"/>
                <a:ea typeface="Microsoft YaHei" panose="020B0503020204020204" charset="-122"/>
              </a:rPr>
              <a:t>1</a:t>
            </a:r>
            <a:endParaRPr sz="1800" b="1">
              <a:solidFill>
                <a:srgbClr val="FFFFFF"/>
              </a:solidFill>
              <a:latin typeface="Microsoft YaHei" panose="020B0503020204020204" charset="-122"/>
            </a:endParaRPr>
          </a:p>
        </p:txBody>
      </p:sp>
      <p:sp>
        <p:nvSpPr>
          <p:cNvPr id="9" name="TextBox 8"/>
          <p:cNvSpPr txBox="1"/>
          <p:nvPr>
            <p:custDataLst>
              <p:tags r:id="rId5"/>
            </p:custDataLst>
          </p:nvPr>
        </p:nvSpPr>
        <p:spPr>
          <a:xfrm>
            <a:off x="2759895" y="1289990"/>
            <a:ext cx="2800000" cy="360000"/>
          </a:xfrm>
          <a:prstGeom prst="rect">
            <a:avLst/>
          </a:prstGeom>
          <a:noFill/>
        </p:spPr>
        <p:txBody>
          <a:bodyPr wrap="square">
            <a:spAutoFit/>
          </a:bodyPr>
          <a:lstStyle/>
          <a:p>
            <a:pPr algn="l"/>
            <a:r>
              <a:rPr sz="1400" b="1">
                <a:solidFill>
                  <a:srgbClr val="0078D4"/>
                </a:solidFill>
                <a:latin typeface="Microsoft YaHei" panose="020B0503020204020204" charset="-122"/>
                <a:ea typeface="Microsoft YaHei" panose="020B0503020204020204" charset="-122"/>
              </a:rPr>
              <a:t>Multi-Perspective Spec Testing</a:t>
            </a:r>
            <a:endParaRPr sz="1400" b="1">
              <a:solidFill>
                <a:srgbClr val="0078D4"/>
              </a:solidFill>
              <a:latin typeface="Microsoft YaHei" panose="020B0503020204020204" charset="-122"/>
            </a:endParaRPr>
          </a:p>
        </p:txBody>
      </p:sp>
      <p:sp>
        <p:nvSpPr>
          <p:cNvPr id="10" name="TextBox 9"/>
          <p:cNvSpPr txBox="1"/>
          <p:nvPr>
            <p:custDataLst>
              <p:tags r:id="rId6"/>
            </p:custDataLst>
          </p:nvPr>
        </p:nvSpPr>
        <p:spPr>
          <a:xfrm>
            <a:off x="2359895" y="1739990"/>
            <a:ext cx="3180000" cy="800000"/>
          </a:xfrm>
          <a:prstGeom prst="rect">
            <a:avLst/>
          </a:prstGeom>
          <a:noFill/>
        </p:spPr>
        <p:txBody>
          <a:bodyPr wrap="square">
            <a:spAutoFit/>
          </a:bodyPr>
          <a:lstStyle/>
          <a:p>
            <a:pPr algn="l">
              <a:lnSpc>
                <a:spcPts val="1800"/>
              </a:lnSpc>
            </a:pPr>
            <a:r>
              <a:rPr sz="1100" b="0">
                <a:solidFill>
                  <a:srgbClr val="333333"/>
                </a:solidFill>
                <a:latin typeface="Microsoft YaHei" panose="020B0503020204020204" charset="-122"/>
                <a:ea typeface="Microsoft YaHei" panose="020B0503020204020204" charset="-122"/>
              </a:rPr>
              <a:t>多智能体多视角测试 spec
完整性审查员 + 异常路径测试员 + 边界条件分析员 + 集成分析师</a:t>
            </a:r>
            <a:endParaRPr sz="1100" b="0">
              <a:solidFill>
                <a:srgbClr val="333333"/>
              </a:solidFill>
              <a:latin typeface="Microsoft YaHei" panose="020B0503020204020204" charset="-122"/>
            </a:endParaRPr>
          </a:p>
        </p:txBody>
      </p:sp>
      <p:sp>
        <p:nvSpPr>
          <p:cNvPr id="11" name="Rectangle 10"/>
          <p:cNvSpPr/>
          <p:nvPr>
            <p:custDataLst>
              <p:tags r:id="rId7"/>
            </p:custDataLst>
          </p:nvPr>
        </p:nvSpPr>
        <p:spPr>
          <a:xfrm>
            <a:off x="2359895" y="2619990"/>
            <a:ext cx="3180000" cy="1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custDataLst>
              <p:tags r:id="rId8"/>
            </p:custDataLst>
          </p:nvPr>
        </p:nvSpPr>
        <p:spPr>
          <a:xfrm>
            <a:off x="2359895" y="2739990"/>
            <a:ext cx="3180000" cy="553085"/>
          </a:xfrm>
          <a:prstGeom prst="rect">
            <a:avLst/>
          </a:prstGeom>
          <a:noFill/>
        </p:spPr>
        <p:txBody>
          <a:bodyPr wrap="square">
            <a:spAutoFit/>
          </a:bodyPr>
          <a:lstStyle/>
          <a:p>
            <a:pPr algn="l">
              <a:lnSpc>
                <a:spcPts val="1800"/>
              </a:lnSpc>
            </a:pPr>
            <a:r>
              <a:rPr sz="1000" b="0">
                <a:solidFill>
                  <a:srgbClr val="333333"/>
                </a:solidFill>
                <a:latin typeface="Microsoft YaHei" panose="020B0503020204020204" charset="-122"/>
                <a:ea typeface="Microsoft YaHei" panose="020B0503020204020204" charset="-122"/>
              </a:rPr>
              <a:t>Perspective-Based Review 前沿方向</a:t>
            </a:r>
            <a:br>
              <a:rPr sz="1000" b="0">
                <a:solidFill>
                  <a:srgbClr val="333333"/>
                </a:solidFill>
                <a:latin typeface="Microsoft YaHei" panose="020B0503020204020204" charset="-122"/>
                <a:ea typeface="Microsoft YaHei" panose="020B0503020204020204" charset="-122"/>
              </a:rPr>
            </a:br>
            <a:r>
              <a:rPr sz="1000" b="0">
                <a:solidFill>
                  <a:srgbClr val="333333"/>
                </a:solidFill>
                <a:latin typeface="Microsoft YaHei" panose="020B0503020204020204" charset="-122"/>
                <a:ea typeface="Microsoft YaHei" panose="020B0503020204020204" charset="-122"/>
              </a:rPr>
              <a:t>基于PBR方法论</a:t>
            </a:r>
            <a:endParaRPr sz="1100" b="1">
              <a:solidFill>
                <a:srgbClr val="0078D4"/>
              </a:solidFill>
              <a:latin typeface="Microsoft YaHei" panose="020B0503020204020204" charset="-122"/>
            </a:endParaRPr>
          </a:p>
        </p:txBody>
      </p:sp>
      <p:sp>
        <p:nvSpPr>
          <p:cNvPr id="13" name="Rounded Rectangle 12"/>
          <p:cNvSpPr/>
          <p:nvPr>
            <p:custDataLst>
              <p:tags r:id="rId9"/>
            </p:custDataLst>
          </p:nvPr>
        </p:nvSpPr>
        <p:spPr>
          <a:xfrm>
            <a:off x="5949895" y="1119990"/>
            <a:ext cx="3500000" cy="24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custDataLst>
              <p:tags r:id="rId10"/>
            </p:custDataLst>
          </p:nvPr>
        </p:nvSpPr>
        <p:spPr>
          <a:xfrm>
            <a:off x="5949895" y="1119990"/>
            <a:ext cx="3500000" cy="65000"/>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custDataLst>
              <p:tags r:id="rId11"/>
            </p:custDataLst>
          </p:nvPr>
        </p:nvSpPr>
        <p:spPr>
          <a:xfrm>
            <a:off x="6069895" y="1269990"/>
            <a:ext cx="360000" cy="360000"/>
          </a:xfrm>
          <a:prstGeom prst="round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custDataLst>
              <p:tags r:id="rId12"/>
            </p:custDataLst>
          </p:nvPr>
        </p:nvSpPr>
        <p:spPr>
          <a:xfrm>
            <a:off x="6069895" y="1289990"/>
            <a:ext cx="360000" cy="340000"/>
          </a:xfrm>
          <a:prstGeom prst="rect">
            <a:avLst/>
          </a:prstGeom>
          <a:noFill/>
        </p:spPr>
        <p:txBody>
          <a:bodyPr wrap="square">
            <a:spAutoFit/>
          </a:bodyPr>
          <a:lstStyle/>
          <a:p>
            <a:pPr algn="ctr"/>
            <a:r>
              <a:rPr sz="1800" b="1">
                <a:solidFill>
                  <a:srgbClr val="FFFFFF"/>
                </a:solidFill>
                <a:latin typeface="Microsoft YaHei" panose="020B0503020204020204" charset="-122"/>
                <a:ea typeface="Microsoft YaHei" panose="020B0503020204020204" charset="-122"/>
              </a:rPr>
              <a:t>2</a:t>
            </a:r>
            <a:endParaRPr sz="1800" b="1">
              <a:solidFill>
                <a:srgbClr val="FFFFFF"/>
              </a:solidFill>
              <a:latin typeface="Microsoft YaHei" panose="020B0503020204020204" charset="-122"/>
            </a:endParaRPr>
          </a:p>
        </p:txBody>
      </p:sp>
      <p:sp>
        <p:nvSpPr>
          <p:cNvPr id="17" name="TextBox 16"/>
          <p:cNvSpPr txBox="1"/>
          <p:nvPr>
            <p:custDataLst>
              <p:tags r:id="rId13"/>
            </p:custDataLst>
          </p:nvPr>
        </p:nvSpPr>
        <p:spPr>
          <a:xfrm>
            <a:off x="6509895" y="1289990"/>
            <a:ext cx="2800000" cy="360000"/>
          </a:xfrm>
          <a:prstGeom prst="rect">
            <a:avLst/>
          </a:prstGeom>
          <a:noFill/>
        </p:spPr>
        <p:txBody>
          <a:bodyPr wrap="square">
            <a:spAutoFit/>
          </a:bodyPr>
          <a:lstStyle/>
          <a:p>
            <a:pPr algn="l"/>
            <a:r>
              <a:rPr sz="1400" b="1">
                <a:solidFill>
                  <a:srgbClr val="107C10"/>
                </a:solidFill>
                <a:latin typeface="Microsoft YaHei" panose="020B0503020204020204" charset="-122"/>
                <a:ea typeface="Microsoft YaHei" panose="020B0503020204020204" charset="-122"/>
              </a:rPr>
              <a:t>Spec-as-Runtime-Guardrail</a:t>
            </a:r>
            <a:endParaRPr sz="1400" b="1">
              <a:solidFill>
                <a:srgbClr val="107C10"/>
              </a:solidFill>
              <a:latin typeface="Microsoft YaHei" panose="020B0503020204020204" charset="-122"/>
            </a:endParaRPr>
          </a:p>
        </p:txBody>
      </p:sp>
      <p:sp>
        <p:nvSpPr>
          <p:cNvPr id="18" name="TextBox 17"/>
          <p:cNvSpPr txBox="1"/>
          <p:nvPr>
            <p:custDataLst>
              <p:tags r:id="rId14"/>
            </p:custDataLst>
          </p:nvPr>
        </p:nvSpPr>
        <p:spPr>
          <a:xfrm>
            <a:off x="6109895" y="1739990"/>
            <a:ext cx="3180000" cy="800000"/>
          </a:xfrm>
          <a:prstGeom prst="rect">
            <a:avLst/>
          </a:prstGeom>
          <a:noFill/>
        </p:spPr>
        <p:txBody>
          <a:bodyPr wrap="square">
            <a:spAutoFit/>
          </a:bodyPr>
          <a:lstStyle/>
          <a:p>
            <a:pPr algn="l">
              <a:lnSpc>
                <a:spcPts val="1800"/>
              </a:lnSpc>
            </a:pPr>
            <a:r>
              <a:rPr sz="1100" b="0">
                <a:solidFill>
                  <a:srgbClr val="333333"/>
                </a:solidFill>
                <a:latin typeface="Microsoft YaHei" panose="020B0503020204020204" charset="-122"/>
                <a:ea typeface="Microsoft YaHei" panose="020B0503020204020204" charset="-122"/>
              </a:rPr>
              <a:t>Spec 编译为运行时约束
AI 写代码时实时拦截违规</a:t>
            </a:r>
            <a:endParaRPr sz="1100" b="0">
              <a:solidFill>
                <a:srgbClr val="333333"/>
              </a:solidFill>
              <a:latin typeface="Microsoft YaHei" panose="020B0503020204020204" charset="-122"/>
            </a:endParaRPr>
          </a:p>
        </p:txBody>
      </p:sp>
      <p:sp>
        <p:nvSpPr>
          <p:cNvPr id="19" name="Rectangle 18"/>
          <p:cNvSpPr/>
          <p:nvPr>
            <p:custDataLst>
              <p:tags r:id="rId15"/>
            </p:custDataLst>
          </p:nvPr>
        </p:nvSpPr>
        <p:spPr>
          <a:xfrm>
            <a:off x="6109895" y="2619990"/>
            <a:ext cx="3180000" cy="18000"/>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custDataLst>
              <p:tags r:id="rId16"/>
            </p:custDataLst>
          </p:nvPr>
        </p:nvSpPr>
        <p:spPr>
          <a:xfrm>
            <a:off x="6109895" y="2739990"/>
            <a:ext cx="3180000" cy="321945"/>
          </a:xfrm>
          <a:prstGeom prst="rect">
            <a:avLst/>
          </a:prstGeom>
          <a:noFill/>
        </p:spPr>
        <p:txBody>
          <a:bodyPr wrap="square">
            <a:spAutoFit/>
          </a:bodyPr>
          <a:lstStyle/>
          <a:p>
            <a:pPr algn="l">
              <a:lnSpc>
                <a:spcPts val="1800"/>
              </a:lnSpc>
            </a:pPr>
            <a:r>
              <a:rPr sz="1100" b="1">
                <a:solidFill>
                  <a:srgbClr val="107C10"/>
                </a:solidFill>
                <a:latin typeface="Microsoft YaHei" panose="020B0503020204020204" charset="-122"/>
                <a:ea typeface="Microsoft YaHei" panose="020B0503020204020204" charset="-122"/>
              </a:rPr>
              <a:t>事后追溯→事前预防</a:t>
            </a:r>
            <a:endParaRPr sz="1100" b="1">
              <a:solidFill>
                <a:srgbClr val="107C10"/>
              </a:solidFill>
              <a:latin typeface="Microsoft YaHei" panose="020B0503020204020204" charset="-122"/>
            </a:endParaRPr>
          </a:p>
        </p:txBody>
      </p:sp>
      <p:sp>
        <p:nvSpPr>
          <p:cNvPr id="21" name="Rounded Rectangle 20"/>
          <p:cNvSpPr/>
          <p:nvPr>
            <p:custDataLst>
              <p:tags r:id="rId17"/>
            </p:custDataLst>
          </p:nvPr>
        </p:nvSpPr>
        <p:spPr>
          <a:xfrm>
            <a:off x="2159905" y="3722855"/>
            <a:ext cx="3500000" cy="24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custDataLst>
              <p:tags r:id="rId18"/>
            </p:custDataLst>
          </p:nvPr>
        </p:nvSpPr>
        <p:spPr>
          <a:xfrm>
            <a:off x="2159905" y="3722855"/>
            <a:ext cx="3500000" cy="65000"/>
          </a:xfrm>
          <a:prstGeom prst="rect">
            <a:avLst/>
          </a:prstGeom>
          <a:solidFill>
            <a:srgbClr val="E8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custDataLst>
              <p:tags r:id="rId19"/>
            </p:custDataLst>
          </p:nvPr>
        </p:nvSpPr>
        <p:spPr>
          <a:xfrm>
            <a:off x="2279905" y="3872855"/>
            <a:ext cx="360000" cy="360000"/>
          </a:xfrm>
          <a:prstGeom prst="roundRect">
            <a:avLst/>
          </a:prstGeom>
          <a:solidFill>
            <a:srgbClr val="E8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custDataLst>
              <p:tags r:id="rId20"/>
            </p:custDataLst>
          </p:nvPr>
        </p:nvSpPr>
        <p:spPr>
          <a:xfrm>
            <a:off x="2279905" y="3892855"/>
            <a:ext cx="360000" cy="340000"/>
          </a:xfrm>
          <a:prstGeom prst="rect">
            <a:avLst/>
          </a:prstGeom>
          <a:noFill/>
        </p:spPr>
        <p:txBody>
          <a:bodyPr wrap="square">
            <a:spAutoFit/>
          </a:bodyPr>
          <a:lstStyle/>
          <a:p>
            <a:pPr algn="ctr"/>
            <a:r>
              <a:rPr sz="1800" b="1">
                <a:solidFill>
                  <a:srgbClr val="FFFFFF"/>
                </a:solidFill>
                <a:latin typeface="Microsoft YaHei" panose="020B0503020204020204" charset="-122"/>
                <a:ea typeface="Microsoft YaHei" panose="020B0503020204020204" charset="-122"/>
              </a:rPr>
              <a:t>3</a:t>
            </a:r>
            <a:endParaRPr sz="1800" b="1">
              <a:solidFill>
                <a:srgbClr val="FFFFFF"/>
              </a:solidFill>
              <a:latin typeface="Microsoft YaHei" panose="020B0503020204020204" charset="-122"/>
            </a:endParaRPr>
          </a:p>
        </p:txBody>
      </p:sp>
      <p:sp>
        <p:nvSpPr>
          <p:cNvPr id="25" name="TextBox 24"/>
          <p:cNvSpPr txBox="1"/>
          <p:nvPr>
            <p:custDataLst>
              <p:tags r:id="rId21"/>
            </p:custDataLst>
          </p:nvPr>
        </p:nvSpPr>
        <p:spPr>
          <a:xfrm>
            <a:off x="2719905" y="3892855"/>
            <a:ext cx="2800000" cy="360000"/>
          </a:xfrm>
          <a:prstGeom prst="rect">
            <a:avLst/>
          </a:prstGeom>
          <a:noFill/>
        </p:spPr>
        <p:txBody>
          <a:bodyPr wrap="square">
            <a:spAutoFit/>
          </a:bodyPr>
          <a:lstStyle/>
          <a:p>
            <a:pPr algn="l"/>
            <a:r>
              <a:rPr sz="1400" b="1">
                <a:solidFill>
                  <a:srgbClr val="E86C00"/>
                </a:solidFill>
                <a:latin typeface="Microsoft YaHei" panose="020B0503020204020204" charset="-122"/>
                <a:ea typeface="Microsoft YaHei" panose="020B0503020204020204" charset="-122"/>
              </a:rPr>
              <a:t>Self-Evolving Spec Agents</a:t>
            </a:r>
            <a:endParaRPr sz="1400" b="1">
              <a:solidFill>
                <a:srgbClr val="E86C00"/>
              </a:solidFill>
              <a:latin typeface="Microsoft YaHei" panose="020B0503020204020204" charset="-122"/>
            </a:endParaRPr>
          </a:p>
        </p:txBody>
      </p:sp>
      <p:sp>
        <p:nvSpPr>
          <p:cNvPr id="26" name="TextBox 25"/>
          <p:cNvSpPr txBox="1"/>
          <p:nvPr>
            <p:custDataLst>
              <p:tags r:id="rId22"/>
            </p:custDataLst>
          </p:nvPr>
        </p:nvSpPr>
        <p:spPr>
          <a:xfrm>
            <a:off x="2319905" y="4342855"/>
            <a:ext cx="3180000" cy="800000"/>
          </a:xfrm>
          <a:prstGeom prst="rect">
            <a:avLst/>
          </a:prstGeom>
          <a:noFill/>
        </p:spPr>
        <p:txBody>
          <a:bodyPr wrap="square">
            <a:spAutoFit/>
          </a:bodyPr>
          <a:lstStyle/>
          <a:p>
            <a:pPr algn="l">
              <a:lnSpc>
                <a:spcPts val="1800"/>
              </a:lnSpc>
            </a:pPr>
            <a:r>
              <a:rPr sz="1100" b="0">
                <a:solidFill>
                  <a:srgbClr val="333333"/>
                </a:solidFill>
                <a:latin typeface="Microsoft YaHei" panose="020B0503020204020204" charset="-122"/>
                <a:ea typeface="Microsoft YaHei" panose="020B0503020204020204" charset="-122"/>
              </a:rPr>
              <a:t>每次 Apply→Verify 循环自动提炼经验
蒸馏“Spec 最佳实践原则”持续进化</a:t>
            </a:r>
            <a:endParaRPr sz="1100" b="0">
              <a:solidFill>
                <a:srgbClr val="333333"/>
              </a:solidFill>
              <a:latin typeface="Microsoft YaHei" panose="020B0503020204020204" charset="-122"/>
            </a:endParaRPr>
          </a:p>
        </p:txBody>
      </p:sp>
      <p:sp>
        <p:nvSpPr>
          <p:cNvPr id="27" name="Rectangle 26"/>
          <p:cNvSpPr/>
          <p:nvPr>
            <p:custDataLst>
              <p:tags r:id="rId23"/>
            </p:custDataLst>
          </p:nvPr>
        </p:nvSpPr>
        <p:spPr>
          <a:xfrm>
            <a:off x="2319905" y="5222855"/>
            <a:ext cx="3180000" cy="18000"/>
          </a:xfrm>
          <a:prstGeom prst="rect">
            <a:avLst/>
          </a:prstGeom>
          <a:solidFill>
            <a:srgbClr val="E8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custDataLst>
              <p:tags r:id="rId24"/>
            </p:custDataLst>
          </p:nvPr>
        </p:nvSpPr>
        <p:spPr>
          <a:xfrm>
            <a:off x="2319905" y="5342855"/>
            <a:ext cx="3180000" cy="650000"/>
          </a:xfrm>
          <a:prstGeom prst="rect">
            <a:avLst/>
          </a:prstGeom>
          <a:noFill/>
        </p:spPr>
        <p:txBody>
          <a:bodyPr wrap="square">
            <a:spAutoFit/>
          </a:bodyPr>
          <a:lstStyle/>
          <a:p>
            <a:pPr algn="l">
              <a:lnSpc>
                <a:spcPts val="1800"/>
              </a:lnSpc>
            </a:pPr>
            <a:r>
              <a:rPr sz="1000" b="0">
                <a:solidFill>
                  <a:srgbClr val="333333"/>
                </a:solidFill>
                <a:latin typeface="Microsoft YaHei" panose="020B0503020204020204" charset="-122"/>
                <a:ea typeface="Microsoft YaHei" panose="020B0503020204020204" charset="-122"/>
              </a:rPr>
              <a:t>经验积累效应：使用越多，spec质量越高</a:t>
            </a:r>
            <a:br>
              <a:rPr sz="1000" b="0">
                <a:solidFill>
                  <a:srgbClr val="333333"/>
                </a:solidFill>
                <a:latin typeface="Microsoft YaHei" panose="020B0503020204020204" charset="-122"/>
                <a:ea typeface="Microsoft YaHei" panose="020B0503020204020204" charset="-122"/>
              </a:rPr>
            </a:br>
            <a:r>
              <a:rPr sz="1000" b="0">
                <a:solidFill>
                  <a:srgbClr val="333333"/>
                </a:solidFill>
                <a:latin typeface="Microsoft YaHei" panose="020B0503020204020204" charset="-122"/>
                <a:ea typeface="Microsoft YaHei" panose="020B0503020204020204" charset="-122"/>
              </a:rPr>
              <a:t>差异化路径：竞品目前均为 stateless</a:t>
            </a:r>
            <a:endParaRPr sz="1100" b="1">
              <a:solidFill>
                <a:srgbClr val="E86C00"/>
              </a:solidFill>
              <a:latin typeface="Microsoft YaHei" panose="020B0503020204020204" charset="-122"/>
            </a:endParaRPr>
          </a:p>
        </p:txBody>
      </p:sp>
      <p:sp>
        <p:nvSpPr>
          <p:cNvPr id="37" name="Rounded Rectangle 36"/>
          <p:cNvSpPr/>
          <p:nvPr>
            <p:custDataLst>
              <p:tags r:id="rId25"/>
            </p:custDataLst>
          </p:nvPr>
        </p:nvSpPr>
        <p:spPr>
          <a:xfrm>
            <a:off x="5949895" y="3719990"/>
            <a:ext cx="3500000" cy="2400000"/>
          </a:xfrm>
          <a:prstGeom prst="roundRect">
            <a:avLst/>
          </a:prstGeom>
          <a:solidFill>
            <a:srgbClr val="E0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custDataLst>
              <p:tags r:id="rId26"/>
            </p:custDataLst>
          </p:nvPr>
        </p:nvSpPr>
        <p:spPr>
          <a:xfrm>
            <a:off x="5949895" y="3719990"/>
            <a:ext cx="3500000" cy="65000"/>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custDataLst>
              <p:tags r:id="rId27"/>
            </p:custDataLst>
          </p:nvPr>
        </p:nvSpPr>
        <p:spPr>
          <a:xfrm>
            <a:off x="6069895" y="3869990"/>
            <a:ext cx="360000" cy="360000"/>
          </a:xfrm>
          <a:prstGeom prst="round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custDataLst>
              <p:tags r:id="rId28"/>
            </p:custDataLst>
          </p:nvPr>
        </p:nvSpPr>
        <p:spPr>
          <a:xfrm>
            <a:off x="6069895" y="3889990"/>
            <a:ext cx="360000" cy="340000"/>
          </a:xfrm>
          <a:prstGeom prst="rect">
            <a:avLst/>
          </a:prstGeom>
          <a:noFill/>
        </p:spPr>
        <p:txBody>
          <a:bodyPr wrap="square">
            <a:spAutoFit/>
          </a:bodyPr>
          <a:lstStyle/>
          <a:p>
            <a:pPr algn="ctr"/>
            <a:r>
              <a:rPr sz="1800" b="1">
                <a:solidFill>
                  <a:srgbClr val="FFFFFF"/>
                </a:solidFill>
                <a:latin typeface="Microsoft YaHei" panose="020B0503020204020204" charset="-122"/>
                <a:ea typeface="Microsoft YaHei" panose="020B0503020204020204" charset="-122"/>
              </a:rPr>
              <a:t>4</a:t>
            </a:r>
            <a:endParaRPr sz="1800" b="1">
              <a:solidFill>
                <a:srgbClr val="FFFFFF"/>
              </a:solidFill>
              <a:latin typeface="Microsoft YaHei" panose="020B0503020204020204" charset="-122"/>
            </a:endParaRPr>
          </a:p>
        </p:txBody>
      </p:sp>
      <p:sp>
        <p:nvSpPr>
          <p:cNvPr id="41" name="TextBox 40"/>
          <p:cNvSpPr txBox="1"/>
          <p:nvPr>
            <p:custDataLst>
              <p:tags r:id="rId29"/>
            </p:custDataLst>
          </p:nvPr>
        </p:nvSpPr>
        <p:spPr>
          <a:xfrm>
            <a:off x="6509895" y="3889990"/>
            <a:ext cx="2800000" cy="360000"/>
          </a:xfrm>
          <a:prstGeom prst="rect">
            <a:avLst/>
          </a:prstGeom>
          <a:noFill/>
        </p:spPr>
        <p:txBody>
          <a:bodyPr wrap="square">
            <a:spAutoFit/>
          </a:bodyPr>
          <a:lstStyle/>
          <a:p>
            <a:pPr algn="l"/>
            <a:r>
              <a:rPr sz="1400" b="1">
                <a:solidFill>
                  <a:srgbClr val="008B8B"/>
                </a:solidFill>
                <a:latin typeface="Microsoft YaHei" panose="020B0503020204020204" charset="-122"/>
                <a:ea typeface="Microsoft YaHei" panose="020B0503020204020204" charset="-122"/>
              </a:rPr>
              <a:t>Domain-Specific Packs</a:t>
            </a:r>
            <a:endParaRPr sz="1400" b="1">
              <a:solidFill>
                <a:srgbClr val="008B8B"/>
              </a:solidFill>
              <a:latin typeface="Microsoft YaHei" panose="020B0503020204020204" charset="-122"/>
            </a:endParaRPr>
          </a:p>
        </p:txBody>
      </p:sp>
      <p:sp>
        <p:nvSpPr>
          <p:cNvPr id="42" name="TextBox 41"/>
          <p:cNvSpPr txBox="1"/>
          <p:nvPr>
            <p:custDataLst>
              <p:tags r:id="rId30"/>
            </p:custDataLst>
          </p:nvPr>
        </p:nvSpPr>
        <p:spPr>
          <a:xfrm>
            <a:off x="6109895" y="4339990"/>
            <a:ext cx="3180000" cy="553085"/>
          </a:xfrm>
          <a:prstGeom prst="rect">
            <a:avLst/>
          </a:prstGeom>
          <a:noFill/>
        </p:spPr>
        <p:txBody>
          <a:bodyPr wrap="square">
            <a:spAutoFit/>
          </a:bodyPr>
          <a:lstStyle/>
          <a:p>
            <a:pPr algn="l">
              <a:lnSpc>
                <a:spcPts val="1800"/>
              </a:lnSpc>
            </a:pPr>
            <a:r>
              <a:rPr lang="zh-CN" sz="1100" b="0">
                <a:solidFill>
                  <a:srgbClr val="333333"/>
                </a:solidFill>
                <a:latin typeface="Microsoft YaHei" panose="020B0503020204020204" charset="-122"/>
                <a:ea typeface="Microsoft YaHei" panose="020B0503020204020204" charset="-122"/>
              </a:rPr>
              <a:t>光</a:t>
            </a:r>
            <a:r>
              <a:rPr sz="1100" b="0">
                <a:solidFill>
                  <a:srgbClr val="333333"/>
                </a:solidFill>
                <a:latin typeface="Microsoft YaHei" panose="020B0503020204020204" charset="-122"/>
                <a:ea typeface="Microsoft YaHei" panose="020B0503020204020204" charset="-122"/>
              </a:rPr>
              <a:t>/</a:t>
            </a:r>
            <a:r>
              <a:rPr lang="en-US" sz="1100" b="0">
                <a:solidFill>
                  <a:srgbClr val="333333"/>
                </a:solidFill>
                <a:latin typeface="Microsoft YaHei" panose="020B0503020204020204" charset="-122"/>
                <a:ea typeface="Microsoft YaHei" panose="020B0503020204020204" charset="-122"/>
              </a:rPr>
              <a:t>GTS</a:t>
            </a:r>
            <a:r>
              <a:rPr sz="1100" b="0">
                <a:solidFill>
                  <a:srgbClr val="333333"/>
                </a:solidFill>
                <a:latin typeface="Microsoft YaHei" panose="020B0503020204020204" charset="-122"/>
                <a:ea typeface="Microsoft YaHei" panose="020B0503020204020204" charset="-122"/>
              </a:rPr>
              <a:t>/</a:t>
            </a:r>
            <a:r>
              <a:rPr lang="zh-CN" sz="1100" b="0">
                <a:solidFill>
                  <a:srgbClr val="333333"/>
                </a:solidFill>
                <a:latin typeface="Microsoft YaHei" panose="020B0503020204020204" charset="-122"/>
                <a:ea typeface="Microsoft YaHei" panose="020B0503020204020204" charset="-122"/>
              </a:rPr>
              <a:t>智能驾驶</a:t>
            </a:r>
            <a:r>
              <a:rPr sz="1100" b="0">
                <a:solidFill>
                  <a:srgbClr val="333333"/>
                </a:solidFill>
                <a:latin typeface="Microsoft YaHei" panose="020B0503020204020204" charset="-122"/>
                <a:ea typeface="Microsoft YaHei" panose="020B0503020204020204" charset="-122"/>
              </a:rPr>
              <a:t>行业预配置
行业规则 + spec 模板 + schema 约束 + 验证规则</a:t>
            </a:r>
            <a:endParaRPr sz="1100" b="0">
              <a:solidFill>
                <a:srgbClr val="333333"/>
              </a:solidFill>
              <a:latin typeface="Microsoft YaHei" panose="020B0503020204020204" charset="-122"/>
            </a:endParaRPr>
          </a:p>
        </p:txBody>
      </p:sp>
      <p:sp>
        <p:nvSpPr>
          <p:cNvPr id="43" name="Rectangle 42"/>
          <p:cNvSpPr/>
          <p:nvPr>
            <p:custDataLst>
              <p:tags r:id="rId31"/>
            </p:custDataLst>
          </p:nvPr>
        </p:nvSpPr>
        <p:spPr>
          <a:xfrm>
            <a:off x="6109895" y="5219990"/>
            <a:ext cx="3180000" cy="18000"/>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custDataLst>
              <p:tags r:id="rId32"/>
            </p:custDataLst>
          </p:nvPr>
        </p:nvSpPr>
        <p:spPr>
          <a:xfrm>
            <a:off x="6109895" y="5339990"/>
            <a:ext cx="3180000" cy="553085"/>
          </a:xfrm>
          <a:prstGeom prst="rect">
            <a:avLst/>
          </a:prstGeom>
          <a:noFill/>
        </p:spPr>
        <p:txBody>
          <a:bodyPr wrap="square">
            <a:spAutoFit/>
          </a:bodyPr>
          <a:lstStyle/>
          <a:p>
            <a:pPr algn="l">
              <a:lnSpc>
                <a:spcPts val="1800"/>
              </a:lnSpc>
            </a:pPr>
            <a:r>
              <a:rPr sz="1000" b="0">
                <a:solidFill>
                  <a:srgbClr val="333333"/>
                </a:solidFill>
                <a:latin typeface="Microsoft YaHei" panose="020B0503020204020204" charset="-122"/>
                <a:ea typeface="Microsoft YaHei" panose="020B0503020204020204" charset="-122"/>
              </a:rPr>
              <a:t>华为业务域适配：光/GTS/智驾/昇腾/鸿蒙</a:t>
            </a:r>
            <a:r>
              <a:rPr lang="zh-CN" sz="1000" b="0">
                <a:solidFill>
                  <a:srgbClr val="333333"/>
                </a:solidFill>
                <a:latin typeface="Microsoft YaHei" panose="020B0503020204020204" charset="-122"/>
                <a:ea typeface="Microsoft YaHei" panose="020B0503020204020204" charset="-122"/>
              </a:rPr>
              <a:t>潜在都能生成</a:t>
            </a:r>
            <a:r>
              <a:rPr lang="en-US" altLang="zh-CN" sz="1000" b="0">
                <a:solidFill>
                  <a:srgbClr val="333333"/>
                </a:solidFill>
                <a:latin typeface="Microsoft YaHei" panose="020B0503020204020204" charset="-122"/>
                <a:ea typeface="Microsoft YaHei" panose="020B0503020204020204" charset="-122"/>
              </a:rPr>
              <a:t>domain specific</a:t>
            </a:r>
            <a:r>
              <a:rPr sz="1000" b="0">
                <a:solidFill>
                  <a:srgbClr val="333333"/>
                </a:solidFill>
                <a:latin typeface="Microsoft YaHei" panose="020B0503020204020204" charset="-122"/>
                <a:ea typeface="Microsoft YaHei" panose="020B0503020204020204" charset="-122"/>
              </a:rPr>
              <a:t> Pack</a:t>
            </a:r>
            <a:endParaRPr sz="1100" b="1">
              <a:solidFill>
                <a:srgbClr val="008B8B"/>
              </a:solidFill>
              <a:latin typeface="Microsoft YaHei" panose="020B0503020204020204" charset="-122"/>
            </a:endParaRPr>
          </a:p>
        </p:txBody>
      </p:sp>
      <p:sp>
        <p:nvSpPr>
          <p:cNvPr id="53" name="TextBox 52"/>
          <p:cNvSpPr txBox="1"/>
          <p:nvPr/>
        </p:nvSpPr>
        <p:spPr>
          <a:xfrm>
            <a:off x="11094415" y="6400800"/>
            <a:ext cx="914400" cy="365760"/>
          </a:xfrm>
          <a:prstGeom prst="rect">
            <a:avLst/>
          </a:prstGeom>
          <a:noFill/>
        </p:spPr>
        <p:txBody>
          <a:bodyPr wrap="square">
            <a:spAutoFit/>
          </a:bodyPr>
          <a:lstStyle/>
          <a:p>
            <a:pPr algn="r"/>
            <a:r>
              <a:rPr sz="1000" b="0">
                <a:solidFill>
                  <a:srgbClr val="666666"/>
                </a:solidFill>
                <a:latin typeface="Microsoft YaHei" panose="020B0503020204020204" charset="-122"/>
                <a:ea typeface="Microsoft YaHei" panose="020B0503020204020204" charset="-122"/>
              </a:rPr>
              <a:t>19/41</a:t>
            </a:r>
            <a:endParaRPr sz="1000" b="0">
              <a:solidFill>
                <a:srgbClr val="666666"/>
              </a:solidFill>
              <a:latin typeface="Microsoft YaHei" panose="020B0503020204020204" charset="-122"/>
            </a:endParaRPr>
          </a:p>
        </p:txBody>
      </p:sp>
    </p:spTree>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Rectangle 1"/>
          <p:cNvSpPr/>
          <p:nvPr/>
        </p:nvSpPr>
        <p:spPr>
          <a:xfrm>
            <a:off x="0" y="0"/>
            <a:ext cx="12191365" cy="54864"/>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8229600" cy="491490"/>
          </a:xfrm>
          <a:prstGeom prst="rect">
            <a:avLst/>
          </a:prstGeom>
          <a:noFill/>
        </p:spPr>
        <p:txBody>
          <a:bodyPr wrap="square">
            <a:spAutoFit/>
          </a:bodyPr>
          <a:lstStyle/>
          <a:p>
            <a:pPr algn="l"/>
            <a:r>
              <a:rPr lang="en-US" altLang="zh-CN" sz="2600" b="1">
                <a:solidFill>
                  <a:srgbClr val="333333"/>
                </a:solidFill>
                <a:latin typeface="Microsoft YaHei" panose="020B0503020204020204" charset="-122"/>
                <a:ea typeface="Microsoft YaHei" panose="020B0503020204020204" charset="-122"/>
                <a:sym typeface="+mn-ea"/>
              </a:rPr>
              <a:t>Openspec-HW2</a:t>
            </a:r>
            <a:r>
              <a:rPr lang="zh-CN" altLang="en-US" sz="2600" b="1">
                <a:solidFill>
                  <a:srgbClr val="333333"/>
                </a:solidFill>
                <a:latin typeface="Microsoft YaHei" panose="020B0503020204020204" charset="-122"/>
                <a:ea typeface="Microsoft YaHei" panose="020B0503020204020204" charset="-122"/>
                <a:sym typeface="+mn-ea"/>
              </a:rPr>
              <a:t>（或类似工具平台）</a:t>
            </a:r>
            <a:r>
              <a:rPr lang="zh-CN" sz="2600" b="1">
                <a:solidFill>
                  <a:srgbClr val="333333"/>
                </a:solidFill>
                <a:latin typeface="Microsoft YaHei" panose="020B0503020204020204" charset="-122"/>
                <a:ea typeface="Microsoft YaHei" panose="020B0503020204020204" charset="-122"/>
                <a:sym typeface="+mn-ea"/>
              </a:rPr>
              <a:t>潜在</a:t>
            </a:r>
            <a:r>
              <a:rPr sz="2600" b="1">
                <a:solidFill>
                  <a:srgbClr val="333333"/>
                </a:solidFill>
                <a:latin typeface="Microsoft YaHei" panose="020B0503020204020204" charset="-122"/>
                <a:ea typeface="Microsoft YaHei" panose="020B0503020204020204" charset="-122"/>
                <a:sym typeface="+mn-ea"/>
              </a:rPr>
              <a:t>的研究方向</a:t>
            </a:r>
            <a:endParaRPr sz="2600" b="1">
              <a:solidFill>
                <a:srgbClr val="1A1A2E"/>
              </a:solidFill>
              <a:latin typeface="Microsoft YaHei" panose="020B0503020204020204" charset="-122"/>
            </a:endParaRPr>
          </a:p>
        </p:txBody>
      </p:sp>
      <p:sp>
        <p:nvSpPr>
          <p:cNvPr id="4" name="Rectangle 3"/>
          <p:cNvSpPr/>
          <p:nvPr/>
        </p:nvSpPr>
        <p:spPr>
          <a:xfrm>
            <a:off x="457200" y="667512"/>
            <a:ext cx="914400" cy="508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50000" y="1300000"/>
            <a:ext cx="2700000" cy="5100000"/>
          </a:xfrm>
          <a:prstGeom prst="roundRect">
            <a:avLst/>
          </a:prstGeom>
          <a:solidFill>
            <a:srgbClr val="F0F5FF"/>
          </a:solidFill>
          <a:ln w="1905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50000" y="1300000"/>
            <a:ext cx="2700000" cy="55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0215" y="1400175"/>
            <a:ext cx="2110105" cy="553085"/>
          </a:xfrm>
          <a:prstGeom prst="rect">
            <a:avLst/>
          </a:prstGeom>
          <a:noFill/>
        </p:spPr>
        <p:txBody>
          <a:bodyPr wrap="square">
            <a:spAutoFit/>
          </a:bodyPr>
          <a:lstStyle/>
          <a:p>
            <a:pPr algn="l"/>
            <a:r>
              <a:rPr sz="1500" b="1">
                <a:solidFill>
                  <a:srgbClr val="0078D4"/>
                </a:solidFill>
                <a:latin typeface="Microsoft YaHei" panose="020B0503020204020204" charset="-122"/>
                <a:ea typeface="Microsoft YaHei" panose="020B0503020204020204" charset="-122"/>
              </a:rPr>
              <a:t>Multi-Perspective
Spec </a:t>
            </a:r>
            <a:r>
              <a:rPr lang="en-US" sz="1500" b="1">
                <a:solidFill>
                  <a:srgbClr val="0078D4"/>
                </a:solidFill>
                <a:latin typeface="Microsoft YaHei" panose="020B0503020204020204" charset="-122"/>
                <a:ea typeface="Microsoft YaHei" panose="020B0503020204020204" charset="-122"/>
              </a:rPr>
              <a:t>Eval</a:t>
            </a:r>
            <a:endParaRPr lang="en-US" sz="1500" b="1">
              <a:solidFill>
                <a:srgbClr val="0078D4"/>
              </a:solidFill>
              <a:latin typeface="Microsoft YaHei" panose="020B0503020204020204" charset="-122"/>
              <a:ea typeface="Microsoft YaHei" panose="020B0503020204020204" charset="-122"/>
            </a:endParaRPr>
          </a:p>
        </p:txBody>
      </p:sp>
      <p:sp>
        <p:nvSpPr>
          <p:cNvPr id="11" name="Rounded Rectangle 10"/>
          <p:cNvSpPr/>
          <p:nvPr/>
        </p:nvSpPr>
        <p:spPr>
          <a:xfrm>
            <a:off x="410000" y="1900000"/>
            <a:ext cx="2580000" cy="1200000"/>
          </a:xfrm>
          <a:prstGeom prst="roundRect">
            <a:avLst/>
          </a:prstGeom>
          <a:solidFill>
            <a:srgbClr val="FD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0000" y="1900000"/>
            <a:ext cx="2460000" cy="230000"/>
          </a:xfrm>
          <a:prstGeom prst="rect">
            <a:avLst/>
          </a:prstGeom>
          <a:noFill/>
        </p:spPr>
        <p:txBody>
          <a:bodyPr wrap="square">
            <a:spAutoFit/>
          </a:bodyPr>
          <a:lstStyle/>
          <a:p>
            <a:pPr algn="l"/>
            <a:r>
              <a:rPr sz="1300" b="1">
                <a:solidFill>
                  <a:srgbClr val="D13438"/>
                </a:solidFill>
                <a:latin typeface="Microsoft YaHei" panose="020B0503020204020204" charset="-122"/>
                <a:ea typeface="Microsoft YaHei" panose="020B0503020204020204" charset="-122"/>
              </a:rPr>
              <a:t>Problem</a:t>
            </a:r>
            <a:endParaRPr sz="1300" b="1">
              <a:solidFill>
                <a:srgbClr val="D13438"/>
              </a:solidFill>
              <a:latin typeface="Microsoft YaHei" panose="020B0503020204020204" charset="-122"/>
            </a:endParaRPr>
          </a:p>
        </p:txBody>
      </p:sp>
      <p:sp>
        <p:nvSpPr>
          <p:cNvPr id="13" name="TextBox 12"/>
          <p:cNvSpPr txBox="1"/>
          <p:nvPr/>
        </p:nvSpPr>
        <p:spPr>
          <a:xfrm>
            <a:off x="469900" y="2150110"/>
            <a:ext cx="2555875" cy="937260"/>
          </a:xfrm>
          <a:prstGeom prst="rect">
            <a:avLst/>
          </a:prstGeom>
          <a:noFill/>
        </p:spPr>
        <p:txBody>
          <a:bodyPr wrap="square">
            <a:spAutoFit/>
          </a:bodyPr>
          <a:lstStyle/>
          <a:p>
            <a:pPr algn="l"/>
            <a:r>
              <a:rPr lang="zh-CN" sz="1100" b="0">
                <a:solidFill>
                  <a:srgbClr val="333333"/>
                </a:solidFill>
                <a:latin typeface="Microsoft YaHei" panose="020B0503020204020204" charset="-122"/>
                <a:ea typeface="Microsoft YaHei" panose="020B0503020204020204" charset="-122"/>
              </a:rPr>
              <a:t>当前</a:t>
            </a:r>
            <a:r>
              <a:rPr lang="en-US" altLang="zh-CN" sz="1100" b="0">
                <a:solidFill>
                  <a:srgbClr val="333333"/>
                </a:solidFill>
                <a:latin typeface="Microsoft YaHei" panose="020B0503020204020204" charset="-122"/>
                <a:ea typeface="Microsoft YaHei" panose="020B0503020204020204" charset="-122"/>
              </a:rPr>
              <a:t>Spec</a:t>
            </a:r>
            <a:r>
              <a:rPr lang="zh-CN" altLang="en-US" sz="1100" b="0">
                <a:solidFill>
                  <a:srgbClr val="333333"/>
                </a:solidFill>
                <a:latin typeface="Microsoft YaHei" panose="020B0503020204020204" charset="-122"/>
                <a:ea typeface="Microsoft YaHei" panose="020B0503020204020204" charset="-122"/>
              </a:rPr>
              <a:t>检查依赖人工</a:t>
            </a:r>
            <a:r>
              <a:rPr lang="en-US" altLang="zh-CN" sz="1100" b="0">
                <a:solidFill>
                  <a:srgbClr val="333333"/>
                </a:solidFill>
                <a:latin typeface="Microsoft YaHei" panose="020B0503020204020204" charset="-122"/>
                <a:ea typeface="Microsoft YaHei" panose="020B0503020204020204" charset="-122"/>
              </a:rPr>
              <a:t> </a:t>
            </a:r>
            <a:endParaRPr lang="en-US" altLang="zh-CN" sz="1100" b="0">
              <a:solidFill>
                <a:srgbClr val="333333"/>
              </a:solidFill>
              <a:latin typeface="Microsoft YaHei" panose="020B0503020204020204" charset="-122"/>
              <a:ea typeface="Microsoft YaHei" panose="020B0503020204020204" charset="-122"/>
            </a:endParaRPr>
          </a:p>
          <a:p>
            <a:pPr algn="l"/>
            <a:r>
              <a:rPr lang="zh-CN" altLang="en-US" sz="1100" b="0">
                <a:solidFill>
                  <a:srgbClr val="333333"/>
                </a:solidFill>
                <a:latin typeface="Microsoft YaHei" panose="020B0503020204020204" charset="-122"/>
                <a:ea typeface="Microsoft YaHei" panose="020B0503020204020204" charset="-122"/>
              </a:rPr>
              <a:t>并且</a:t>
            </a:r>
            <a:r>
              <a:rPr sz="1100" b="0">
                <a:solidFill>
                  <a:srgbClr val="333333"/>
                </a:solidFill>
                <a:latin typeface="Microsoft YaHei" panose="020B0503020204020204" charset="-122"/>
                <a:ea typeface="Microsoft YaHei" panose="020B0503020204020204" charset="-122"/>
              </a:rPr>
              <a:t>单一 AI 检查 spec 只能发现已知问题
缺乏创造性的多视角审查
</a:t>
            </a:r>
            <a:endParaRPr sz="1100" b="0">
              <a:solidFill>
                <a:srgbClr val="333333"/>
              </a:solidFill>
              <a:latin typeface="Microsoft YaHei" panose="020B0503020204020204" charset="-122"/>
            </a:endParaRPr>
          </a:p>
        </p:txBody>
      </p:sp>
      <p:sp>
        <p:nvSpPr>
          <p:cNvPr id="14" name="Rounded Rectangle 13"/>
          <p:cNvSpPr/>
          <p:nvPr/>
        </p:nvSpPr>
        <p:spPr>
          <a:xfrm>
            <a:off x="410000" y="3200000"/>
            <a:ext cx="2580000" cy="1500000"/>
          </a:xfrm>
          <a:prstGeom prst="roundRect">
            <a:avLst/>
          </a:prstGeom>
          <a:solidFill>
            <a:srgbClr val="F0F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0000" y="3200000"/>
            <a:ext cx="2460000" cy="291465"/>
          </a:xfrm>
          <a:prstGeom prst="rect">
            <a:avLst/>
          </a:prstGeom>
          <a:noFill/>
        </p:spPr>
        <p:txBody>
          <a:bodyPr wrap="square">
            <a:spAutoFit/>
          </a:bodyPr>
          <a:lstStyle/>
          <a:p>
            <a:pPr algn="l"/>
            <a:r>
              <a:rPr lang="en-US" sz="1300" b="1">
                <a:solidFill>
                  <a:srgbClr val="107C10"/>
                </a:solidFill>
                <a:latin typeface="Microsoft YaHei" panose="020B0503020204020204" charset="-122"/>
                <a:ea typeface="Microsoft YaHei" panose="020B0503020204020204" charset="-122"/>
              </a:rPr>
              <a:t>Potential </a:t>
            </a:r>
            <a:r>
              <a:rPr sz="1300" b="1">
                <a:solidFill>
                  <a:srgbClr val="107C10"/>
                </a:solidFill>
                <a:latin typeface="Microsoft YaHei" panose="020B0503020204020204" charset="-122"/>
                <a:ea typeface="Microsoft YaHei" panose="020B0503020204020204" charset="-122"/>
              </a:rPr>
              <a:t>Solution</a:t>
            </a:r>
            <a:endParaRPr sz="1300" b="1">
              <a:solidFill>
                <a:srgbClr val="107C10"/>
              </a:solidFill>
              <a:latin typeface="Microsoft YaHei" panose="020B0503020204020204" charset="-122"/>
            </a:endParaRPr>
          </a:p>
        </p:txBody>
      </p:sp>
      <p:sp>
        <p:nvSpPr>
          <p:cNvPr id="16" name="TextBox 15"/>
          <p:cNvSpPr txBox="1"/>
          <p:nvPr/>
        </p:nvSpPr>
        <p:spPr>
          <a:xfrm>
            <a:off x="450215" y="3449955"/>
            <a:ext cx="2794000" cy="1106805"/>
          </a:xfrm>
          <a:prstGeom prst="rect">
            <a:avLst/>
          </a:prstGeom>
          <a:noFill/>
        </p:spPr>
        <p:txBody>
          <a:bodyPr wrap="square">
            <a:spAutoFit/>
          </a:bodyPr>
          <a:lstStyle/>
          <a:p>
            <a:pPr algn="l"/>
            <a:r>
              <a:rPr sz="1100" b="0">
                <a:solidFill>
                  <a:srgbClr val="333333"/>
                </a:solidFill>
                <a:latin typeface="Microsoft YaHei" panose="020B0503020204020204" charset="-122"/>
                <a:ea typeface="Microsoft YaHei" panose="020B0503020204020204" charset="-122"/>
              </a:rPr>
              <a:t>部署多视角专业化 Agent 测试团队：
• 完整性审查员
• 异常路径测试员</a:t>
            </a:r>
            <a:endParaRPr sz="1100" b="0">
              <a:solidFill>
                <a:srgbClr val="333333"/>
              </a:solidFill>
              <a:latin typeface="Microsoft YaHei" panose="020B0503020204020204" charset="-122"/>
              <a:ea typeface="Microsoft YaHei" panose="020B0503020204020204" charset="-122"/>
            </a:endParaRPr>
          </a:p>
          <a:p>
            <a:pPr algn="l"/>
            <a:r>
              <a:rPr sz="1100" b="0">
                <a:solidFill>
                  <a:srgbClr val="333333"/>
                </a:solidFill>
                <a:latin typeface="Microsoft YaHei" panose="020B0503020204020204" charset="-122"/>
                <a:ea typeface="Microsoft YaHei" panose="020B0503020204020204" charset="-122"/>
              </a:rPr>
              <a:t>• 边界条件分析员</a:t>
            </a:r>
            <a:endParaRPr sz="1100" b="0">
              <a:solidFill>
                <a:srgbClr val="333333"/>
              </a:solidFill>
              <a:latin typeface="Microsoft YaHei" panose="020B0503020204020204" charset="-122"/>
              <a:ea typeface="Microsoft YaHei" panose="020B0503020204020204" charset="-122"/>
            </a:endParaRPr>
          </a:p>
          <a:p>
            <a:pPr algn="l"/>
            <a:r>
              <a:rPr sz="1100" b="0">
                <a:solidFill>
                  <a:srgbClr val="333333"/>
                </a:solidFill>
                <a:latin typeface="Microsoft YaHei" panose="020B0503020204020204" charset="-122"/>
                <a:ea typeface="Microsoft YaHei" panose="020B0503020204020204" charset="-122"/>
              </a:rPr>
              <a:t>• 集成分析师</a:t>
            </a:r>
            <a:endParaRPr sz="1100" b="0">
              <a:solidFill>
                <a:srgbClr val="333333"/>
              </a:solidFill>
              <a:latin typeface="Microsoft YaHei" panose="020B0503020204020204" charset="-122"/>
              <a:ea typeface="Microsoft YaHei" panose="020B0503020204020204" charset="-122"/>
            </a:endParaRPr>
          </a:p>
          <a:p>
            <a:pPr algn="l"/>
            <a:r>
              <a:rPr lang="en-US" sz="1100" b="0">
                <a:solidFill>
                  <a:srgbClr val="333333"/>
                </a:solidFill>
                <a:latin typeface="Microsoft YaHei" panose="020B0503020204020204" charset="-122"/>
              </a:rPr>
              <a:t>....</a:t>
            </a:r>
            <a:endParaRPr lang="en-US" sz="1100" b="0">
              <a:solidFill>
                <a:srgbClr val="333333"/>
              </a:solidFill>
              <a:latin typeface="Microsoft YaHei" panose="020B0503020204020204" charset="-122"/>
            </a:endParaRPr>
          </a:p>
        </p:txBody>
      </p:sp>
      <p:sp>
        <p:nvSpPr>
          <p:cNvPr id="17" name="Rounded Rectangle 16"/>
          <p:cNvSpPr/>
          <p:nvPr/>
        </p:nvSpPr>
        <p:spPr>
          <a:xfrm>
            <a:off x="410000" y="4800000"/>
            <a:ext cx="2580000" cy="1200000"/>
          </a:xfrm>
          <a:prstGeom prst="round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000" y="4800000"/>
            <a:ext cx="2460000" cy="291465"/>
          </a:xfrm>
          <a:prstGeom prst="rect">
            <a:avLst/>
          </a:prstGeom>
          <a:noFill/>
        </p:spPr>
        <p:txBody>
          <a:bodyPr wrap="square">
            <a:spAutoFit/>
          </a:bodyPr>
          <a:lstStyle/>
          <a:p>
            <a:pPr algn="l"/>
            <a:r>
              <a:rPr lang="en-US" sz="1300" b="1">
                <a:solidFill>
                  <a:srgbClr val="0078D4"/>
                </a:solidFill>
                <a:latin typeface="Microsoft YaHei" panose="020B0503020204020204" charset="-122"/>
                <a:ea typeface="Microsoft YaHei" panose="020B0503020204020204" charset="-122"/>
              </a:rPr>
              <a:t>Potential </a:t>
            </a:r>
            <a:r>
              <a:rPr sz="1300" b="1">
                <a:solidFill>
                  <a:srgbClr val="0078D4"/>
                </a:solidFill>
                <a:latin typeface="Microsoft YaHei" panose="020B0503020204020204" charset="-122"/>
                <a:ea typeface="Microsoft YaHei" panose="020B0503020204020204" charset="-122"/>
              </a:rPr>
              <a:t>Value</a:t>
            </a:r>
            <a:endParaRPr sz="1300" b="1">
              <a:solidFill>
                <a:srgbClr val="0078D4"/>
              </a:solidFill>
              <a:latin typeface="Microsoft YaHei" panose="020B0503020204020204" charset="-122"/>
            </a:endParaRPr>
          </a:p>
        </p:txBody>
      </p:sp>
      <p:sp>
        <p:nvSpPr>
          <p:cNvPr id="19" name="TextBox 18"/>
          <p:cNvSpPr txBox="1"/>
          <p:nvPr/>
        </p:nvSpPr>
        <p:spPr>
          <a:xfrm>
            <a:off x="470000" y="5050000"/>
            <a:ext cx="2460000" cy="768350"/>
          </a:xfrm>
          <a:prstGeom prst="rect">
            <a:avLst/>
          </a:prstGeom>
          <a:noFill/>
        </p:spPr>
        <p:txBody>
          <a:bodyPr wrap="square">
            <a:spAutoFit/>
          </a:bodyPr>
          <a:lstStyle/>
          <a:p>
            <a:pPr algn="l"/>
            <a:r>
              <a:rPr lang="zh-CN" sz="1100">
                <a:solidFill>
                  <a:srgbClr val="333333"/>
                </a:solidFill>
                <a:latin typeface="Microsoft YaHei" panose="020B0503020204020204" charset="-122"/>
                <a:ea typeface="Microsoft YaHei" panose="020B0503020204020204" charset="-122"/>
              </a:rPr>
              <a:t>进一步确保</a:t>
            </a:r>
            <a:r>
              <a:rPr lang="en-US" altLang="zh-CN" sz="1100">
                <a:solidFill>
                  <a:srgbClr val="333333"/>
                </a:solidFill>
                <a:latin typeface="Microsoft YaHei" panose="020B0503020204020204" charset="-122"/>
                <a:ea typeface="Microsoft YaHei" panose="020B0503020204020204" charset="-122"/>
              </a:rPr>
              <a:t>Spec</a:t>
            </a:r>
            <a:r>
              <a:rPr lang="zh-CN" altLang="en-US" sz="1100">
                <a:solidFill>
                  <a:srgbClr val="333333"/>
                </a:solidFill>
                <a:latin typeface="Microsoft YaHei" panose="020B0503020204020204" charset="-122"/>
                <a:ea typeface="Microsoft YaHei" panose="020B0503020204020204" charset="-122"/>
              </a:rPr>
              <a:t>的质量和完整性</a:t>
            </a:r>
            <a:endParaRPr lang="zh-CN" altLang="en-US" sz="1100">
              <a:solidFill>
                <a:srgbClr val="333333"/>
              </a:solidFill>
              <a:latin typeface="Microsoft YaHei" panose="020B0503020204020204" charset="-122"/>
              <a:ea typeface="Microsoft YaHei" panose="020B0503020204020204" charset="-122"/>
            </a:endParaRPr>
          </a:p>
          <a:p>
            <a:pPr algn="l"/>
            <a:br>
              <a:rPr sz="1100">
                <a:solidFill>
                  <a:srgbClr val="333333"/>
                </a:solidFill>
                <a:latin typeface="Microsoft YaHei" panose="020B0503020204020204" charset="-122"/>
                <a:ea typeface="Microsoft YaHei" panose="020B0503020204020204" charset="-122"/>
              </a:rPr>
            </a:br>
            <a:r>
              <a:rPr lang="zh-CN" sz="1100">
                <a:solidFill>
                  <a:srgbClr val="333333"/>
                </a:solidFill>
                <a:latin typeface="Microsoft YaHei" panose="020B0503020204020204" charset="-122"/>
                <a:ea typeface="Microsoft YaHei" panose="020B0503020204020204" charset="-122"/>
              </a:rPr>
              <a:t>验证</a:t>
            </a:r>
            <a:r>
              <a:rPr sz="1100">
                <a:solidFill>
                  <a:srgbClr val="333333"/>
                </a:solidFill>
                <a:latin typeface="Microsoft YaHei" panose="020B0503020204020204" charset="-122"/>
                <a:ea typeface="Microsoft YaHei" panose="020B0503020204020204" charset="-122"/>
              </a:rPr>
              <a:t>多视角审查</a:t>
            </a:r>
            <a:r>
              <a:rPr lang="zh-CN" sz="1100">
                <a:solidFill>
                  <a:srgbClr val="333333"/>
                </a:solidFill>
                <a:latin typeface="Microsoft YaHei" panose="020B0503020204020204" charset="-122"/>
                <a:ea typeface="Microsoft YaHei" panose="020B0503020204020204" charset="-122"/>
              </a:rPr>
              <a:t>是否在</a:t>
            </a:r>
            <a:r>
              <a:rPr lang="en-US" altLang="zh-CN" sz="1100">
                <a:solidFill>
                  <a:srgbClr val="333333"/>
                </a:solidFill>
                <a:latin typeface="Microsoft YaHei" panose="020B0503020204020204" charset="-122"/>
                <a:ea typeface="Microsoft YaHei" panose="020B0503020204020204" charset="-122"/>
              </a:rPr>
              <a:t>SDD</a:t>
            </a:r>
            <a:r>
              <a:rPr lang="zh-CN" altLang="en-US" sz="1100">
                <a:solidFill>
                  <a:srgbClr val="333333"/>
                </a:solidFill>
                <a:latin typeface="Microsoft YaHei" panose="020B0503020204020204" charset="-122"/>
                <a:ea typeface="Microsoft YaHei" panose="020B0503020204020204" charset="-122"/>
              </a:rPr>
              <a:t>中存在</a:t>
            </a:r>
            <a:r>
              <a:rPr lang="zh-CN" altLang="en-US" sz="1100">
                <a:solidFill>
                  <a:srgbClr val="333333"/>
                </a:solidFill>
                <a:latin typeface="Microsoft YaHei" panose="020B0503020204020204" charset="-122"/>
                <a:ea typeface="Microsoft YaHei" panose="020B0503020204020204" charset="-122"/>
              </a:rPr>
              <a:t>有效性</a:t>
            </a:r>
            <a:endParaRPr lang="zh-CN" altLang="en-US" sz="1100">
              <a:solidFill>
                <a:srgbClr val="333333"/>
              </a:solidFill>
              <a:latin typeface="Microsoft YaHei" panose="020B0503020204020204" charset="-122"/>
              <a:ea typeface="Microsoft YaHei" panose="020B0503020204020204" charset="-122"/>
            </a:endParaRPr>
          </a:p>
        </p:txBody>
      </p:sp>
      <p:sp>
        <p:nvSpPr>
          <p:cNvPr id="20" name="Rounded Rectangle 19"/>
          <p:cNvSpPr/>
          <p:nvPr/>
        </p:nvSpPr>
        <p:spPr>
          <a:xfrm>
            <a:off x="8802704" y="1300000"/>
            <a:ext cx="2700000" cy="5100000"/>
          </a:xfrm>
          <a:prstGeom prst="roundRect">
            <a:avLst/>
          </a:prstGeom>
          <a:solidFill>
            <a:srgbClr val="F0F8F8"/>
          </a:solidFill>
          <a:ln w="1905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02704" y="1300000"/>
            <a:ext cx="2700000" cy="55000"/>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02954" y="1400175"/>
            <a:ext cx="1950085" cy="553085"/>
          </a:xfrm>
          <a:prstGeom prst="rect">
            <a:avLst/>
          </a:prstGeom>
          <a:noFill/>
        </p:spPr>
        <p:txBody>
          <a:bodyPr wrap="square">
            <a:spAutoFit/>
          </a:bodyPr>
          <a:lstStyle/>
          <a:p>
            <a:pPr algn="l"/>
            <a:r>
              <a:rPr sz="1500" b="1">
                <a:solidFill>
                  <a:srgbClr val="008B8B"/>
                </a:solidFill>
                <a:latin typeface="Microsoft YaHei" panose="020B0503020204020204" charset="-122"/>
                <a:ea typeface="Microsoft YaHei" panose="020B0503020204020204" charset="-122"/>
              </a:rPr>
              <a:t>Domain-Specific Packs</a:t>
            </a:r>
            <a:endParaRPr sz="1500" b="1">
              <a:solidFill>
                <a:srgbClr val="008B8B"/>
              </a:solidFill>
              <a:latin typeface="Microsoft YaHei" panose="020B0503020204020204" charset="-122"/>
            </a:endParaRPr>
          </a:p>
        </p:txBody>
      </p:sp>
      <p:sp>
        <p:nvSpPr>
          <p:cNvPr id="25" name="Rounded Rectangle 24"/>
          <p:cNvSpPr/>
          <p:nvPr/>
        </p:nvSpPr>
        <p:spPr>
          <a:xfrm>
            <a:off x="8862704" y="1900000"/>
            <a:ext cx="2580000" cy="1200000"/>
          </a:xfrm>
          <a:prstGeom prst="roundRect">
            <a:avLst/>
          </a:prstGeom>
          <a:solidFill>
            <a:srgbClr val="FD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22704" y="1900000"/>
            <a:ext cx="2460000" cy="230000"/>
          </a:xfrm>
          <a:prstGeom prst="rect">
            <a:avLst/>
          </a:prstGeom>
          <a:noFill/>
        </p:spPr>
        <p:txBody>
          <a:bodyPr wrap="square">
            <a:spAutoFit/>
          </a:bodyPr>
          <a:lstStyle/>
          <a:p>
            <a:pPr algn="l"/>
            <a:r>
              <a:rPr sz="1300" b="1">
                <a:solidFill>
                  <a:srgbClr val="D13438"/>
                </a:solidFill>
                <a:latin typeface="Microsoft YaHei" panose="020B0503020204020204" charset="-122"/>
                <a:ea typeface="Microsoft YaHei" panose="020B0503020204020204" charset="-122"/>
              </a:rPr>
              <a:t>Problem</a:t>
            </a:r>
            <a:endParaRPr sz="1300" b="1">
              <a:solidFill>
                <a:srgbClr val="D13438"/>
              </a:solidFill>
              <a:latin typeface="Microsoft YaHei" panose="020B0503020204020204" charset="-122"/>
            </a:endParaRPr>
          </a:p>
        </p:txBody>
      </p:sp>
      <p:sp>
        <p:nvSpPr>
          <p:cNvPr id="27" name="TextBox 26"/>
          <p:cNvSpPr txBox="1"/>
          <p:nvPr/>
        </p:nvSpPr>
        <p:spPr>
          <a:xfrm>
            <a:off x="8922704" y="2150000"/>
            <a:ext cx="2460000" cy="768350"/>
          </a:xfrm>
          <a:prstGeom prst="rect">
            <a:avLst/>
          </a:prstGeom>
          <a:noFill/>
        </p:spPr>
        <p:txBody>
          <a:bodyPr wrap="square">
            <a:spAutoFit/>
          </a:bodyPr>
          <a:lstStyle/>
          <a:p>
            <a:pPr algn="l"/>
            <a:r>
              <a:rPr sz="1100" b="0">
                <a:solidFill>
                  <a:srgbClr val="333333"/>
                </a:solidFill>
                <a:latin typeface="Microsoft YaHei" panose="020B0503020204020204" charset="-122"/>
                <a:ea typeface="Microsoft YaHei" panose="020B0503020204020204" charset="-122"/>
              </a:rPr>
              <a:t>AI </a:t>
            </a:r>
            <a:r>
              <a:rPr lang="en-US" sz="1100" b="0">
                <a:solidFill>
                  <a:srgbClr val="333333"/>
                </a:solidFill>
                <a:latin typeface="Microsoft YaHei" panose="020B0503020204020204" charset="-122"/>
                <a:ea typeface="Microsoft YaHei" panose="020B0503020204020204" charset="-122"/>
              </a:rPr>
              <a:t>Agent</a:t>
            </a:r>
            <a:r>
              <a:rPr sz="1100">
                <a:solidFill>
                  <a:srgbClr val="333333"/>
                </a:solidFill>
                <a:latin typeface="Microsoft YaHei" panose="020B0503020204020204" charset="-122"/>
                <a:ea typeface="Microsoft YaHei" panose="020B0503020204020204" charset="-122"/>
                <a:sym typeface="+mn-ea"/>
              </a:rPr>
              <a:t>不理解 </a:t>
            </a:r>
            <a:r>
              <a:rPr lang="zh-CN" sz="1100">
                <a:solidFill>
                  <a:srgbClr val="333333"/>
                </a:solidFill>
                <a:latin typeface="Microsoft YaHei" panose="020B0503020204020204" charset="-122"/>
                <a:ea typeface="Microsoft YaHei" panose="020B0503020204020204" charset="-122"/>
                <a:sym typeface="+mn-ea"/>
              </a:rPr>
              <a:t>类似于通讯的</a:t>
            </a:r>
            <a:r>
              <a:rPr sz="1100">
                <a:solidFill>
                  <a:srgbClr val="333333"/>
                </a:solidFill>
                <a:latin typeface="Microsoft YaHei" panose="020B0503020204020204" charset="-122"/>
                <a:ea typeface="Microsoft YaHei" panose="020B0503020204020204" charset="-122"/>
                <a:sym typeface="+mn-ea"/>
              </a:rPr>
              <a:t>3GPP 等行业术语</a:t>
            </a:r>
            <a:endParaRPr sz="1100" b="0">
              <a:solidFill>
                <a:srgbClr val="333333"/>
              </a:solidFill>
              <a:latin typeface="Microsoft YaHei" panose="020B0503020204020204" charset="-122"/>
              <a:ea typeface="Microsoft YaHei" panose="020B0503020204020204" charset="-122"/>
            </a:endParaRPr>
          </a:p>
          <a:p>
            <a:pPr algn="l"/>
            <a:r>
              <a:rPr sz="1100">
                <a:solidFill>
                  <a:srgbClr val="333333"/>
                </a:solidFill>
                <a:latin typeface="Microsoft YaHei" panose="020B0503020204020204" charset="-122"/>
                <a:ea typeface="Microsoft YaHei" panose="020B0503020204020204" charset="-122"/>
                <a:sym typeface="+mn-ea"/>
              </a:rPr>
              <a:t>和合规要求，生成的 spec 缺乏行业深度</a:t>
            </a:r>
            <a:endParaRPr sz="1100" b="0">
              <a:solidFill>
                <a:srgbClr val="333333"/>
              </a:solidFill>
              <a:latin typeface="Microsoft YaHei" panose="020B0503020204020204" charset="-122"/>
            </a:endParaRPr>
          </a:p>
        </p:txBody>
      </p:sp>
      <p:sp>
        <p:nvSpPr>
          <p:cNvPr id="28" name="Rounded Rectangle 27"/>
          <p:cNvSpPr/>
          <p:nvPr/>
        </p:nvSpPr>
        <p:spPr>
          <a:xfrm>
            <a:off x="8862704" y="3200000"/>
            <a:ext cx="2580000" cy="1500000"/>
          </a:xfrm>
          <a:prstGeom prst="roundRect">
            <a:avLst/>
          </a:prstGeom>
          <a:solidFill>
            <a:srgbClr val="F0F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22704" y="3200000"/>
            <a:ext cx="2460000" cy="291465"/>
          </a:xfrm>
          <a:prstGeom prst="rect">
            <a:avLst/>
          </a:prstGeom>
          <a:noFill/>
        </p:spPr>
        <p:txBody>
          <a:bodyPr wrap="square">
            <a:spAutoFit/>
          </a:bodyPr>
          <a:lstStyle/>
          <a:p>
            <a:pPr algn="l"/>
            <a:r>
              <a:rPr lang="en-US" sz="1300" b="1">
                <a:solidFill>
                  <a:srgbClr val="107C10"/>
                </a:solidFill>
                <a:latin typeface="Microsoft YaHei" panose="020B0503020204020204" charset="-122"/>
                <a:ea typeface="Microsoft YaHei" panose="020B0503020204020204" charset="-122"/>
              </a:rPr>
              <a:t>Potential </a:t>
            </a:r>
            <a:r>
              <a:rPr sz="1300" b="1">
                <a:solidFill>
                  <a:srgbClr val="107C10"/>
                </a:solidFill>
                <a:latin typeface="Microsoft YaHei" panose="020B0503020204020204" charset="-122"/>
                <a:ea typeface="Microsoft YaHei" panose="020B0503020204020204" charset="-122"/>
              </a:rPr>
              <a:t>Solution</a:t>
            </a:r>
            <a:endParaRPr sz="1300" b="1">
              <a:solidFill>
                <a:srgbClr val="107C10"/>
              </a:solidFill>
              <a:latin typeface="Microsoft YaHei" panose="020B0503020204020204" charset="-122"/>
            </a:endParaRPr>
          </a:p>
        </p:txBody>
      </p:sp>
      <p:sp>
        <p:nvSpPr>
          <p:cNvPr id="30" name="TextBox 29"/>
          <p:cNvSpPr txBox="1"/>
          <p:nvPr/>
        </p:nvSpPr>
        <p:spPr>
          <a:xfrm>
            <a:off x="8922704" y="3450000"/>
            <a:ext cx="2460000" cy="1200000"/>
          </a:xfrm>
          <a:prstGeom prst="rect">
            <a:avLst/>
          </a:prstGeom>
          <a:noFill/>
        </p:spPr>
        <p:txBody>
          <a:bodyPr wrap="square">
            <a:spAutoFit/>
          </a:bodyPr>
          <a:lstStyle/>
          <a:p>
            <a:pPr algn="l"/>
            <a:r>
              <a:rPr sz="1100" b="0">
                <a:solidFill>
                  <a:srgbClr val="333333"/>
                </a:solidFill>
                <a:latin typeface="Microsoft YaHei" panose="020B0503020204020204" charset="-122"/>
                <a:ea typeface="Microsoft YaHei" panose="020B0503020204020204" charset="-122"/>
              </a:rPr>
              <a:t>将领域知识打包为 Domain Packs：
• 行业规则（Rules）+ spec 模板
• Schema 约束 + 验证规则（Validators）
• AI 生成 spec 时自动引用行业知识</a:t>
            </a:r>
            <a:endParaRPr sz="1100" b="0">
              <a:solidFill>
                <a:srgbClr val="333333"/>
              </a:solidFill>
              <a:latin typeface="Microsoft YaHei" panose="020B0503020204020204" charset="-122"/>
            </a:endParaRPr>
          </a:p>
        </p:txBody>
      </p:sp>
      <p:sp>
        <p:nvSpPr>
          <p:cNvPr id="31" name="Rounded Rectangle 30"/>
          <p:cNvSpPr/>
          <p:nvPr/>
        </p:nvSpPr>
        <p:spPr>
          <a:xfrm>
            <a:off x="8862704" y="4800000"/>
            <a:ext cx="2580000" cy="1200000"/>
          </a:xfrm>
          <a:prstGeom prst="round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22704" y="4800000"/>
            <a:ext cx="2460000" cy="230000"/>
          </a:xfrm>
          <a:prstGeom prst="rect">
            <a:avLst/>
          </a:prstGeom>
          <a:noFill/>
        </p:spPr>
        <p:txBody>
          <a:bodyPr wrap="square">
            <a:spAutoFit/>
          </a:bodyPr>
          <a:lstStyle/>
          <a:p>
            <a:pPr algn="l"/>
            <a:r>
              <a:rPr sz="1300" b="1">
                <a:solidFill>
                  <a:srgbClr val="008B8B"/>
                </a:solidFill>
                <a:latin typeface="Microsoft YaHei" panose="020B0503020204020204" charset="-122"/>
                <a:ea typeface="Microsoft YaHei" panose="020B0503020204020204" charset="-122"/>
              </a:rPr>
              <a:t>Business Value</a:t>
            </a:r>
            <a:endParaRPr sz="1300" b="1">
              <a:solidFill>
                <a:srgbClr val="008B8B"/>
              </a:solidFill>
              <a:latin typeface="Microsoft YaHei" panose="020B0503020204020204" charset="-122"/>
            </a:endParaRPr>
          </a:p>
        </p:txBody>
      </p:sp>
      <p:sp>
        <p:nvSpPr>
          <p:cNvPr id="33" name="TextBox 32"/>
          <p:cNvSpPr txBox="1"/>
          <p:nvPr/>
        </p:nvSpPr>
        <p:spPr>
          <a:xfrm>
            <a:off x="8922704" y="5050000"/>
            <a:ext cx="2460000" cy="768350"/>
          </a:xfrm>
          <a:prstGeom prst="rect">
            <a:avLst/>
          </a:prstGeom>
          <a:noFill/>
        </p:spPr>
        <p:txBody>
          <a:bodyPr wrap="square">
            <a:spAutoFit/>
          </a:bodyPr>
          <a:lstStyle/>
          <a:p>
            <a:pPr algn="l"/>
            <a:r>
              <a:rPr sz="1100">
                <a:solidFill>
                  <a:srgbClr val="333333"/>
                </a:solidFill>
                <a:latin typeface="Microsoft YaHei" panose="020B0503020204020204" charset="-122"/>
                <a:ea typeface="Microsoft YaHei" panose="020B0503020204020204" charset="-122"/>
              </a:rPr>
              <a:t>华为业务域的行业知识构成差异化壁垒</a:t>
            </a:r>
            <a:br>
              <a:rPr sz="1100">
                <a:solidFill>
                  <a:srgbClr val="333333"/>
                </a:solidFill>
                <a:latin typeface="Microsoft YaHei" panose="020B0503020204020204" charset="-122"/>
                <a:ea typeface="Microsoft YaHei" panose="020B0503020204020204" charset="-122"/>
              </a:rPr>
            </a:br>
            <a:r>
              <a:rPr sz="1100">
                <a:solidFill>
                  <a:srgbClr val="333333"/>
                </a:solidFill>
                <a:latin typeface="Microsoft YaHei" panose="020B0503020204020204" charset="-122"/>
                <a:ea typeface="Microsoft YaHei" panose="020B0503020204020204" charset="-122"/>
              </a:rPr>
              <a:t>3GPP/ISO 26262 等合规需求驱动</a:t>
            </a:r>
            <a:br>
              <a:rPr sz="1100">
                <a:solidFill>
                  <a:srgbClr val="333333"/>
                </a:solidFill>
                <a:latin typeface="Microsoft YaHei" panose="020B0503020204020204" charset="-122"/>
                <a:ea typeface="Microsoft YaHei" panose="020B0503020204020204" charset="-122"/>
              </a:rPr>
            </a:br>
            <a:r>
              <a:rPr sz="1100">
                <a:solidFill>
                  <a:srgbClr val="333333"/>
                </a:solidFill>
                <a:latin typeface="Microsoft YaHei" panose="020B0503020204020204" charset="-122"/>
                <a:ea typeface="Microsoft YaHei" panose="020B0503020204020204" charset="-122"/>
              </a:rPr>
              <a:t>行业积累可结构化封装为 Pack</a:t>
            </a:r>
            <a:endParaRPr sz="1100" b="1">
              <a:solidFill>
                <a:srgbClr val="008B8B"/>
              </a:solidFill>
              <a:latin typeface="Microsoft YaHei" panose="020B0503020204020204" charset="-122"/>
            </a:endParaRPr>
          </a:p>
        </p:txBody>
      </p:sp>
      <p:sp>
        <p:nvSpPr>
          <p:cNvPr id="34" name="Rounded Rectangle 33"/>
          <p:cNvSpPr/>
          <p:nvPr/>
        </p:nvSpPr>
        <p:spPr>
          <a:xfrm>
            <a:off x="5990000" y="1300000"/>
            <a:ext cx="2700000" cy="5100000"/>
          </a:xfrm>
          <a:prstGeom prst="roundRect">
            <a:avLst/>
          </a:prstGeom>
          <a:solidFill>
            <a:srgbClr val="FFF5E6"/>
          </a:solidFill>
          <a:ln w="1905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990000" y="1300000"/>
            <a:ext cx="2700000" cy="55000"/>
          </a:xfrm>
          <a:prstGeom prst="rect">
            <a:avLst/>
          </a:prstGeom>
          <a:solidFill>
            <a:srgbClr val="E8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090285" y="1400175"/>
            <a:ext cx="2030095" cy="553085"/>
          </a:xfrm>
          <a:prstGeom prst="rect">
            <a:avLst/>
          </a:prstGeom>
          <a:noFill/>
        </p:spPr>
        <p:txBody>
          <a:bodyPr wrap="square">
            <a:spAutoFit/>
          </a:bodyPr>
          <a:lstStyle/>
          <a:p>
            <a:pPr algn="l"/>
            <a:r>
              <a:rPr sz="1500" b="1">
                <a:solidFill>
                  <a:srgbClr val="E86C00"/>
                </a:solidFill>
                <a:latin typeface="Microsoft YaHei" panose="020B0503020204020204" charset="-122"/>
                <a:ea typeface="Microsoft YaHei" panose="020B0503020204020204" charset="-122"/>
              </a:rPr>
              <a:t>Self-Evolving
Spec Agents</a:t>
            </a:r>
            <a:endParaRPr sz="1500" b="1">
              <a:solidFill>
                <a:srgbClr val="E86C00"/>
              </a:solidFill>
              <a:latin typeface="Microsoft YaHei" panose="020B0503020204020204" charset="-122"/>
            </a:endParaRPr>
          </a:p>
        </p:txBody>
      </p:sp>
      <p:sp>
        <p:nvSpPr>
          <p:cNvPr id="39" name="Rounded Rectangle 38"/>
          <p:cNvSpPr/>
          <p:nvPr/>
        </p:nvSpPr>
        <p:spPr>
          <a:xfrm>
            <a:off x="6050000" y="1900000"/>
            <a:ext cx="2580000" cy="1200000"/>
          </a:xfrm>
          <a:prstGeom prst="roundRect">
            <a:avLst/>
          </a:prstGeom>
          <a:solidFill>
            <a:srgbClr val="FD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110000" y="1900000"/>
            <a:ext cx="2460000" cy="230000"/>
          </a:xfrm>
          <a:prstGeom prst="rect">
            <a:avLst/>
          </a:prstGeom>
          <a:noFill/>
        </p:spPr>
        <p:txBody>
          <a:bodyPr wrap="square">
            <a:spAutoFit/>
          </a:bodyPr>
          <a:lstStyle/>
          <a:p>
            <a:pPr algn="l"/>
            <a:r>
              <a:rPr sz="1300" b="1">
                <a:solidFill>
                  <a:srgbClr val="D13438"/>
                </a:solidFill>
                <a:latin typeface="Microsoft YaHei" panose="020B0503020204020204" charset="-122"/>
                <a:ea typeface="Microsoft YaHei" panose="020B0503020204020204" charset="-122"/>
              </a:rPr>
              <a:t>Problem</a:t>
            </a:r>
            <a:endParaRPr sz="1300" b="1">
              <a:solidFill>
                <a:srgbClr val="D13438"/>
              </a:solidFill>
              <a:latin typeface="Microsoft YaHei" panose="020B0503020204020204" charset="-122"/>
            </a:endParaRPr>
          </a:p>
        </p:txBody>
      </p:sp>
      <p:sp>
        <p:nvSpPr>
          <p:cNvPr id="41" name="TextBox 40"/>
          <p:cNvSpPr txBox="1"/>
          <p:nvPr/>
        </p:nvSpPr>
        <p:spPr>
          <a:xfrm>
            <a:off x="6110000" y="2150000"/>
            <a:ext cx="2460000" cy="900000"/>
          </a:xfrm>
          <a:prstGeom prst="rect">
            <a:avLst/>
          </a:prstGeom>
          <a:noFill/>
        </p:spPr>
        <p:txBody>
          <a:bodyPr wrap="square">
            <a:spAutoFit/>
          </a:bodyPr>
          <a:lstStyle/>
          <a:p>
            <a:pPr algn="l"/>
            <a:r>
              <a:rPr sz="1100" b="0">
                <a:solidFill>
                  <a:srgbClr val="333333"/>
                </a:solidFill>
                <a:latin typeface="Microsoft YaHei" panose="020B0503020204020204" charset="-122"/>
                <a:ea typeface="Microsoft YaHei" panose="020B0503020204020204" charset="-122"/>
              </a:rPr>
              <a:t>AI Agent 每次都从零开始，无记忆</a:t>
            </a:r>
            <a:endParaRPr sz="1100" b="0">
              <a:solidFill>
                <a:srgbClr val="333333"/>
              </a:solidFill>
              <a:latin typeface="Microsoft YaHei" panose="020B0503020204020204" charset="-122"/>
            </a:endParaRPr>
          </a:p>
          <a:p>
            <a:r>
              <a:rPr sz="1100" b="0">
                <a:solidFill>
                  <a:srgbClr val="333333"/>
                </a:solidFill>
                <a:latin typeface="Microsoft YaHei" panose="020B0503020204020204" charset="-122"/>
                <a:ea typeface="Microsoft YaHei" panose="020B0503020204020204" charset="-122"/>
              </a:rPr>
              <a:t>同类项目反复犯相同错误</a:t>
            </a:r>
            <a:endParaRPr sz="1100" b="0">
              <a:solidFill>
                <a:srgbClr val="333333"/>
              </a:solidFill>
            </a:endParaRPr>
          </a:p>
          <a:p>
            <a:r>
              <a:rPr sz="1100" b="0">
                <a:solidFill>
                  <a:srgbClr val="333333"/>
                </a:solidFill>
                <a:latin typeface="Microsoft YaHei" panose="020B0503020204020204" charset="-122"/>
                <a:ea typeface="Microsoft YaHei" panose="020B0503020204020204" charset="-122"/>
              </a:rPr>
              <a:t>Spec 质量不随使用量提升，无积累效应</a:t>
            </a:r>
            <a:endParaRPr sz="1100" b="0">
              <a:solidFill>
                <a:srgbClr val="333333"/>
              </a:solidFill>
            </a:endParaRPr>
          </a:p>
        </p:txBody>
      </p:sp>
      <p:sp>
        <p:nvSpPr>
          <p:cNvPr id="42" name="Rounded Rectangle 41"/>
          <p:cNvSpPr/>
          <p:nvPr/>
        </p:nvSpPr>
        <p:spPr>
          <a:xfrm>
            <a:off x="6050000" y="3200000"/>
            <a:ext cx="2580000" cy="1500000"/>
          </a:xfrm>
          <a:prstGeom prst="roundRect">
            <a:avLst/>
          </a:prstGeom>
          <a:solidFill>
            <a:srgbClr val="F0F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110000" y="3200000"/>
            <a:ext cx="2460000" cy="291465"/>
          </a:xfrm>
          <a:prstGeom prst="rect">
            <a:avLst/>
          </a:prstGeom>
          <a:noFill/>
        </p:spPr>
        <p:txBody>
          <a:bodyPr wrap="square">
            <a:spAutoFit/>
          </a:bodyPr>
          <a:lstStyle/>
          <a:p>
            <a:pPr algn="l"/>
            <a:r>
              <a:rPr lang="en-US" sz="1300" b="1">
                <a:solidFill>
                  <a:srgbClr val="107C10"/>
                </a:solidFill>
                <a:latin typeface="Microsoft YaHei" panose="020B0503020204020204" charset="-122"/>
                <a:ea typeface="Microsoft YaHei" panose="020B0503020204020204" charset="-122"/>
              </a:rPr>
              <a:t>Potential </a:t>
            </a:r>
            <a:r>
              <a:rPr sz="1300" b="1">
                <a:solidFill>
                  <a:srgbClr val="107C10"/>
                </a:solidFill>
                <a:latin typeface="Microsoft YaHei" panose="020B0503020204020204" charset="-122"/>
                <a:ea typeface="Microsoft YaHei" panose="020B0503020204020204" charset="-122"/>
              </a:rPr>
              <a:t>Solution</a:t>
            </a:r>
            <a:endParaRPr sz="1300" b="1">
              <a:solidFill>
                <a:srgbClr val="107C10"/>
              </a:solidFill>
              <a:latin typeface="Microsoft YaHei" panose="020B0503020204020204" charset="-122"/>
            </a:endParaRPr>
          </a:p>
        </p:txBody>
      </p:sp>
      <p:sp>
        <p:nvSpPr>
          <p:cNvPr id="44" name="TextBox 43"/>
          <p:cNvSpPr txBox="1"/>
          <p:nvPr/>
        </p:nvSpPr>
        <p:spPr>
          <a:xfrm>
            <a:off x="6110000" y="3450000"/>
            <a:ext cx="2460000" cy="1200000"/>
          </a:xfrm>
          <a:prstGeom prst="rect">
            <a:avLst/>
          </a:prstGeom>
          <a:noFill/>
        </p:spPr>
        <p:txBody>
          <a:bodyPr wrap="square">
            <a:spAutoFit/>
          </a:bodyPr>
          <a:lstStyle/>
          <a:p>
            <a:pPr algn="l"/>
            <a:r>
              <a:rPr sz="1100" b="0">
                <a:solidFill>
                  <a:srgbClr val="333333"/>
                </a:solidFill>
                <a:latin typeface="Microsoft YaHei" panose="020B0503020204020204" charset="-122"/>
                <a:ea typeface="Microsoft YaHei" panose="020B0503020204020204" charset="-122"/>
              </a:rPr>
              <a:t>每次 Apply→Verify 循环自动提炼经验：</a:t>
            </a:r>
            <a:endParaRPr sz="1100" b="0">
              <a:solidFill>
                <a:srgbClr val="333333"/>
              </a:solidFill>
              <a:latin typeface="Microsoft YaHei" panose="020B0503020204020204" charset="-122"/>
            </a:endParaRPr>
          </a:p>
          <a:p>
            <a:r>
              <a:rPr sz="1100" b="0">
                <a:solidFill>
                  <a:srgbClr val="333333"/>
                </a:solidFill>
                <a:latin typeface="Microsoft YaHei" panose="020B0503020204020204" charset="-122"/>
                <a:ea typeface="Microsoft YaHei" panose="020B0503020204020204" charset="-122"/>
              </a:rPr>
              <a:t>• 记录哪些 spec 写法→高质量实现</a:t>
            </a:r>
            <a:endParaRPr sz="1100" b="0">
              <a:solidFill>
                <a:srgbClr val="333333"/>
              </a:solidFill>
            </a:endParaRPr>
          </a:p>
          <a:p>
            <a:r>
              <a:rPr sz="1100" b="0">
                <a:solidFill>
                  <a:srgbClr val="333333"/>
                </a:solidFill>
                <a:latin typeface="Microsoft YaHei" panose="020B0503020204020204" charset="-122"/>
                <a:ea typeface="Microsoft YaHei" panose="020B0503020204020204" charset="-122"/>
              </a:rPr>
              <a:t>• 蒸馏“Spec 最佳实践原则”</a:t>
            </a:r>
            <a:endParaRPr sz="1100" b="0">
              <a:solidFill>
                <a:srgbClr val="333333"/>
              </a:solidFill>
            </a:endParaRPr>
          </a:p>
          <a:p>
            <a:r>
              <a:rPr sz="1100" b="0">
                <a:solidFill>
                  <a:srgbClr val="333333"/>
                </a:solidFill>
                <a:latin typeface="Microsoft YaHei" panose="020B0503020204020204" charset="-122"/>
                <a:ea typeface="Microsoft YaHei" panose="020B0503020204020204" charset="-122"/>
              </a:rPr>
              <a:t>• 下次创建 spec 时自动注入原则</a:t>
            </a:r>
            <a:endParaRPr sz="1100" b="0">
              <a:solidFill>
                <a:srgbClr val="333333"/>
              </a:solidFill>
            </a:endParaRPr>
          </a:p>
        </p:txBody>
      </p:sp>
      <p:sp>
        <p:nvSpPr>
          <p:cNvPr id="45" name="Rounded Rectangle 44"/>
          <p:cNvSpPr/>
          <p:nvPr/>
        </p:nvSpPr>
        <p:spPr>
          <a:xfrm>
            <a:off x="6050000" y="4800000"/>
            <a:ext cx="2580000" cy="1200000"/>
          </a:xfrm>
          <a:prstGeom prst="round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10000" y="4800000"/>
            <a:ext cx="2460000" cy="230000"/>
          </a:xfrm>
          <a:prstGeom prst="rect">
            <a:avLst/>
          </a:prstGeom>
          <a:noFill/>
        </p:spPr>
        <p:txBody>
          <a:bodyPr wrap="square">
            <a:spAutoFit/>
          </a:bodyPr>
          <a:lstStyle/>
          <a:p>
            <a:pPr algn="l"/>
            <a:r>
              <a:rPr sz="1300" b="1">
                <a:solidFill>
                  <a:srgbClr val="E86C00"/>
                </a:solidFill>
                <a:latin typeface="Microsoft YaHei" panose="020B0503020204020204" charset="-122"/>
                <a:ea typeface="Microsoft YaHei" panose="020B0503020204020204" charset="-122"/>
              </a:rPr>
              <a:t>Business Value</a:t>
            </a:r>
            <a:endParaRPr sz="1300" b="1">
              <a:solidFill>
                <a:srgbClr val="E86C00"/>
              </a:solidFill>
              <a:latin typeface="Microsoft YaHei" panose="020B0503020204020204" charset="-122"/>
            </a:endParaRPr>
          </a:p>
        </p:txBody>
      </p:sp>
      <p:sp>
        <p:nvSpPr>
          <p:cNvPr id="47" name="TextBox 46"/>
          <p:cNvSpPr txBox="1"/>
          <p:nvPr/>
        </p:nvSpPr>
        <p:spPr>
          <a:xfrm>
            <a:off x="6110000" y="5050000"/>
            <a:ext cx="2460000" cy="768350"/>
          </a:xfrm>
          <a:prstGeom prst="rect">
            <a:avLst/>
          </a:prstGeom>
          <a:noFill/>
        </p:spPr>
        <p:txBody>
          <a:bodyPr wrap="square">
            <a:spAutoFit/>
          </a:bodyPr>
          <a:lstStyle/>
          <a:p>
            <a:pPr algn="l"/>
            <a:r>
              <a:rPr sz="1100">
                <a:solidFill>
                  <a:srgbClr val="333333"/>
                </a:solidFill>
                <a:latin typeface="Microsoft YaHei" panose="020B0503020204020204" charset="-122"/>
                <a:ea typeface="Microsoft YaHei" panose="020B0503020204020204" charset="-122"/>
              </a:rPr>
              <a:t>经验积累：使用越多，spec质量越高</a:t>
            </a:r>
            <a:endParaRPr sz="1100" b="1">
              <a:solidFill>
                <a:srgbClr val="E86C00"/>
              </a:solidFill>
              <a:latin typeface="Microsoft YaHei" panose="020B0503020204020204" charset="-122"/>
            </a:endParaRPr>
          </a:p>
          <a:p>
            <a:r>
              <a:rPr sz="1100">
                <a:solidFill>
                  <a:srgbClr val="333333"/>
                </a:solidFill>
                <a:latin typeface="Microsoft YaHei" panose="020B0503020204020204" charset="-122"/>
                <a:ea typeface="Microsoft YaHei" panose="020B0503020204020204" charset="-122"/>
              </a:rPr>
              <a:t>经验沉淀为组织知识资产</a:t>
            </a:r>
            <a:endParaRPr sz="1100">
              <a:solidFill>
                <a:srgbClr val="333333"/>
              </a:solidFill>
              <a:latin typeface="Microsoft YaHei" panose="020B0503020204020204" charset="-122"/>
              <a:ea typeface="Microsoft YaHei" panose="020B0503020204020204" charset="-122"/>
            </a:endParaRPr>
          </a:p>
          <a:p>
            <a:endParaRPr sz="1100" b="1">
              <a:solidFill>
                <a:srgbClr val="E86C00"/>
              </a:solidFill>
            </a:endParaRPr>
          </a:p>
          <a:p>
            <a:r>
              <a:rPr sz="1100">
                <a:solidFill>
                  <a:srgbClr val="333333"/>
                </a:solidFill>
                <a:latin typeface="Microsoft YaHei" panose="020B0503020204020204" charset="-122"/>
                <a:ea typeface="Microsoft YaHei" panose="020B0503020204020204" charset="-122"/>
              </a:rPr>
              <a:t>有望提升后续 spec 的首次通过率</a:t>
            </a:r>
            <a:endParaRPr sz="1100" b="1">
              <a:solidFill>
                <a:srgbClr val="E86C00"/>
              </a:solidFill>
            </a:endParaRPr>
          </a:p>
        </p:txBody>
      </p:sp>
      <p:sp>
        <p:nvSpPr>
          <p:cNvPr id="48" name="Rounded Rectangle 47"/>
          <p:cNvSpPr/>
          <p:nvPr/>
        </p:nvSpPr>
        <p:spPr>
          <a:xfrm>
            <a:off x="3177296" y="1300000"/>
            <a:ext cx="2700000" cy="5100000"/>
          </a:xfrm>
          <a:prstGeom prst="roundRect">
            <a:avLst/>
          </a:prstGeom>
          <a:solidFill>
            <a:srgbClr val="F0F8F0"/>
          </a:solidFill>
          <a:ln w="1905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177296" y="1300000"/>
            <a:ext cx="2700000" cy="55000"/>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276981" y="1400175"/>
            <a:ext cx="2152650" cy="553085"/>
          </a:xfrm>
          <a:prstGeom prst="rect">
            <a:avLst/>
          </a:prstGeom>
          <a:noFill/>
        </p:spPr>
        <p:txBody>
          <a:bodyPr wrap="square">
            <a:spAutoFit/>
          </a:bodyPr>
          <a:lstStyle/>
          <a:p>
            <a:pPr algn="l"/>
            <a:r>
              <a:rPr sz="1500" b="1">
                <a:solidFill>
                  <a:srgbClr val="107C10"/>
                </a:solidFill>
                <a:latin typeface="Microsoft YaHei" panose="020B0503020204020204" charset="-122"/>
                <a:ea typeface="Microsoft YaHei" panose="020B0503020204020204" charset="-122"/>
              </a:rPr>
              <a:t>Spec-as-Runtime
Guardrail</a:t>
            </a:r>
            <a:endParaRPr sz="1500" b="1">
              <a:solidFill>
                <a:srgbClr val="107C10"/>
              </a:solidFill>
              <a:latin typeface="Microsoft YaHei" panose="020B0503020204020204" charset="-122"/>
            </a:endParaRPr>
          </a:p>
        </p:txBody>
      </p:sp>
      <p:sp>
        <p:nvSpPr>
          <p:cNvPr id="53" name="Rounded Rectangle 52"/>
          <p:cNvSpPr/>
          <p:nvPr/>
        </p:nvSpPr>
        <p:spPr>
          <a:xfrm>
            <a:off x="3237296" y="1900000"/>
            <a:ext cx="2580000" cy="1200000"/>
          </a:xfrm>
          <a:prstGeom prst="roundRect">
            <a:avLst/>
          </a:prstGeom>
          <a:solidFill>
            <a:srgbClr val="FDF0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297296" y="1900000"/>
            <a:ext cx="2460000" cy="230000"/>
          </a:xfrm>
          <a:prstGeom prst="rect">
            <a:avLst/>
          </a:prstGeom>
          <a:noFill/>
        </p:spPr>
        <p:txBody>
          <a:bodyPr wrap="square">
            <a:spAutoFit/>
          </a:bodyPr>
          <a:lstStyle/>
          <a:p>
            <a:pPr algn="l"/>
            <a:r>
              <a:rPr sz="1300" b="1">
                <a:solidFill>
                  <a:srgbClr val="D13438"/>
                </a:solidFill>
                <a:latin typeface="Microsoft YaHei" panose="020B0503020204020204" charset="-122"/>
                <a:ea typeface="Microsoft YaHei" panose="020B0503020204020204" charset="-122"/>
              </a:rPr>
              <a:t>Problem</a:t>
            </a:r>
            <a:endParaRPr sz="1300" b="1">
              <a:solidFill>
                <a:srgbClr val="D13438"/>
              </a:solidFill>
              <a:latin typeface="Microsoft YaHei" panose="020B0503020204020204" charset="-122"/>
            </a:endParaRPr>
          </a:p>
        </p:txBody>
      </p:sp>
      <p:sp>
        <p:nvSpPr>
          <p:cNvPr id="55" name="TextBox 54"/>
          <p:cNvSpPr txBox="1"/>
          <p:nvPr/>
        </p:nvSpPr>
        <p:spPr>
          <a:xfrm>
            <a:off x="3297296" y="2150000"/>
            <a:ext cx="2460000" cy="598805"/>
          </a:xfrm>
          <a:prstGeom prst="rect">
            <a:avLst/>
          </a:prstGeom>
          <a:noFill/>
        </p:spPr>
        <p:txBody>
          <a:bodyPr wrap="square">
            <a:spAutoFit/>
          </a:bodyPr>
          <a:lstStyle/>
          <a:p>
            <a:pPr algn="l"/>
            <a:r>
              <a:rPr sz="1100">
                <a:solidFill>
                  <a:srgbClr val="333333"/>
                </a:solidFill>
                <a:latin typeface="Microsoft YaHei" panose="020B0503020204020204" charset="-122"/>
                <a:ea typeface="Microsoft YaHei" panose="020B0503020204020204" charset="-122"/>
                <a:sym typeface="+mn-ea"/>
              </a:rPr>
              <a:t>Apply 阶段 AI </a:t>
            </a:r>
            <a:r>
              <a:rPr lang="zh-CN" sz="1100">
                <a:solidFill>
                  <a:srgbClr val="333333"/>
                </a:solidFill>
                <a:latin typeface="Microsoft YaHei" panose="020B0503020204020204" charset="-122"/>
                <a:ea typeface="Microsoft YaHei" panose="020B0503020204020204" charset="-122"/>
                <a:sym typeface="+mn-ea"/>
              </a:rPr>
              <a:t>可能潜在的</a:t>
            </a:r>
            <a:r>
              <a:rPr sz="1100">
                <a:solidFill>
                  <a:srgbClr val="333333"/>
                </a:solidFill>
                <a:latin typeface="Microsoft YaHei" panose="020B0503020204020204" charset="-122"/>
                <a:ea typeface="Microsoft YaHei" panose="020B0503020204020204" charset="-122"/>
                <a:sym typeface="+mn-ea"/>
              </a:rPr>
              <a:t>偏离 spec</a:t>
            </a:r>
            <a:r>
              <a:rPr lang="zh-CN" sz="1100">
                <a:solidFill>
                  <a:srgbClr val="333333"/>
                </a:solidFill>
                <a:latin typeface="Microsoft YaHei" panose="020B0503020204020204" charset="-122"/>
                <a:ea typeface="Microsoft YaHei" panose="020B0503020204020204" charset="-122"/>
                <a:sym typeface="+mn-ea"/>
              </a:rPr>
              <a:t>，如果</a:t>
            </a:r>
            <a:r>
              <a:rPr sz="1100">
                <a:solidFill>
                  <a:srgbClr val="333333"/>
                </a:solidFill>
                <a:latin typeface="Microsoft YaHei" panose="020B0503020204020204" charset="-122"/>
                <a:ea typeface="Microsoft YaHei" panose="020B0503020204020204" charset="-122"/>
                <a:sym typeface="+mn-ea"/>
              </a:rPr>
              <a:t>没有</a:t>
            </a:r>
            <a:endParaRPr sz="1100" b="0">
              <a:solidFill>
                <a:srgbClr val="333333"/>
              </a:solidFill>
              <a:latin typeface="Microsoft YaHei" panose="020B0503020204020204" charset="-122"/>
              <a:ea typeface="Microsoft YaHei" panose="020B0503020204020204" charset="-122"/>
            </a:endParaRPr>
          </a:p>
          <a:p>
            <a:pPr algn="l"/>
            <a:r>
              <a:rPr sz="1100">
                <a:solidFill>
                  <a:srgbClr val="333333"/>
                </a:solidFill>
                <a:latin typeface="Microsoft YaHei" panose="020B0503020204020204" charset="-122"/>
                <a:ea typeface="Microsoft YaHei" panose="020B0503020204020204" charset="-122"/>
                <a:sym typeface="+mn-ea"/>
              </a:rPr>
              <a:t>强制约束机制，违规无法自动拦截</a:t>
            </a:r>
            <a:endParaRPr sz="1100" b="0">
              <a:solidFill>
                <a:srgbClr val="333333"/>
              </a:solidFill>
              <a:latin typeface="Microsoft YaHei" panose="020B0503020204020204" charset="-122"/>
            </a:endParaRPr>
          </a:p>
        </p:txBody>
      </p:sp>
      <p:sp>
        <p:nvSpPr>
          <p:cNvPr id="56" name="Rounded Rectangle 55"/>
          <p:cNvSpPr/>
          <p:nvPr/>
        </p:nvSpPr>
        <p:spPr>
          <a:xfrm>
            <a:off x="3237296" y="3200000"/>
            <a:ext cx="2580000" cy="1500000"/>
          </a:xfrm>
          <a:prstGeom prst="roundRect">
            <a:avLst/>
          </a:prstGeom>
          <a:solidFill>
            <a:srgbClr val="F0F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3297296" y="3200000"/>
            <a:ext cx="2460000" cy="291465"/>
          </a:xfrm>
          <a:prstGeom prst="rect">
            <a:avLst/>
          </a:prstGeom>
          <a:noFill/>
        </p:spPr>
        <p:txBody>
          <a:bodyPr wrap="square">
            <a:spAutoFit/>
          </a:bodyPr>
          <a:lstStyle/>
          <a:p>
            <a:pPr algn="l"/>
            <a:r>
              <a:rPr lang="en-US" sz="1300" b="1">
                <a:solidFill>
                  <a:srgbClr val="107C10"/>
                </a:solidFill>
                <a:latin typeface="Microsoft YaHei" panose="020B0503020204020204" charset="-122"/>
                <a:ea typeface="Microsoft YaHei" panose="020B0503020204020204" charset="-122"/>
              </a:rPr>
              <a:t>Potential </a:t>
            </a:r>
            <a:r>
              <a:rPr sz="1300" b="1">
                <a:solidFill>
                  <a:srgbClr val="107C10"/>
                </a:solidFill>
                <a:latin typeface="Microsoft YaHei" panose="020B0503020204020204" charset="-122"/>
                <a:ea typeface="Microsoft YaHei" panose="020B0503020204020204" charset="-122"/>
              </a:rPr>
              <a:t>Solution</a:t>
            </a:r>
            <a:endParaRPr sz="1300" b="1">
              <a:solidFill>
                <a:srgbClr val="107C10"/>
              </a:solidFill>
              <a:latin typeface="Microsoft YaHei" panose="020B0503020204020204" charset="-122"/>
            </a:endParaRPr>
          </a:p>
        </p:txBody>
      </p:sp>
      <p:sp>
        <p:nvSpPr>
          <p:cNvPr id="58" name="TextBox 57"/>
          <p:cNvSpPr txBox="1"/>
          <p:nvPr/>
        </p:nvSpPr>
        <p:spPr>
          <a:xfrm>
            <a:off x="3297296" y="3450000"/>
            <a:ext cx="2460000" cy="1200000"/>
          </a:xfrm>
          <a:prstGeom prst="rect">
            <a:avLst/>
          </a:prstGeom>
          <a:noFill/>
        </p:spPr>
        <p:txBody>
          <a:bodyPr wrap="square">
            <a:spAutoFit/>
          </a:bodyPr>
          <a:lstStyle/>
          <a:p>
            <a:pPr algn="l"/>
            <a:r>
              <a:rPr sz="1100" b="0">
                <a:solidFill>
                  <a:srgbClr val="333333"/>
                </a:solidFill>
                <a:latin typeface="Microsoft YaHei" panose="020B0503020204020204" charset="-122"/>
                <a:ea typeface="Microsoft YaHei" panose="020B0503020204020204" charset="-122"/>
              </a:rPr>
              <a:t>Spec → 可执行约束编译器：
• AI 写代码时实时监控合规
• 违规代码落盘前拦截
• 自动生成 property-based tests</a:t>
            </a:r>
            <a:endParaRPr sz="1100" b="0">
              <a:solidFill>
                <a:srgbClr val="333333"/>
              </a:solidFill>
              <a:latin typeface="Microsoft YaHei" panose="020B0503020204020204" charset="-122"/>
            </a:endParaRPr>
          </a:p>
        </p:txBody>
      </p:sp>
      <p:sp>
        <p:nvSpPr>
          <p:cNvPr id="59" name="Rounded Rectangle 58"/>
          <p:cNvSpPr/>
          <p:nvPr/>
        </p:nvSpPr>
        <p:spPr>
          <a:xfrm>
            <a:off x="3237296" y="4800000"/>
            <a:ext cx="2580000" cy="1200000"/>
          </a:xfrm>
          <a:prstGeom prst="round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297296" y="4800000"/>
            <a:ext cx="2460000" cy="291465"/>
          </a:xfrm>
          <a:prstGeom prst="rect">
            <a:avLst/>
          </a:prstGeom>
          <a:noFill/>
        </p:spPr>
        <p:txBody>
          <a:bodyPr wrap="square">
            <a:spAutoFit/>
          </a:bodyPr>
          <a:lstStyle/>
          <a:p>
            <a:pPr algn="l"/>
            <a:r>
              <a:rPr lang="en-US" sz="1300" b="1">
                <a:solidFill>
                  <a:srgbClr val="107C10"/>
                </a:solidFill>
                <a:latin typeface="Microsoft YaHei" panose="020B0503020204020204" charset="-122"/>
                <a:ea typeface="Microsoft YaHei" panose="020B0503020204020204" charset="-122"/>
              </a:rPr>
              <a:t>Potential </a:t>
            </a:r>
            <a:r>
              <a:rPr sz="1300" b="1">
                <a:solidFill>
                  <a:srgbClr val="107C10"/>
                </a:solidFill>
                <a:latin typeface="Microsoft YaHei" panose="020B0503020204020204" charset="-122"/>
                <a:ea typeface="Microsoft YaHei" panose="020B0503020204020204" charset="-122"/>
              </a:rPr>
              <a:t>Value</a:t>
            </a:r>
            <a:endParaRPr sz="1300" b="1">
              <a:solidFill>
                <a:srgbClr val="107C10"/>
              </a:solidFill>
              <a:latin typeface="Microsoft YaHei" panose="020B0503020204020204" charset="-122"/>
            </a:endParaRPr>
          </a:p>
        </p:txBody>
      </p:sp>
      <p:sp>
        <p:nvSpPr>
          <p:cNvPr id="61" name="TextBox 60"/>
          <p:cNvSpPr txBox="1"/>
          <p:nvPr/>
        </p:nvSpPr>
        <p:spPr>
          <a:xfrm>
            <a:off x="3297296" y="5050000"/>
            <a:ext cx="2460000" cy="937260"/>
          </a:xfrm>
          <a:prstGeom prst="rect">
            <a:avLst/>
          </a:prstGeom>
          <a:noFill/>
        </p:spPr>
        <p:txBody>
          <a:bodyPr wrap="square">
            <a:spAutoFit/>
          </a:bodyPr>
          <a:lstStyle/>
          <a:p>
            <a:pPr algn="l"/>
            <a:r>
              <a:rPr sz="1100">
                <a:solidFill>
                  <a:schemeClr val="tx1"/>
                </a:solidFill>
                <a:latin typeface="Microsoft YaHei" panose="020B0503020204020204" charset="-122"/>
                <a:ea typeface="Microsoft YaHei" panose="020B0503020204020204" charset="-122"/>
              </a:rPr>
              <a:t>范式创新：Design by Contract 
</a:t>
            </a:r>
            <a:r>
              <a:rPr lang="zh-CN" sz="1100">
                <a:solidFill>
                  <a:schemeClr val="tx1"/>
                </a:solidFill>
                <a:latin typeface="Microsoft YaHei" panose="020B0503020204020204" charset="-122"/>
                <a:ea typeface="Microsoft YaHei" panose="020B0503020204020204" charset="-122"/>
              </a:rPr>
              <a:t>在</a:t>
            </a:r>
            <a:r>
              <a:rPr sz="1100">
                <a:solidFill>
                  <a:schemeClr val="tx1"/>
                </a:solidFill>
                <a:latin typeface="Microsoft YaHei" panose="020B0503020204020204" charset="-122"/>
                <a:ea typeface="Microsoft YaHei" panose="020B0503020204020204" charset="-122"/>
              </a:rPr>
              <a:t>电信/汽车/能源等安全关键行业
预防 &gt; 追溯</a:t>
            </a:r>
            <a:r>
              <a:rPr lang="zh-CN" sz="1100">
                <a:solidFill>
                  <a:schemeClr val="tx1"/>
                </a:solidFill>
                <a:latin typeface="Microsoft YaHei" panose="020B0503020204020204" charset="-122"/>
                <a:ea typeface="Microsoft YaHei" panose="020B0503020204020204" charset="-122"/>
              </a:rPr>
              <a:t>，使得</a:t>
            </a:r>
            <a:r>
              <a:rPr lang="en-US" altLang="zh-CN" sz="1100">
                <a:solidFill>
                  <a:schemeClr val="tx1"/>
                </a:solidFill>
                <a:latin typeface="Microsoft YaHei" panose="020B0503020204020204" charset="-122"/>
                <a:ea typeface="Microsoft YaHei" panose="020B0503020204020204" charset="-122"/>
              </a:rPr>
              <a:t>Agentic Coding</a:t>
            </a:r>
            <a:r>
              <a:rPr lang="zh-CN" altLang="en-US" sz="1100">
                <a:solidFill>
                  <a:schemeClr val="tx1"/>
                </a:solidFill>
                <a:latin typeface="Microsoft YaHei" panose="020B0503020204020204" charset="-122"/>
                <a:ea typeface="Microsoft YaHei" panose="020B0503020204020204" charset="-122"/>
              </a:rPr>
              <a:t>不光是可追溯性上升，安全性也同样受到重视</a:t>
            </a:r>
            <a:endParaRPr lang="zh-CN" altLang="en-US" sz="1100">
              <a:solidFill>
                <a:schemeClr val="tx1"/>
              </a:solidFill>
              <a:latin typeface="Microsoft YaHei" panose="020B0503020204020204" charset="-122"/>
              <a:ea typeface="Microsoft YaHei" panose="020B0503020204020204" charset="-122"/>
            </a:endParaRPr>
          </a:p>
        </p:txBody>
      </p:sp>
      <p:sp>
        <p:nvSpPr>
          <p:cNvPr id="62" name="TextBox 61"/>
          <p:cNvSpPr txBox="1"/>
          <p:nvPr/>
        </p:nvSpPr>
        <p:spPr>
          <a:xfrm>
            <a:off x="11094085" y="6400800"/>
            <a:ext cx="914400" cy="365760"/>
          </a:xfrm>
          <a:prstGeom prst="rect">
            <a:avLst/>
          </a:prstGeom>
          <a:noFill/>
        </p:spPr>
        <p:txBody>
          <a:bodyPr wrap="square">
            <a:spAutoFit/>
          </a:bodyPr>
          <a:lstStyle/>
          <a:p>
            <a:pPr algn="r"/>
            <a:r>
              <a:rPr sz="1000" b="0">
                <a:solidFill>
                  <a:srgbClr val="999999"/>
                </a:solidFill>
                <a:latin typeface="Microsoft YaHei" panose="020B0503020204020204" charset="-122"/>
                <a:ea typeface="Microsoft YaHei" panose="020B0503020204020204" charset="-122"/>
              </a:rPr>
              <a:t>20/41</a:t>
            </a:r>
            <a:endParaRPr sz="1000" b="0">
              <a:solidFill>
                <a:srgbClr val="999999"/>
              </a:solidFill>
              <a:latin typeface="Microsoft YaHei" panose="020B0503020204020204" charset="-122"/>
            </a:endParaRPr>
          </a:p>
        </p:txBody>
      </p:sp>
      <p:sp>
        <p:nvSpPr>
          <p:cNvPr id="10" name="Rounded Rectangle 9"/>
          <p:cNvSpPr/>
          <p:nvPr>
            <p:custDataLst>
              <p:tags r:id="rId1"/>
            </p:custDataLst>
          </p:nvPr>
        </p:nvSpPr>
        <p:spPr>
          <a:xfrm>
            <a:off x="2437370" y="1280785"/>
            <a:ext cx="360000" cy="36000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7"/>
          <p:cNvSpPr txBox="1"/>
          <p:nvPr>
            <p:custDataLst>
              <p:tags r:id="rId2"/>
            </p:custDataLst>
          </p:nvPr>
        </p:nvSpPr>
        <p:spPr>
          <a:xfrm>
            <a:off x="2437370" y="1300785"/>
            <a:ext cx="360000" cy="340000"/>
          </a:xfrm>
          <a:prstGeom prst="rect">
            <a:avLst/>
          </a:prstGeom>
          <a:noFill/>
        </p:spPr>
        <p:txBody>
          <a:bodyPr wrap="square">
            <a:spAutoFit/>
          </a:bodyPr>
          <a:lstStyle/>
          <a:p>
            <a:pPr algn="ctr"/>
            <a:r>
              <a:rPr sz="1800" b="1">
                <a:solidFill>
                  <a:srgbClr val="FFFFFF"/>
                </a:solidFill>
                <a:latin typeface="Microsoft YaHei" panose="020B0503020204020204" charset="-122"/>
                <a:ea typeface="Microsoft YaHei" panose="020B0503020204020204" charset="-122"/>
              </a:rPr>
              <a:t>1</a:t>
            </a:r>
            <a:endParaRPr sz="1800" b="1">
              <a:solidFill>
                <a:srgbClr val="FFFFFF"/>
              </a:solidFill>
              <a:latin typeface="Microsoft YaHei" panose="020B0503020204020204" charset="-122"/>
            </a:endParaRPr>
          </a:p>
        </p:txBody>
      </p:sp>
      <p:sp>
        <p:nvSpPr>
          <p:cNvPr id="37" name="Rounded Rectangle 36"/>
          <p:cNvSpPr/>
          <p:nvPr>
            <p:custDataLst>
              <p:tags r:id="rId3"/>
            </p:custDataLst>
          </p:nvPr>
        </p:nvSpPr>
        <p:spPr>
          <a:xfrm>
            <a:off x="5265350" y="1280150"/>
            <a:ext cx="360000" cy="360000"/>
          </a:xfrm>
          <a:prstGeom prst="round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15"/>
          <p:cNvSpPr txBox="1"/>
          <p:nvPr>
            <p:custDataLst>
              <p:tags r:id="rId4"/>
            </p:custDataLst>
          </p:nvPr>
        </p:nvSpPr>
        <p:spPr>
          <a:xfrm>
            <a:off x="5265350" y="1300150"/>
            <a:ext cx="360000" cy="340000"/>
          </a:xfrm>
          <a:prstGeom prst="rect">
            <a:avLst/>
          </a:prstGeom>
          <a:noFill/>
        </p:spPr>
        <p:txBody>
          <a:bodyPr wrap="square">
            <a:spAutoFit/>
          </a:bodyPr>
          <a:lstStyle/>
          <a:p>
            <a:pPr algn="ctr"/>
            <a:r>
              <a:rPr sz="1800" b="1">
                <a:solidFill>
                  <a:srgbClr val="FFFFFF"/>
                </a:solidFill>
                <a:latin typeface="Microsoft YaHei" panose="020B0503020204020204" charset="-122"/>
                <a:ea typeface="Microsoft YaHei" panose="020B0503020204020204" charset="-122"/>
              </a:rPr>
              <a:t>2</a:t>
            </a:r>
            <a:endParaRPr sz="1800" b="1">
              <a:solidFill>
                <a:srgbClr val="FFFFFF"/>
              </a:solidFill>
              <a:latin typeface="Microsoft YaHei" panose="020B0503020204020204" charset="-122"/>
            </a:endParaRPr>
          </a:p>
        </p:txBody>
      </p:sp>
      <p:sp>
        <p:nvSpPr>
          <p:cNvPr id="51" name="Rounded Rectangle 50"/>
          <p:cNvSpPr/>
          <p:nvPr>
            <p:custDataLst>
              <p:tags r:id="rId5"/>
            </p:custDataLst>
          </p:nvPr>
        </p:nvSpPr>
        <p:spPr>
          <a:xfrm>
            <a:off x="8027925" y="1261100"/>
            <a:ext cx="360000" cy="360000"/>
          </a:xfrm>
          <a:prstGeom prst="roundRect">
            <a:avLst/>
          </a:prstGeom>
          <a:solidFill>
            <a:srgbClr val="E8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23"/>
          <p:cNvSpPr txBox="1"/>
          <p:nvPr>
            <p:custDataLst>
              <p:tags r:id="rId6"/>
            </p:custDataLst>
          </p:nvPr>
        </p:nvSpPr>
        <p:spPr>
          <a:xfrm>
            <a:off x="8027925" y="1281100"/>
            <a:ext cx="360000" cy="340000"/>
          </a:xfrm>
          <a:prstGeom prst="rect">
            <a:avLst/>
          </a:prstGeom>
          <a:noFill/>
        </p:spPr>
        <p:txBody>
          <a:bodyPr wrap="square">
            <a:spAutoFit/>
          </a:bodyPr>
          <a:lstStyle/>
          <a:p>
            <a:pPr algn="ctr"/>
            <a:r>
              <a:rPr sz="1800" b="1">
                <a:solidFill>
                  <a:srgbClr val="FFFFFF"/>
                </a:solidFill>
                <a:latin typeface="Microsoft YaHei" panose="020B0503020204020204" charset="-122"/>
                <a:ea typeface="Microsoft YaHei" panose="020B0503020204020204" charset="-122"/>
              </a:rPr>
              <a:t>3</a:t>
            </a:r>
            <a:endParaRPr sz="1800" b="1">
              <a:solidFill>
                <a:srgbClr val="FFFFFF"/>
              </a:solidFill>
              <a:latin typeface="Microsoft YaHei" panose="020B0503020204020204" charset="-122"/>
            </a:endParaRPr>
          </a:p>
        </p:txBody>
      </p:sp>
      <p:sp>
        <p:nvSpPr>
          <p:cNvPr id="63" name="Rounded Rectangle 62"/>
          <p:cNvSpPr/>
          <p:nvPr>
            <p:custDataLst>
              <p:tags r:id="rId7"/>
            </p:custDataLst>
          </p:nvPr>
        </p:nvSpPr>
        <p:spPr>
          <a:xfrm>
            <a:off x="10947330" y="1279825"/>
            <a:ext cx="360000" cy="360000"/>
          </a:xfrm>
          <a:prstGeom prst="round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39"/>
          <p:cNvSpPr txBox="1"/>
          <p:nvPr>
            <p:custDataLst>
              <p:tags r:id="rId8"/>
            </p:custDataLst>
          </p:nvPr>
        </p:nvSpPr>
        <p:spPr>
          <a:xfrm>
            <a:off x="10947330" y="1299825"/>
            <a:ext cx="360000" cy="340000"/>
          </a:xfrm>
          <a:prstGeom prst="rect">
            <a:avLst/>
          </a:prstGeom>
          <a:noFill/>
        </p:spPr>
        <p:txBody>
          <a:bodyPr wrap="square">
            <a:spAutoFit/>
          </a:bodyPr>
          <a:lstStyle/>
          <a:p>
            <a:pPr algn="ctr"/>
            <a:r>
              <a:rPr sz="1800" b="1">
                <a:solidFill>
                  <a:srgbClr val="FFFFFF"/>
                </a:solidFill>
                <a:latin typeface="Microsoft YaHei" panose="020B0503020204020204" charset="-122"/>
                <a:ea typeface="Microsoft YaHei" panose="020B0503020204020204" charset="-122"/>
              </a:rPr>
              <a:t>4</a:t>
            </a:r>
            <a:endParaRPr sz="1800" b="1">
              <a:solidFill>
                <a:srgbClr val="FFFFFF"/>
              </a:solidFill>
              <a:latin typeface="Microsoft YaHei" panose="020B0503020204020204" charset="-122"/>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48640" y="293370"/>
            <a:ext cx="11082655" cy="460375"/>
          </a:xfrm>
          <a:prstGeom prst="rect">
            <a:avLst/>
          </a:prstGeom>
          <a:noFill/>
        </p:spPr>
        <p:txBody>
          <a:bodyPr wrap="square">
            <a:spAutoFit/>
          </a:bodyPr>
          <a:lstStyle/>
          <a:p>
            <a:pPr algn="l"/>
            <a:r>
              <a:rPr lang="zh-CN" sz="2400" b="1">
                <a:solidFill>
                  <a:srgbClr val="333333"/>
                </a:solidFill>
                <a:latin typeface="Microsoft YaHei" panose="020B0503020204020204" charset="-122"/>
                <a:ea typeface="Microsoft YaHei" panose="020B0503020204020204" charset="-122"/>
              </a:rPr>
              <a:t>潜在研究</a:t>
            </a:r>
            <a:r>
              <a:rPr sz="2400" b="1">
                <a:solidFill>
                  <a:srgbClr val="333333"/>
                </a:solidFill>
                <a:latin typeface="Microsoft YaHei" panose="020B0503020204020204" charset="-122"/>
                <a:ea typeface="Microsoft YaHei" panose="020B0503020204020204" charset="-122"/>
              </a:rPr>
              <a:t>方向 1：Multi-Perspective Spec </a:t>
            </a:r>
            <a:r>
              <a:rPr lang="en-US" sz="2400" b="1">
                <a:solidFill>
                  <a:srgbClr val="333333"/>
                </a:solidFill>
                <a:latin typeface="Microsoft YaHei" panose="020B0503020204020204" charset="-122"/>
                <a:ea typeface="Microsoft YaHei" panose="020B0503020204020204" charset="-122"/>
              </a:rPr>
              <a:t>Eval</a:t>
            </a:r>
            <a:r>
              <a:rPr sz="2400" b="1">
                <a:solidFill>
                  <a:srgbClr val="333333"/>
                </a:solidFill>
                <a:latin typeface="Microsoft YaHei" panose="020B0503020204020204" charset="-122"/>
                <a:ea typeface="Microsoft YaHei" panose="020B0503020204020204" charset="-122"/>
              </a:rPr>
              <a:t>（多智能体多视角规格</a:t>
            </a:r>
            <a:r>
              <a:rPr lang="zh-CN" sz="2400" b="1">
                <a:solidFill>
                  <a:srgbClr val="333333"/>
                </a:solidFill>
                <a:latin typeface="Microsoft YaHei" panose="020B0503020204020204" charset="-122"/>
                <a:ea typeface="Microsoft YaHei" panose="020B0503020204020204" charset="-122"/>
              </a:rPr>
              <a:t>评估</a:t>
            </a:r>
            <a:r>
              <a:rPr sz="2400" b="1">
                <a:solidFill>
                  <a:srgbClr val="333333"/>
                </a:solidFill>
                <a:latin typeface="Microsoft YaHei" panose="020B0503020204020204" charset="-122"/>
                <a:ea typeface="Microsoft YaHei" panose="020B0503020204020204" charset="-122"/>
              </a:rPr>
              <a:t>）</a:t>
            </a:r>
            <a:endParaRPr sz="2400" b="1">
              <a:solidFill>
                <a:srgbClr val="333333"/>
              </a:solidFill>
              <a:latin typeface="Microsoft YaHei" panose="020B0503020204020204" charset="-122"/>
            </a:endParaRPr>
          </a:p>
        </p:txBody>
      </p:sp>
      <p:sp>
        <p:nvSpPr>
          <p:cNvPr id="3" name="Rectangle 2"/>
          <p:cNvSpPr/>
          <p:nvPr/>
        </p:nvSpPr>
        <p:spPr>
          <a:xfrm>
            <a:off x="548640" y="777240"/>
            <a:ext cx="8686800" cy="508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421130"/>
            <a:ext cx="5669280" cy="3558540"/>
          </a:xfrm>
          <a:prstGeom prst="rect">
            <a:avLst/>
          </a:prstGeom>
          <a:noFill/>
        </p:spPr>
        <p:txBody>
          <a:bodyPr wrap="square" anchor="ctr">
            <a:spAutoFit/>
          </a:bodyPr>
          <a:lstStyle/>
          <a:p>
            <a:pPr algn="l">
              <a:spcAft>
                <a:spcPts val="400"/>
              </a:spcAft>
            </a:pPr>
            <a:r>
              <a:rPr sz="1600" b="1">
                <a:solidFill>
                  <a:srgbClr val="0078D4"/>
                </a:solidFill>
                <a:latin typeface="Microsoft YaHei" panose="020B0503020204020204" charset="-122"/>
                <a:ea typeface="Microsoft YaHei" panose="020B0503020204020204" charset="-122"/>
              </a:rPr>
              <a:t>现状问题</a:t>
            </a:r>
            <a:endParaRPr sz="1600" b="1">
              <a:solidFill>
                <a:srgbClr val="0078D4"/>
              </a:solidFill>
              <a:latin typeface="Microsoft YaHei" panose="020B0503020204020204" charset="-122"/>
            </a:endParaRPr>
          </a:p>
          <a:p>
            <a:pPr algn="l">
              <a:spcAft>
                <a:spcPts val="1400"/>
              </a:spcAft>
            </a:pPr>
            <a:r>
              <a:rPr sz="1300">
                <a:solidFill>
                  <a:srgbClr val="333333"/>
                </a:solidFill>
                <a:latin typeface="Microsoft YaHei" panose="020B0503020204020204" charset="-122"/>
                <a:ea typeface="Microsoft YaHei" panose="020B0503020204020204" charset="-122"/>
              </a:rPr>
              <a:t>当前</a:t>
            </a:r>
            <a:r>
              <a:rPr lang="en-US" sz="1300">
                <a:solidFill>
                  <a:srgbClr val="333333"/>
                </a:solidFill>
                <a:latin typeface="Microsoft YaHei" panose="020B0503020204020204" charset="-122"/>
                <a:ea typeface="Microsoft YaHei" panose="020B0503020204020204" charset="-122"/>
              </a:rPr>
              <a:t>OpenSpec</a:t>
            </a:r>
            <a:r>
              <a:rPr sz="1300">
                <a:solidFill>
                  <a:srgbClr val="333333"/>
                </a:solidFill>
                <a:latin typeface="Microsoft YaHei" panose="020B0503020204020204" charset="-122"/>
                <a:ea typeface="Microsoft YaHei" panose="020B0503020204020204" charset="-122"/>
              </a:rPr>
              <a:t> LLM 驱动的</a:t>
            </a:r>
            <a:r>
              <a:rPr lang="en-US" sz="1300">
                <a:solidFill>
                  <a:srgbClr val="333333"/>
                </a:solidFill>
                <a:latin typeface="Microsoft YaHei" panose="020B0503020204020204" charset="-122"/>
                <a:ea typeface="Microsoft YaHei" panose="020B0503020204020204" charset="-122"/>
              </a:rPr>
              <a:t>Spec</a:t>
            </a:r>
            <a:r>
              <a:rPr sz="1300">
                <a:solidFill>
                  <a:srgbClr val="333333"/>
                </a:solidFill>
                <a:latin typeface="Microsoft YaHei" panose="020B0503020204020204" charset="-122"/>
                <a:ea typeface="Microsoft YaHei" panose="020B0503020204020204" charset="-122"/>
              </a:rPr>
              <a:t>质量检查依赖</a:t>
            </a:r>
            <a:r>
              <a:rPr lang="zh-CN" sz="1300">
                <a:solidFill>
                  <a:srgbClr val="333333"/>
                </a:solidFill>
                <a:latin typeface="Microsoft YaHei" panose="020B0503020204020204" charset="-122"/>
                <a:ea typeface="Microsoft YaHei" panose="020B0503020204020204" charset="-122"/>
              </a:rPr>
              <a:t>人工评审或</a:t>
            </a:r>
            <a:r>
              <a:rPr sz="1300">
                <a:solidFill>
                  <a:srgbClr val="333333"/>
                </a:solidFill>
                <a:latin typeface="Microsoft YaHei" panose="020B0503020204020204" charset="-122"/>
                <a:ea typeface="Microsoft YaHei" panose="020B0503020204020204" charset="-122"/>
              </a:rPr>
              <a:t>单一模型实例评审，存在系统性盲区</a:t>
            </a:r>
            <a:endParaRPr sz="1300">
              <a:solidFill>
                <a:srgbClr val="333333"/>
              </a:solidFill>
              <a:latin typeface="Microsoft YaHei" panose="020B0503020204020204" charset="-122"/>
              <a:ea typeface="Microsoft YaHei" panose="020B0503020204020204" charset="-122"/>
            </a:endParaRPr>
          </a:p>
          <a:p>
            <a:pPr algn="l">
              <a:spcAft>
                <a:spcPts val="1400"/>
              </a:spcAft>
            </a:pPr>
            <a:r>
              <a:rPr sz="1300">
                <a:solidFill>
                  <a:srgbClr val="333333"/>
                </a:solidFill>
                <a:latin typeface="Microsoft YaHei" panose="020B0503020204020204" charset="-122"/>
                <a:ea typeface="Microsoft YaHei" panose="020B0503020204020204" charset="-122"/>
              </a:rPr>
              <a:t>Perspective-Based Reading (PBR) 研究表明，单一视角审查难以覆盖多维缺陷类别 </a:t>
            </a:r>
            <a:endParaRPr sz="1300" b="0">
              <a:solidFill>
                <a:srgbClr val="333333"/>
              </a:solidFill>
              <a:latin typeface="Microsoft YaHei" panose="020B0503020204020204" charset="-122"/>
            </a:endParaRPr>
          </a:p>
          <a:p>
            <a:pPr algn="l">
              <a:spcAft>
                <a:spcPts val="400"/>
              </a:spcAft>
            </a:pPr>
            <a:r>
              <a:rPr sz="1600" b="1">
                <a:solidFill>
                  <a:srgbClr val="0078D4"/>
                </a:solidFill>
                <a:latin typeface="Microsoft YaHei" panose="020B0503020204020204" charset="-122"/>
                <a:ea typeface="Microsoft YaHei" panose="020B0503020204020204" charset="-122"/>
              </a:rPr>
              <a:t>方法</a:t>
            </a:r>
            <a:endParaRPr sz="1600" b="1">
              <a:solidFill>
                <a:srgbClr val="0078D4"/>
              </a:solidFill>
              <a:latin typeface="Microsoft YaHei" panose="020B0503020204020204" charset="-122"/>
            </a:endParaRPr>
          </a:p>
          <a:p>
            <a:pPr algn="l">
              <a:spcAft>
                <a:spcPts val="800"/>
              </a:spcAft>
            </a:pPr>
            <a:r>
              <a:rPr sz="1300" b="0">
                <a:solidFill>
                  <a:srgbClr val="333333"/>
                </a:solidFill>
                <a:latin typeface="Microsoft YaHei" panose="020B0503020204020204" charset="-122"/>
                <a:ea typeface="Microsoft YaHei" panose="020B0503020204020204" charset="-122"/>
              </a:rPr>
              <a:t>构建多角色 Agent 审查组，在 spec 提交前执行多视角交叉验证：</a:t>
            </a:r>
            <a:endParaRPr sz="1300" b="0">
              <a:solidFill>
                <a:srgbClr val="333333"/>
              </a:solidFill>
              <a:latin typeface="Microsoft YaHei" panose="020B0503020204020204" charset="-122"/>
              <a:ea typeface="Microsoft YaHei" panose="020B0503020204020204" charset="-122"/>
            </a:endParaRPr>
          </a:p>
          <a:p>
            <a:pPr marL="285750" indent="-285750" algn="l">
              <a:spcAft>
                <a:spcPts val="800"/>
              </a:spcAft>
              <a:buFont typeface="Arial" panose="020B0604020202020204" pitchFamily="34" charset="0"/>
              <a:buChar char="•"/>
            </a:pPr>
            <a:r>
              <a:rPr sz="1300" b="0">
                <a:solidFill>
                  <a:srgbClr val="333333"/>
                </a:solidFill>
                <a:latin typeface="Microsoft YaHei" panose="020B0503020204020204" charset="-122"/>
                <a:ea typeface="Microsoft YaHei" panose="020B0503020204020204" charset="-122"/>
              </a:rPr>
              <a:t>完整性审查（遗漏场景与逻辑矛盾检测）</a:t>
            </a:r>
            <a:endParaRPr sz="1300" b="0">
              <a:solidFill>
                <a:srgbClr val="333333"/>
              </a:solidFill>
              <a:latin typeface="Microsoft YaHei" panose="020B0503020204020204" charset="-122"/>
              <a:ea typeface="Microsoft YaHei" panose="020B0503020204020204" charset="-122"/>
            </a:endParaRPr>
          </a:p>
          <a:p>
            <a:pPr marL="285750" indent="-285750" algn="l">
              <a:spcAft>
                <a:spcPts val="800"/>
              </a:spcAft>
              <a:buFont typeface="Arial" panose="020B0604020202020204" pitchFamily="34" charset="0"/>
              <a:buChar char="•"/>
            </a:pPr>
            <a:r>
              <a:rPr sz="1300" b="0">
                <a:solidFill>
                  <a:srgbClr val="333333"/>
                </a:solidFill>
                <a:latin typeface="Microsoft YaHei" panose="020B0503020204020204" charset="-122"/>
                <a:ea typeface="Microsoft YaHei" panose="020B0503020204020204" charset="-122"/>
              </a:rPr>
              <a:t>异常路径覆盖（错误流程与异常输入生成）</a:t>
            </a:r>
            <a:endParaRPr sz="1300" b="0">
              <a:solidFill>
                <a:srgbClr val="333333"/>
              </a:solidFill>
              <a:latin typeface="Microsoft YaHei" panose="020B0503020204020204" charset="-122"/>
              <a:ea typeface="Microsoft YaHei" panose="020B0503020204020204" charset="-122"/>
            </a:endParaRPr>
          </a:p>
          <a:p>
            <a:pPr marL="285750" indent="-285750" algn="l">
              <a:spcAft>
                <a:spcPts val="800"/>
              </a:spcAft>
              <a:buFont typeface="Arial" panose="020B0604020202020204" pitchFamily="34" charset="0"/>
              <a:buChar char="•"/>
            </a:pPr>
            <a:r>
              <a:rPr sz="1300" b="0">
                <a:solidFill>
                  <a:srgbClr val="333333"/>
                </a:solidFill>
                <a:latin typeface="Microsoft YaHei" panose="020B0503020204020204" charset="-122"/>
                <a:ea typeface="Microsoft YaHei" panose="020B0503020204020204" charset="-122"/>
              </a:rPr>
              <a:t>边界条件分析（边界值与竞态条件识别）</a:t>
            </a:r>
            <a:endParaRPr sz="1300" b="0">
              <a:solidFill>
                <a:srgbClr val="333333"/>
              </a:solidFill>
              <a:latin typeface="Microsoft YaHei" panose="020B0503020204020204" charset="-122"/>
              <a:ea typeface="Microsoft YaHei" panose="020B0503020204020204" charset="-122"/>
            </a:endParaRPr>
          </a:p>
          <a:p>
            <a:pPr marL="285750" indent="-285750" algn="l">
              <a:spcAft>
                <a:spcPts val="800"/>
              </a:spcAft>
              <a:buFont typeface="Arial" panose="020B0604020202020204" pitchFamily="34" charset="0"/>
              <a:buChar char="•"/>
            </a:pPr>
            <a:r>
              <a:rPr sz="1300" b="0">
                <a:solidFill>
                  <a:srgbClr val="333333"/>
                </a:solidFill>
                <a:latin typeface="Microsoft YaHei" panose="020B0503020204020204" charset="-122"/>
                <a:ea typeface="Microsoft YaHei" panose="020B0503020204020204" charset="-122"/>
              </a:rPr>
              <a:t>集成一致性检查（与已有 main specs 的隐性冲突检测</a:t>
            </a:r>
            <a:r>
              <a:rPr lang="zh-CN" sz="1300" b="0">
                <a:solidFill>
                  <a:srgbClr val="333333"/>
                </a:solidFill>
                <a:latin typeface="Microsoft YaHei" panose="020B0503020204020204" charset="-122"/>
                <a:ea typeface="Microsoft YaHei" panose="020B0503020204020204" charset="-122"/>
              </a:rPr>
              <a:t>）</a:t>
            </a:r>
            <a:endParaRPr sz="1300" b="0">
              <a:solidFill>
                <a:srgbClr val="333333"/>
              </a:solidFill>
              <a:latin typeface="Microsoft YaHei" panose="020B0503020204020204" charset="-122"/>
              <a:ea typeface="Microsoft YaHei" panose="020B0503020204020204" charset="-122"/>
            </a:endParaRPr>
          </a:p>
          <a:p>
            <a:pPr indent="0" algn="l">
              <a:spcAft>
                <a:spcPts val="800"/>
              </a:spcAft>
              <a:buFont typeface="Arial" panose="020B0604020202020204" pitchFamily="34" charset="0"/>
              <a:buNone/>
            </a:pPr>
            <a:r>
              <a:rPr sz="1300" b="0">
                <a:solidFill>
                  <a:srgbClr val="333333"/>
                </a:solidFill>
                <a:latin typeface="Microsoft YaHei" panose="020B0503020204020204" charset="-122"/>
                <a:ea typeface="Microsoft YaHei" panose="020B0503020204020204" charset="-122"/>
              </a:rPr>
              <a:t>多轮交叉审查后输出经多视角验证的高质量 spec</a:t>
            </a:r>
            <a:endParaRPr sz="1300" b="0">
              <a:solidFill>
                <a:srgbClr val="333333"/>
              </a:solidFill>
              <a:latin typeface="Microsoft YaHei" panose="020B0503020204020204" charset="-122"/>
            </a:endParaRPr>
          </a:p>
        </p:txBody>
      </p:sp>
      <p:sp>
        <p:nvSpPr>
          <p:cNvPr id="6" name="Rounded Rectangle 5"/>
          <p:cNvSpPr/>
          <p:nvPr/>
        </p:nvSpPr>
        <p:spPr>
          <a:xfrm>
            <a:off x="6492240" y="1005840"/>
            <a:ext cx="4206240" cy="4389120"/>
          </a:xfrm>
          <a:prstGeom prst="round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2087880"/>
            <a:ext cx="3749040" cy="2225040"/>
          </a:xfrm>
          <a:prstGeom prst="rect">
            <a:avLst/>
          </a:prstGeom>
          <a:noFill/>
        </p:spPr>
        <p:txBody>
          <a:bodyPr wrap="square" anchor="ctr">
            <a:spAutoFit/>
          </a:bodyPr>
          <a:lstStyle/>
          <a:p>
            <a:pPr algn="l">
              <a:spcAft>
                <a:spcPts val="400"/>
              </a:spcAft>
            </a:pPr>
            <a:r>
              <a:rPr sz="1200">
                <a:solidFill>
                  <a:srgbClr val="333333"/>
                </a:solidFill>
                <a:latin typeface="Microsoft YaHei" panose="020B0503020204020204" charset="-122"/>
                <a:ea typeface="Microsoft YaHei" panose="020B0503020204020204" charset="-122"/>
              </a:rPr>
              <a:t>• Du et al. (ICML 2024): Multi-Agent Debate 提升 LLM 推理与事实准确性 [arXiv:2305.14325]</a:t>
            </a:r>
            <a:endParaRPr sz="1200" b="1">
              <a:solidFill>
                <a:srgbClr val="0078D4"/>
              </a:solidFill>
              <a:latin typeface="Microsoft YaHei" panose="020B0503020204020204" charset="-122"/>
            </a:endParaRPr>
          </a:p>
          <a:p>
            <a:pPr algn="l">
              <a:spcAft>
                <a:spcPts val="400"/>
              </a:spcAft>
            </a:pPr>
            <a:endParaRPr sz="1200" b="0">
              <a:solidFill>
                <a:srgbClr val="333333"/>
              </a:solidFill>
              <a:latin typeface="Microsoft YaHei" panose="020B0503020204020204" charset="-122"/>
            </a:endParaRPr>
          </a:p>
          <a:p>
            <a:r>
              <a:rPr sz="1200">
                <a:solidFill>
                  <a:srgbClr val="333333"/>
                </a:solidFill>
                <a:latin typeface="Microsoft YaHei" panose="020B0503020204020204" charset="-122"/>
                <a:ea typeface="Microsoft YaHei" panose="020B0503020204020204" charset="-122"/>
              </a:rPr>
              <a:t>• Chan et al. (ICLR 2024): ChatEval 验证多智能体辩论在文本评估中的有效性 [arXiv:2308.07201]</a:t>
            </a:r>
            <a:endParaRPr sz="1200">
              <a:solidFill>
                <a:srgbClr val="333333"/>
              </a:solidFill>
              <a:latin typeface="Microsoft YaHei" panose="020B0503020204020204" charset="-122"/>
              <a:ea typeface="Microsoft YaHei" panose="020B0503020204020204" charset="-122"/>
            </a:endParaRPr>
          </a:p>
          <a:p>
            <a:endParaRPr sz="1200">
              <a:solidFill>
                <a:srgbClr val="333333"/>
              </a:solidFill>
              <a:latin typeface="Microsoft YaHei" panose="020B0503020204020204" charset="-122"/>
              <a:ea typeface="Microsoft YaHei" panose="020B0503020204020204" charset="-122"/>
            </a:endParaRPr>
          </a:p>
          <a:p>
            <a:r>
              <a:rPr sz="1200">
                <a:solidFill>
                  <a:srgbClr val="333333"/>
                </a:solidFill>
                <a:latin typeface="Microsoft YaHei" panose="020B0503020204020204" charset="-122"/>
                <a:ea typeface="Microsoft YaHei" panose="020B0503020204020204" charset="-122"/>
              </a:rPr>
              <a:t>• Oriol et al. (RE@Next! 2025): MAD 在需求工程的初步探索，尚未与结构化 spec 结合 [arXiv:2507.05981]</a:t>
            </a:r>
            <a:endParaRPr sz="1200">
              <a:solidFill>
                <a:srgbClr val="333333"/>
              </a:solidFill>
              <a:latin typeface="Microsoft YaHei" panose="020B0503020204020204" charset="-122"/>
              <a:ea typeface="Microsoft YaHei" panose="020B0503020204020204" charset="-122"/>
            </a:endParaRPr>
          </a:p>
          <a:p>
            <a:endParaRPr sz="1200">
              <a:solidFill>
                <a:srgbClr val="333333"/>
              </a:solidFill>
              <a:latin typeface="Microsoft YaHei" panose="020B0503020204020204" charset="-122"/>
              <a:ea typeface="Microsoft YaHei" panose="020B0503020204020204" charset="-122"/>
            </a:endParaRPr>
          </a:p>
          <a:p>
            <a:r>
              <a:rPr sz="1200">
                <a:solidFill>
                  <a:srgbClr val="333333"/>
                </a:solidFill>
                <a:latin typeface="Microsoft YaHei" panose="020B0503020204020204" charset="-122"/>
                <a:ea typeface="Microsoft YaHei" panose="020B0503020204020204" charset="-122"/>
              </a:rPr>
              <a:t>• Shull et al. (IEEE Computer, 2000): PBR 多视角团队比单一视角团队多发现约 41% 缺陷，但后续复现结果存在差异</a:t>
            </a:r>
            <a:endParaRPr sz="1200">
              <a:solidFill>
                <a:srgbClr val="333333"/>
              </a:solidFill>
              <a:latin typeface="Microsoft YaHei" panose="020B0503020204020204" charset="-122"/>
              <a:ea typeface="Microsoft YaHei" panose="020B0503020204020204" charset="-122"/>
            </a:endParaRPr>
          </a:p>
        </p:txBody>
      </p:sp>
      <p:sp>
        <p:nvSpPr>
          <p:cNvPr id="8" name="Rectangle 7"/>
          <p:cNvSpPr/>
          <p:nvPr/>
        </p:nvSpPr>
        <p:spPr>
          <a:xfrm>
            <a:off x="548640" y="5669280"/>
            <a:ext cx="10058400" cy="508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760720"/>
            <a:ext cx="10058400" cy="365760"/>
          </a:xfrm>
          <a:prstGeom prst="rect">
            <a:avLst/>
          </a:prstGeom>
          <a:noFill/>
        </p:spPr>
        <p:txBody>
          <a:bodyPr wrap="square">
            <a:spAutoFit/>
          </a:bodyPr>
          <a:lstStyle/>
          <a:p>
            <a:pPr algn="l"/>
            <a:r>
              <a:rPr sz="1200" b="0">
                <a:solidFill>
                  <a:srgbClr val="999999"/>
                </a:solidFill>
                <a:latin typeface="Microsoft YaHei" panose="020B0503020204020204" charset="-122"/>
                <a:ea typeface="Microsoft YaHei" panose="020B0503020204020204" charset="-122"/>
              </a:rPr>
              <a:t>实施路径：Agent 角色定义 → 审查协议设计 → 多轮交叉审查引擎 → Spec 修复建议 → 效果评估 → 与 Self-Evolving 闭环</a:t>
            </a:r>
            <a:endParaRPr sz="1200" b="0">
              <a:solidFill>
                <a:srgbClr val="999999"/>
              </a:solidFill>
              <a:latin typeface="Microsoft YaHei" panose="020B0503020204020204" charset="-122"/>
            </a:endParaRPr>
          </a:p>
        </p:txBody>
      </p:sp>
      <p:sp>
        <p:nvSpPr>
          <p:cNvPr id="10" name="TextBox 9"/>
          <p:cNvSpPr txBox="1"/>
          <p:nvPr/>
        </p:nvSpPr>
        <p:spPr>
          <a:xfrm>
            <a:off x="11094085" y="6400800"/>
            <a:ext cx="914400" cy="365760"/>
          </a:xfrm>
          <a:prstGeom prst="rect">
            <a:avLst/>
          </a:prstGeom>
          <a:noFill/>
        </p:spPr>
        <p:txBody>
          <a:bodyPr wrap="square">
            <a:spAutoFit/>
          </a:bodyPr>
          <a:lstStyle/>
          <a:p>
            <a:pPr algn="r"/>
            <a:r>
              <a:rPr sz="1100" b="0">
                <a:solidFill>
                  <a:srgbClr val="999999"/>
                </a:solidFill>
                <a:latin typeface="Microsoft YaHei" panose="020B0503020204020204" charset="-122"/>
                <a:ea typeface="Microsoft YaHei" panose="020B0503020204020204" charset="-122"/>
              </a:rPr>
              <a:t>21/41</a:t>
            </a:r>
            <a:endParaRPr sz="1100" b="0">
              <a:solidFill>
                <a:srgbClr val="999999"/>
              </a:solidFill>
              <a:latin typeface="Microsoft YaHei" panose="020B0503020204020204" charset="-122"/>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82600" y="203835"/>
            <a:ext cx="9509760" cy="460375"/>
          </a:xfrm>
          <a:prstGeom prst="rect">
            <a:avLst/>
          </a:prstGeom>
          <a:noFill/>
        </p:spPr>
        <p:txBody>
          <a:bodyPr wrap="square">
            <a:spAutoFit/>
          </a:bodyPr>
          <a:lstStyle/>
          <a:p>
            <a:pPr algn="l"/>
            <a:r>
              <a:rPr lang="zh-CN" sz="2400" b="1">
                <a:solidFill>
                  <a:srgbClr val="333333"/>
                </a:solidFill>
                <a:latin typeface="Microsoft YaHei" panose="020B0503020204020204" charset="-122"/>
                <a:ea typeface="Microsoft YaHei" panose="020B0503020204020204" charset="-122"/>
              </a:rPr>
              <a:t>潜在研究</a:t>
            </a:r>
            <a:r>
              <a:rPr sz="2400" b="1">
                <a:solidFill>
                  <a:srgbClr val="333333"/>
                </a:solidFill>
                <a:latin typeface="Microsoft YaHei" panose="020B0503020204020204" charset="-122"/>
                <a:ea typeface="Microsoft YaHei" panose="020B0503020204020204" charset="-122"/>
              </a:rPr>
              <a:t>方向 2：Spec-as-Runtime-Guardrail（规格即运行时护栏）</a:t>
            </a:r>
            <a:endParaRPr sz="2400" b="1">
              <a:solidFill>
                <a:srgbClr val="333333"/>
              </a:solidFill>
              <a:latin typeface="Microsoft YaHei" panose="020B0503020204020204" charset="-122"/>
            </a:endParaRPr>
          </a:p>
        </p:txBody>
      </p:sp>
      <p:sp>
        <p:nvSpPr>
          <p:cNvPr id="3" name="Rectangle 2"/>
          <p:cNvSpPr/>
          <p:nvPr/>
        </p:nvSpPr>
        <p:spPr>
          <a:xfrm>
            <a:off x="548640" y="777240"/>
            <a:ext cx="8686800" cy="50800"/>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00443"/>
            <a:ext cx="5669280" cy="4399915"/>
          </a:xfrm>
          <a:prstGeom prst="rect">
            <a:avLst/>
          </a:prstGeom>
          <a:noFill/>
        </p:spPr>
        <p:txBody>
          <a:bodyPr wrap="square" anchor="ctr">
            <a:spAutoFit/>
          </a:bodyPr>
          <a:lstStyle/>
          <a:p>
            <a:pPr algn="l">
              <a:spcAft>
                <a:spcPts val="400"/>
              </a:spcAft>
            </a:pPr>
            <a:r>
              <a:rPr sz="1600" b="1">
                <a:solidFill>
                  <a:srgbClr val="107C10"/>
                </a:solidFill>
                <a:latin typeface="Microsoft YaHei" panose="020B0503020204020204" charset="-122"/>
                <a:ea typeface="Microsoft YaHei" panose="020B0503020204020204" charset="-122"/>
              </a:rPr>
              <a:t>现状问题</a:t>
            </a:r>
            <a:endParaRPr sz="1600" b="1">
              <a:solidFill>
                <a:srgbClr val="107C10"/>
              </a:solidFill>
              <a:latin typeface="Microsoft YaHei" panose="020B0503020204020204" charset="-122"/>
            </a:endParaRPr>
          </a:p>
          <a:p>
            <a:pPr algn="l">
              <a:spcAft>
                <a:spcPts val="800"/>
              </a:spcAft>
            </a:pPr>
            <a:r>
              <a:rPr sz="1300" b="0">
                <a:solidFill>
                  <a:srgbClr val="333333"/>
                </a:solidFill>
                <a:latin typeface="Microsoft YaHei" panose="020B0503020204020204" charset="-122"/>
                <a:ea typeface="Microsoft YaHei" panose="020B0503020204020204" charset="-122"/>
              </a:rPr>
              <a:t>传统 Spec-Code Traceability 在实现完成后进行一致性验证。在 AI Agent 高速生成代码的场景下，事后验证导致发现偏差时已产生大量返工成本。</a:t>
            </a:r>
            <a:endParaRPr sz="1300" b="0">
              <a:solidFill>
                <a:srgbClr val="333333"/>
              </a:solidFill>
              <a:latin typeface="Microsoft YaHei" panose="020B0503020204020204" charset="-122"/>
            </a:endParaRPr>
          </a:p>
          <a:p>
            <a:pPr algn="l">
              <a:spcAft>
                <a:spcPts val="1400"/>
              </a:spcAft>
            </a:pPr>
            <a:endParaRPr sz="1600" b="1">
              <a:solidFill>
                <a:srgbClr val="107C10"/>
              </a:solidFill>
              <a:latin typeface="Microsoft YaHei" panose="020B0503020204020204" charset="-122"/>
              <a:ea typeface="Microsoft YaHei" panose="020B0503020204020204" charset="-122"/>
            </a:endParaRPr>
          </a:p>
          <a:p>
            <a:pPr algn="l">
              <a:spcAft>
                <a:spcPts val="1400"/>
              </a:spcAft>
            </a:pPr>
            <a:r>
              <a:rPr sz="1600" b="1">
                <a:solidFill>
                  <a:srgbClr val="107C10"/>
                </a:solidFill>
                <a:latin typeface="Microsoft YaHei" panose="020B0503020204020204" charset="-122"/>
                <a:ea typeface="Microsoft YaHei" panose="020B0503020204020204" charset="-122"/>
              </a:rPr>
              <a:t>将 </a:t>
            </a:r>
            <a:r>
              <a:rPr lang="en-US" sz="1600" b="1">
                <a:solidFill>
                  <a:srgbClr val="107C10"/>
                </a:solidFill>
                <a:latin typeface="Microsoft YaHei" panose="020B0503020204020204" charset="-122"/>
                <a:ea typeface="Microsoft YaHei" panose="020B0503020204020204" charset="-122"/>
              </a:rPr>
              <a:t>S</a:t>
            </a:r>
            <a:r>
              <a:rPr sz="1600" b="1">
                <a:solidFill>
                  <a:srgbClr val="107C10"/>
                </a:solidFill>
                <a:latin typeface="Microsoft YaHei" panose="020B0503020204020204" charset="-122"/>
                <a:ea typeface="Microsoft YaHei" panose="020B0503020204020204" charset="-122"/>
              </a:rPr>
              <a:t>pec 从“参考文档”变为“可执行的运行时约束”：</a:t>
            </a:r>
            <a:endParaRPr sz="1600" b="1">
              <a:solidFill>
                <a:srgbClr val="107C10"/>
              </a:solidFill>
              <a:latin typeface="Microsoft YaHei" panose="020B0503020204020204" charset="-122"/>
              <a:ea typeface="Microsoft YaHei" panose="020B0503020204020204" charset="-122"/>
            </a:endParaRPr>
          </a:p>
          <a:p>
            <a:pPr marL="285750" indent="-285750" algn="l">
              <a:spcAft>
                <a:spcPts val="400"/>
              </a:spcAft>
              <a:buFont typeface="Arial" panose="020B0604020202020204" pitchFamily="34" charset="0"/>
              <a:buChar char="•"/>
            </a:pPr>
            <a:r>
              <a:rPr sz="1300">
                <a:solidFill>
                  <a:schemeClr val="tx1"/>
                </a:solidFill>
                <a:latin typeface="Microsoft YaHei" panose="020B0503020204020204" charset="-122"/>
                <a:ea typeface="Microsoft YaHei" panose="020B0503020204020204" charset="-122"/>
              </a:rPr>
              <a:t>Spec→Constraint 编译：将结构化需求（如 EARS 格式）转译为 property-based test predicates 和 invariant assertions</a:t>
            </a:r>
            <a:endParaRPr sz="1300">
              <a:solidFill>
                <a:schemeClr val="tx1"/>
              </a:solidFill>
              <a:latin typeface="Microsoft YaHei" panose="020B0503020204020204" charset="-122"/>
              <a:ea typeface="Microsoft YaHei" panose="020B0503020204020204" charset="-122"/>
            </a:endParaRPr>
          </a:p>
          <a:p>
            <a:pPr marL="285750" indent="-285750" algn="l">
              <a:spcAft>
                <a:spcPts val="400"/>
              </a:spcAft>
              <a:buFont typeface="Arial" panose="020B0604020202020204" pitchFamily="34" charset="0"/>
              <a:buChar char="•"/>
            </a:pPr>
            <a:r>
              <a:rPr sz="1300">
                <a:solidFill>
                  <a:schemeClr val="tx1"/>
                </a:solidFill>
                <a:latin typeface="Microsoft YaHei" panose="020B0503020204020204" charset="-122"/>
                <a:ea typeface="Microsoft YaHei" panose="020B0503020204020204" charset="-122"/>
              </a:rPr>
              <a:t>Agent 行为实时监控：AI 写代码时实时分析合规性</a:t>
            </a:r>
            <a:endParaRPr sz="1300">
              <a:solidFill>
                <a:schemeClr val="tx1"/>
              </a:solidFill>
              <a:latin typeface="Microsoft YaHei" panose="020B0503020204020204" charset="-122"/>
              <a:ea typeface="Microsoft YaHei" panose="020B0503020204020204" charset="-122"/>
            </a:endParaRPr>
          </a:p>
          <a:p>
            <a:pPr marL="285750" indent="-285750" algn="l">
              <a:spcAft>
                <a:spcPts val="400"/>
              </a:spcAft>
              <a:buFont typeface="Arial" panose="020B0604020202020204" pitchFamily="34" charset="0"/>
              <a:buChar char="•"/>
            </a:pPr>
            <a:r>
              <a:rPr sz="1300">
                <a:solidFill>
                  <a:schemeClr val="tx1"/>
                </a:solidFill>
                <a:latin typeface="Microsoft YaHei" panose="020B0503020204020204" charset="-122"/>
                <a:ea typeface="Microsoft YaHei" panose="020B0503020204020204" charset="-122"/>
              </a:rPr>
              <a:t>违规拦截：违反 spec 的代码在</a:t>
            </a:r>
            <a:r>
              <a:rPr lang="en-US" sz="1300">
                <a:solidFill>
                  <a:schemeClr val="tx1"/>
                </a:solidFill>
                <a:latin typeface="Microsoft YaHei" panose="020B0503020204020204" charset="-122"/>
                <a:ea typeface="Microsoft YaHei" panose="020B0503020204020204" charset="-122"/>
              </a:rPr>
              <a:t>save</a:t>
            </a:r>
            <a:r>
              <a:rPr sz="1300">
                <a:solidFill>
                  <a:schemeClr val="tx1"/>
                </a:solidFill>
                <a:latin typeface="Microsoft YaHei" panose="020B0503020204020204" charset="-122"/>
                <a:ea typeface="Microsoft YaHei" panose="020B0503020204020204" charset="-122"/>
              </a:rPr>
              <a:t>前被拦截。</a:t>
            </a:r>
            <a:endParaRPr sz="1300">
              <a:solidFill>
                <a:schemeClr val="tx1"/>
              </a:solidFill>
              <a:latin typeface="Microsoft YaHei" panose="020B0503020204020204" charset="-122"/>
              <a:ea typeface="Microsoft YaHei" panose="020B0503020204020204" charset="-122"/>
            </a:endParaRPr>
          </a:p>
          <a:p>
            <a:pPr algn="l">
              <a:spcAft>
                <a:spcPts val="400"/>
              </a:spcAft>
            </a:pPr>
            <a:endParaRPr sz="1600" b="1">
              <a:solidFill>
                <a:srgbClr val="107C10"/>
              </a:solidFill>
              <a:latin typeface="Microsoft YaHei" panose="020B0503020204020204" charset="-122"/>
              <a:ea typeface="Microsoft YaHei" panose="020B0503020204020204" charset="-122"/>
            </a:endParaRPr>
          </a:p>
          <a:p>
            <a:pPr algn="l">
              <a:spcAft>
                <a:spcPts val="400"/>
              </a:spcAft>
            </a:pPr>
            <a:r>
              <a:rPr sz="1300" b="0">
                <a:solidFill>
                  <a:srgbClr val="333333"/>
                </a:solidFill>
                <a:latin typeface="Microsoft YaHei" panose="020B0503020204020204" charset="-122"/>
                <a:ea typeface="Microsoft YaHei" panose="020B0503020204020204" charset="-122"/>
              </a:rPr>
              <a:t>该思路是 Design by Contract [Meyer, 1988] 在 AI 辅助编程场景的延伸</a:t>
            </a:r>
            <a:endParaRPr sz="1300" b="0">
              <a:solidFill>
                <a:srgbClr val="333333"/>
              </a:solidFill>
              <a:latin typeface="Microsoft YaHei" panose="020B0503020204020204" charset="-122"/>
              <a:ea typeface="Microsoft YaHei" panose="020B0503020204020204" charset="-122"/>
            </a:endParaRPr>
          </a:p>
          <a:p>
            <a:pPr algn="l">
              <a:spcAft>
                <a:spcPts val="400"/>
              </a:spcAft>
            </a:pPr>
            <a:endParaRPr sz="1300" b="0">
              <a:solidFill>
                <a:srgbClr val="333333"/>
              </a:solidFill>
              <a:latin typeface="Microsoft YaHei" panose="020B0503020204020204" charset="-122"/>
              <a:ea typeface="Microsoft YaHei" panose="020B0503020204020204" charset="-122"/>
            </a:endParaRPr>
          </a:p>
          <a:p>
            <a:pPr algn="l">
              <a:spcAft>
                <a:spcPts val="400"/>
              </a:spcAft>
            </a:pPr>
            <a:r>
              <a:rPr sz="1300" b="0">
                <a:solidFill>
                  <a:srgbClr val="333333"/>
                </a:solidFill>
                <a:latin typeface="Microsoft YaHei" panose="020B0503020204020204" charset="-122"/>
                <a:ea typeface="Microsoft YaHei" panose="020B0503020204020204" charset="-122"/>
              </a:rPr>
              <a:t>Kiro (AWS) 已验证从 EARS 格式需求生成 property-based test 的可行性</a:t>
            </a:r>
            <a:endParaRPr sz="1300" b="0">
              <a:solidFill>
                <a:srgbClr val="333333"/>
              </a:solidFill>
              <a:latin typeface="Microsoft YaHei" panose="020B0503020204020204" charset="-122"/>
              <a:ea typeface="Microsoft YaHei" panose="020B0503020204020204" charset="-122"/>
            </a:endParaRPr>
          </a:p>
          <a:p>
            <a:pPr algn="l">
              <a:spcAft>
                <a:spcPts val="400"/>
              </a:spcAft>
            </a:pPr>
            <a:endParaRPr sz="1300" b="0">
              <a:solidFill>
                <a:srgbClr val="333333"/>
              </a:solidFill>
              <a:latin typeface="Microsoft YaHei" panose="020B0503020204020204" charset="-122"/>
              <a:ea typeface="Microsoft YaHei" panose="020B0503020204020204" charset="-122"/>
            </a:endParaRPr>
          </a:p>
          <a:p>
            <a:pPr algn="l">
              <a:spcAft>
                <a:spcPts val="400"/>
              </a:spcAft>
            </a:pPr>
            <a:r>
              <a:rPr sz="1300" b="0">
                <a:solidFill>
                  <a:srgbClr val="333333"/>
                </a:solidFill>
                <a:latin typeface="Microsoft YaHei" panose="020B0503020204020204" charset="-122"/>
                <a:ea typeface="Microsoft YaHei" panose="020B0503020204020204" charset="-122"/>
              </a:rPr>
              <a:t>Tessl、spec-kit 等工具也在探索 spec-driven development，但尚未实现运行时实时拦截。</a:t>
            </a:r>
            <a:endParaRPr sz="1300" b="0">
              <a:solidFill>
                <a:srgbClr val="333333"/>
              </a:solidFill>
              <a:latin typeface="Microsoft YaHei" panose="020B0503020204020204" charset="-122"/>
            </a:endParaRPr>
          </a:p>
        </p:txBody>
      </p:sp>
      <p:sp>
        <p:nvSpPr>
          <p:cNvPr id="6" name="Rounded Rectangle 5"/>
          <p:cNvSpPr/>
          <p:nvPr/>
        </p:nvSpPr>
        <p:spPr>
          <a:xfrm>
            <a:off x="6492240" y="1005840"/>
            <a:ext cx="4206240" cy="4389120"/>
          </a:xfrm>
          <a:prstGeom prst="round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2364740"/>
            <a:ext cx="3749040" cy="1671320"/>
          </a:xfrm>
          <a:prstGeom prst="rect">
            <a:avLst/>
          </a:prstGeom>
          <a:noFill/>
        </p:spPr>
        <p:txBody>
          <a:bodyPr wrap="square" anchor="ctr">
            <a:spAutoFit/>
          </a:bodyPr>
          <a:lstStyle/>
          <a:p>
            <a:pPr algn="l">
              <a:spcAft>
                <a:spcPts val="400"/>
              </a:spcAft>
            </a:pPr>
            <a:r>
              <a:rPr sz="1200">
                <a:solidFill>
                  <a:srgbClr val="333333"/>
                </a:solidFill>
                <a:latin typeface="Microsoft YaHei" panose="020B0503020204020204" charset="-122"/>
                <a:ea typeface="Microsoft YaHei" panose="020B0503020204020204" charset="-122"/>
              </a:rPr>
              <a:t>• Meyer (1988/1992): Design by Contract 理论基础 [Object-Oriented Software Construction, Prentice-Hall, 1988; IEEE Computer, 1992]</a:t>
            </a:r>
            <a:endParaRPr sz="1200" b="1">
              <a:solidFill>
                <a:srgbClr val="107C10"/>
              </a:solidFill>
              <a:latin typeface="Microsoft YaHei" panose="020B0503020204020204" charset="-122"/>
            </a:endParaRPr>
          </a:p>
          <a:p>
            <a:pPr algn="l">
              <a:spcAft>
                <a:spcPts val="400"/>
              </a:spcAft>
            </a:pPr>
            <a:endParaRPr sz="1200" b="0">
              <a:solidFill>
                <a:srgbClr val="333333"/>
              </a:solidFill>
              <a:latin typeface="Microsoft YaHei" panose="020B0503020204020204" charset="-122"/>
            </a:endParaRPr>
          </a:p>
          <a:p>
            <a:r>
              <a:rPr sz="1200">
                <a:solidFill>
                  <a:srgbClr val="333333"/>
                </a:solidFill>
                <a:latin typeface="Microsoft YaHei" panose="020B0503020204020204" charset="-122"/>
                <a:ea typeface="Microsoft YaHei" panose="020B0503020204020204" charset="-122"/>
              </a:rPr>
              <a:t>• EU AI Act (Reg. 2024/1689) Art.72: 要求高风险 AI 系统建立上市后持续合规监控体系</a:t>
            </a:r>
            <a:endParaRPr sz="1200">
              <a:solidFill>
                <a:srgbClr val="333333"/>
              </a:solidFill>
              <a:latin typeface="Microsoft YaHei" panose="020B0503020204020204" charset="-122"/>
              <a:ea typeface="Microsoft YaHei" panose="020B0503020204020204" charset="-122"/>
            </a:endParaRPr>
          </a:p>
          <a:p>
            <a:endParaRPr sz="1200">
              <a:solidFill>
                <a:srgbClr val="333333"/>
              </a:solidFill>
              <a:latin typeface="Microsoft YaHei" panose="020B0503020204020204" charset="-122"/>
              <a:ea typeface="Microsoft YaHei" panose="020B0503020204020204" charset="-122"/>
            </a:endParaRPr>
          </a:p>
          <a:p>
            <a:r>
              <a:rPr sz="1200">
                <a:solidFill>
                  <a:srgbClr val="333333"/>
                </a:solidFill>
                <a:latin typeface="Microsoft YaHei" panose="020B0503020204020204" charset="-122"/>
                <a:ea typeface="Microsoft YaHei" panose="020B0503020204020204" charset="-122"/>
              </a:rPr>
              <a:t>• Kiro (AWS, GA 2025.11): 从 EARS 格式需求生成 property-based test，验证 spec→可执行测试 的可行性；Tessl、spec-kit 等也在探索此方向</a:t>
            </a:r>
            <a:endParaRPr sz="1200">
              <a:solidFill>
                <a:srgbClr val="333333"/>
              </a:solidFill>
              <a:latin typeface="Microsoft YaHei" panose="020B0503020204020204" charset="-122"/>
              <a:ea typeface="Microsoft YaHei" panose="020B0503020204020204" charset="-122"/>
            </a:endParaRPr>
          </a:p>
        </p:txBody>
      </p:sp>
      <p:sp>
        <p:nvSpPr>
          <p:cNvPr id="8" name="Rectangle 7"/>
          <p:cNvSpPr/>
          <p:nvPr/>
        </p:nvSpPr>
        <p:spPr>
          <a:xfrm>
            <a:off x="548640" y="5669280"/>
            <a:ext cx="10058400" cy="50800"/>
          </a:xfrm>
          <a:prstGeom prst="rect">
            <a:avLst/>
          </a:prstGeom>
          <a:solidFill>
            <a:srgbClr val="107C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760720"/>
            <a:ext cx="10058400" cy="365760"/>
          </a:xfrm>
          <a:prstGeom prst="rect">
            <a:avLst/>
          </a:prstGeom>
          <a:noFill/>
        </p:spPr>
        <p:txBody>
          <a:bodyPr wrap="square">
            <a:spAutoFit/>
          </a:bodyPr>
          <a:lstStyle/>
          <a:p>
            <a:pPr algn="l"/>
            <a:r>
              <a:rPr sz="1200" b="0">
                <a:solidFill>
                  <a:srgbClr val="999999"/>
                </a:solidFill>
                <a:latin typeface="Microsoft YaHei" panose="020B0503020204020204" charset="-122"/>
                <a:ea typeface="Microsoft YaHei" panose="020B0503020204020204" charset="-122"/>
              </a:rPr>
              <a:t>实施路径：Spec→Constraint 编译器 → Agent 行为监控 → 实时拦截引擎 → Property Test 自动生成 → CI/CD 集成</a:t>
            </a:r>
            <a:endParaRPr sz="1200" b="0">
              <a:solidFill>
                <a:srgbClr val="999999"/>
              </a:solidFill>
              <a:latin typeface="Microsoft YaHei" panose="020B0503020204020204" charset="-122"/>
            </a:endParaRPr>
          </a:p>
        </p:txBody>
      </p:sp>
      <p:sp>
        <p:nvSpPr>
          <p:cNvPr id="10" name="TextBox 9"/>
          <p:cNvSpPr txBox="1"/>
          <p:nvPr/>
        </p:nvSpPr>
        <p:spPr>
          <a:xfrm>
            <a:off x="11094085" y="6400800"/>
            <a:ext cx="914400" cy="365760"/>
          </a:xfrm>
          <a:prstGeom prst="rect">
            <a:avLst/>
          </a:prstGeom>
          <a:noFill/>
        </p:spPr>
        <p:txBody>
          <a:bodyPr wrap="square">
            <a:spAutoFit/>
          </a:bodyPr>
          <a:lstStyle/>
          <a:p>
            <a:pPr algn="r"/>
            <a:r>
              <a:rPr sz="1100" b="0">
                <a:solidFill>
                  <a:srgbClr val="999999"/>
                </a:solidFill>
                <a:latin typeface="Microsoft YaHei" panose="020B0503020204020204" charset="-122"/>
                <a:ea typeface="Microsoft YaHei" panose="020B0503020204020204" charset="-122"/>
              </a:rPr>
              <a:t>22/41</a:t>
            </a:r>
            <a:endParaRPr sz="1100" b="0">
              <a:solidFill>
                <a:srgbClr val="999999"/>
              </a:solidFill>
              <a:latin typeface="Microsoft YaHei" panose="020B0503020204020204" charset="-122"/>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194945" y="271145"/>
            <a:ext cx="9851390" cy="460375"/>
          </a:xfrm>
          <a:prstGeom prst="rect">
            <a:avLst/>
          </a:prstGeom>
          <a:noFill/>
        </p:spPr>
        <p:txBody>
          <a:bodyPr wrap="square">
            <a:spAutoFit/>
          </a:bodyPr>
          <a:lstStyle/>
          <a:p>
            <a:pPr algn="l"/>
            <a:r>
              <a:rPr lang="zh-CN" sz="2400" b="1">
                <a:solidFill>
                  <a:srgbClr val="333333"/>
                </a:solidFill>
                <a:latin typeface="Microsoft YaHei" panose="020B0503020204020204" charset="-122"/>
                <a:ea typeface="Microsoft YaHei" panose="020B0503020204020204" charset="-122"/>
              </a:rPr>
              <a:t>潜在研究</a:t>
            </a:r>
            <a:r>
              <a:rPr sz="2400" b="1">
                <a:solidFill>
                  <a:srgbClr val="333333"/>
                </a:solidFill>
                <a:latin typeface="Microsoft YaHei" panose="020B0503020204020204" charset="-122"/>
                <a:ea typeface="Microsoft YaHei" panose="020B0503020204020204" charset="-122"/>
              </a:rPr>
              <a:t>方向 3：Self-Evolving Spec Agents（自我进化规格智能体）</a:t>
            </a:r>
            <a:endParaRPr sz="2400" b="1">
              <a:solidFill>
                <a:srgbClr val="333333"/>
              </a:solidFill>
              <a:latin typeface="Microsoft YaHei" panose="020B0503020204020204" charset="-122"/>
            </a:endParaRPr>
          </a:p>
        </p:txBody>
      </p:sp>
      <p:sp>
        <p:nvSpPr>
          <p:cNvPr id="3" name="Rectangle 2"/>
          <p:cNvSpPr/>
          <p:nvPr/>
        </p:nvSpPr>
        <p:spPr>
          <a:xfrm>
            <a:off x="548640" y="777240"/>
            <a:ext cx="8686800" cy="50800"/>
          </a:xfrm>
          <a:prstGeom prst="rect">
            <a:avLst/>
          </a:prstGeom>
          <a:solidFill>
            <a:srgbClr val="E8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382395"/>
            <a:ext cx="5029200" cy="3636010"/>
          </a:xfrm>
          <a:prstGeom prst="rect">
            <a:avLst/>
          </a:prstGeom>
          <a:noFill/>
        </p:spPr>
        <p:txBody>
          <a:bodyPr wrap="square" anchor="ctr">
            <a:spAutoFit/>
          </a:bodyPr>
          <a:lstStyle/>
          <a:p>
            <a:pPr algn="l">
              <a:spcAft>
                <a:spcPts val="400"/>
              </a:spcAft>
            </a:pPr>
            <a:r>
              <a:rPr sz="1600" b="1">
                <a:solidFill>
                  <a:srgbClr val="E86C00"/>
                </a:solidFill>
                <a:latin typeface="Microsoft YaHei" panose="020B0503020204020204" charset="-122"/>
                <a:ea typeface="Microsoft YaHei" panose="020B0503020204020204" charset="-122"/>
              </a:rPr>
              <a:t>现状问题</a:t>
            </a:r>
            <a:endParaRPr sz="1600" b="1">
              <a:solidFill>
                <a:srgbClr val="E86C00"/>
              </a:solidFill>
              <a:latin typeface="Microsoft YaHei" panose="020B0503020204020204" charset="-122"/>
            </a:endParaRPr>
          </a:p>
          <a:p>
            <a:r>
              <a:rPr sz="1300" b="0">
                <a:solidFill>
                  <a:srgbClr val="333333"/>
                </a:solidFill>
                <a:latin typeface="Microsoft YaHei" panose="020B0503020204020204" charset="-122"/>
                <a:ea typeface="Microsoft YaHei" panose="020B0503020204020204" charset="-122"/>
              </a:rPr>
              <a:t>尽管部分 AI 编程工具已引入持久化记忆（如 Copilot Memory Claude Code auto-memory），这些机制主要记录代码模式和用户偏好，缺乏从 spec 质量到 spec 编写策略的闭环反馈</a:t>
            </a:r>
            <a:r>
              <a:rPr lang="en-US" sz="1300" b="0">
                <a:solidFill>
                  <a:srgbClr val="333333"/>
                </a:solidFill>
                <a:latin typeface="Microsoft YaHei" panose="020B0503020204020204" charset="-122"/>
                <a:ea typeface="Microsoft YaHei" panose="020B0503020204020204" charset="-122"/>
              </a:rPr>
              <a:t> </a:t>
            </a:r>
            <a:endParaRPr lang="en-US" sz="1300" b="0">
              <a:solidFill>
                <a:srgbClr val="333333"/>
              </a:solidFill>
              <a:latin typeface="Microsoft YaHei" panose="020B0503020204020204" charset="-122"/>
              <a:ea typeface="Microsoft YaHei" panose="020B0503020204020204" charset="-122"/>
            </a:endParaRPr>
          </a:p>
          <a:p>
            <a:endParaRPr lang="en-US" altLang="en-US" sz="1300" b="0">
              <a:solidFill>
                <a:srgbClr val="333333"/>
              </a:solidFill>
              <a:latin typeface="Microsoft YaHei" panose="020B0503020204020204" charset="-122"/>
              <a:ea typeface="Microsoft YaHei" panose="020B0503020204020204" charset="-122"/>
            </a:endParaRPr>
          </a:p>
          <a:p>
            <a:r>
              <a:rPr lang="zh-CN" altLang="en-US" sz="1300" b="0">
                <a:solidFill>
                  <a:srgbClr val="333333"/>
                </a:solidFill>
                <a:latin typeface="Microsoft YaHei" panose="020B0503020204020204" charset="-122"/>
                <a:ea typeface="Microsoft YaHei" panose="020B0503020204020204" charset="-122"/>
              </a:rPr>
              <a:t>这些</a:t>
            </a:r>
            <a:r>
              <a:rPr sz="1300" b="0">
                <a:solidFill>
                  <a:srgbClr val="333333"/>
                </a:solidFill>
                <a:latin typeface="Microsoft YaHei" panose="020B0503020204020204" charset="-122"/>
                <a:ea typeface="Microsoft YaHei" panose="020B0503020204020204" charset="-122"/>
              </a:rPr>
              <a:t>工具不会根据</a:t>
            </a:r>
            <a:r>
              <a:rPr lang="en-US" sz="1300" b="0">
                <a:solidFill>
                  <a:srgbClr val="333333"/>
                </a:solidFill>
                <a:latin typeface="Microsoft YaHei" panose="020B0503020204020204" charset="-122"/>
                <a:ea typeface="Microsoft YaHei" panose="020B0503020204020204" charset="-122"/>
              </a:rPr>
              <a:t> </a:t>
            </a:r>
            <a:r>
              <a:rPr sz="1300" b="0">
                <a:solidFill>
                  <a:srgbClr val="333333"/>
                </a:solidFill>
                <a:latin typeface="Microsoft YaHei" panose="020B0503020204020204" charset="-122"/>
                <a:ea typeface="Microsoft YaHei" panose="020B0503020204020204" charset="-122"/>
              </a:rPr>
              <a:t>哪种 spec 写法产生了高质量实现</a:t>
            </a:r>
            <a:r>
              <a:rPr lang="en-US" sz="1300" b="0">
                <a:solidFill>
                  <a:srgbClr val="333333"/>
                </a:solidFill>
                <a:latin typeface="Microsoft YaHei" panose="020B0503020204020204" charset="-122"/>
                <a:ea typeface="Microsoft YaHei" panose="020B0503020204020204" charset="-122"/>
              </a:rPr>
              <a:t> </a:t>
            </a:r>
            <a:r>
              <a:rPr sz="1300" b="0">
                <a:solidFill>
                  <a:srgbClr val="333333"/>
                </a:solidFill>
                <a:latin typeface="Microsoft YaHei" panose="020B0503020204020204" charset="-122"/>
                <a:ea typeface="Microsoft YaHei" panose="020B0503020204020204" charset="-122"/>
              </a:rPr>
              <a:t>来改进后续 spec 生成策略。</a:t>
            </a:r>
            <a:endParaRPr sz="1300" b="0">
              <a:solidFill>
                <a:srgbClr val="333333"/>
              </a:solidFill>
              <a:latin typeface="Microsoft YaHei" panose="020B0503020204020204" charset="-122"/>
              <a:ea typeface="Microsoft YaHei" panose="020B0503020204020204" charset="-122"/>
            </a:endParaRPr>
          </a:p>
          <a:p>
            <a:endParaRPr sz="1300" b="0">
              <a:solidFill>
                <a:srgbClr val="333333"/>
              </a:solidFill>
            </a:endParaRPr>
          </a:p>
          <a:p>
            <a:r>
              <a:rPr sz="1600" b="1">
                <a:solidFill>
                  <a:srgbClr val="E86C00"/>
                </a:solidFill>
                <a:latin typeface="Microsoft YaHei" panose="020B0503020204020204" charset="-122"/>
                <a:ea typeface="Microsoft YaHei" panose="020B0503020204020204" charset="-122"/>
              </a:rPr>
              <a:t>方法</a:t>
            </a:r>
            <a:endParaRPr sz="1600" b="1">
              <a:solidFill>
                <a:srgbClr val="E86C00"/>
              </a:solidFill>
            </a:endParaRPr>
          </a:p>
          <a:p>
            <a:r>
              <a:rPr sz="1300" b="0">
                <a:solidFill>
                  <a:srgbClr val="333333"/>
                </a:solidFill>
                <a:latin typeface="Microsoft YaHei" panose="020B0503020204020204" charset="-122"/>
                <a:ea typeface="Microsoft YaHei" panose="020B0503020204020204" charset="-122"/>
              </a:rPr>
              <a:t>借鉴 experience-driven self-evolution 框架，在 OpenSpec 工作流中引入 spec 质量闭环反馈机制：</a:t>
            </a:r>
            <a:endParaRPr lang="zh-CN" sz="1300" b="1">
              <a:solidFill>
                <a:srgbClr val="E86C00"/>
              </a:solidFill>
              <a:latin typeface="Microsoft YaHei" panose="020B0503020204020204" charset="-122"/>
              <a:ea typeface="Microsoft YaHei" panose="020B0503020204020204" charset="-122"/>
            </a:endParaRPr>
          </a:p>
          <a:p>
            <a:pPr marL="285750" indent="-285750">
              <a:buFont typeface="Arial" panose="020B0604020202020204" pitchFamily="34" charset="0"/>
              <a:buChar char="•"/>
            </a:pPr>
            <a:r>
              <a:rPr sz="1300" b="0">
                <a:solidFill>
                  <a:srgbClr val="333333"/>
                </a:solidFill>
                <a:latin typeface="Microsoft YaHei" panose="020B0503020204020204" charset="-122"/>
                <a:ea typeface="Microsoft YaHei" panose="020B0503020204020204" charset="-122"/>
              </a:rPr>
              <a:t>每次 Apply → Verify 循环，自动记录哪些 spec 写法导致了高质量实现，哪些导致了返工</a:t>
            </a:r>
            <a:endParaRPr sz="1300" b="0">
              <a:solidFill>
                <a:srgbClr val="333333"/>
              </a:solidFill>
            </a:endParaRPr>
          </a:p>
          <a:p>
            <a:pPr marL="285750" indent="-285750">
              <a:buFont typeface="Arial" panose="020B0604020202020204" pitchFamily="34" charset="0"/>
              <a:buChar char="•"/>
            </a:pPr>
            <a:r>
              <a:rPr sz="1300" b="0">
                <a:solidFill>
                  <a:srgbClr val="333333"/>
                </a:solidFill>
                <a:latin typeface="Microsoft YaHei" panose="020B0503020204020204" charset="-122"/>
                <a:ea typeface="Microsoft YaHei" panose="020B0503020204020204" charset="-122"/>
              </a:rPr>
              <a:t>蒸馏出Spec实践原则</a:t>
            </a:r>
            <a:r>
              <a:rPr lang="en-US" sz="1300" b="0">
                <a:solidFill>
                  <a:srgbClr val="333333"/>
                </a:solidFill>
                <a:latin typeface="Microsoft YaHei" panose="020B0503020204020204" charset="-122"/>
                <a:ea typeface="Microsoft YaHei" panose="020B0503020204020204" charset="-122"/>
              </a:rPr>
              <a:t> </a:t>
            </a:r>
            <a:r>
              <a:rPr lang="zh-CN" altLang="en-US" sz="1300" b="0">
                <a:solidFill>
                  <a:srgbClr val="333333"/>
                </a:solidFill>
                <a:latin typeface="Microsoft YaHei" panose="020B0503020204020204" charset="-122"/>
                <a:ea typeface="Microsoft YaHei" panose="020B0503020204020204" charset="-122"/>
              </a:rPr>
              <a:t>比</a:t>
            </a:r>
            <a:r>
              <a:rPr sz="1300" b="0">
                <a:solidFill>
                  <a:srgbClr val="333333"/>
                </a:solidFill>
                <a:latin typeface="Microsoft YaHei" panose="020B0503020204020204" charset="-122"/>
                <a:ea typeface="Microsoft YaHei" panose="020B0503020204020204" charset="-122"/>
              </a:rPr>
              <a:t>如：金融领域的风控 spec 必须包含 X</a:t>
            </a:r>
            <a:r>
              <a:rPr lang="en-US" sz="1300" b="0">
                <a:solidFill>
                  <a:srgbClr val="333333"/>
                </a:solidFill>
                <a:latin typeface="Microsoft YaHei" panose="020B0503020204020204" charset="-122"/>
                <a:ea typeface="Microsoft YaHei" panose="020B0503020204020204" charset="-122"/>
              </a:rPr>
              <a:t> </a:t>
            </a:r>
            <a:r>
              <a:rPr sz="1300" b="0">
                <a:solidFill>
                  <a:srgbClr val="333333"/>
                </a:solidFill>
                <a:latin typeface="Microsoft YaHei" panose="020B0503020204020204" charset="-122"/>
                <a:ea typeface="Microsoft YaHei" panose="020B0503020204020204" charset="-122"/>
              </a:rPr>
              <a:t>Y</a:t>
            </a:r>
            <a:r>
              <a:rPr lang="en-US" sz="1300" b="0">
                <a:solidFill>
                  <a:srgbClr val="333333"/>
                </a:solidFill>
                <a:latin typeface="Microsoft YaHei" panose="020B0503020204020204" charset="-122"/>
                <a:ea typeface="Microsoft YaHei" panose="020B0503020204020204" charset="-122"/>
              </a:rPr>
              <a:t> </a:t>
            </a:r>
            <a:r>
              <a:rPr sz="1300" b="0">
                <a:solidFill>
                  <a:srgbClr val="333333"/>
                </a:solidFill>
                <a:latin typeface="Microsoft YaHei" panose="020B0503020204020204" charset="-122"/>
                <a:ea typeface="Microsoft YaHei" panose="020B0503020204020204" charset="-122"/>
              </a:rPr>
              <a:t>Z</a:t>
            </a:r>
            <a:r>
              <a:rPr lang="zh-CN" sz="1300" b="0">
                <a:solidFill>
                  <a:srgbClr val="333333"/>
                </a:solidFill>
                <a:latin typeface="Microsoft YaHei" panose="020B0503020204020204" charset="-122"/>
                <a:ea typeface="Microsoft YaHei" panose="020B0503020204020204" charset="-122"/>
              </a:rPr>
              <a:t>等信息</a:t>
            </a:r>
            <a:r>
              <a:rPr sz="1300" b="0">
                <a:solidFill>
                  <a:srgbClr val="333333"/>
                </a:solidFill>
                <a:latin typeface="Microsoft YaHei" panose="020B0503020204020204" charset="-122"/>
                <a:ea typeface="Microsoft YaHei" panose="020B0503020204020204" charset="-122"/>
              </a:rPr>
              <a:t>才能让 Agent</a:t>
            </a:r>
            <a:r>
              <a:rPr lang="zh-CN" sz="1300" b="0">
                <a:solidFill>
                  <a:srgbClr val="333333"/>
                </a:solidFill>
                <a:latin typeface="Microsoft YaHei" panose="020B0503020204020204" charset="-122"/>
                <a:ea typeface="Microsoft YaHei" panose="020B0503020204020204" charset="-122"/>
              </a:rPr>
              <a:t>正确生成</a:t>
            </a:r>
            <a:r>
              <a:rPr lang="en-US" altLang="zh-CN" sz="1300" b="0">
                <a:solidFill>
                  <a:srgbClr val="333333"/>
                </a:solidFill>
                <a:latin typeface="Microsoft YaHei" panose="020B0503020204020204" charset="-122"/>
                <a:ea typeface="Microsoft YaHei" panose="020B0503020204020204" charset="-122"/>
              </a:rPr>
              <a:t>code</a:t>
            </a:r>
            <a:endParaRPr sz="1300" b="0">
              <a:solidFill>
                <a:srgbClr val="333333"/>
              </a:solidFill>
            </a:endParaRPr>
          </a:p>
          <a:p>
            <a:pPr marL="285750" indent="-285750">
              <a:buFont typeface="Arial" panose="020B0604020202020204" pitchFamily="34" charset="0"/>
              <a:buChar char="•"/>
            </a:pPr>
            <a:r>
              <a:rPr sz="1300" b="0">
                <a:solidFill>
                  <a:srgbClr val="333333"/>
                </a:solidFill>
                <a:latin typeface="Microsoft YaHei" panose="020B0503020204020204" charset="-122"/>
                <a:ea typeface="Microsoft YaHei" panose="020B0503020204020204" charset="-122"/>
              </a:rPr>
              <a:t>下次创建 spec 时，系统主动检索并注入相关原则</a:t>
            </a:r>
            <a:endParaRPr sz="1300" b="0">
              <a:solidFill>
                <a:srgbClr val="333333"/>
              </a:solidFill>
            </a:endParaRPr>
          </a:p>
          <a:p>
            <a:endParaRPr sz="1300" b="0">
              <a:solidFill>
                <a:srgbClr val="333333"/>
              </a:solidFill>
            </a:endParaRPr>
          </a:p>
        </p:txBody>
      </p:sp>
      <p:sp>
        <p:nvSpPr>
          <p:cNvPr id="6" name="Rounded Rectangle 5"/>
          <p:cNvSpPr/>
          <p:nvPr/>
        </p:nvSpPr>
        <p:spPr>
          <a:xfrm>
            <a:off x="6492240" y="1005840"/>
            <a:ext cx="4206240" cy="4389120"/>
          </a:xfrm>
          <a:prstGeom prst="round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5760720"/>
            <a:ext cx="9601200" cy="594360"/>
          </a:xfrm>
          <a:prstGeom prst="rect">
            <a:avLst/>
          </a:prstGeom>
          <a:noFill/>
        </p:spPr>
        <p:txBody>
          <a:bodyPr wrap="square">
            <a:spAutoFit/>
          </a:bodyPr>
          <a:lstStyle/>
          <a:p>
            <a:pPr algn="l">
              <a:spcAft>
                <a:spcPts val="400"/>
              </a:spcAft>
            </a:pPr>
            <a:r>
              <a:rPr sz="1000">
                <a:solidFill>
                  <a:srgbClr val="333333"/>
                </a:solidFill>
                <a:latin typeface="Microsoft YaHei" panose="020B0503020204020204" charset="-122"/>
                <a:ea typeface="Microsoft YaHei" panose="020B0503020204020204" charset="-122"/>
              </a:rPr>
              <a:t>学术依据：EvolveR [Wu et al., arXiv:2510.16079] LLM Agent 经验蒸馏自进化框架 | 自进化 Agent 综述 [Gao et al., arXiv:2507.21046; Tao et al., arXiv:2508.07407]    应用前景：经验积累效应 | 经验沉淀形成领域资产 | 与 Domain Packs 差异化互补</a:t>
            </a:r>
            <a:endParaRPr sz="1400" b="1">
              <a:solidFill>
                <a:srgbClr val="E86C00"/>
              </a:solidFill>
              <a:latin typeface="Microsoft YaHei" panose="020B0503020204020204" charset="-122"/>
            </a:endParaRPr>
          </a:p>
        </p:txBody>
      </p:sp>
      <p:sp>
        <p:nvSpPr>
          <p:cNvPr id="8" name="Rectangle 7"/>
          <p:cNvSpPr/>
          <p:nvPr/>
        </p:nvSpPr>
        <p:spPr>
          <a:xfrm>
            <a:off x="548640" y="5669280"/>
            <a:ext cx="10058400" cy="50800"/>
          </a:xfrm>
          <a:prstGeom prst="rect">
            <a:avLst/>
          </a:prstGeom>
          <a:solidFill>
            <a:srgbClr val="E8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6264910"/>
            <a:ext cx="10058400" cy="365760"/>
          </a:xfrm>
          <a:prstGeom prst="rect">
            <a:avLst/>
          </a:prstGeom>
          <a:noFill/>
        </p:spPr>
        <p:txBody>
          <a:bodyPr wrap="square">
            <a:spAutoFit/>
          </a:bodyPr>
          <a:lstStyle/>
          <a:p>
            <a:pPr algn="l"/>
            <a:r>
              <a:rPr sz="1200" b="0">
                <a:solidFill>
                  <a:srgbClr val="999999"/>
                </a:solidFill>
                <a:latin typeface="Microsoft YaHei" panose="020B0503020204020204" charset="-122"/>
                <a:ea typeface="Microsoft YaHei" panose="020B0503020204020204" charset="-122"/>
              </a:rPr>
              <a:t>实施路径：Apply/Verify 日志采集 → 经验提炼引擎 → 原则库建设 → Spec 创建时自动注入 → 效果评估与迭代</a:t>
            </a:r>
            <a:endParaRPr sz="1200" b="0">
              <a:solidFill>
                <a:srgbClr val="999999"/>
              </a:solidFill>
              <a:latin typeface="Microsoft YaHei" panose="020B0503020204020204" charset="-122"/>
            </a:endParaRPr>
          </a:p>
        </p:txBody>
      </p:sp>
      <p:sp>
        <p:nvSpPr>
          <p:cNvPr id="10" name="TextBox 9"/>
          <p:cNvSpPr txBox="1"/>
          <p:nvPr/>
        </p:nvSpPr>
        <p:spPr>
          <a:xfrm>
            <a:off x="11094085" y="6400800"/>
            <a:ext cx="914400" cy="365760"/>
          </a:xfrm>
          <a:prstGeom prst="rect">
            <a:avLst/>
          </a:prstGeom>
          <a:noFill/>
        </p:spPr>
        <p:txBody>
          <a:bodyPr wrap="square">
            <a:spAutoFit/>
          </a:bodyPr>
          <a:lstStyle/>
          <a:p>
            <a:pPr algn="r"/>
            <a:r>
              <a:rPr sz="1100" b="0">
                <a:solidFill>
                  <a:srgbClr val="999999"/>
                </a:solidFill>
                <a:latin typeface="Microsoft YaHei" panose="020B0503020204020204" charset="-122"/>
                <a:ea typeface="Microsoft YaHei" panose="020B0503020204020204" charset="-122"/>
              </a:rPr>
              <a:t>23/41</a:t>
            </a:r>
            <a:endParaRPr sz="1100" b="0">
              <a:solidFill>
                <a:srgbClr val="999999"/>
              </a:solidFill>
              <a:latin typeface="Microsoft YaHei" panose="020B0503020204020204" charset="-122"/>
            </a:endParaRPr>
          </a:p>
        </p:txBody>
      </p:sp>
      <p:sp>
        <p:nvSpPr>
          <p:cNvPr id="11" name="Rounded Rectangle 10"/>
          <p:cNvSpPr/>
          <p:nvPr/>
        </p:nvSpPr>
        <p:spPr>
          <a:xfrm>
            <a:off x="5760720" y="960120"/>
            <a:ext cx="5486400" cy="4480560"/>
          </a:xfrm>
          <a:prstGeom prst="roundRect">
            <a:avLst/>
          </a:prstGeom>
          <a:solidFill>
            <a:srgbClr val="F8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0" y="1005840"/>
            <a:ext cx="2743200" cy="274320"/>
          </a:xfrm>
          <a:prstGeom prst="rect">
            <a:avLst/>
          </a:prstGeom>
          <a:noFill/>
        </p:spPr>
        <p:txBody>
          <a:bodyPr wrap="square">
            <a:spAutoFit/>
          </a:bodyPr>
          <a:lstStyle/>
          <a:p>
            <a:r>
              <a:rPr sz="1200" b="1">
                <a:solidFill>
                  <a:srgbClr val="999999"/>
                </a:solidFill>
                <a:latin typeface="Microsoft YaHei" panose="020B0503020204020204" charset="-122"/>
                <a:ea typeface="Microsoft YaHei" panose="020B0503020204020204" charset="-122"/>
              </a:rPr>
              <a:t>经验积累循环示意图</a:t>
            </a:r>
            <a:endParaRPr sz="1200" b="1">
              <a:solidFill>
                <a:srgbClr val="999999"/>
              </a:solidFill>
            </a:endParaRPr>
          </a:p>
        </p:txBody>
      </p:sp>
      <p:sp>
        <p:nvSpPr>
          <p:cNvPr id="13" name="Rounded Rectangle 12"/>
          <p:cNvSpPr/>
          <p:nvPr/>
        </p:nvSpPr>
        <p:spPr>
          <a:xfrm>
            <a:off x="7795260" y="1348740"/>
            <a:ext cx="1417320" cy="594360"/>
          </a:xfrm>
          <a:prstGeom prst="roundRect">
            <a:avLst/>
          </a:prstGeom>
          <a:solidFill>
            <a:srgbClr val="FF8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40980" y="1367028"/>
            <a:ext cx="1325880" cy="557784"/>
          </a:xfrm>
          <a:prstGeom prst="rect">
            <a:avLst/>
          </a:prstGeom>
          <a:noFill/>
        </p:spPr>
        <p:txBody>
          <a:bodyPr wrap="square">
            <a:spAutoFit/>
          </a:bodyPr>
          <a:lstStyle/>
          <a:p>
            <a:pPr algn="ctr"/>
            <a:r>
              <a:rPr sz="1100" b="1">
                <a:solidFill>
                  <a:srgbClr val="FFFFFF"/>
                </a:solidFill>
                <a:latin typeface="Microsoft YaHei" panose="020B0503020204020204" charset="-122"/>
                <a:ea typeface="Microsoft YaHei" panose="020B0503020204020204" charset="-122"/>
              </a:rPr>
              <a:t>① 创建 Spec</a:t>
            </a:r>
            <a:endParaRPr sz="1100" b="1">
              <a:solidFill>
                <a:srgbClr val="FFFFFF"/>
              </a:solidFill>
            </a:endParaRPr>
          </a:p>
          <a:p>
            <a:pPr algn="ctr"/>
            <a:r>
              <a:rPr sz="900" b="0">
                <a:solidFill>
                  <a:srgbClr val="EEEEEE"/>
                </a:solidFill>
                <a:latin typeface="Microsoft YaHei" panose="020B0503020204020204" charset="-122"/>
                <a:ea typeface="Microsoft YaHei" panose="020B0503020204020204" charset="-122"/>
              </a:rPr>
              <a:t>自动注入原则</a:t>
            </a:r>
            <a:endParaRPr sz="900" b="0">
              <a:solidFill>
                <a:srgbClr val="EEEEEE"/>
              </a:solidFill>
            </a:endParaRPr>
          </a:p>
        </p:txBody>
      </p:sp>
      <p:sp>
        <p:nvSpPr>
          <p:cNvPr id="15" name="Rounded Rectangle 14"/>
          <p:cNvSpPr/>
          <p:nvPr/>
        </p:nvSpPr>
        <p:spPr>
          <a:xfrm>
            <a:off x="9143211" y="2328084"/>
            <a:ext cx="1417320" cy="594360"/>
          </a:xfrm>
          <a:prstGeom prst="round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88931" y="2346372"/>
            <a:ext cx="1325880" cy="557784"/>
          </a:xfrm>
          <a:prstGeom prst="rect">
            <a:avLst/>
          </a:prstGeom>
          <a:noFill/>
        </p:spPr>
        <p:txBody>
          <a:bodyPr wrap="square">
            <a:spAutoFit/>
          </a:bodyPr>
          <a:lstStyle/>
          <a:p>
            <a:pPr algn="ctr"/>
            <a:r>
              <a:rPr sz="1100" b="1">
                <a:solidFill>
                  <a:srgbClr val="FFFFFF"/>
                </a:solidFill>
                <a:latin typeface="Microsoft YaHei" panose="020B0503020204020204" charset="-122"/>
                <a:ea typeface="Microsoft YaHei" panose="020B0503020204020204" charset="-122"/>
              </a:rPr>
              <a:t>② Apply</a:t>
            </a:r>
            <a:endParaRPr sz="1100" b="1">
              <a:solidFill>
                <a:srgbClr val="FFFFFF"/>
              </a:solidFill>
            </a:endParaRPr>
          </a:p>
          <a:p>
            <a:pPr algn="ctr"/>
            <a:r>
              <a:rPr sz="900" b="0">
                <a:solidFill>
                  <a:srgbClr val="EEEEEE"/>
                </a:solidFill>
                <a:latin typeface="Microsoft YaHei" panose="020B0503020204020204" charset="-122"/>
                <a:ea typeface="Microsoft YaHei" panose="020B0503020204020204" charset="-122"/>
              </a:rPr>
              <a:t>按 spec 实现</a:t>
            </a:r>
            <a:endParaRPr sz="900" b="0">
              <a:solidFill>
                <a:srgbClr val="EEEEEE"/>
              </a:solidFill>
            </a:endParaRPr>
          </a:p>
        </p:txBody>
      </p:sp>
      <p:sp>
        <p:nvSpPr>
          <p:cNvPr id="17" name="Rounded Rectangle 16"/>
          <p:cNvSpPr/>
          <p:nvPr/>
        </p:nvSpPr>
        <p:spPr>
          <a:xfrm>
            <a:off x="8628339" y="3912695"/>
            <a:ext cx="1417320" cy="59436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74059" y="3930983"/>
            <a:ext cx="1325880" cy="557784"/>
          </a:xfrm>
          <a:prstGeom prst="rect">
            <a:avLst/>
          </a:prstGeom>
          <a:noFill/>
        </p:spPr>
        <p:txBody>
          <a:bodyPr wrap="square">
            <a:spAutoFit/>
          </a:bodyPr>
          <a:lstStyle/>
          <a:p>
            <a:pPr algn="ctr"/>
            <a:r>
              <a:rPr sz="1100" b="1">
                <a:solidFill>
                  <a:srgbClr val="FFFFFF"/>
                </a:solidFill>
                <a:latin typeface="Microsoft YaHei" panose="020B0503020204020204" charset="-122"/>
                <a:ea typeface="Microsoft YaHei" panose="020B0503020204020204" charset="-122"/>
              </a:rPr>
              <a:t>③ Verify</a:t>
            </a:r>
            <a:endParaRPr sz="1100" b="1">
              <a:solidFill>
                <a:srgbClr val="FFFFFF"/>
              </a:solidFill>
            </a:endParaRPr>
          </a:p>
          <a:p>
            <a:pPr algn="ctr"/>
            <a:r>
              <a:rPr sz="900" b="0">
                <a:solidFill>
                  <a:srgbClr val="EEEEEE"/>
                </a:solidFill>
                <a:latin typeface="Microsoft YaHei" panose="020B0503020204020204" charset="-122"/>
                <a:ea typeface="Microsoft YaHei" panose="020B0503020204020204" charset="-122"/>
              </a:rPr>
              <a:t>对照 spec 验证</a:t>
            </a:r>
            <a:endParaRPr sz="900" b="0">
              <a:solidFill>
                <a:srgbClr val="EEEEEE"/>
              </a:solidFill>
            </a:endParaRPr>
          </a:p>
        </p:txBody>
      </p:sp>
      <p:sp>
        <p:nvSpPr>
          <p:cNvPr id="19" name="Rounded Rectangle 18"/>
          <p:cNvSpPr/>
          <p:nvPr/>
        </p:nvSpPr>
        <p:spPr>
          <a:xfrm>
            <a:off x="6962180" y="3912695"/>
            <a:ext cx="1417320" cy="594360"/>
          </a:xfrm>
          <a:prstGeom prst="round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07900" y="3930983"/>
            <a:ext cx="1325880" cy="557784"/>
          </a:xfrm>
          <a:prstGeom prst="rect">
            <a:avLst/>
          </a:prstGeom>
          <a:noFill/>
        </p:spPr>
        <p:txBody>
          <a:bodyPr wrap="square">
            <a:spAutoFit/>
          </a:bodyPr>
          <a:lstStyle/>
          <a:p>
            <a:pPr algn="ctr"/>
            <a:r>
              <a:rPr sz="1100" b="1">
                <a:solidFill>
                  <a:srgbClr val="FFFFFF"/>
                </a:solidFill>
                <a:latin typeface="Microsoft YaHei" panose="020B0503020204020204" charset="-122"/>
                <a:ea typeface="Microsoft YaHei" panose="020B0503020204020204" charset="-122"/>
              </a:rPr>
              <a:t>④ 记录</a:t>
            </a:r>
            <a:endParaRPr sz="1100" b="1">
              <a:solidFill>
                <a:srgbClr val="FFFFFF"/>
              </a:solidFill>
            </a:endParaRPr>
          </a:p>
          <a:p>
            <a:pPr algn="ctr"/>
            <a:r>
              <a:rPr sz="900" b="0">
                <a:solidFill>
                  <a:srgbClr val="EEEEEE"/>
                </a:solidFill>
                <a:latin typeface="Microsoft YaHei" panose="020B0503020204020204" charset="-122"/>
                <a:ea typeface="Microsoft YaHei" panose="020B0503020204020204" charset="-122"/>
              </a:rPr>
              <a:t>哪些写法效果好/差</a:t>
            </a:r>
            <a:endParaRPr sz="900" b="0">
              <a:solidFill>
                <a:srgbClr val="EEEEEE"/>
              </a:solidFill>
            </a:endParaRPr>
          </a:p>
        </p:txBody>
      </p:sp>
      <p:sp>
        <p:nvSpPr>
          <p:cNvPr id="21" name="Rounded Rectangle 20"/>
          <p:cNvSpPr/>
          <p:nvPr/>
        </p:nvSpPr>
        <p:spPr>
          <a:xfrm>
            <a:off x="6447308" y="2328084"/>
            <a:ext cx="1417320" cy="59436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3028" y="2346372"/>
            <a:ext cx="1325880" cy="557784"/>
          </a:xfrm>
          <a:prstGeom prst="rect">
            <a:avLst/>
          </a:prstGeom>
          <a:noFill/>
        </p:spPr>
        <p:txBody>
          <a:bodyPr wrap="square">
            <a:spAutoFit/>
          </a:bodyPr>
          <a:lstStyle/>
          <a:p>
            <a:pPr algn="ctr"/>
            <a:r>
              <a:rPr sz="1100" b="1">
                <a:solidFill>
                  <a:srgbClr val="FFFFFF"/>
                </a:solidFill>
                <a:latin typeface="Microsoft YaHei" panose="020B0503020204020204" charset="-122"/>
                <a:ea typeface="Microsoft YaHei" panose="020B0503020204020204" charset="-122"/>
              </a:rPr>
              <a:t>⑤ 蒸馏</a:t>
            </a:r>
            <a:endParaRPr sz="1100" b="1">
              <a:solidFill>
                <a:srgbClr val="FFFFFF"/>
              </a:solidFill>
            </a:endParaRPr>
          </a:p>
          <a:p>
            <a:pPr algn="ctr"/>
            <a:r>
              <a:rPr sz="900" b="0">
                <a:solidFill>
                  <a:srgbClr val="EEEEEE"/>
                </a:solidFill>
                <a:latin typeface="Microsoft YaHei" panose="020B0503020204020204" charset="-122"/>
                <a:ea typeface="Microsoft YaHei" panose="020B0503020204020204" charset="-122"/>
              </a:rPr>
              <a:t>提炼最佳实践原则</a:t>
            </a:r>
            <a:endParaRPr sz="900" b="0">
              <a:solidFill>
                <a:srgbClr val="EEEEEE"/>
              </a:solidFill>
            </a:endParaRPr>
          </a:p>
        </p:txBody>
      </p:sp>
      <p:sp>
        <p:nvSpPr>
          <p:cNvPr id="23" name="TextBox 22"/>
          <p:cNvSpPr txBox="1"/>
          <p:nvPr/>
        </p:nvSpPr>
        <p:spPr>
          <a:xfrm>
            <a:off x="9040735" y="1998432"/>
            <a:ext cx="274320" cy="274320"/>
          </a:xfrm>
          <a:prstGeom prst="rect">
            <a:avLst/>
          </a:prstGeom>
          <a:noFill/>
        </p:spPr>
        <p:txBody>
          <a:bodyPr wrap="none">
            <a:spAutoFit/>
          </a:bodyPr>
          <a:lstStyle/>
          <a:p>
            <a:pPr algn="ctr"/>
            <a:r>
              <a:rPr sz="1800" b="1">
                <a:solidFill>
                  <a:srgbClr val="AAAAAA"/>
                </a:solidFill>
                <a:latin typeface="Microsoft YaHei" panose="020B0503020204020204" charset="-122"/>
                <a:ea typeface="Microsoft YaHei" panose="020B0503020204020204" charset="-122"/>
              </a:rPr>
              <a:t>↘</a:t>
            </a:r>
            <a:endParaRPr sz="1800" b="1">
              <a:solidFill>
                <a:srgbClr val="AAAAAA"/>
              </a:solidFill>
            </a:endParaRPr>
          </a:p>
        </p:txBody>
      </p:sp>
      <p:sp>
        <p:nvSpPr>
          <p:cNvPr id="24" name="TextBox 23"/>
          <p:cNvSpPr txBox="1"/>
          <p:nvPr/>
        </p:nvSpPr>
        <p:spPr>
          <a:xfrm>
            <a:off x="9457275" y="3280410"/>
            <a:ext cx="274320" cy="274320"/>
          </a:xfrm>
          <a:prstGeom prst="rect">
            <a:avLst/>
          </a:prstGeom>
          <a:noFill/>
        </p:spPr>
        <p:txBody>
          <a:bodyPr wrap="none">
            <a:spAutoFit/>
          </a:bodyPr>
          <a:lstStyle/>
          <a:p>
            <a:pPr algn="ctr"/>
            <a:r>
              <a:rPr sz="1800" b="1">
                <a:solidFill>
                  <a:srgbClr val="AAAAAA"/>
                </a:solidFill>
                <a:latin typeface="Microsoft YaHei" panose="020B0503020204020204" charset="-122"/>
                <a:ea typeface="Microsoft YaHei" panose="020B0503020204020204" charset="-122"/>
              </a:rPr>
              <a:t>↙</a:t>
            </a:r>
            <a:endParaRPr sz="1800" b="1">
              <a:solidFill>
                <a:srgbClr val="AAAAAA"/>
              </a:solidFill>
            </a:endParaRPr>
          </a:p>
        </p:txBody>
      </p:sp>
      <p:sp>
        <p:nvSpPr>
          <p:cNvPr id="25" name="TextBox 24"/>
          <p:cNvSpPr txBox="1"/>
          <p:nvPr/>
        </p:nvSpPr>
        <p:spPr>
          <a:xfrm>
            <a:off x="8366760" y="4072715"/>
            <a:ext cx="274320" cy="274320"/>
          </a:xfrm>
          <a:prstGeom prst="rect">
            <a:avLst/>
          </a:prstGeom>
          <a:noFill/>
        </p:spPr>
        <p:txBody>
          <a:bodyPr wrap="none">
            <a:spAutoFit/>
          </a:bodyPr>
          <a:lstStyle/>
          <a:p>
            <a:pPr algn="ctr"/>
            <a:r>
              <a:rPr sz="1800" b="1">
                <a:solidFill>
                  <a:srgbClr val="AAAAAA"/>
                </a:solidFill>
                <a:latin typeface="Microsoft YaHei" panose="020B0503020204020204" charset="-122"/>
                <a:ea typeface="Microsoft YaHei" panose="020B0503020204020204" charset="-122"/>
              </a:rPr>
              <a:t>←</a:t>
            </a:r>
            <a:endParaRPr sz="1800" b="1">
              <a:solidFill>
                <a:srgbClr val="AAAAAA"/>
              </a:solidFill>
            </a:endParaRPr>
          </a:p>
        </p:txBody>
      </p:sp>
      <p:sp>
        <p:nvSpPr>
          <p:cNvPr id="26" name="TextBox 25"/>
          <p:cNvSpPr txBox="1"/>
          <p:nvPr/>
        </p:nvSpPr>
        <p:spPr>
          <a:xfrm>
            <a:off x="7276244" y="3280410"/>
            <a:ext cx="274320" cy="274320"/>
          </a:xfrm>
          <a:prstGeom prst="rect">
            <a:avLst/>
          </a:prstGeom>
          <a:noFill/>
        </p:spPr>
        <p:txBody>
          <a:bodyPr wrap="none">
            <a:spAutoFit/>
          </a:bodyPr>
          <a:lstStyle/>
          <a:p>
            <a:pPr algn="ctr"/>
            <a:r>
              <a:rPr sz="1800" b="1">
                <a:solidFill>
                  <a:srgbClr val="AAAAAA"/>
                </a:solidFill>
                <a:latin typeface="Microsoft YaHei" panose="020B0503020204020204" charset="-122"/>
                <a:ea typeface="Microsoft YaHei" panose="020B0503020204020204" charset="-122"/>
              </a:rPr>
              <a:t>↖</a:t>
            </a:r>
            <a:endParaRPr sz="1800" b="1">
              <a:solidFill>
                <a:srgbClr val="AAAAAA"/>
              </a:solidFill>
            </a:endParaRPr>
          </a:p>
        </p:txBody>
      </p:sp>
      <p:sp>
        <p:nvSpPr>
          <p:cNvPr id="27" name="TextBox 26"/>
          <p:cNvSpPr txBox="1"/>
          <p:nvPr/>
        </p:nvSpPr>
        <p:spPr>
          <a:xfrm>
            <a:off x="7692784" y="1998432"/>
            <a:ext cx="274320" cy="274320"/>
          </a:xfrm>
          <a:prstGeom prst="rect">
            <a:avLst/>
          </a:prstGeom>
          <a:noFill/>
        </p:spPr>
        <p:txBody>
          <a:bodyPr wrap="none">
            <a:spAutoFit/>
          </a:bodyPr>
          <a:lstStyle/>
          <a:p>
            <a:pPr algn="ctr"/>
            <a:r>
              <a:rPr sz="1800" b="1">
                <a:solidFill>
                  <a:srgbClr val="AAAAAA"/>
                </a:solidFill>
                <a:latin typeface="Microsoft YaHei" panose="020B0503020204020204" charset="-122"/>
                <a:ea typeface="Microsoft YaHei" panose="020B0503020204020204" charset="-122"/>
              </a:rPr>
              <a:t>↗</a:t>
            </a:r>
            <a:endParaRPr sz="1800" b="1">
              <a:solidFill>
                <a:srgbClr val="AAAAAA"/>
              </a:solidFill>
            </a:endParaRPr>
          </a:p>
        </p:txBody>
      </p:sp>
      <p:sp>
        <p:nvSpPr>
          <p:cNvPr id="28" name="Oval 27"/>
          <p:cNvSpPr/>
          <p:nvPr/>
        </p:nvSpPr>
        <p:spPr>
          <a:xfrm>
            <a:off x="7909560" y="2560320"/>
            <a:ext cx="1188720" cy="1005840"/>
          </a:xfrm>
          <a:prstGeom prst="ellipse">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55280" y="2651760"/>
            <a:ext cx="1097280" cy="822960"/>
          </a:xfrm>
          <a:prstGeom prst="rect">
            <a:avLst/>
          </a:prstGeom>
          <a:noFill/>
        </p:spPr>
        <p:txBody>
          <a:bodyPr wrap="square">
            <a:spAutoFit/>
          </a:bodyPr>
          <a:lstStyle/>
          <a:p>
            <a:pPr algn="ctr"/>
            <a:r>
              <a:rPr sz="1300" b="1">
                <a:solidFill>
                  <a:srgbClr val="FF8C00"/>
                </a:solidFill>
                <a:latin typeface="Microsoft YaHei" panose="020B0503020204020204" charset="-122"/>
                <a:ea typeface="Microsoft YaHei" panose="020B0503020204020204" charset="-122"/>
              </a:rPr>
              <a:t>经验积累循环</a:t>
            </a:r>
            <a:endParaRPr sz="1300" b="1">
              <a:solidFill>
                <a:srgbClr val="FF8C00"/>
              </a:solidFill>
            </a:endParaRPr>
          </a:p>
          <a:p>
            <a:pPr algn="ctr"/>
            <a:r>
              <a:rPr sz="1100" b="0">
                <a:solidFill>
                  <a:srgbClr val="CCCCCC"/>
                </a:solidFill>
                <a:latin typeface="Microsoft YaHei" panose="020B0503020204020204" charset="-122"/>
                <a:ea typeface="Microsoft YaHei" panose="020B0503020204020204" charset="-122"/>
              </a:rPr>
              <a:t>持续优化</a:t>
            </a:r>
            <a:endParaRPr sz="1100" b="0">
              <a:solidFill>
                <a:srgbClr val="CCCCCC"/>
              </a:solidFill>
            </a:endParaRPr>
          </a:p>
        </p:txBody>
      </p:sp>
      <p:sp>
        <p:nvSpPr>
          <p:cNvPr id="30" name="TextBox 29"/>
          <p:cNvSpPr txBox="1"/>
          <p:nvPr/>
        </p:nvSpPr>
        <p:spPr>
          <a:xfrm>
            <a:off x="8869680" y="4983480"/>
            <a:ext cx="2286000" cy="274320"/>
          </a:xfrm>
          <a:prstGeom prst="rect">
            <a:avLst/>
          </a:prstGeom>
          <a:noFill/>
        </p:spPr>
        <p:txBody>
          <a:bodyPr wrap="square">
            <a:spAutoFit/>
          </a:bodyPr>
          <a:lstStyle/>
          <a:p>
            <a:pPr algn="r"/>
            <a:r>
              <a:rPr sz="1000" b="0">
                <a:solidFill>
                  <a:srgbClr val="999999"/>
                </a:solidFill>
                <a:latin typeface="Microsoft YaHei" panose="020B0503020204020204" charset="-122"/>
                <a:ea typeface="Microsoft YaHei" panose="020B0503020204020204" charset="-122"/>
              </a:rPr>
              <a:t>每个循环积累的经验提升后续 Spec 质量</a:t>
            </a:r>
            <a:endParaRPr sz="1000" b="0">
              <a:solidFill>
                <a:srgbClr val="999999"/>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48640" y="274320"/>
            <a:ext cx="9502775" cy="460375"/>
          </a:xfrm>
          <a:prstGeom prst="rect">
            <a:avLst/>
          </a:prstGeom>
          <a:noFill/>
        </p:spPr>
        <p:txBody>
          <a:bodyPr wrap="square">
            <a:spAutoFit/>
          </a:bodyPr>
          <a:lstStyle/>
          <a:p>
            <a:pPr algn="l"/>
            <a:r>
              <a:rPr lang="zh-CN" sz="2400" b="1">
                <a:solidFill>
                  <a:srgbClr val="333333"/>
                </a:solidFill>
                <a:latin typeface="Microsoft YaHei" panose="020B0503020204020204" charset="-122"/>
                <a:ea typeface="Microsoft YaHei" panose="020B0503020204020204" charset="-122"/>
              </a:rPr>
              <a:t>潜在研究</a:t>
            </a:r>
            <a:r>
              <a:rPr sz="2400" b="1">
                <a:solidFill>
                  <a:srgbClr val="333333"/>
                </a:solidFill>
                <a:latin typeface="Microsoft YaHei" panose="020B0503020204020204" charset="-122"/>
                <a:ea typeface="Microsoft YaHei" panose="020B0503020204020204" charset="-122"/>
              </a:rPr>
              <a:t>方向 4：Domain-Specific Packs（领域规格智能包）</a:t>
            </a:r>
            <a:endParaRPr sz="2400" b="1">
              <a:solidFill>
                <a:srgbClr val="333333"/>
              </a:solidFill>
              <a:latin typeface="Microsoft YaHei" panose="020B0503020204020204" charset="-122"/>
            </a:endParaRPr>
          </a:p>
        </p:txBody>
      </p:sp>
      <p:sp>
        <p:nvSpPr>
          <p:cNvPr id="3" name="Rectangle 2"/>
          <p:cNvSpPr/>
          <p:nvPr/>
        </p:nvSpPr>
        <p:spPr>
          <a:xfrm>
            <a:off x="548640" y="777240"/>
            <a:ext cx="10058400" cy="50800"/>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051560"/>
            <a:ext cx="10058400" cy="1371600"/>
          </a:xfrm>
          <a:prstGeom prst="roundRect">
            <a:avLst/>
          </a:prstGeom>
          <a:solidFill>
            <a:srgbClr val="E6F7F7"/>
          </a:solidFill>
          <a:ln w="12700">
            <a:solidFill>
              <a:srgbClr val="008B8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143000"/>
            <a:ext cx="9509760" cy="1120140"/>
          </a:xfrm>
          <a:prstGeom prst="rect">
            <a:avLst/>
          </a:prstGeom>
          <a:noFill/>
        </p:spPr>
        <p:txBody>
          <a:bodyPr wrap="square">
            <a:noAutofit/>
          </a:bodyPr>
          <a:lstStyle/>
          <a:p>
            <a:pPr algn="l">
              <a:spcAft>
                <a:spcPts val="400"/>
              </a:spcAft>
            </a:pPr>
            <a:endParaRPr sz="1400" b="0">
              <a:solidFill>
                <a:srgbClr val="333333"/>
              </a:solidFill>
              <a:latin typeface="Microsoft YaHei" panose="020B0503020204020204" charset="-122"/>
              <a:ea typeface="Microsoft YaHei" panose="020B0503020204020204" charset="-122"/>
            </a:endParaRPr>
          </a:p>
          <a:p>
            <a:pPr algn="l">
              <a:spcAft>
                <a:spcPts val="400"/>
              </a:spcAft>
            </a:pPr>
            <a:r>
              <a:rPr sz="1400" b="0">
                <a:solidFill>
                  <a:srgbClr val="333333"/>
                </a:solidFill>
                <a:latin typeface="Microsoft YaHei" panose="020B0503020204020204" charset="-122"/>
                <a:ea typeface="Microsoft YaHei" panose="020B0503020204020204" charset="-122"/>
              </a:rPr>
              <a:t>通用大模型擅长写代码，但不懂行业。它不知道电信系统必须符合 3GPP 标准、汽车软件必须通过 ISO 26262 认证、能源系统必须满足 IEC 62109。而</a:t>
            </a:r>
            <a:r>
              <a:rPr lang="zh-CN" sz="1400" b="0">
                <a:solidFill>
                  <a:srgbClr val="333333"/>
                </a:solidFill>
                <a:latin typeface="Microsoft YaHei" panose="020B0503020204020204" charset="-122"/>
                <a:ea typeface="Microsoft YaHei" panose="020B0503020204020204" charset="-122"/>
              </a:rPr>
              <a:t>我</a:t>
            </a:r>
            <a:r>
              <a:rPr sz="1400" b="0">
                <a:solidFill>
                  <a:srgbClr val="333333"/>
                </a:solidFill>
                <a:latin typeface="Microsoft YaHei" panose="020B0503020204020204" charset="-122"/>
                <a:ea typeface="Microsoft YaHei" panose="020B0503020204020204" charset="-122"/>
              </a:rPr>
              <a:t>司多年积累的行业 Know-How</a:t>
            </a:r>
            <a:r>
              <a:rPr lang="zh-CN" sz="1400" b="0">
                <a:solidFill>
                  <a:srgbClr val="333333"/>
                </a:solidFill>
                <a:latin typeface="Microsoft YaHei" panose="020B0503020204020204" charset="-122"/>
                <a:ea typeface="Microsoft YaHei" panose="020B0503020204020204" charset="-122"/>
              </a:rPr>
              <a:t>，</a:t>
            </a:r>
            <a:r>
              <a:rPr sz="1400" b="0">
                <a:solidFill>
                  <a:srgbClr val="333333"/>
                </a:solidFill>
                <a:latin typeface="Microsoft YaHei" panose="020B0503020204020204" charset="-122"/>
                <a:ea typeface="Microsoft YaHei" panose="020B0503020204020204" charset="-122"/>
              </a:rPr>
              <a:t>业务规则、合规标准、最佳实践</a:t>
            </a:r>
            <a:r>
              <a:rPr lang="zh-CN" sz="1400" b="0">
                <a:solidFill>
                  <a:srgbClr val="333333"/>
                </a:solidFill>
                <a:latin typeface="Microsoft YaHei" panose="020B0503020204020204" charset="-122"/>
                <a:ea typeface="Microsoft YaHei" panose="020B0503020204020204" charset="-122"/>
              </a:rPr>
              <a:t>，</a:t>
            </a:r>
            <a:r>
              <a:rPr sz="1400" b="0">
                <a:solidFill>
                  <a:srgbClr val="333333"/>
                </a:solidFill>
                <a:latin typeface="Microsoft YaHei" panose="020B0503020204020204" charset="-122"/>
                <a:ea typeface="Microsoft YaHei" panose="020B0503020204020204" charset="-122"/>
              </a:rPr>
              <a:t>恰好填补了这个空白。将这些 domain knowledge 封装成结构化的</a:t>
            </a:r>
            <a:r>
              <a:rPr lang="en-US" sz="1400" b="0">
                <a:solidFill>
                  <a:srgbClr val="333333"/>
                </a:solidFill>
                <a:latin typeface="Microsoft YaHei" panose="020B0503020204020204" charset="-122"/>
                <a:ea typeface="Microsoft YaHei" panose="020B0503020204020204" charset="-122"/>
              </a:rPr>
              <a:t> </a:t>
            </a:r>
            <a:r>
              <a:rPr sz="1400" b="0">
                <a:solidFill>
                  <a:srgbClr val="333333"/>
                </a:solidFill>
                <a:latin typeface="Microsoft YaHei" panose="020B0503020204020204" charset="-122"/>
                <a:ea typeface="Microsoft YaHei" panose="020B0503020204020204" charset="-122"/>
              </a:rPr>
              <a:t>领域规格包（Domain Pack），就是把公司的隐性知识变成可复用</a:t>
            </a:r>
            <a:r>
              <a:rPr lang="zh-CN" sz="1400" b="0">
                <a:solidFill>
                  <a:srgbClr val="333333"/>
                </a:solidFill>
                <a:latin typeface="Microsoft YaHei" panose="020B0503020204020204" charset="-122"/>
                <a:ea typeface="Microsoft YaHei" panose="020B0503020204020204" charset="-122"/>
              </a:rPr>
              <a:t>的</a:t>
            </a:r>
            <a:r>
              <a:rPr sz="1400" b="0">
                <a:solidFill>
                  <a:srgbClr val="333333"/>
                </a:solidFill>
                <a:latin typeface="Microsoft YaHei" panose="020B0503020204020204" charset="-122"/>
                <a:ea typeface="Microsoft YaHei" panose="020B0503020204020204" charset="-122"/>
              </a:rPr>
              <a:t>数字资产。</a:t>
            </a:r>
            <a:endParaRPr sz="1400" b="0">
              <a:solidFill>
                <a:srgbClr val="333333"/>
              </a:solidFill>
              <a:latin typeface="Microsoft YaHei" panose="020B0503020204020204" charset="-122"/>
            </a:endParaRPr>
          </a:p>
        </p:txBody>
      </p:sp>
      <p:sp>
        <p:nvSpPr>
          <p:cNvPr id="7" name="TextBox 6"/>
          <p:cNvSpPr txBox="1"/>
          <p:nvPr/>
        </p:nvSpPr>
        <p:spPr>
          <a:xfrm>
            <a:off x="548640" y="2606040"/>
            <a:ext cx="10058400" cy="2345690"/>
          </a:xfrm>
          <a:prstGeom prst="rect">
            <a:avLst/>
          </a:prstGeom>
          <a:noFill/>
        </p:spPr>
        <p:txBody>
          <a:bodyPr wrap="square">
            <a:spAutoFit/>
          </a:bodyPr>
          <a:lstStyle/>
          <a:p>
            <a:pPr algn="l">
              <a:spcAft>
                <a:spcPts val="600"/>
              </a:spcAft>
            </a:pPr>
            <a:r>
              <a:rPr sz="1600" b="1">
                <a:solidFill>
                  <a:srgbClr val="008B8B"/>
                </a:solidFill>
                <a:latin typeface="Microsoft YaHei" panose="020B0503020204020204" charset="-122"/>
                <a:ea typeface="Microsoft YaHei" panose="020B0503020204020204" charset="-122"/>
              </a:rPr>
              <a:t>什么是 Domain Pack？</a:t>
            </a:r>
            <a:endParaRPr sz="1600" b="1">
              <a:solidFill>
                <a:srgbClr val="008B8B"/>
              </a:solidFill>
              <a:latin typeface="Microsoft YaHei" panose="020B0503020204020204" charset="-122"/>
            </a:endParaRPr>
          </a:p>
          <a:p>
            <a:pPr algn="l">
              <a:spcAft>
                <a:spcPts val="1000"/>
              </a:spcAft>
            </a:pPr>
            <a:r>
              <a:rPr sz="1200" b="0">
                <a:solidFill>
                  <a:schemeClr val="tx1"/>
                </a:solidFill>
                <a:latin typeface="Microsoft YaHei" panose="020B0503020204020204" charset="-122"/>
                <a:ea typeface="Microsoft YaHei" panose="020B0503020204020204" charset="-122"/>
              </a:rPr>
              <a:t>一个 Domain Pack 本质上是一组行业专属的"规格模板 + 规则集 + 验证逻辑"，以 OpenSpec 的标准格式封装。当 AI 在生成需求规格和代码时，Domain Pack 会作为先验知识（prior knowledge）注入工作流，使 AI 的产出自动遵守该行业的规范和约束条件。</a:t>
            </a:r>
            <a:endParaRPr sz="1200" b="0">
              <a:solidFill>
                <a:schemeClr val="tx1"/>
              </a:solidFill>
              <a:latin typeface="Microsoft YaHei" panose="020B0503020204020204" charset="-122"/>
              <a:ea typeface="Microsoft YaHei" panose="020B0503020204020204" charset="-122"/>
            </a:endParaRPr>
          </a:p>
          <a:p>
            <a:pPr algn="l">
              <a:spcAft>
                <a:spcPts val="1000"/>
              </a:spcAft>
            </a:pPr>
            <a:endParaRPr sz="1300" b="0">
              <a:solidFill>
                <a:srgbClr val="333333"/>
              </a:solidFill>
              <a:latin typeface="Microsoft YaHei" panose="020B0503020204020204" charset="-122"/>
            </a:endParaRPr>
          </a:p>
          <a:p>
            <a:pPr algn="l">
              <a:spcAft>
                <a:spcPts val="400"/>
              </a:spcAft>
            </a:pPr>
            <a:r>
              <a:rPr sz="1300" b="1">
                <a:solidFill>
                  <a:srgbClr val="333333"/>
                </a:solidFill>
                <a:latin typeface="Microsoft YaHei" panose="020B0503020204020204" charset="-122"/>
                <a:ea typeface="Microsoft YaHei" panose="020B0503020204020204" charset="-122"/>
              </a:rPr>
              <a:t>一个 Pack</a:t>
            </a:r>
            <a:r>
              <a:rPr lang="zh-CN" sz="1300" b="1">
                <a:solidFill>
                  <a:srgbClr val="333333"/>
                </a:solidFill>
                <a:latin typeface="Microsoft YaHei" panose="020B0503020204020204" charset="-122"/>
                <a:ea typeface="Microsoft YaHei" panose="020B0503020204020204" charset="-122"/>
              </a:rPr>
              <a:t>潜在</a:t>
            </a:r>
            <a:r>
              <a:rPr sz="1300" b="1">
                <a:solidFill>
                  <a:srgbClr val="333333"/>
                </a:solidFill>
                <a:latin typeface="Microsoft YaHei" panose="020B0503020204020204" charset="-122"/>
                <a:ea typeface="Microsoft YaHei" panose="020B0503020204020204" charset="-122"/>
              </a:rPr>
              <a:t>包含的具体内容：</a:t>
            </a:r>
            <a:endParaRPr sz="1300" b="1">
              <a:solidFill>
                <a:srgbClr val="333333"/>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Rules（行业规则）：如"所有交易必须经过风控引擎"、"患者数据必须加密存储"</a:t>
            </a:r>
            <a:endParaRPr sz="1200" b="0">
              <a:solidFill>
                <a:srgbClr val="333333"/>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Spec 模板：预定义的需求规格模板，包含行业必填字段和标准结构</a:t>
            </a:r>
            <a:endParaRPr sz="1200" b="0">
              <a:solidFill>
                <a:srgbClr val="333333"/>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Schema 定义：数据结构和接口的行业标准约束</a:t>
            </a:r>
            <a:endParaRPr sz="1200" b="0">
              <a:solidFill>
                <a:srgbClr val="333333"/>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 验证规则（Validators）：自动检查生成的代码是否违反行业规范</a:t>
            </a:r>
            <a:endParaRPr sz="1200" b="0">
              <a:solidFill>
                <a:srgbClr val="333333"/>
              </a:solidFill>
              <a:latin typeface="Microsoft YaHei" panose="020B0503020204020204" charset="-122"/>
            </a:endParaRPr>
          </a:p>
        </p:txBody>
      </p:sp>
      <p:sp>
        <p:nvSpPr>
          <p:cNvPr id="8" name="Rectangle 7"/>
          <p:cNvSpPr/>
          <p:nvPr/>
        </p:nvSpPr>
        <p:spPr>
          <a:xfrm>
            <a:off x="548640" y="5669280"/>
            <a:ext cx="10058400" cy="50800"/>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760720"/>
            <a:ext cx="10058400" cy="365760"/>
          </a:xfrm>
          <a:prstGeom prst="rect">
            <a:avLst/>
          </a:prstGeom>
          <a:noFill/>
        </p:spPr>
        <p:txBody>
          <a:bodyPr wrap="square">
            <a:spAutoFit/>
          </a:bodyPr>
          <a:lstStyle/>
          <a:p>
            <a:pPr algn="l"/>
            <a:r>
              <a:rPr sz="1200" b="0">
                <a:solidFill>
                  <a:srgbClr val="999999"/>
                </a:solidFill>
                <a:latin typeface="Microsoft YaHei" panose="020B0503020204020204" charset="-122"/>
                <a:ea typeface="Microsoft YaHei" panose="020B0503020204020204" charset="-122"/>
              </a:rPr>
              <a:t>类比：如果 OpenSpec 是一个"AI 建筑师"，那么 Domain Pack 就是"行业建筑规范手册"——没有它，AI 盖的房子不合规。</a:t>
            </a:r>
            <a:endParaRPr sz="1200" b="0">
              <a:solidFill>
                <a:srgbClr val="999999"/>
              </a:solidFill>
              <a:latin typeface="Microsoft YaHei" panose="020B0503020204020204" charset="-122"/>
            </a:endParaRPr>
          </a:p>
        </p:txBody>
      </p:sp>
      <p:sp>
        <p:nvSpPr>
          <p:cNvPr id="10" name="TextBox 9"/>
          <p:cNvSpPr txBox="1"/>
          <p:nvPr/>
        </p:nvSpPr>
        <p:spPr>
          <a:xfrm>
            <a:off x="11094085" y="6400800"/>
            <a:ext cx="914400" cy="365760"/>
          </a:xfrm>
          <a:prstGeom prst="rect">
            <a:avLst/>
          </a:prstGeom>
          <a:noFill/>
        </p:spPr>
        <p:txBody>
          <a:bodyPr wrap="square">
            <a:spAutoFit/>
          </a:bodyPr>
          <a:lstStyle/>
          <a:p>
            <a:pPr algn="r"/>
            <a:r>
              <a:rPr sz="1100" b="0">
                <a:solidFill>
                  <a:srgbClr val="999999"/>
                </a:solidFill>
                <a:latin typeface="Microsoft YaHei" panose="020B0503020204020204" charset="-122"/>
                <a:ea typeface="Microsoft YaHei" panose="020B0503020204020204" charset="-122"/>
              </a:rPr>
              <a:t>24/41</a:t>
            </a:r>
            <a:endParaRPr sz="1100" b="0">
              <a:solidFill>
                <a:srgbClr val="999999"/>
              </a:solidFill>
              <a:latin typeface="Microsoft YaHei" panose="020B0503020204020204" charset="-122"/>
            </a:endParaRPr>
          </a:p>
        </p:txBody>
      </p:sp>
      <p:sp>
        <p:nvSpPr>
          <p:cNvPr id="4" name="Text Box 3"/>
          <p:cNvSpPr txBox="1"/>
          <p:nvPr/>
        </p:nvSpPr>
        <p:spPr>
          <a:xfrm>
            <a:off x="784860" y="1096645"/>
            <a:ext cx="6096000" cy="337185"/>
          </a:xfrm>
          <a:prstGeom prst="rect">
            <a:avLst/>
          </a:prstGeom>
          <a:noFill/>
        </p:spPr>
        <p:txBody>
          <a:bodyPr wrap="square" rtlCol="0" anchor="t">
            <a:spAutoFit/>
          </a:bodyPr>
          <a:p>
            <a:pPr algn="l">
              <a:spcAft>
                <a:spcPts val="600"/>
              </a:spcAft>
            </a:pPr>
            <a:r>
              <a:rPr lang="zh-CN" sz="1600" b="1">
                <a:solidFill>
                  <a:srgbClr val="008B8B"/>
                </a:solidFill>
                <a:latin typeface="Microsoft YaHei" panose="020B0503020204020204" charset="-122"/>
                <a:ea typeface="Microsoft YaHei" panose="020B0503020204020204" charset="-122"/>
                <a:sym typeface="+mn-ea"/>
              </a:rPr>
              <a:t>现状</a:t>
            </a:r>
            <a:r>
              <a:rPr lang="zh-CN" sz="1600" b="1">
                <a:solidFill>
                  <a:srgbClr val="008B8B"/>
                </a:solidFill>
                <a:latin typeface="Microsoft YaHei" panose="020B0503020204020204" charset="-122"/>
                <a:ea typeface="Microsoft YaHei" panose="020B0503020204020204" charset="-122"/>
                <a:sym typeface="+mn-ea"/>
              </a:rPr>
              <a:t>问题：</a:t>
            </a:r>
            <a:endParaRPr lang="zh-CN" sz="1600" b="1">
              <a:solidFill>
                <a:srgbClr val="008B8B"/>
              </a:solidFill>
              <a:latin typeface="Microsoft YaHei" panose="020B0503020204020204" charset="-122"/>
              <a:ea typeface="Microsoft YaHei" panose="020B0503020204020204" charset="-122"/>
              <a:sym typeface="+mn-ea"/>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48640" y="274320"/>
            <a:ext cx="9729470" cy="460375"/>
          </a:xfrm>
          <a:prstGeom prst="rect">
            <a:avLst/>
          </a:prstGeom>
          <a:noFill/>
        </p:spPr>
        <p:txBody>
          <a:bodyPr wrap="square">
            <a:spAutoFit/>
          </a:bodyPr>
          <a:lstStyle/>
          <a:p>
            <a:pPr algn="l"/>
            <a:r>
              <a:rPr lang="zh-CN" sz="2400" b="1">
                <a:solidFill>
                  <a:srgbClr val="333333"/>
                </a:solidFill>
                <a:latin typeface="Microsoft YaHei" panose="020B0503020204020204" charset="-122"/>
                <a:ea typeface="Microsoft YaHei" panose="020B0503020204020204" charset="-122"/>
              </a:rPr>
              <a:t>潜在</a:t>
            </a:r>
            <a:r>
              <a:rPr lang="zh-CN" sz="2400" b="1">
                <a:solidFill>
                  <a:srgbClr val="333333"/>
                </a:solidFill>
                <a:latin typeface="Microsoft YaHei" panose="020B0503020204020204" charset="-122"/>
                <a:ea typeface="Microsoft YaHei" panose="020B0503020204020204" charset="-122"/>
              </a:rPr>
              <a:t>研究方向</a:t>
            </a:r>
            <a:r>
              <a:rPr lang="en-US" altLang="zh-CN" sz="2400" b="1">
                <a:solidFill>
                  <a:srgbClr val="333333"/>
                </a:solidFill>
                <a:latin typeface="Microsoft YaHei" panose="020B0503020204020204" charset="-122"/>
                <a:ea typeface="Microsoft YaHei" panose="020B0503020204020204" charset="-122"/>
              </a:rPr>
              <a:t>4</a:t>
            </a:r>
            <a:r>
              <a:rPr lang="zh-CN" altLang="en-US" sz="2400" b="1">
                <a:solidFill>
                  <a:srgbClr val="333333"/>
                </a:solidFill>
                <a:latin typeface="Microsoft YaHei" panose="020B0503020204020204" charset="-122"/>
                <a:ea typeface="Microsoft YaHei" panose="020B0503020204020204" charset="-122"/>
              </a:rPr>
              <a:t>：</a:t>
            </a:r>
            <a:r>
              <a:rPr lang="en-US" altLang="zh-CN" sz="2400" b="1">
                <a:solidFill>
                  <a:srgbClr val="333333"/>
                </a:solidFill>
                <a:latin typeface="Microsoft YaHei" panose="020B0503020204020204" charset="-122"/>
                <a:ea typeface="Microsoft YaHei" panose="020B0503020204020204" charset="-122"/>
              </a:rPr>
              <a:t> </a:t>
            </a:r>
            <a:r>
              <a:rPr sz="2400" b="1">
                <a:solidFill>
                  <a:srgbClr val="333333"/>
                </a:solidFill>
                <a:latin typeface="Microsoft YaHei" panose="020B0503020204020204" charset="-122"/>
                <a:ea typeface="Microsoft YaHei" panose="020B0503020204020204" charset="-122"/>
              </a:rPr>
              <a:t>Domain-Specific Pack</a:t>
            </a:r>
            <a:r>
              <a:rPr lang="en-US" sz="2400" b="1">
                <a:solidFill>
                  <a:srgbClr val="333333"/>
                </a:solidFill>
                <a:latin typeface="Microsoft YaHei" panose="020B0503020204020204" charset="-122"/>
                <a:ea typeface="Microsoft YaHei" panose="020B0503020204020204" charset="-122"/>
              </a:rPr>
              <a:t> - </a:t>
            </a:r>
            <a:r>
              <a:rPr lang="zh-CN" sz="2400" b="1">
                <a:solidFill>
                  <a:srgbClr val="333333"/>
                </a:solidFill>
                <a:latin typeface="Microsoft YaHei" panose="020B0503020204020204" charset="-122"/>
                <a:ea typeface="Microsoft YaHei" panose="020B0503020204020204" charset="-122"/>
              </a:rPr>
              <a:t>华为潜在</a:t>
            </a:r>
            <a:r>
              <a:rPr lang="zh-CN" sz="2400" b="1">
                <a:solidFill>
                  <a:srgbClr val="333333"/>
                </a:solidFill>
                <a:latin typeface="Microsoft YaHei" panose="020B0503020204020204" charset="-122"/>
                <a:ea typeface="Microsoft YaHei" panose="020B0503020204020204" charset="-122"/>
              </a:rPr>
              <a:t>行业落地</a:t>
            </a:r>
            <a:r>
              <a:rPr lang="zh-CN" sz="2400" b="1">
                <a:solidFill>
                  <a:srgbClr val="333333"/>
                </a:solidFill>
                <a:latin typeface="Microsoft YaHei" panose="020B0503020204020204" charset="-122"/>
                <a:ea typeface="Microsoft YaHei" panose="020B0503020204020204" charset="-122"/>
              </a:rPr>
              <a:t>机会</a:t>
            </a:r>
            <a:endParaRPr lang="zh-CN" sz="2400" b="1">
              <a:solidFill>
                <a:srgbClr val="333333"/>
              </a:solidFill>
              <a:latin typeface="Microsoft YaHei" panose="020B0503020204020204" charset="-122"/>
              <a:ea typeface="Microsoft YaHei" panose="020B0503020204020204" charset="-122"/>
            </a:endParaRPr>
          </a:p>
        </p:txBody>
      </p:sp>
      <p:sp>
        <p:nvSpPr>
          <p:cNvPr id="3" name="Rectangle 2"/>
          <p:cNvSpPr/>
          <p:nvPr/>
        </p:nvSpPr>
        <p:spPr>
          <a:xfrm>
            <a:off x="548640" y="777240"/>
            <a:ext cx="10058400" cy="50800"/>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097280"/>
            <a:ext cx="3108960" cy="3108960"/>
          </a:xfrm>
          <a:prstGeom prst="roundRect">
            <a:avLst/>
          </a:prstGeom>
          <a:solidFill>
            <a:srgbClr val="E8F0FE"/>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40"/>
            <a:ext cx="2743200" cy="2548255"/>
          </a:xfrm>
          <a:prstGeom prst="rect">
            <a:avLst/>
          </a:prstGeom>
          <a:noFill/>
        </p:spPr>
        <p:txBody>
          <a:bodyPr wrap="square">
            <a:spAutoFit/>
          </a:bodyPr>
          <a:lstStyle/>
          <a:p>
            <a:pPr algn="l">
              <a:spcAft>
                <a:spcPts val="600"/>
              </a:spcAft>
            </a:pPr>
            <a:r>
              <a:rPr sz="1500" b="1">
                <a:solidFill>
                  <a:srgbClr val="0078D4"/>
                </a:solidFill>
                <a:latin typeface="Microsoft YaHei" panose="020B0503020204020204" charset="-122"/>
                <a:ea typeface="Microsoft YaHei" panose="020B0503020204020204" charset="-122"/>
              </a:rPr>
              <a:t>ICT / 电信 Pack</a:t>
            </a:r>
            <a:endParaRPr sz="1500" b="1">
              <a:solidFill>
                <a:srgbClr val="0078D4"/>
              </a:solidFill>
              <a:latin typeface="Microsoft YaHei" panose="020B0503020204020204" charset="-122"/>
            </a:endParaRPr>
          </a:p>
          <a:p>
            <a:pPr algn="l">
              <a:spcAft>
                <a:spcPts val="300"/>
              </a:spcAft>
            </a:pPr>
            <a:r>
              <a:rPr sz="1200" b="1">
                <a:solidFill>
                  <a:srgbClr val="333333"/>
                </a:solidFill>
                <a:latin typeface="Microsoft YaHei" panose="020B0503020204020204" charset="-122"/>
                <a:ea typeface="Microsoft YaHei" panose="020B0503020204020204" charset="-122"/>
              </a:rPr>
              <a:t>为什</a:t>
            </a:r>
            <a:r>
              <a:rPr lang="zh-CN" sz="1200" b="1">
                <a:solidFill>
                  <a:srgbClr val="333333"/>
                </a:solidFill>
                <a:latin typeface="Microsoft YaHei" panose="020B0503020204020204" charset="-122"/>
                <a:ea typeface="Microsoft YaHei" panose="020B0503020204020204" charset="-122"/>
              </a:rPr>
              <a:t>么？</a:t>
            </a:r>
            <a:endParaRPr sz="1200" b="1">
              <a:solidFill>
                <a:srgbClr val="333333"/>
              </a:solidFill>
              <a:latin typeface="Microsoft YaHei" panose="020B0503020204020204" charset="-122"/>
            </a:endParaRPr>
          </a:p>
          <a:p>
            <a:pPr algn="l">
              <a:spcAft>
                <a:spcPts val="800"/>
              </a:spcAft>
            </a:pPr>
            <a:r>
              <a:rPr sz="1100" b="0">
                <a:solidFill>
                  <a:srgbClr val="333333"/>
                </a:solidFill>
                <a:latin typeface="Microsoft YaHei" panose="020B0503020204020204" charset="-122"/>
                <a:ea typeface="Microsoft YaHei" panose="020B0503020204020204" charset="-122"/>
              </a:rPr>
              <a:t>公司在电信领域已积累了 3GPP 协议栈、网络运维、ADN 自动驾驶网络等深厚经验。这些就是现成的 domain knowledge，只需结构化封装即可变成 Pack。</a:t>
            </a:r>
            <a:endParaRPr sz="1100" b="0">
              <a:solidFill>
                <a:srgbClr val="333333"/>
              </a:solidFill>
              <a:latin typeface="Microsoft YaHei" panose="020B0503020204020204" charset="-122"/>
            </a:endParaRPr>
          </a:p>
          <a:p>
            <a:pPr algn="l">
              <a:spcAft>
                <a:spcPts val="300"/>
              </a:spcAft>
            </a:pPr>
            <a:r>
              <a:rPr sz="1200" b="1">
                <a:solidFill>
                  <a:srgbClr val="333333"/>
                </a:solidFill>
                <a:latin typeface="Microsoft YaHei" panose="020B0503020204020204" charset="-122"/>
                <a:ea typeface="Microsoft YaHei" panose="020B0503020204020204" charset="-122"/>
              </a:rPr>
              <a:t>Pack </a:t>
            </a:r>
            <a:r>
              <a:rPr lang="zh-CN" sz="1200" b="1">
                <a:solidFill>
                  <a:srgbClr val="333333"/>
                </a:solidFill>
                <a:latin typeface="Microsoft YaHei" panose="020B0503020204020204" charset="-122"/>
                <a:ea typeface="Microsoft YaHei" panose="020B0503020204020204" charset="-122"/>
              </a:rPr>
              <a:t>潜在</a:t>
            </a:r>
            <a:r>
              <a:rPr sz="1200" b="1">
                <a:solidFill>
                  <a:srgbClr val="333333"/>
                </a:solidFill>
                <a:latin typeface="Microsoft YaHei" panose="020B0503020204020204" charset="-122"/>
                <a:ea typeface="Microsoft YaHei" panose="020B0503020204020204" charset="-122"/>
              </a:rPr>
              <a:t>包含的内容：</a:t>
            </a:r>
            <a:endParaRPr sz="1200" b="1">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3GPP 协议合规条款（TS 38 系列）</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协议状态机异常分支模板</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网络功能 spec 模板（RAN/Core）</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电信安全标准合规检查</a:t>
            </a:r>
            <a:endParaRPr sz="1100" b="0">
              <a:solidFill>
                <a:srgbClr val="333333"/>
              </a:solidFill>
              <a:latin typeface="Microsoft YaHei" panose="020B0503020204020204" charset="-122"/>
            </a:endParaRPr>
          </a:p>
        </p:txBody>
      </p:sp>
      <p:sp>
        <p:nvSpPr>
          <p:cNvPr id="7" name="Rounded Rectangle 6"/>
          <p:cNvSpPr/>
          <p:nvPr/>
        </p:nvSpPr>
        <p:spPr>
          <a:xfrm>
            <a:off x="3931920" y="1097280"/>
            <a:ext cx="3108960" cy="3108960"/>
          </a:xfrm>
          <a:prstGeom prst="roundRect">
            <a:avLst/>
          </a:prstGeom>
          <a:solidFill>
            <a:srgbClr val="E8F5E9"/>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0" y="1234440"/>
            <a:ext cx="2743200" cy="2378710"/>
          </a:xfrm>
          <a:prstGeom prst="rect">
            <a:avLst/>
          </a:prstGeom>
          <a:noFill/>
        </p:spPr>
        <p:txBody>
          <a:bodyPr wrap="square">
            <a:spAutoFit/>
          </a:bodyPr>
          <a:lstStyle/>
          <a:p>
            <a:pPr algn="l">
              <a:spcAft>
                <a:spcPts val="600"/>
              </a:spcAft>
            </a:pPr>
            <a:r>
              <a:rPr sz="1500" b="1">
                <a:solidFill>
                  <a:srgbClr val="107C10"/>
                </a:solidFill>
                <a:latin typeface="Microsoft YaHei" panose="020B0503020204020204" charset="-122"/>
                <a:ea typeface="Microsoft YaHei" panose="020B0503020204020204" charset="-122"/>
              </a:rPr>
              <a:t>数字能源 Pack</a:t>
            </a:r>
            <a:endParaRPr sz="1500" b="1">
              <a:solidFill>
                <a:srgbClr val="107C10"/>
              </a:solidFill>
              <a:latin typeface="Microsoft YaHei" panose="020B0503020204020204" charset="-122"/>
            </a:endParaRPr>
          </a:p>
          <a:p>
            <a:pPr algn="l">
              <a:spcAft>
                <a:spcPts val="300"/>
              </a:spcAft>
            </a:pPr>
            <a:r>
              <a:rPr sz="1200" b="1">
                <a:solidFill>
                  <a:srgbClr val="333333"/>
                </a:solidFill>
                <a:latin typeface="Microsoft YaHei" panose="020B0503020204020204" charset="-122"/>
                <a:ea typeface="Microsoft YaHei" panose="020B0503020204020204" charset="-122"/>
              </a:rPr>
              <a:t>市场驱动力：</a:t>
            </a:r>
            <a:endParaRPr sz="1200" b="1">
              <a:solidFill>
                <a:srgbClr val="333333"/>
              </a:solidFill>
              <a:latin typeface="Microsoft YaHei" panose="020B0503020204020204" charset="-122"/>
            </a:endParaRPr>
          </a:p>
          <a:p>
            <a:pPr algn="l">
              <a:spcAft>
                <a:spcPts val="800"/>
              </a:spcAft>
            </a:pPr>
            <a:r>
              <a:rPr sz="1100" b="0">
                <a:solidFill>
                  <a:srgbClr val="333333"/>
                </a:solidFill>
                <a:latin typeface="Microsoft YaHei" panose="020B0503020204020204" charset="-122"/>
                <a:ea typeface="Microsoft YaHei" panose="020B0503020204020204" charset="-122"/>
              </a:rPr>
              <a:t>新能源并网标准日趋严格，IEC 62109/62619 合规是储能系统的准入门槛。能源企业愿意为确定性的合规方案支付高溢价。</a:t>
            </a:r>
            <a:endParaRPr sz="1100" b="0">
              <a:solidFill>
                <a:srgbClr val="333333"/>
              </a:solidFill>
              <a:latin typeface="Microsoft YaHei" panose="020B0503020204020204" charset="-122"/>
            </a:endParaRPr>
          </a:p>
          <a:p>
            <a:pPr algn="l">
              <a:spcAft>
                <a:spcPts val="300"/>
              </a:spcAft>
            </a:pPr>
            <a:r>
              <a:rPr sz="1200" b="1">
                <a:solidFill>
                  <a:srgbClr val="333333"/>
                </a:solidFill>
                <a:latin typeface="Microsoft YaHei" panose="020B0503020204020204" charset="-122"/>
                <a:ea typeface="Microsoft YaHei" panose="020B0503020204020204" charset="-122"/>
              </a:rPr>
              <a:t>Pack </a:t>
            </a:r>
            <a:r>
              <a:rPr lang="zh-CN" sz="1200" b="1">
                <a:solidFill>
                  <a:srgbClr val="333333"/>
                </a:solidFill>
                <a:latin typeface="Microsoft YaHei" panose="020B0503020204020204" charset="-122"/>
                <a:ea typeface="Microsoft YaHei" panose="020B0503020204020204" charset="-122"/>
              </a:rPr>
              <a:t>潜在</a:t>
            </a:r>
            <a:r>
              <a:rPr sz="1200" b="1">
                <a:solidFill>
                  <a:srgbClr val="333333"/>
                </a:solidFill>
                <a:latin typeface="Microsoft YaHei" panose="020B0503020204020204" charset="-122"/>
                <a:ea typeface="Microsoft YaHei" panose="020B0503020204020204" charset="-122"/>
              </a:rPr>
              <a:t>包含的内容：</a:t>
            </a:r>
            <a:endParaRPr sz="1200" b="1">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IEC 62109/62619 并网安全规则集</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构网型光储五层安全体系模板</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弱电网频率支撑策略 schema</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极端工况异常场景库</a:t>
            </a:r>
            <a:endParaRPr sz="1100" b="0">
              <a:solidFill>
                <a:srgbClr val="333333"/>
              </a:solidFill>
              <a:latin typeface="Microsoft YaHei" panose="020B0503020204020204" charset="-122"/>
            </a:endParaRPr>
          </a:p>
        </p:txBody>
      </p:sp>
      <p:sp>
        <p:nvSpPr>
          <p:cNvPr id="9" name="Rounded Rectangle 8"/>
          <p:cNvSpPr/>
          <p:nvPr/>
        </p:nvSpPr>
        <p:spPr>
          <a:xfrm>
            <a:off x="7315200" y="1097280"/>
            <a:ext cx="3108960" cy="3108960"/>
          </a:xfrm>
          <a:prstGeom prst="roundRect">
            <a:avLst/>
          </a:prstGeom>
          <a:solidFill>
            <a:srgbClr val="FEF3E8"/>
          </a:solidFill>
          <a:ln w="12700">
            <a:solidFill>
              <a:srgbClr val="E8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0" y="1234440"/>
            <a:ext cx="2743200" cy="2378710"/>
          </a:xfrm>
          <a:prstGeom prst="rect">
            <a:avLst/>
          </a:prstGeom>
          <a:noFill/>
        </p:spPr>
        <p:txBody>
          <a:bodyPr wrap="square">
            <a:spAutoFit/>
          </a:bodyPr>
          <a:lstStyle/>
          <a:p>
            <a:pPr algn="l">
              <a:spcAft>
                <a:spcPts val="600"/>
              </a:spcAft>
            </a:pPr>
            <a:r>
              <a:rPr sz="1500" b="1">
                <a:solidFill>
                  <a:srgbClr val="E86C00"/>
                </a:solidFill>
                <a:latin typeface="Microsoft YaHei" panose="020B0503020204020204" charset="-122"/>
                <a:ea typeface="Microsoft YaHei" panose="020B0503020204020204" charset="-122"/>
              </a:rPr>
              <a:t>智能汽车 Pack</a:t>
            </a:r>
            <a:endParaRPr sz="1500" b="1">
              <a:solidFill>
                <a:srgbClr val="E86C00"/>
              </a:solidFill>
              <a:latin typeface="Microsoft YaHei" panose="020B0503020204020204" charset="-122"/>
            </a:endParaRPr>
          </a:p>
          <a:p>
            <a:pPr algn="l">
              <a:spcAft>
                <a:spcPts val="300"/>
              </a:spcAft>
            </a:pPr>
            <a:r>
              <a:rPr sz="1200" b="1">
                <a:solidFill>
                  <a:srgbClr val="333333"/>
                </a:solidFill>
                <a:latin typeface="Microsoft YaHei" panose="020B0503020204020204" charset="-122"/>
                <a:ea typeface="Microsoft YaHei" panose="020B0503020204020204" charset="-122"/>
              </a:rPr>
              <a:t>市场驱动力：</a:t>
            </a:r>
            <a:endParaRPr sz="1200" b="1">
              <a:solidFill>
                <a:srgbClr val="333333"/>
              </a:solidFill>
              <a:latin typeface="Microsoft YaHei" panose="020B0503020204020204" charset="-122"/>
            </a:endParaRPr>
          </a:p>
          <a:p>
            <a:pPr algn="l">
              <a:spcAft>
                <a:spcPts val="800"/>
              </a:spcAft>
            </a:pPr>
            <a:r>
              <a:rPr sz="1100">
                <a:solidFill>
                  <a:srgbClr val="333333"/>
                </a:solidFill>
                <a:latin typeface="Microsoft YaHei" panose="020B0503020204020204" charset="-122"/>
                <a:ea typeface="Microsoft YaHei" panose="020B0503020204020204" charset="-122"/>
              </a:rPr>
              <a:t>华为 MDC 已获 ASIL-D 最高功能安全认证，ADS 4 WEWA 架构积累了 6 亿公里仿真验证经验。将这些经验封装为 Pack 是自然延伸。</a:t>
            </a:r>
            <a:endParaRPr sz="1100" b="0">
              <a:solidFill>
                <a:srgbClr val="333333"/>
              </a:solidFill>
              <a:latin typeface="Microsoft YaHei" panose="020B0503020204020204" charset="-122"/>
            </a:endParaRPr>
          </a:p>
          <a:p>
            <a:pPr algn="l">
              <a:spcAft>
                <a:spcPts val="300"/>
              </a:spcAft>
            </a:pPr>
            <a:r>
              <a:rPr sz="1200" b="1">
                <a:solidFill>
                  <a:srgbClr val="333333"/>
                </a:solidFill>
                <a:latin typeface="Microsoft YaHei" panose="020B0503020204020204" charset="-122"/>
                <a:ea typeface="Microsoft YaHei" panose="020B0503020204020204" charset="-122"/>
              </a:rPr>
              <a:t>Pack </a:t>
            </a:r>
            <a:r>
              <a:rPr lang="zh-CN" sz="1200" b="1">
                <a:solidFill>
                  <a:srgbClr val="333333"/>
                </a:solidFill>
                <a:latin typeface="Microsoft YaHei" panose="020B0503020204020204" charset="-122"/>
                <a:ea typeface="Microsoft YaHei" panose="020B0503020204020204" charset="-122"/>
              </a:rPr>
              <a:t>潜在</a:t>
            </a:r>
            <a:r>
              <a:rPr sz="1200" b="1">
                <a:solidFill>
                  <a:srgbClr val="333333"/>
                </a:solidFill>
                <a:latin typeface="Microsoft YaHei" panose="020B0503020204020204" charset="-122"/>
                <a:ea typeface="Microsoft YaHei" panose="020B0503020204020204" charset="-122"/>
              </a:rPr>
              <a:t>包含的内容：</a:t>
            </a:r>
            <a:endParaRPr sz="1200" b="1">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ASIL 等级 spec 模板</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AUTOSAR 架构约束</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OTA 更新安全验证</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IEC 61508 工业安全标准</a:t>
            </a:r>
            <a:endParaRPr sz="1100" b="0">
              <a:solidFill>
                <a:srgbClr val="333333"/>
              </a:solidFill>
              <a:latin typeface="Microsoft YaHei" panose="020B0503020204020204" charset="-122"/>
            </a:endParaRPr>
          </a:p>
        </p:txBody>
      </p:sp>
      <p:sp>
        <p:nvSpPr>
          <p:cNvPr id="12" name="Rectangle 11"/>
          <p:cNvSpPr/>
          <p:nvPr/>
        </p:nvSpPr>
        <p:spPr>
          <a:xfrm>
            <a:off x="548640" y="5669280"/>
            <a:ext cx="10058400" cy="50800"/>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5760720"/>
            <a:ext cx="10058400" cy="365760"/>
          </a:xfrm>
          <a:prstGeom prst="rect">
            <a:avLst/>
          </a:prstGeom>
          <a:noFill/>
        </p:spPr>
        <p:txBody>
          <a:bodyPr wrap="square">
            <a:spAutoFit/>
          </a:bodyPr>
          <a:lstStyle/>
          <a:p>
            <a:pPr algn="l"/>
            <a:r>
              <a:rPr sz="1200" b="0">
                <a:solidFill>
                  <a:srgbClr val="999999"/>
                </a:solidFill>
                <a:latin typeface="Microsoft YaHei" panose="020B0503020204020204" charset="-122"/>
                <a:ea typeface="Microsoft YaHei" panose="020B0503020204020204" charset="-122"/>
              </a:rPr>
              <a:t>落地路线：电信 Pack（Q1，积累最深）→ 智能汽车 Pack（Q2，ASIL-D 认证经验）→ 数字能源 Pack（Q3，并网安全）→ 更多业务域</a:t>
            </a:r>
            <a:endParaRPr sz="1200" b="0">
              <a:solidFill>
                <a:srgbClr val="999999"/>
              </a:solidFill>
              <a:latin typeface="Microsoft YaHei" panose="020B0503020204020204" charset="-122"/>
            </a:endParaRPr>
          </a:p>
        </p:txBody>
      </p:sp>
      <p:sp>
        <p:nvSpPr>
          <p:cNvPr id="14" name="TextBox 13"/>
          <p:cNvSpPr txBox="1"/>
          <p:nvPr/>
        </p:nvSpPr>
        <p:spPr>
          <a:xfrm>
            <a:off x="11094085" y="6400800"/>
            <a:ext cx="914400" cy="365760"/>
          </a:xfrm>
          <a:prstGeom prst="rect">
            <a:avLst/>
          </a:prstGeom>
          <a:noFill/>
        </p:spPr>
        <p:txBody>
          <a:bodyPr wrap="square">
            <a:spAutoFit/>
          </a:bodyPr>
          <a:lstStyle/>
          <a:p>
            <a:pPr algn="r"/>
            <a:r>
              <a:rPr sz="1100" b="0">
                <a:solidFill>
                  <a:srgbClr val="999999"/>
                </a:solidFill>
                <a:latin typeface="Microsoft YaHei" panose="020B0503020204020204" charset="-122"/>
                <a:ea typeface="Microsoft YaHei" panose="020B0503020204020204" charset="-122"/>
              </a:rPr>
              <a:t>25/41</a:t>
            </a:r>
            <a:endParaRPr sz="1100" b="0">
              <a:solidFill>
                <a:srgbClr val="999999"/>
              </a:solidFill>
              <a:latin typeface="Microsoft YaHei" panose="020B0503020204020204" charset="-122"/>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48640" y="274320"/>
            <a:ext cx="10327640" cy="460375"/>
          </a:xfrm>
          <a:prstGeom prst="rect">
            <a:avLst/>
          </a:prstGeom>
          <a:noFill/>
        </p:spPr>
        <p:txBody>
          <a:bodyPr wrap="square">
            <a:spAutoFit/>
          </a:bodyPr>
          <a:lstStyle/>
          <a:p>
            <a:pPr algn="l"/>
            <a:r>
              <a:rPr lang="zh-CN" sz="2400" b="1">
                <a:solidFill>
                  <a:srgbClr val="333333"/>
                </a:solidFill>
                <a:latin typeface="Microsoft YaHei" panose="020B0503020204020204" charset="-122"/>
                <a:ea typeface="Microsoft YaHei" panose="020B0503020204020204" charset="-122"/>
              </a:rPr>
              <a:t>潜在研究方向</a:t>
            </a:r>
            <a:r>
              <a:rPr lang="en-US" altLang="zh-CN" sz="2400" b="1">
                <a:solidFill>
                  <a:srgbClr val="333333"/>
                </a:solidFill>
                <a:latin typeface="Microsoft YaHei" panose="020B0503020204020204" charset="-122"/>
                <a:ea typeface="Microsoft YaHei" panose="020B0503020204020204" charset="-122"/>
              </a:rPr>
              <a:t>4</a:t>
            </a:r>
            <a:r>
              <a:rPr lang="zh-CN" altLang="en-US" sz="2400" b="1">
                <a:solidFill>
                  <a:srgbClr val="333333"/>
                </a:solidFill>
                <a:latin typeface="Microsoft YaHei" panose="020B0503020204020204" charset="-122"/>
                <a:ea typeface="Microsoft YaHei" panose="020B0503020204020204" charset="-122"/>
              </a:rPr>
              <a:t>：</a:t>
            </a:r>
            <a:r>
              <a:rPr sz="2400" b="1">
                <a:solidFill>
                  <a:srgbClr val="333333"/>
                </a:solidFill>
                <a:latin typeface="Microsoft YaHei" panose="020B0503020204020204" charset="-122"/>
                <a:ea typeface="Microsoft YaHei" panose="020B0503020204020204" charset="-122"/>
              </a:rPr>
              <a:t>Domain-Specific Packs</a:t>
            </a:r>
            <a:r>
              <a:rPr lang="en-US" sz="2400" b="1">
                <a:solidFill>
                  <a:srgbClr val="333333"/>
                </a:solidFill>
                <a:latin typeface="Microsoft YaHei" panose="020B0503020204020204" charset="-122"/>
                <a:ea typeface="Microsoft YaHei" panose="020B0503020204020204" charset="-122"/>
              </a:rPr>
              <a:t>-</a:t>
            </a:r>
            <a:r>
              <a:rPr sz="2400" b="1">
                <a:solidFill>
                  <a:srgbClr val="333333"/>
                </a:solidFill>
                <a:latin typeface="Microsoft YaHei" panose="020B0503020204020204" charset="-122"/>
                <a:ea typeface="Microsoft YaHei" panose="020B0503020204020204" charset="-122"/>
              </a:rPr>
              <a:t>为什么是核心竞争差异化优势</a:t>
            </a:r>
            <a:endParaRPr sz="2400" b="1">
              <a:solidFill>
                <a:srgbClr val="333333"/>
              </a:solidFill>
              <a:latin typeface="Microsoft YaHei" panose="020B0503020204020204" charset="-122"/>
            </a:endParaRPr>
          </a:p>
        </p:txBody>
      </p:sp>
      <p:sp>
        <p:nvSpPr>
          <p:cNvPr id="3" name="Rectangle 2"/>
          <p:cNvSpPr/>
          <p:nvPr/>
        </p:nvSpPr>
        <p:spPr>
          <a:xfrm>
            <a:off x="548640" y="777240"/>
            <a:ext cx="10058400" cy="50800"/>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05840"/>
            <a:ext cx="10058400" cy="2563495"/>
          </a:xfrm>
          <a:prstGeom prst="rect">
            <a:avLst/>
          </a:prstGeom>
          <a:noFill/>
        </p:spPr>
        <p:txBody>
          <a:bodyPr wrap="square">
            <a:spAutoFit/>
          </a:bodyPr>
          <a:lstStyle/>
          <a:p>
            <a:pPr algn="l">
              <a:spcAft>
                <a:spcPts val="800"/>
              </a:spcAft>
            </a:pPr>
            <a:r>
              <a:rPr sz="1400">
                <a:solidFill>
                  <a:srgbClr val="333333"/>
                </a:solidFill>
                <a:latin typeface="Microsoft YaHei" panose="020B0503020204020204" charset="-122"/>
                <a:ea typeface="Microsoft YaHei" panose="020B0503020204020204" charset="-122"/>
              </a:rPr>
              <a:t>差异化分析：为什么别人难以复制</a:t>
            </a:r>
            <a:endParaRPr sz="1600" b="1">
              <a:solidFill>
                <a:srgbClr val="008B8B"/>
              </a:solidFill>
              <a:latin typeface="Microsoft YaHei" panose="020B0503020204020204" charset="-122"/>
            </a:endParaRPr>
          </a:p>
          <a:p>
            <a:pPr algn="l">
              <a:spcAft>
                <a:spcPts val="300"/>
              </a:spcAft>
            </a:pPr>
            <a:r>
              <a:rPr sz="1400" b="1">
                <a:solidFill>
                  <a:srgbClr val="333333"/>
                </a:solidFill>
                <a:latin typeface="Microsoft YaHei" panose="020B0503020204020204" charset="-122"/>
                <a:ea typeface="Microsoft YaHei" panose="020B0503020204020204" charset="-122"/>
              </a:rPr>
              <a:t>1. Domain Knowledge 是稀缺资源</a:t>
            </a:r>
            <a:endParaRPr sz="1400" b="1">
              <a:solidFill>
                <a:srgbClr val="333333"/>
              </a:solidFill>
              <a:latin typeface="Microsoft YaHei" panose="020B0503020204020204" charset="-122"/>
            </a:endParaRPr>
          </a:p>
          <a:p>
            <a:pPr algn="l">
              <a:spcAft>
                <a:spcPts val="1000"/>
              </a:spcAft>
            </a:pPr>
            <a:r>
              <a:rPr sz="1400">
                <a:solidFill>
                  <a:srgbClr val="333333"/>
                </a:solidFill>
                <a:latin typeface="Microsoft YaHei" panose="020B0503020204020204" charset="-122"/>
                <a:ea typeface="Microsoft YaHei" panose="020B0503020204020204" charset="-122"/>
              </a:rPr>
              <a:t>行业规则、合规标准、最佳实践，这些知识散布在</a:t>
            </a:r>
            <a:r>
              <a:rPr lang="zh-CN" sz="1400">
                <a:solidFill>
                  <a:srgbClr val="333333"/>
                </a:solidFill>
                <a:latin typeface="Microsoft YaHei" panose="020B0503020204020204" charset="-122"/>
                <a:ea typeface="Microsoft YaHei" panose="020B0503020204020204" charset="-122"/>
              </a:rPr>
              <a:t>华为</a:t>
            </a:r>
            <a:r>
              <a:rPr sz="1400">
                <a:solidFill>
                  <a:srgbClr val="333333"/>
                </a:solidFill>
                <a:latin typeface="Microsoft YaHei" panose="020B0503020204020204" charset="-122"/>
                <a:ea typeface="Microsoft YaHei" panose="020B0503020204020204" charset="-122"/>
              </a:rPr>
              <a:t>行业专家的脑中、监管文件里、和多年项目经验中。它们无法通过简单的网页爬取或模型训练获得。公司已有的行业积累，就是天然的数据差异化优势。</a:t>
            </a:r>
            <a:endParaRPr sz="1400">
              <a:solidFill>
                <a:srgbClr val="333333"/>
              </a:solidFill>
              <a:latin typeface="Microsoft YaHei" panose="020B0503020204020204" charset="-122"/>
              <a:ea typeface="Microsoft YaHei" panose="020B0503020204020204" charset="-122"/>
            </a:endParaRPr>
          </a:p>
          <a:p>
            <a:pPr algn="l">
              <a:spcAft>
                <a:spcPts val="1000"/>
              </a:spcAft>
            </a:pPr>
            <a:endParaRPr sz="1300" b="0">
              <a:solidFill>
                <a:srgbClr val="333333"/>
              </a:solidFill>
              <a:latin typeface="Microsoft YaHei" panose="020B0503020204020204" charset="-122"/>
            </a:endParaRPr>
          </a:p>
          <a:p>
            <a:pPr algn="l">
              <a:spcAft>
                <a:spcPts val="300"/>
              </a:spcAft>
            </a:pPr>
            <a:r>
              <a:rPr sz="1400" b="1">
                <a:solidFill>
                  <a:srgbClr val="333333"/>
                </a:solidFill>
                <a:latin typeface="Microsoft YaHei" panose="020B0503020204020204" charset="-122"/>
                <a:ea typeface="Microsoft YaHei" panose="020B0503020204020204" charset="-122"/>
              </a:rPr>
              <a:t>2. 先发优势带来累积效应</a:t>
            </a:r>
            <a:r>
              <a:rPr lang="en-US" sz="1400" b="1">
                <a:solidFill>
                  <a:srgbClr val="333333"/>
                </a:solidFill>
                <a:latin typeface="Microsoft YaHei" panose="020B0503020204020204" charset="-122"/>
                <a:ea typeface="Microsoft YaHei" panose="020B0503020204020204" charset="-122"/>
              </a:rPr>
              <a:t> </a:t>
            </a:r>
            <a:r>
              <a:rPr lang="zh-CN" altLang="en-US" sz="1400" b="1">
                <a:solidFill>
                  <a:srgbClr val="333333"/>
                </a:solidFill>
                <a:latin typeface="Microsoft YaHei" panose="020B0503020204020204" charset="-122"/>
                <a:ea typeface="Microsoft YaHei" panose="020B0503020204020204" charset="-122"/>
              </a:rPr>
              <a:t>（呼应研究方向</a:t>
            </a:r>
            <a:r>
              <a:rPr lang="en-US" altLang="zh-CN" sz="1400" b="1">
                <a:solidFill>
                  <a:srgbClr val="333333"/>
                </a:solidFill>
                <a:latin typeface="Microsoft YaHei" panose="020B0503020204020204" charset="-122"/>
                <a:ea typeface="Microsoft YaHei" panose="020B0503020204020204" charset="-122"/>
              </a:rPr>
              <a:t>3)</a:t>
            </a:r>
            <a:endParaRPr sz="1400" b="1">
              <a:solidFill>
                <a:srgbClr val="333333"/>
              </a:solidFill>
              <a:latin typeface="Microsoft YaHei" panose="020B0503020204020204" charset="-122"/>
            </a:endParaRPr>
          </a:p>
          <a:p>
            <a:pPr algn="l">
              <a:spcAft>
                <a:spcPts val="1000"/>
              </a:spcAft>
            </a:pPr>
            <a:r>
              <a:rPr sz="1400">
                <a:solidFill>
                  <a:srgbClr val="333333"/>
                </a:solidFill>
                <a:latin typeface="Microsoft YaHei" panose="020B0503020204020204" charset="-122"/>
                <a:ea typeface="Microsoft YaHei" panose="020B0503020204020204" charset="-122"/>
              </a:rPr>
              <a:t>第一个做出高质量电信 Pack 的团队，会吸引电信领域的用户；用户的使用反馈又会帮助改进 Pack 质量，形成"越用越好→越好越多人用"的正循环。后来者即使有技术能力，也缺乏这个初始数据积累。</a:t>
            </a:r>
            <a:endParaRPr sz="1300" b="0">
              <a:solidFill>
                <a:srgbClr val="333333"/>
              </a:solidFill>
              <a:latin typeface="Microsoft YaHei" panose="020B0503020204020204" charset="-122"/>
            </a:endParaRPr>
          </a:p>
          <a:p>
            <a:pPr algn="l">
              <a:spcAft>
                <a:spcPts val="300"/>
              </a:spcAft>
            </a:pPr>
            <a:endParaRPr sz="1300" b="0">
              <a:solidFill>
                <a:srgbClr val="333333"/>
              </a:solidFill>
              <a:latin typeface="Microsoft YaHei" panose="020B0503020204020204" charset="-122"/>
            </a:endParaRPr>
          </a:p>
        </p:txBody>
      </p:sp>
      <p:sp>
        <p:nvSpPr>
          <p:cNvPr id="6" name="Rectangle 5"/>
          <p:cNvSpPr/>
          <p:nvPr/>
        </p:nvSpPr>
        <p:spPr>
          <a:xfrm>
            <a:off x="548640" y="5669280"/>
            <a:ext cx="10058400" cy="50800"/>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5760720"/>
            <a:ext cx="10058400" cy="365760"/>
          </a:xfrm>
          <a:prstGeom prst="rect">
            <a:avLst/>
          </a:prstGeom>
          <a:noFill/>
        </p:spPr>
        <p:txBody>
          <a:bodyPr wrap="square">
            <a:spAutoFit/>
          </a:bodyPr>
          <a:lstStyle/>
          <a:p>
            <a:pPr algn="l"/>
            <a:r>
              <a:rPr sz="1000">
                <a:solidFill>
                  <a:srgbClr val="333333"/>
                </a:solidFill>
                <a:latin typeface="Microsoft YaHei" panose="020B0503020204020204" charset="-122"/>
                <a:ea typeface="Microsoft YaHei" panose="020B0503020204020204" charset="-122"/>
              </a:rPr>
              <a:t>一句话总结：AI 能力人人都有，但 domain knowledge + 结构化封装 + 合规认证 = 难以逾越的竞争差异化优势。</a:t>
            </a:r>
            <a:endParaRPr sz="1200" b="0">
              <a:solidFill>
                <a:srgbClr val="999999"/>
              </a:solidFill>
              <a:latin typeface="Microsoft YaHei" panose="020B0503020204020204" charset="-122"/>
            </a:endParaRPr>
          </a:p>
        </p:txBody>
      </p:sp>
      <p:sp>
        <p:nvSpPr>
          <p:cNvPr id="8" name="TextBox 7"/>
          <p:cNvSpPr txBox="1"/>
          <p:nvPr/>
        </p:nvSpPr>
        <p:spPr>
          <a:xfrm>
            <a:off x="11094085" y="6400800"/>
            <a:ext cx="914400" cy="365760"/>
          </a:xfrm>
          <a:prstGeom prst="rect">
            <a:avLst/>
          </a:prstGeom>
          <a:noFill/>
        </p:spPr>
        <p:txBody>
          <a:bodyPr wrap="square">
            <a:spAutoFit/>
          </a:bodyPr>
          <a:lstStyle/>
          <a:p>
            <a:pPr algn="r"/>
            <a:r>
              <a:rPr sz="1100" b="0">
                <a:solidFill>
                  <a:srgbClr val="999999"/>
                </a:solidFill>
                <a:latin typeface="Microsoft YaHei" panose="020B0503020204020204" charset="-122"/>
                <a:ea typeface="Microsoft YaHei" panose="020B0503020204020204" charset="-122"/>
              </a:rPr>
              <a:t>26/41</a:t>
            </a:r>
            <a:endParaRPr sz="1100" b="0">
              <a:solidFill>
                <a:srgbClr val="999999"/>
              </a:solidFill>
              <a:latin typeface="Microsoft YaHei" panose="020B0503020204020204" charset="-122"/>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6213E"/>
        </a:solidFill>
        <a:effectLst/>
      </p:bgPr>
    </p:bg>
    <p:spTree>
      <p:nvGrpSpPr>
        <p:cNvPr id="1" name=""/>
        <p:cNvGrpSpPr/>
        <p:nvPr/>
      </p:nvGrpSpPr>
      <p:grpSpPr/>
      <p:sp>
        <p:nvSpPr>
          <p:cNvPr id="2" name="TextBox 1"/>
          <p:cNvSpPr txBox="1"/>
          <p:nvPr/>
        </p:nvSpPr>
        <p:spPr>
          <a:xfrm>
            <a:off x="1371600" y="1371600"/>
            <a:ext cx="8229600" cy="914400"/>
          </a:xfrm>
          <a:prstGeom prst="rect">
            <a:avLst/>
          </a:prstGeom>
          <a:noFill/>
        </p:spPr>
        <p:txBody>
          <a:bodyPr wrap="square">
            <a:spAutoFit/>
          </a:bodyPr>
          <a:lstStyle/>
          <a:p>
            <a:pPr algn="ctr"/>
            <a:r>
              <a:rPr sz="3600" b="1">
                <a:solidFill>
                  <a:srgbClr val="FFFFFF"/>
                </a:solidFill>
                <a:latin typeface="Microsoft YaHei" panose="020B0503020204020204" charset="-122"/>
                <a:ea typeface="Microsoft YaHei" panose="020B0503020204020204" charset="-122"/>
              </a:rPr>
              <a:t>附录 1：量化交易系统三方深度对比</a:t>
            </a:r>
            <a:endParaRPr sz="3600" b="1">
              <a:solidFill>
                <a:srgbClr val="FFFFFF"/>
              </a:solidFill>
              <a:latin typeface="Microsoft YaHei" panose="020B0503020204020204" charset="-122"/>
            </a:endParaRPr>
          </a:p>
        </p:txBody>
      </p:sp>
      <p:sp>
        <p:nvSpPr>
          <p:cNvPr id="3" name="Rectangle 2"/>
          <p:cNvSpPr/>
          <p:nvPr/>
        </p:nvSpPr>
        <p:spPr>
          <a:xfrm>
            <a:off x="4114800" y="2468880"/>
            <a:ext cx="2743200" cy="508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834640"/>
            <a:ext cx="8229600" cy="2743200"/>
          </a:xfrm>
          <a:prstGeom prst="rect">
            <a:avLst/>
          </a:prstGeom>
          <a:noFill/>
        </p:spPr>
        <p:txBody>
          <a:bodyPr wrap="square">
            <a:spAutoFit/>
          </a:bodyPr>
          <a:lstStyle/>
          <a:p>
            <a:pPr algn="ctr">
              <a:spcAft>
                <a:spcPts val="1600"/>
              </a:spcAft>
            </a:pPr>
            <a:r>
              <a:rPr sz="1800" b="1">
                <a:solidFill>
                  <a:srgbClr val="CCCCCC"/>
                </a:solidFill>
                <a:latin typeface="Microsoft YaHei" panose="020B0503020204020204" charset="-122"/>
                <a:ea typeface="Microsoft YaHei" panose="020B0503020204020204" charset="-122"/>
              </a:rPr>
              <a:t>Vanilla Claude Code  vs  原生 OpenSpec  vs  OpenSpec-HW2</a:t>
            </a:r>
            <a:endParaRPr sz="1800" b="1">
              <a:solidFill>
                <a:srgbClr val="CCCCCC"/>
              </a:solidFill>
              <a:latin typeface="Microsoft YaHei" panose="020B0503020204020204" charset="-122"/>
            </a:endParaRPr>
          </a:p>
          <a:p>
            <a:pPr algn="ctr">
              <a:spcAft>
                <a:spcPts val="1600"/>
              </a:spcAft>
            </a:pPr>
            <a:r>
              <a:rPr sz="1400" b="0">
                <a:solidFill>
                  <a:srgbClr val="999999"/>
                </a:solidFill>
                <a:latin typeface="Microsoft YaHei" panose="020B0503020204020204" charset="-122"/>
                <a:ea typeface="Microsoft YaHei" panose="020B0503020204020204" charset="-122"/>
              </a:rPr>
              <a:t>A股有色金属多因子量化交易系统  |  同一需求 · 三种实现 · 逐项拆解</a:t>
            </a:r>
            <a:endParaRPr sz="1400" b="0">
              <a:solidFill>
                <a:srgbClr val="999999"/>
              </a:solidFill>
              <a:latin typeface="Microsoft YaHei" panose="020B0503020204020204" charset="-122"/>
            </a:endParaRPr>
          </a:p>
          <a:p>
            <a:pPr algn="ctr">
              <a:spcAft>
                <a:spcPts val="400"/>
              </a:spcAft>
            </a:pPr>
            <a:r>
              <a:rPr sz="1300" b="0">
                <a:solidFill>
                  <a:srgbClr val="E8F5E9"/>
                </a:solidFill>
                <a:latin typeface="Microsoft YaHei" panose="020B0503020204020204" charset="-122"/>
                <a:ea typeface="Microsoft YaHei" panose="020B0503020204020204" charset="-122"/>
              </a:rPr>
              <a:t>OpenSpec-HW2 版：43 源码文件 · 88 测试用例 · 6 层 Protocol 架构</a:t>
            </a:r>
            <a:endParaRPr sz="1300" b="0">
              <a:solidFill>
                <a:srgbClr val="E8F5E9"/>
              </a:solidFill>
              <a:latin typeface="Microsoft YaHei" panose="020B0503020204020204" charset="-122"/>
            </a:endParaRPr>
          </a:p>
          <a:p>
            <a:pPr algn="ctr">
              <a:spcAft>
                <a:spcPts val="400"/>
              </a:spcAft>
            </a:pPr>
            <a:r>
              <a:rPr sz="1300" b="0">
                <a:solidFill>
                  <a:srgbClr val="E3F2FD"/>
                </a:solidFill>
                <a:latin typeface="Microsoft YaHei" panose="020B0503020204020204" charset="-122"/>
                <a:ea typeface="Microsoft YaHei" panose="020B0503020204020204" charset="-122"/>
              </a:rPr>
              <a:t>原生 OpenSpec 版：35 源码文件 · 67 测试用例 · 分层架构</a:t>
            </a:r>
            <a:endParaRPr sz="1300" b="0">
              <a:solidFill>
                <a:srgbClr val="E3F2FD"/>
              </a:solidFill>
              <a:latin typeface="Microsoft YaHei" panose="020B0503020204020204" charset="-122"/>
            </a:endParaRPr>
          </a:p>
          <a:p>
            <a:pPr algn="ctr">
              <a:spcAft>
                <a:spcPts val="400"/>
              </a:spcAft>
            </a:pPr>
            <a:r>
              <a:rPr sz="1300" b="0">
                <a:solidFill>
                  <a:srgbClr val="F0F0F0"/>
                </a:solidFill>
                <a:latin typeface="Microsoft YaHei" panose="020B0503020204020204" charset="-122"/>
                <a:ea typeface="Microsoft YaHei" panose="020B0503020204020204" charset="-122"/>
              </a:rPr>
              <a:t>Vanilla Claude Code 版：5-6 源码文件 · 0 测试 · 扁平结构</a:t>
            </a:r>
            <a:endParaRPr sz="1300" b="0">
              <a:solidFill>
                <a:srgbClr val="F0F0F0"/>
              </a:solidFill>
              <a:latin typeface="Microsoft YaHei" panose="020B0503020204020204" charset="-122"/>
            </a:endParaRPr>
          </a:p>
        </p:txBody>
      </p:sp>
      <p:sp>
        <p:nvSpPr>
          <p:cNvPr id="5" name="TextBox 4"/>
          <p:cNvSpPr txBox="1"/>
          <p:nvPr/>
        </p:nvSpPr>
        <p:spPr>
          <a:xfrm>
            <a:off x="11094085" y="6400800"/>
            <a:ext cx="914400" cy="365760"/>
          </a:xfrm>
          <a:prstGeom prst="rect">
            <a:avLst/>
          </a:prstGeom>
          <a:noFill/>
        </p:spPr>
        <p:txBody>
          <a:bodyPr wrap="square">
            <a:spAutoFit/>
          </a:bodyPr>
          <a:lstStyle/>
          <a:p>
            <a:pPr algn="r"/>
            <a:r>
              <a:rPr sz="1100" b="0">
                <a:solidFill>
                  <a:srgbClr val="999999"/>
                </a:solidFill>
                <a:latin typeface="Microsoft YaHei" panose="020B0503020204020204" charset="-122"/>
                <a:ea typeface="Microsoft YaHei" panose="020B0503020204020204" charset="-122"/>
              </a:rPr>
              <a:t>27/41</a:t>
            </a:r>
            <a:endParaRPr sz="1100" b="0">
              <a:solidFill>
                <a:srgbClr val="999999"/>
              </a:solidFill>
              <a:latin typeface="Microsoft YaHei" panose="020B0503020204020204" charset="-122"/>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TextBox 1"/>
          <p:cNvSpPr txBox="1"/>
          <p:nvPr/>
        </p:nvSpPr>
        <p:spPr>
          <a:xfrm>
            <a:off x="457200" y="182880"/>
            <a:ext cx="10058400" cy="502920"/>
          </a:xfrm>
          <a:prstGeom prst="rect">
            <a:avLst/>
          </a:prstGeom>
          <a:noFill/>
        </p:spPr>
        <p:txBody>
          <a:bodyPr wrap="square">
            <a:spAutoFit/>
          </a:bodyPr>
          <a:lstStyle/>
          <a:p>
            <a:pPr algn="l"/>
            <a:r>
              <a:rPr sz="2400" b="1">
                <a:solidFill>
                  <a:srgbClr val="333333"/>
                </a:solidFill>
                <a:latin typeface="Microsoft YaHei" panose="020B0503020204020204" charset="-122"/>
                <a:ea typeface="Microsoft YaHei" panose="020B0503020204020204" charset="-122"/>
              </a:rPr>
              <a:t>三方架构深度对比：代码组织与设计模式</a:t>
            </a:r>
            <a:endParaRPr sz="2400" b="1">
              <a:solidFill>
                <a:srgbClr val="333333"/>
              </a:solidFill>
              <a:latin typeface="Microsoft YaHei" panose="020B0503020204020204" charset="-122"/>
            </a:endParaRPr>
          </a:p>
        </p:txBody>
      </p:sp>
      <p:sp>
        <p:nvSpPr>
          <p:cNvPr id="3" name="Rectangle 2"/>
          <p:cNvSpPr/>
          <p:nvPr/>
        </p:nvSpPr>
        <p:spPr>
          <a:xfrm>
            <a:off x="457200" y="685800"/>
            <a:ext cx="10332720" cy="508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960120"/>
            <a:ext cx="3291840" cy="4663440"/>
          </a:xfrm>
          <a:prstGeom prst="roundRect">
            <a:avLst/>
          </a:prstGeom>
          <a:solidFill>
            <a:srgbClr val="F0F0F0"/>
          </a:solidFill>
          <a:ln w="12700">
            <a:solidFill>
              <a:srgbClr val="7878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69848"/>
            <a:ext cx="2926080" cy="4443984"/>
          </a:xfrm>
          <a:prstGeom prst="rect">
            <a:avLst/>
          </a:prstGeom>
          <a:noFill/>
        </p:spPr>
        <p:txBody>
          <a:bodyPr wrap="square">
            <a:spAutoFit/>
          </a:bodyPr>
          <a:lstStyle/>
          <a:p>
            <a:pPr algn="l">
              <a:spcAft>
                <a:spcPts val="600"/>
              </a:spcAft>
            </a:pPr>
            <a:r>
              <a:rPr sz="1500" b="1">
                <a:solidFill>
                  <a:srgbClr val="787878"/>
                </a:solidFill>
                <a:latin typeface="Microsoft YaHei" panose="020B0503020204020204" charset="-122"/>
                <a:ea typeface="Microsoft YaHei" panose="020B0503020204020204" charset="-122"/>
              </a:rPr>
              <a:t>Vanilla Claude Code</a:t>
            </a:r>
            <a:endParaRPr sz="1500" b="1">
              <a:solidFill>
                <a:srgbClr val="787878"/>
              </a:solidFill>
              <a:latin typeface="Microsoft YaHei" panose="020B0503020204020204" charset="-122"/>
            </a:endParaRPr>
          </a:p>
          <a:p>
            <a:pPr algn="l">
              <a:spcAft>
                <a:spcPts val="800"/>
              </a:spcAft>
            </a:pPr>
            <a:r>
              <a:rPr sz="1200" b="1">
                <a:solidFill>
                  <a:srgbClr val="333333"/>
                </a:solidFill>
                <a:latin typeface="Microsoft YaHei" panose="020B0503020204020204" charset="-122"/>
                <a:ea typeface="Microsoft YaHei" panose="020B0503020204020204" charset="-122"/>
              </a:rPr>
              <a:t>5-6 个文件 · 扁平结构</a:t>
            </a:r>
            <a:endParaRPr sz="1200" b="1">
              <a:solidFill>
                <a:srgbClr val="333333"/>
              </a:solidFill>
              <a:latin typeface="Microsoft YaHei" panose="020B0503020204020204" charset="-122"/>
            </a:endParaRPr>
          </a:p>
          <a:p>
            <a:pPr algn="l">
              <a:spcAft>
                <a:spcPts val="300"/>
              </a:spcAft>
            </a:pPr>
            <a:r>
              <a:rPr sz="1200" b="1">
                <a:solidFill>
                  <a:srgbClr val="787878"/>
                </a:solidFill>
                <a:latin typeface="Microsoft YaHei" panose="020B0503020204020204" charset="-122"/>
                <a:ea typeface="Microsoft YaHei" panose="020B0503020204020204" charset="-122"/>
              </a:rPr>
              <a:t>文件清单</a:t>
            </a:r>
            <a:endParaRPr sz="1200" b="1">
              <a:solidFill>
                <a:srgbClr val="787878"/>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main.py: 策略逻辑+数据获取 (~400行)</a:t>
            </a:r>
            <a:endParaRPr sz="1000" b="0">
              <a:solidFill>
                <a:srgbClr val="333333"/>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backtest.py: 回测引擎 (~300行)</a:t>
            </a:r>
            <a:endParaRPr sz="1000" b="0">
              <a:solidFill>
                <a:srgbClr val="333333"/>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utils.py: 工具函数 (~200行)</a:t>
            </a:r>
            <a:endParaRPr sz="1000" b="0">
              <a:solidFill>
                <a:srgbClr val="333333"/>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config.py: 硬编码配置 (~100行)</a:t>
            </a:r>
            <a:endParaRPr sz="1000" b="0">
              <a:solidFill>
                <a:srgbClr val="333333"/>
              </a:solidFill>
              <a:latin typeface="Microsoft YaHei" panose="020B0503020204020204" charset="-122"/>
            </a:endParaRPr>
          </a:p>
          <a:p>
            <a:pPr algn="l">
              <a:spcAft>
                <a:spcPts val="800"/>
              </a:spcAft>
            </a:pPr>
            <a:r>
              <a:rPr sz="1000" b="0">
                <a:solidFill>
                  <a:srgbClr val="333333"/>
                </a:solidFill>
                <a:latin typeface="Microsoft YaHei" panose="020B0503020204020204" charset="-122"/>
                <a:ea typeface="Microsoft YaHei" panose="020B0503020204020204" charset="-122"/>
              </a:rPr>
              <a:t>• app.py: Flask Web (~200行)</a:t>
            </a:r>
            <a:endParaRPr sz="1000" b="0">
              <a:solidFill>
                <a:srgbClr val="333333"/>
              </a:solidFill>
              <a:latin typeface="Microsoft YaHei" panose="020B0503020204020204" charset="-122"/>
            </a:endParaRPr>
          </a:p>
          <a:p>
            <a:pPr algn="l">
              <a:spcAft>
                <a:spcPts val="300"/>
              </a:spcAft>
            </a:pPr>
            <a:r>
              <a:rPr sz="1200" b="1">
                <a:solidFill>
                  <a:srgbClr val="787878"/>
                </a:solidFill>
                <a:latin typeface="Microsoft YaHei" panose="020B0503020204020204" charset="-122"/>
                <a:ea typeface="Microsoft YaHei" panose="020B0503020204020204" charset="-122"/>
              </a:rPr>
              <a:t>设计模式</a:t>
            </a:r>
            <a:endParaRPr sz="1200" b="1">
              <a:solidFill>
                <a:srgbClr val="787878"/>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无设计模式，过程式代码</a:t>
            </a:r>
            <a:endParaRPr sz="1000" b="0">
              <a:solidFill>
                <a:srgbClr val="333333"/>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函数间直接调用，高耦合</a:t>
            </a:r>
            <a:endParaRPr sz="1000" b="0">
              <a:solidFill>
                <a:srgbClr val="333333"/>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无接口抽象</a:t>
            </a:r>
            <a:endParaRPr sz="1000" b="0">
              <a:solidFill>
                <a:srgbClr val="333333"/>
              </a:solidFill>
              <a:latin typeface="Microsoft YaHei" panose="020B0503020204020204" charset="-122"/>
            </a:endParaRPr>
          </a:p>
        </p:txBody>
      </p:sp>
      <p:sp>
        <p:nvSpPr>
          <p:cNvPr id="6" name="Rounded Rectangle 5"/>
          <p:cNvSpPr/>
          <p:nvPr/>
        </p:nvSpPr>
        <p:spPr>
          <a:xfrm>
            <a:off x="3977640" y="960120"/>
            <a:ext cx="3291840" cy="4663440"/>
          </a:xfrm>
          <a:prstGeom prst="roundRect">
            <a:avLst/>
          </a:prstGeom>
          <a:solidFill>
            <a:srgbClr val="E3F2FD"/>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60520" y="1069848"/>
            <a:ext cx="2926080" cy="4443984"/>
          </a:xfrm>
          <a:prstGeom prst="rect">
            <a:avLst/>
          </a:prstGeom>
          <a:noFill/>
        </p:spPr>
        <p:txBody>
          <a:bodyPr wrap="square">
            <a:spAutoFit/>
          </a:bodyPr>
          <a:lstStyle/>
          <a:p>
            <a:pPr algn="l">
              <a:spcAft>
                <a:spcPts val="600"/>
              </a:spcAft>
            </a:pPr>
            <a:r>
              <a:rPr sz="1500" b="1">
                <a:solidFill>
                  <a:srgbClr val="0078D4"/>
                </a:solidFill>
                <a:latin typeface="Microsoft YaHei" panose="020B0503020204020204" charset="-122"/>
                <a:ea typeface="Microsoft YaHei" panose="020B0503020204020204" charset="-122"/>
              </a:rPr>
              <a:t>原生 OpenSpec</a:t>
            </a:r>
            <a:endParaRPr sz="1500" b="1">
              <a:solidFill>
                <a:srgbClr val="0078D4"/>
              </a:solidFill>
              <a:latin typeface="Microsoft YaHei" panose="020B0503020204020204" charset="-122"/>
            </a:endParaRPr>
          </a:p>
          <a:p>
            <a:pPr algn="l">
              <a:spcAft>
                <a:spcPts val="800"/>
              </a:spcAft>
            </a:pPr>
            <a:r>
              <a:rPr sz="1200" b="1">
                <a:solidFill>
                  <a:srgbClr val="333333"/>
                </a:solidFill>
                <a:latin typeface="Microsoft YaHei" panose="020B0503020204020204" charset="-122"/>
                <a:ea typeface="Microsoft YaHei" panose="020B0503020204020204" charset="-122"/>
              </a:rPr>
              <a:t>35 个文件 · 分层架构</a:t>
            </a:r>
            <a:endParaRPr sz="1200" b="1">
              <a:solidFill>
                <a:srgbClr val="333333"/>
              </a:solidFill>
              <a:latin typeface="Microsoft YaHei" panose="020B0503020204020204" charset="-122"/>
            </a:endParaRPr>
          </a:p>
          <a:p>
            <a:pPr algn="l">
              <a:spcAft>
                <a:spcPts val="300"/>
              </a:spcAft>
            </a:pPr>
            <a:r>
              <a:rPr sz="1200" b="1">
                <a:solidFill>
                  <a:srgbClr val="0078D4"/>
                </a:solidFill>
                <a:latin typeface="Microsoft YaHei" panose="020B0503020204020204" charset="-122"/>
                <a:ea typeface="Microsoft YaHei" panose="020B0503020204020204" charset="-122"/>
              </a:rPr>
              <a:t>目录结构</a:t>
            </a:r>
            <a:endParaRPr sz="1200" b="1">
              <a:solidFill>
                <a:srgbClr val="0078D4"/>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src/data/: 数据获取与存储</a:t>
            </a:r>
            <a:endParaRPr sz="1000" b="0">
              <a:solidFill>
                <a:srgbClr val="333333"/>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src/factors/: 因子计算</a:t>
            </a:r>
            <a:endParaRPr sz="1000" b="0">
              <a:solidFill>
                <a:srgbClr val="333333"/>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src/strategy/: 选股策略</a:t>
            </a:r>
            <a:endParaRPr sz="1000" b="0">
              <a:solidFill>
                <a:srgbClr val="333333"/>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src/risk/: 风控 (4层)</a:t>
            </a:r>
            <a:endParaRPr sz="1000" b="0">
              <a:solidFill>
                <a:srgbClr val="333333"/>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src/backtest/: 回测引擎</a:t>
            </a:r>
            <a:endParaRPr sz="1000" b="0">
              <a:solidFill>
                <a:srgbClr val="333333"/>
              </a:solidFill>
              <a:latin typeface="Microsoft YaHei" panose="020B0503020204020204" charset="-122"/>
            </a:endParaRPr>
          </a:p>
          <a:p>
            <a:pPr algn="l">
              <a:spcAft>
                <a:spcPts val="800"/>
              </a:spcAft>
            </a:pPr>
            <a:r>
              <a:rPr sz="1000" b="0">
                <a:solidFill>
                  <a:srgbClr val="333333"/>
                </a:solidFill>
                <a:latin typeface="Microsoft YaHei" panose="020B0503020204020204" charset="-122"/>
                <a:ea typeface="Microsoft YaHei" panose="020B0503020204020204" charset="-122"/>
              </a:rPr>
              <a:t>• tests/: 8 个测试文件</a:t>
            </a:r>
            <a:endParaRPr sz="1000" b="0">
              <a:solidFill>
                <a:srgbClr val="333333"/>
              </a:solidFill>
              <a:latin typeface="Microsoft YaHei" panose="020B0503020204020204" charset="-122"/>
            </a:endParaRPr>
          </a:p>
          <a:p>
            <a:pPr algn="l">
              <a:spcAft>
                <a:spcPts val="300"/>
              </a:spcAft>
            </a:pPr>
            <a:r>
              <a:rPr sz="1200" b="1">
                <a:solidFill>
                  <a:srgbClr val="0078D4"/>
                </a:solidFill>
                <a:latin typeface="Microsoft YaHei" panose="020B0503020204020204" charset="-122"/>
                <a:ea typeface="Microsoft YaHei" panose="020B0503020204020204" charset="-122"/>
              </a:rPr>
              <a:t>设计模式</a:t>
            </a:r>
            <a:endParaRPr sz="1200" b="1">
              <a:solidFill>
                <a:srgbClr val="0078D4"/>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简单类封装 + 函数组织</a:t>
            </a:r>
            <a:endParaRPr sz="1000" b="0">
              <a:solidFill>
                <a:srgbClr val="333333"/>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基本模块化，职责初步分离</a:t>
            </a:r>
            <a:endParaRPr sz="1000" b="0">
              <a:solidFill>
                <a:srgbClr val="333333"/>
              </a:solidFill>
              <a:latin typeface="Microsoft YaHei" panose="020B0503020204020204" charset="-122"/>
            </a:endParaRPr>
          </a:p>
        </p:txBody>
      </p:sp>
      <p:sp>
        <p:nvSpPr>
          <p:cNvPr id="8" name="Rounded Rectangle 7"/>
          <p:cNvSpPr/>
          <p:nvPr/>
        </p:nvSpPr>
        <p:spPr>
          <a:xfrm>
            <a:off x="7498080" y="960120"/>
            <a:ext cx="3291840" cy="4663440"/>
          </a:xfrm>
          <a:prstGeom prst="roundRect">
            <a:avLst/>
          </a:prstGeom>
          <a:solidFill>
            <a:srgbClr val="E8F5E9"/>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0" y="1069848"/>
            <a:ext cx="2926080" cy="4443984"/>
          </a:xfrm>
          <a:prstGeom prst="rect">
            <a:avLst/>
          </a:prstGeom>
          <a:noFill/>
        </p:spPr>
        <p:txBody>
          <a:bodyPr wrap="square">
            <a:spAutoFit/>
          </a:bodyPr>
          <a:lstStyle/>
          <a:p>
            <a:pPr algn="l">
              <a:spcAft>
                <a:spcPts val="600"/>
              </a:spcAft>
            </a:pPr>
            <a:r>
              <a:rPr sz="1500" b="1">
                <a:solidFill>
                  <a:srgbClr val="107C10"/>
                </a:solidFill>
                <a:latin typeface="Microsoft YaHei" panose="020B0503020204020204" charset="-122"/>
                <a:ea typeface="Microsoft YaHei" panose="020B0503020204020204" charset="-122"/>
              </a:rPr>
              <a:t>OpenSpec-HW2</a:t>
            </a:r>
            <a:endParaRPr sz="1500" b="1">
              <a:solidFill>
                <a:srgbClr val="107C10"/>
              </a:solidFill>
              <a:latin typeface="Microsoft YaHei" panose="020B0503020204020204" charset="-122"/>
            </a:endParaRPr>
          </a:p>
          <a:p>
            <a:pPr algn="l">
              <a:spcAft>
                <a:spcPts val="800"/>
              </a:spcAft>
            </a:pPr>
            <a:r>
              <a:rPr sz="1200" b="1">
                <a:solidFill>
                  <a:srgbClr val="333333"/>
                </a:solidFill>
                <a:latin typeface="Microsoft YaHei" panose="020B0503020204020204" charset="-122"/>
                <a:ea typeface="Microsoft YaHei" panose="020B0503020204020204" charset="-122"/>
              </a:rPr>
              <a:t>43 个文件 · 6 层 Protocol 架构</a:t>
            </a:r>
            <a:endParaRPr sz="1200" b="1">
              <a:solidFill>
                <a:srgbClr val="333333"/>
              </a:solidFill>
              <a:latin typeface="Microsoft YaHei" panose="020B0503020204020204" charset="-122"/>
            </a:endParaRPr>
          </a:p>
          <a:p>
            <a:pPr algn="l">
              <a:spcAft>
                <a:spcPts val="300"/>
              </a:spcAft>
            </a:pPr>
            <a:r>
              <a:rPr sz="1200" b="1">
                <a:solidFill>
                  <a:srgbClr val="107C10"/>
                </a:solidFill>
                <a:latin typeface="Microsoft YaHei" panose="020B0503020204020204" charset="-122"/>
                <a:ea typeface="Microsoft YaHei" panose="020B0503020204020204" charset="-122"/>
              </a:rPr>
              <a:t>6 层架构</a:t>
            </a:r>
            <a:endParaRPr sz="1200" b="1">
              <a:solidFill>
                <a:srgbClr val="107C10"/>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L1 数据层: 多源适配+验证器</a:t>
            </a:r>
            <a:endParaRPr sz="1000" b="0">
              <a:solidFill>
                <a:srgbClr val="333333"/>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L2 因子层: 注册表+可扩展</a:t>
            </a:r>
            <a:endParaRPr sz="1000" b="0">
              <a:solidFill>
                <a:srgbClr val="333333"/>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L3 选股层: 多策略组合</a:t>
            </a:r>
            <a:endParaRPr sz="1000" b="0">
              <a:solidFill>
                <a:srgbClr val="333333"/>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L4 交易层: 订单管理+执行</a:t>
            </a:r>
            <a:endParaRPr sz="1000" b="0">
              <a:solidFill>
                <a:srgbClr val="333333"/>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L5 风控层: 4层+聚合器</a:t>
            </a:r>
            <a:endParaRPr sz="1000" b="0">
              <a:solidFill>
                <a:srgbClr val="333333"/>
              </a:solidFill>
              <a:latin typeface="Microsoft YaHei" panose="020B0503020204020204" charset="-122"/>
            </a:endParaRPr>
          </a:p>
          <a:p>
            <a:pPr algn="l">
              <a:spcAft>
                <a:spcPts val="800"/>
              </a:spcAft>
            </a:pPr>
            <a:r>
              <a:rPr sz="1000" b="0">
                <a:solidFill>
                  <a:srgbClr val="333333"/>
                </a:solidFill>
                <a:latin typeface="Microsoft YaHei" panose="020B0503020204020204" charset="-122"/>
                <a:ea typeface="Microsoft YaHei" panose="020B0503020204020204" charset="-122"/>
              </a:rPr>
              <a:t>• L6 回测层: 真实性检验</a:t>
            </a:r>
            <a:endParaRPr sz="1000" b="0">
              <a:solidFill>
                <a:srgbClr val="333333"/>
              </a:solidFill>
              <a:latin typeface="Microsoft YaHei" panose="020B0503020204020204" charset="-122"/>
            </a:endParaRPr>
          </a:p>
          <a:p>
            <a:pPr algn="l">
              <a:spcAft>
                <a:spcPts val="300"/>
              </a:spcAft>
            </a:pPr>
            <a:r>
              <a:rPr sz="1200" b="1">
                <a:solidFill>
                  <a:srgbClr val="107C10"/>
                </a:solidFill>
                <a:latin typeface="Microsoft YaHei" panose="020B0503020204020204" charset="-122"/>
                <a:ea typeface="Microsoft YaHei" panose="020B0503020204020204" charset="-122"/>
              </a:rPr>
              <a:t>设计模式</a:t>
            </a:r>
            <a:endParaRPr sz="1200" b="1">
              <a:solidFill>
                <a:srgbClr val="107C10"/>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Protocol 接口 + 装饰器注册</a:t>
            </a:r>
            <a:endParaRPr sz="1000" b="0">
              <a:solidFill>
                <a:srgbClr val="333333"/>
              </a:solidFill>
              <a:latin typeface="Microsoft YaHei" panose="020B0503020204020204" charset="-122"/>
            </a:endParaRPr>
          </a:p>
          <a:p>
            <a:pPr algn="l">
              <a:spcAft>
                <a:spcPts val="200"/>
              </a:spcAft>
            </a:pPr>
            <a:r>
              <a:rPr sz="1000" b="0">
                <a:solidFill>
                  <a:srgbClr val="333333"/>
                </a:solidFill>
                <a:latin typeface="Microsoft YaHei" panose="020B0503020204020204" charset="-122"/>
                <a:ea typeface="Microsoft YaHei" panose="020B0503020204020204" charset="-122"/>
              </a:rPr>
              <a:t>• 依赖注入 + 外部 YAML 配置</a:t>
            </a:r>
            <a:endParaRPr sz="1000" b="0">
              <a:solidFill>
                <a:srgbClr val="333333"/>
              </a:solidFill>
              <a:latin typeface="Microsoft YaHei" panose="020B0503020204020204" charset="-122"/>
            </a:endParaRPr>
          </a:p>
        </p:txBody>
      </p:sp>
      <p:sp>
        <p:nvSpPr>
          <p:cNvPr id="10" name="TextBox 9"/>
          <p:cNvSpPr txBox="1"/>
          <p:nvPr/>
        </p:nvSpPr>
        <p:spPr>
          <a:xfrm>
            <a:off x="11094085" y="6400800"/>
            <a:ext cx="914400" cy="365760"/>
          </a:xfrm>
          <a:prstGeom prst="rect">
            <a:avLst/>
          </a:prstGeom>
          <a:noFill/>
        </p:spPr>
        <p:txBody>
          <a:bodyPr wrap="square">
            <a:spAutoFit/>
          </a:bodyPr>
          <a:lstStyle/>
          <a:p>
            <a:pPr algn="r"/>
            <a:r>
              <a:rPr sz="1100" b="0">
                <a:solidFill>
                  <a:srgbClr val="999999"/>
                </a:solidFill>
                <a:latin typeface="Microsoft YaHei" panose="020B0503020204020204" charset="-122"/>
                <a:ea typeface="Microsoft YaHei" panose="020B0503020204020204" charset="-122"/>
              </a:rPr>
              <a:t>28/41</a:t>
            </a:r>
            <a:endParaRPr sz="1100" b="0">
              <a:solidFill>
                <a:srgbClr val="999999"/>
              </a:solidFill>
              <a:latin typeface="Microsoft YaHei" panose="020B0503020204020204" charset="-122"/>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TextBox 1"/>
          <p:cNvSpPr txBox="1"/>
          <p:nvPr/>
        </p:nvSpPr>
        <p:spPr>
          <a:xfrm>
            <a:off x="457200" y="182880"/>
            <a:ext cx="10058400" cy="502920"/>
          </a:xfrm>
          <a:prstGeom prst="rect">
            <a:avLst/>
          </a:prstGeom>
          <a:noFill/>
        </p:spPr>
        <p:txBody>
          <a:bodyPr wrap="square">
            <a:spAutoFit/>
          </a:bodyPr>
          <a:lstStyle/>
          <a:p>
            <a:pPr algn="l"/>
            <a:r>
              <a:rPr sz="2400" b="1">
                <a:solidFill>
                  <a:srgbClr val="333333"/>
                </a:solidFill>
                <a:latin typeface="Microsoft YaHei" panose="020B0503020204020204" charset="-122"/>
                <a:ea typeface="Microsoft YaHei" panose="020B0503020204020204" charset="-122"/>
              </a:rPr>
              <a:t>风控能力三方对比：量化交易的生死线</a:t>
            </a:r>
            <a:endParaRPr sz="2400" b="1">
              <a:solidFill>
                <a:srgbClr val="333333"/>
              </a:solidFill>
              <a:latin typeface="Microsoft YaHei" panose="020B0503020204020204" charset="-122"/>
            </a:endParaRPr>
          </a:p>
        </p:txBody>
      </p:sp>
      <p:sp>
        <p:nvSpPr>
          <p:cNvPr id="3" name="Rectangle 2"/>
          <p:cNvSpPr/>
          <p:nvPr/>
        </p:nvSpPr>
        <p:spPr>
          <a:xfrm>
            <a:off x="485140" y="685800"/>
            <a:ext cx="10332720" cy="50800"/>
          </a:xfrm>
          <a:prstGeom prst="rect">
            <a:avLst/>
          </a:prstGeom>
          <a:solidFill>
            <a:srgbClr val="E8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77240"/>
            <a:ext cx="10058400" cy="275590"/>
          </a:xfrm>
          <a:prstGeom prst="rect">
            <a:avLst/>
          </a:prstGeom>
          <a:noFill/>
        </p:spPr>
        <p:txBody>
          <a:bodyPr wrap="square">
            <a:spAutoFit/>
          </a:bodyPr>
          <a:lstStyle/>
          <a:p>
            <a:pPr algn="l"/>
            <a:r>
              <a:rPr sz="1200" b="0">
                <a:solidFill>
                  <a:srgbClr val="FF0000"/>
                </a:solidFill>
                <a:latin typeface="Microsoft YaHei" panose="020B0503020204020204" charset="-122"/>
                <a:ea typeface="Microsoft YaHei" panose="020B0503020204020204" charset="-122"/>
              </a:rPr>
              <a:t>在量化交易中，风控能力决定了系统能否在真实市场中存活。</a:t>
            </a:r>
            <a:r>
              <a:rPr lang="zh-CN" sz="1200" b="0">
                <a:solidFill>
                  <a:srgbClr val="FF0000"/>
                </a:solidFill>
                <a:latin typeface="Microsoft YaHei" panose="020B0503020204020204" charset="-122"/>
                <a:ea typeface="Microsoft YaHei" panose="020B0503020204020204" charset="-122"/>
              </a:rPr>
              <a:t>质量差不完整的风险控制</a:t>
            </a:r>
            <a:r>
              <a:rPr lang="en-US" altLang="zh-CN" sz="1200" b="0">
                <a:solidFill>
                  <a:srgbClr val="FF0000"/>
                </a:solidFill>
                <a:latin typeface="Microsoft YaHei" panose="020B0503020204020204" charset="-122"/>
                <a:ea typeface="Microsoft YaHei" panose="020B0503020204020204" charset="-122"/>
              </a:rPr>
              <a:t>Spec</a:t>
            </a:r>
            <a:r>
              <a:rPr lang="zh-CN" altLang="en-US" sz="1200" b="0">
                <a:solidFill>
                  <a:srgbClr val="FF0000"/>
                </a:solidFill>
                <a:latin typeface="Microsoft YaHei" panose="020B0503020204020204" charset="-122"/>
                <a:ea typeface="Microsoft YaHei" panose="020B0503020204020204" charset="-122"/>
              </a:rPr>
              <a:t>意味着在市场出现</a:t>
            </a:r>
            <a:r>
              <a:rPr lang="zh-CN" altLang="en-US" sz="1200" b="0">
                <a:solidFill>
                  <a:srgbClr val="FF0000"/>
                </a:solidFill>
                <a:latin typeface="Microsoft YaHei" panose="020B0503020204020204" charset="-122"/>
                <a:ea typeface="Microsoft YaHei" panose="020B0503020204020204" charset="-122"/>
              </a:rPr>
              <a:t>罕见情况的时候</a:t>
            </a:r>
            <a:r>
              <a:rPr lang="zh-CN" altLang="en-US" sz="1200" b="0">
                <a:solidFill>
                  <a:srgbClr val="FF0000"/>
                </a:solidFill>
                <a:latin typeface="Microsoft YaHei" panose="020B0503020204020204" charset="-122"/>
                <a:ea typeface="Microsoft YaHei" panose="020B0503020204020204" charset="-122"/>
              </a:rPr>
              <a:t>爆仓</a:t>
            </a:r>
            <a:endParaRPr lang="zh-CN" altLang="en-US" sz="1200" b="0">
              <a:solidFill>
                <a:srgbClr val="FF0000"/>
              </a:solidFill>
              <a:latin typeface="Microsoft YaHei" panose="020B0503020204020204" charset="-122"/>
              <a:ea typeface="Microsoft YaHei" panose="020B0503020204020204" charset="-122"/>
            </a:endParaRPr>
          </a:p>
        </p:txBody>
      </p:sp>
      <p:sp>
        <p:nvSpPr>
          <p:cNvPr id="5" name="Rounded Rectangle 4"/>
          <p:cNvSpPr/>
          <p:nvPr/>
        </p:nvSpPr>
        <p:spPr>
          <a:xfrm>
            <a:off x="457200" y="1234440"/>
            <a:ext cx="3291840" cy="4389120"/>
          </a:xfrm>
          <a:prstGeom prst="roundRect">
            <a:avLst/>
          </a:prstGeom>
          <a:solidFill>
            <a:srgbClr val="F0F0F0"/>
          </a:solidFill>
          <a:ln w="12700">
            <a:solidFill>
              <a:srgbClr val="7878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325880"/>
            <a:ext cx="2926080" cy="4206240"/>
          </a:xfrm>
          <a:prstGeom prst="rect">
            <a:avLst/>
          </a:prstGeom>
          <a:noFill/>
        </p:spPr>
        <p:txBody>
          <a:bodyPr wrap="square">
            <a:spAutoFit/>
          </a:bodyPr>
          <a:lstStyle/>
          <a:p>
            <a:pPr algn="l">
              <a:spcAft>
                <a:spcPts val="600"/>
              </a:spcAft>
            </a:pPr>
            <a:r>
              <a:rPr sz="1500" b="1">
                <a:solidFill>
                  <a:srgbClr val="787878"/>
                </a:solidFill>
                <a:latin typeface="Microsoft YaHei" panose="020B0503020204020204" charset="-122"/>
                <a:ea typeface="Microsoft YaHei" panose="020B0503020204020204" charset="-122"/>
              </a:rPr>
              <a:t>Vanilla Claude Code</a:t>
            </a:r>
            <a:endParaRPr sz="1500" b="1">
              <a:solidFill>
                <a:srgbClr val="787878"/>
              </a:solidFill>
              <a:latin typeface="Microsoft YaHei" panose="020B0503020204020204" charset="-122"/>
            </a:endParaRPr>
          </a:p>
          <a:p>
            <a:pPr algn="l">
              <a:spcAft>
                <a:spcPts val="800"/>
              </a:spcAft>
            </a:pPr>
            <a:r>
              <a:rPr sz="1200" b="1">
                <a:solidFill>
                  <a:srgbClr val="D13438"/>
                </a:solidFill>
                <a:latin typeface="Microsoft YaHei" panose="020B0503020204020204" charset="-122"/>
                <a:ea typeface="Microsoft YaHei" panose="020B0503020204020204" charset="-122"/>
              </a:rPr>
              <a:t>风控等级：初级</a:t>
            </a:r>
            <a:endParaRPr sz="1200" b="1">
              <a:solidFill>
                <a:srgbClr val="D13438"/>
              </a:solidFill>
              <a:latin typeface="Microsoft YaHei" panose="020B0503020204020204" charset="-122"/>
            </a:endParaRPr>
          </a:p>
          <a:p>
            <a:pPr algn="l">
              <a:spcAft>
                <a:spcPts val="400"/>
              </a:spcAft>
            </a:pPr>
            <a:r>
              <a:rPr sz="1300" b="1">
                <a:solidFill>
                  <a:srgbClr val="333333"/>
                </a:solidFill>
                <a:latin typeface="Microsoft YaHei" panose="020B0503020204020204" charset="-122"/>
                <a:ea typeface="Microsoft YaHei" panose="020B0503020204020204" charset="-122"/>
              </a:rPr>
              <a:t>仅固定止损</a:t>
            </a:r>
            <a:endParaRPr sz="1300" b="1">
              <a:solidFill>
                <a:srgbClr val="333333"/>
              </a:solidFill>
              <a:latin typeface="Microsoft YaHei" panose="020B0503020204020204" charset="-122"/>
            </a:endParaRPr>
          </a:p>
          <a:p>
            <a:pPr algn="l">
              <a:spcAft>
                <a:spcPts val="300"/>
              </a:spcAft>
            </a:pPr>
            <a:r>
              <a:rPr sz="1100" b="0">
                <a:solidFill>
                  <a:srgbClr val="333333"/>
                </a:solidFill>
                <a:latin typeface="Microsoft YaHei" panose="020B0503020204020204" charset="-122"/>
                <a:ea typeface="Microsoft YaHei" panose="020B0503020204020204" charset="-122"/>
              </a:rPr>
              <a:t>• 硬编码止损阈值（如固定 5%）</a:t>
            </a:r>
            <a:endParaRPr sz="1100" b="0">
              <a:solidFill>
                <a:srgbClr val="333333"/>
              </a:solidFill>
              <a:latin typeface="Microsoft YaHei" panose="020B0503020204020204" charset="-122"/>
            </a:endParaRPr>
          </a:p>
          <a:p>
            <a:pPr algn="l">
              <a:spcAft>
                <a:spcPts val="300"/>
              </a:spcAft>
            </a:pPr>
            <a:r>
              <a:rPr sz="1100" b="0">
                <a:solidFill>
                  <a:srgbClr val="333333"/>
                </a:solidFill>
                <a:latin typeface="Microsoft YaHei" panose="020B0503020204020204" charset="-122"/>
                <a:ea typeface="Microsoft YaHei" panose="020B0503020204020204" charset="-122"/>
              </a:rPr>
              <a:t>• 不随市场波动调整</a:t>
            </a:r>
            <a:endParaRPr sz="1100" b="0">
              <a:solidFill>
                <a:srgbClr val="333333"/>
              </a:solidFill>
              <a:latin typeface="Microsoft YaHei" panose="020B0503020204020204" charset="-122"/>
            </a:endParaRPr>
          </a:p>
          <a:p>
            <a:pPr algn="l">
              <a:spcAft>
                <a:spcPts val="300"/>
              </a:spcAft>
            </a:pPr>
            <a:r>
              <a:rPr sz="1100" b="0">
                <a:solidFill>
                  <a:srgbClr val="333333"/>
                </a:solidFill>
                <a:latin typeface="Microsoft YaHei" panose="020B0503020204020204" charset="-122"/>
                <a:ea typeface="Microsoft YaHei" panose="020B0503020204020204" charset="-122"/>
              </a:rPr>
              <a:t>• 无持仓限制</a:t>
            </a:r>
            <a:endParaRPr sz="1100" b="0">
              <a:solidFill>
                <a:srgbClr val="333333"/>
              </a:solidFill>
              <a:latin typeface="Microsoft YaHei" panose="020B0503020204020204" charset="-122"/>
            </a:endParaRPr>
          </a:p>
          <a:p>
            <a:pPr algn="l">
              <a:spcAft>
                <a:spcPts val="300"/>
              </a:spcAft>
            </a:pPr>
            <a:r>
              <a:rPr sz="1100" b="0">
                <a:solidFill>
                  <a:srgbClr val="333333"/>
                </a:solidFill>
                <a:latin typeface="Microsoft YaHei" panose="020B0503020204020204" charset="-122"/>
                <a:ea typeface="Microsoft YaHei" panose="020B0503020204020204" charset="-122"/>
              </a:rPr>
              <a:t>• 无行业集中度控制</a:t>
            </a:r>
            <a:endParaRPr sz="1100" b="0">
              <a:solidFill>
                <a:srgbClr val="333333"/>
              </a:solidFill>
              <a:latin typeface="Microsoft YaHei" panose="020B0503020204020204" charset="-122"/>
            </a:endParaRPr>
          </a:p>
          <a:p>
            <a:pPr algn="l">
              <a:spcAft>
                <a:spcPts val="800"/>
              </a:spcAft>
            </a:pPr>
            <a:r>
              <a:rPr sz="1100" b="0">
                <a:solidFill>
                  <a:srgbClr val="333333"/>
                </a:solidFill>
                <a:latin typeface="Microsoft YaHei" panose="020B0503020204020204" charset="-122"/>
                <a:ea typeface="Microsoft YaHei" panose="020B0503020204020204" charset="-122"/>
              </a:rPr>
              <a:t>• 无异常波动检测</a:t>
            </a:r>
            <a:endParaRPr sz="1100" b="0">
              <a:solidFill>
                <a:srgbClr val="333333"/>
              </a:solidFill>
              <a:latin typeface="Microsoft YaHei" panose="020B0503020204020204" charset="-122"/>
            </a:endParaRPr>
          </a:p>
          <a:p>
            <a:pPr algn="l">
              <a:spcAft>
                <a:spcPts val="300"/>
              </a:spcAft>
            </a:pPr>
            <a:r>
              <a:rPr sz="1200" b="1">
                <a:solidFill>
                  <a:srgbClr val="D13438"/>
                </a:solidFill>
                <a:latin typeface="Microsoft YaHei" panose="020B0503020204020204" charset="-122"/>
                <a:ea typeface="Microsoft YaHei" panose="020B0503020204020204" charset="-122"/>
              </a:rPr>
              <a:t>风险评估</a:t>
            </a:r>
            <a:endParaRPr sz="1200" b="1">
              <a:solidFill>
                <a:srgbClr val="D13438"/>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真实交易风险极高</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极端行情下可能爆仓</a:t>
            </a:r>
            <a:endParaRPr sz="1100" b="0">
              <a:solidFill>
                <a:srgbClr val="333333"/>
              </a:solidFill>
              <a:latin typeface="Microsoft YaHei" panose="020B0503020204020204" charset="-122"/>
            </a:endParaRPr>
          </a:p>
        </p:txBody>
      </p:sp>
      <p:sp>
        <p:nvSpPr>
          <p:cNvPr id="7" name="Rounded Rectangle 6"/>
          <p:cNvSpPr/>
          <p:nvPr/>
        </p:nvSpPr>
        <p:spPr>
          <a:xfrm>
            <a:off x="3977640" y="1234440"/>
            <a:ext cx="3291840" cy="4389120"/>
          </a:xfrm>
          <a:prstGeom prst="roundRect">
            <a:avLst/>
          </a:prstGeom>
          <a:solidFill>
            <a:srgbClr val="E3F2FD"/>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60520" y="1325880"/>
            <a:ext cx="2926080" cy="4206240"/>
          </a:xfrm>
          <a:prstGeom prst="rect">
            <a:avLst/>
          </a:prstGeom>
          <a:noFill/>
        </p:spPr>
        <p:txBody>
          <a:bodyPr wrap="square">
            <a:spAutoFit/>
          </a:bodyPr>
          <a:lstStyle/>
          <a:p>
            <a:pPr algn="l">
              <a:spcAft>
                <a:spcPts val="600"/>
              </a:spcAft>
            </a:pPr>
            <a:r>
              <a:rPr sz="1500" b="1">
                <a:solidFill>
                  <a:srgbClr val="0078D4"/>
                </a:solidFill>
                <a:latin typeface="Microsoft YaHei" panose="020B0503020204020204" charset="-122"/>
                <a:ea typeface="Microsoft YaHei" panose="020B0503020204020204" charset="-122"/>
              </a:rPr>
              <a:t>原生 OpenSpec</a:t>
            </a:r>
            <a:endParaRPr sz="1500" b="1">
              <a:solidFill>
                <a:srgbClr val="0078D4"/>
              </a:solidFill>
              <a:latin typeface="Microsoft YaHei" panose="020B0503020204020204" charset="-122"/>
            </a:endParaRPr>
          </a:p>
          <a:p>
            <a:pPr algn="l">
              <a:spcAft>
                <a:spcPts val="800"/>
              </a:spcAft>
            </a:pPr>
            <a:r>
              <a:rPr sz="1200" b="1">
                <a:solidFill>
                  <a:srgbClr val="0078D4"/>
                </a:solidFill>
                <a:latin typeface="Microsoft YaHei" panose="020B0503020204020204" charset="-122"/>
                <a:ea typeface="Microsoft YaHei" panose="020B0503020204020204" charset="-122"/>
              </a:rPr>
              <a:t>风控等级：完整</a:t>
            </a:r>
            <a:endParaRPr sz="1200" b="1">
              <a:solidFill>
                <a:srgbClr val="0078D4"/>
              </a:solidFill>
              <a:latin typeface="Microsoft YaHei" panose="020B0503020204020204" charset="-122"/>
            </a:endParaRPr>
          </a:p>
          <a:p>
            <a:pPr algn="l">
              <a:spcAft>
                <a:spcPts val="400"/>
              </a:spcAft>
            </a:pPr>
            <a:r>
              <a:rPr sz="1300" b="1">
                <a:solidFill>
                  <a:srgbClr val="333333"/>
                </a:solidFill>
                <a:latin typeface="Microsoft YaHei" panose="020B0503020204020204" charset="-122"/>
                <a:ea typeface="Microsoft YaHei" panose="020B0503020204020204" charset="-122"/>
              </a:rPr>
              <a:t>4 层风控体系</a:t>
            </a:r>
            <a:endParaRPr sz="1300" b="1">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L1 ATR 动态止损</a:t>
            </a:r>
            <a:endParaRPr sz="1100" b="0">
              <a:solidFill>
                <a:srgbClr val="333333"/>
              </a:solidFill>
              <a:latin typeface="Microsoft YaHei" panose="020B0503020204020204" charset="-122"/>
            </a:endParaRPr>
          </a:p>
          <a:p>
            <a:pPr algn="l">
              <a:spcAft>
                <a:spcPts val="300"/>
              </a:spcAft>
            </a:pPr>
            <a:r>
              <a:rPr sz="1000" b="0">
                <a:solidFill>
                  <a:srgbClr val="999999"/>
                </a:solidFill>
                <a:latin typeface="Microsoft YaHei" panose="020B0503020204020204" charset="-122"/>
                <a:ea typeface="Microsoft YaHei" panose="020B0503020204020204" charset="-122"/>
              </a:rPr>
              <a:t>  根据波动率自动调整止损位</a:t>
            </a:r>
            <a:endParaRPr sz="1000" b="0">
              <a:solidFill>
                <a:srgbClr val="999999"/>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L2 持仓限制</a:t>
            </a:r>
            <a:endParaRPr sz="1100" b="0">
              <a:solidFill>
                <a:srgbClr val="333333"/>
              </a:solidFill>
              <a:latin typeface="Microsoft YaHei" panose="020B0503020204020204" charset="-122"/>
            </a:endParaRPr>
          </a:p>
          <a:p>
            <a:pPr algn="l">
              <a:spcAft>
                <a:spcPts val="300"/>
              </a:spcAft>
            </a:pPr>
            <a:r>
              <a:rPr sz="1000" b="0">
                <a:solidFill>
                  <a:srgbClr val="999999"/>
                </a:solidFill>
                <a:latin typeface="Microsoft YaHei" panose="020B0503020204020204" charset="-122"/>
                <a:ea typeface="Microsoft YaHei" panose="020B0503020204020204" charset="-122"/>
              </a:rPr>
              <a:t>  单只上限 + 总仓位控制</a:t>
            </a:r>
            <a:endParaRPr sz="1000" b="0">
              <a:solidFill>
                <a:srgbClr val="999999"/>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L3 行业集中度控制</a:t>
            </a:r>
            <a:endParaRPr sz="1100" b="0">
              <a:solidFill>
                <a:srgbClr val="333333"/>
              </a:solidFill>
              <a:latin typeface="Microsoft YaHei" panose="020B0503020204020204" charset="-122"/>
            </a:endParaRPr>
          </a:p>
          <a:p>
            <a:pPr algn="l">
              <a:spcAft>
                <a:spcPts val="300"/>
              </a:spcAft>
            </a:pPr>
            <a:r>
              <a:rPr sz="1000" b="0">
                <a:solidFill>
                  <a:srgbClr val="999999"/>
                </a:solidFill>
                <a:latin typeface="Microsoft YaHei" panose="020B0503020204020204" charset="-122"/>
                <a:ea typeface="Microsoft YaHei" panose="020B0503020204020204" charset="-122"/>
              </a:rPr>
              <a:t>  避免板块过度集中</a:t>
            </a:r>
            <a:endParaRPr sz="1000" b="0">
              <a:solidFill>
                <a:srgbClr val="999999"/>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L4 异常波动检测</a:t>
            </a:r>
            <a:endParaRPr sz="1100" b="0">
              <a:solidFill>
                <a:srgbClr val="333333"/>
              </a:solidFill>
              <a:latin typeface="Microsoft YaHei" panose="020B0503020204020204" charset="-122"/>
            </a:endParaRPr>
          </a:p>
          <a:p>
            <a:pPr algn="l">
              <a:spcAft>
                <a:spcPts val="200"/>
              </a:spcAft>
            </a:pPr>
            <a:r>
              <a:rPr sz="1000" b="0">
                <a:solidFill>
                  <a:srgbClr val="999999"/>
                </a:solidFill>
                <a:latin typeface="Microsoft YaHei" panose="020B0503020204020204" charset="-122"/>
                <a:ea typeface="Microsoft YaHei" panose="020B0503020204020204" charset="-122"/>
              </a:rPr>
              <a:t>  异常行情自动触发保护</a:t>
            </a:r>
            <a:endParaRPr sz="1000" b="0">
              <a:solidFill>
                <a:srgbClr val="999999"/>
              </a:solidFill>
              <a:latin typeface="Microsoft YaHei" panose="020B0503020204020204" charset="-122"/>
            </a:endParaRPr>
          </a:p>
        </p:txBody>
      </p:sp>
      <p:sp>
        <p:nvSpPr>
          <p:cNvPr id="9" name="Rounded Rectangle 8"/>
          <p:cNvSpPr/>
          <p:nvPr/>
        </p:nvSpPr>
        <p:spPr>
          <a:xfrm>
            <a:off x="7498080" y="1234440"/>
            <a:ext cx="3291840" cy="4389120"/>
          </a:xfrm>
          <a:prstGeom prst="roundRect">
            <a:avLst/>
          </a:prstGeom>
          <a:solidFill>
            <a:srgbClr val="E8F5E9"/>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0" y="1325880"/>
            <a:ext cx="2926080" cy="4206240"/>
          </a:xfrm>
          <a:prstGeom prst="rect">
            <a:avLst/>
          </a:prstGeom>
          <a:noFill/>
        </p:spPr>
        <p:txBody>
          <a:bodyPr wrap="square">
            <a:spAutoFit/>
          </a:bodyPr>
          <a:lstStyle/>
          <a:p>
            <a:pPr algn="l">
              <a:spcAft>
                <a:spcPts val="600"/>
              </a:spcAft>
            </a:pPr>
            <a:r>
              <a:rPr sz="1500" b="1">
                <a:solidFill>
                  <a:srgbClr val="107C10"/>
                </a:solidFill>
                <a:latin typeface="Microsoft YaHei" panose="020B0503020204020204" charset="-122"/>
                <a:ea typeface="Microsoft YaHei" panose="020B0503020204020204" charset="-122"/>
              </a:rPr>
              <a:t>OpenSpec-HW2</a:t>
            </a:r>
            <a:endParaRPr sz="1500" b="1">
              <a:solidFill>
                <a:srgbClr val="107C10"/>
              </a:solidFill>
              <a:latin typeface="Microsoft YaHei" panose="020B0503020204020204" charset="-122"/>
            </a:endParaRPr>
          </a:p>
          <a:p>
            <a:pPr algn="l">
              <a:spcAft>
                <a:spcPts val="800"/>
              </a:spcAft>
            </a:pPr>
            <a:r>
              <a:rPr sz="1200" b="1">
                <a:solidFill>
                  <a:srgbClr val="107C10"/>
                </a:solidFill>
                <a:latin typeface="Microsoft YaHei" panose="020B0503020204020204" charset="-122"/>
                <a:ea typeface="Microsoft YaHei" panose="020B0503020204020204" charset="-122"/>
              </a:rPr>
              <a:t>风控等级：生产级</a:t>
            </a:r>
            <a:endParaRPr sz="1200" b="1">
              <a:solidFill>
                <a:srgbClr val="107C10"/>
              </a:solidFill>
              <a:latin typeface="Microsoft YaHei" panose="020B0503020204020204" charset="-122"/>
            </a:endParaRPr>
          </a:p>
          <a:p>
            <a:pPr algn="l">
              <a:spcAft>
                <a:spcPts val="400"/>
              </a:spcAft>
            </a:pPr>
            <a:r>
              <a:rPr sz="1300" b="1">
                <a:solidFill>
                  <a:srgbClr val="333333"/>
                </a:solidFill>
                <a:latin typeface="Microsoft YaHei" panose="020B0503020204020204" charset="-122"/>
                <a:ea typeface="Microsoft YaHei" panose="020B0503020204020204" charset="-122"/>
              </a:rPr>
              <a:t>4 层 + 聚合入口</a:t>
            </a:r>
            <a:endParaRPr sz="1300" b="1">
              <a:solidFill>
                <a:srgbClr val="333333"/>
              </a:solidFill>
              <a:latin typeface="Microsoft YaHei" panose="020B0503020204020204" charset="-122"/>
            </a:endParaRPr>
          </a:p>
          <a:p>
            <a:pPr algn="l">
              <a:spcAft>
                <a:spcPts val="300"/>
              </a:spcAft>
            </a:pPr>
            <a:r>
              <a:rPr sz="1100" b="0">
                <a:solidFill>
                  <a:srgbClr val="333333"/>
                </a:solidFill>
                <a:latin typeface="Microsoft YaHei" panose="020B0503020204020204" charset="-122"/>
                <a:ea typeface="Microsoft YaHei" panose="020B0503020204020204" charset="-122"/>
              </a:rPr>
              <a:t>• 包含原生全部 4 层风控</a:t>
            </a:r>
            <a:endParaRPr sz="1100" b="0">
              <a:solidFill>
                <a:srgbClr val="333333"/>
              </a:solidFill>
              <a:latin typeface="Microsoft YaHei" panose="020B0503020204020204" charset="-122"/>
            </a:endParaRPr>
          </a:p>
          <a:p>
            <a:pPr algn="l">
              <a:spcAft>
                <a:spcPts val="300"/>
              </a:spcAft>
            </a:pPr>
            <a:r>
              <a:rPr sz="1100" b="0">
                <a:solidFill>
                  <a:srgbClr val="333333"/>
                </a:solidFill>
                <a:latin typeface="Microsoft YaHei" panose="020B0503020204020204" charset="-122"/>
                <a:ea typeface="Microsoft YaHei" panose="020B0503020204020204" charset="-122"/>
              </a:rPr>
              <a:t>• + RiskAggregator 统一调度</a:t>
            </a:r>
            <a:endParaRPr sz="1100" b="0">
              <a:solidFill>
                <a:srgbClr val="333333"/>
              </a:solidFill>
              <a:latin typeface="Microsoft YaHei" panose="020B0503020204020204" charset="-122"/>
            </a:endParaRPr>
          </a:p>
          <a:p>
            <a:pPr algn="l">
              <a:spcAft>
                <a:spcPts val="300"/>
              </a:spcAft>
            </a:pPr>
            <a:r>
              <a:rPr sz="1100" b="0">
                <a:solidFill>
                  <a:srgbClr val="333333"/>
                </a:solidFill>
                <a:latin typeface="Microsoft YaHei" panose="020B0503020204020204" charset="-122"/>
                <a:ea typeface="Microsoft YaHei" panose="020B0503020204020204" charset="-122"/>
              </a:rPr>
              <a:t>• + 风控规则 YAML 可配置</a:t>
            </a:r>
            <a:endParaRPr sz="1100" b="0">
              <a:solidFill>
                <a:srgbClr val="333333"/>
              </a:solidFill>
              <a:latin typeface="Microsoft YaHei" panose="020B0503020204020204" charset="-122"/>
            </a:endParaRPr>
          </a:p>
          <a:p>
            <a:pPr algn="l">
              <a:spcAft>
                <a:spcPts val="300"/>
              </a:spcAft>
            </a:pPr>
            <a:r>
              <a:rPr sz="1100" b="0">
                <a:solidFill>
                  <a:srgbClr val="333333"/>
                </a:solidFill>
                <a:latin typeface="Microsoft YaHei" panose="020B0503020204020204" charset="-122"/>
                <a:ea typeface="Microsoft YaHei" panose="020B0503020204020204" charset="-122"/>
              </a:rPr>
              <a:t>• + 完整风控执行日志</a:t>
            </a:r>
            <a:endParaRPr sz="1100" b="0">
              <a:solidFill>
                <a:srgbClr val="333333"/>
              </a:solidFill>
              <a:latin typeface="Microsoft YaHei" panose="020B0503020204020204" charset="-122"/>
            </a:endParaRPr>
          </a:p>
          <a:p>
            <a:pPr algn="l">
              <a:spcAft>
                <a:spcPts val="800"/>
              </a:spcAft>
            </a:pPr>
            <a:r>
              <a:rPr sz="1100" b="0">
                <a:solidFill>
                  <a:srgbClr val="333333"/>
                </a:solidFill>
                <a:latin typeface="Microsoft YaHei" panose="020B0503020204020204" charset="-122"/>
                <a:ea typeface="Microsoft YaHei" panose="020B0503020204020204" charset="-122"/>
              </a:rPr>
              <a:t>• + 风控事件回调机制</a:t>
            </a:r>
            <a:endParaRPr sz="1100" b="0">
              <a:solidFill>
                <a:srgbClr val="333333"/>
              </a:solidFill>
              <a:latin typeface="Microsoft YaHei" panose="020B0503020204020204" charset="-122"/>
            </a:endParaRPr>
          </a:p>
          <a:p>
            <a:pPr algn="l">
              <a:spcAft>
                <a:spcPts val="300"/>
              </a:spcAft>
            </a:pPr>
            <a:r>
              <a:rPr sz="1200" b="1">
                <a:solidFill>
                  <a:srgbClr val="107C10"/>
                </a:solidFill>
                <a:latin typeface="Microsoft YaHei" panose="020B0503020204020204" charset="-122"/>
                <a:ea typeface="Microsoft YaHei" panose="020B0503020204020204" charset="-122"/>
              </a:rPr>
              <a:t>增量价值</a:t>
            </a:r>
            <a:endParaRPr sz="1200" b="1">
              <a:solidFill>
                <a:srgbClr val="107C10"/>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统一入口让风控层可独立测试</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配置化支持快速策略调整</a:t>
            </a:r>
            <a:endParaRPr sz="1100" b="0">
              <a:solidFill>
                <a:srgbClr val="333333"/>
              </a:solidFill>
              <a:latin typeface="Microsoft YaHei" panose="020B0503020204020204" charset="-122"/>
            </a:endParaRPr>
          </a:p>
        </p:txBody>
      </p:sp>
      <p:sp>
        <p:nvSpPr>
          <p:cNvPr id="11" name="Rectangle 10"/>
          <p:cNvSpPr/>
          <p:nvPr/>
        </p:nvSpPr>
        <p:spPr>
          <a:xfrm>
            <a:off x="457200" y="5806440"/>
            <a:ext cx="10332720" cy="50800"/>
          </a:xfrm>
          <a:prstGeom prst="rect">
            <a:avLst/>
          </a:prstGeom>
          <a:solidFill>
            <a:srgbClr val="E8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5897880"/>
            <a:ext cx="10332720" cy="274320"/>
          </a:xfrm>
          <a:prstGeom prst="rect">
            <a:avLst/>
          </a:prstGeom>
          <a:noFill/>
        </p:spPr>
        <p:txBody>
          <a:bodyPr wrap="square">
            <a:spAutoFit/>
          </a:bodyPr>
          <a:lstStyle/>
          <a:p>
            <a:pPr algn="ctr"/>
            <a:r>
              <a:rPr sz="1100" b="0">
                <a:solidFill>
                  <a:srgbClr val="999999"/>
                </a:solidFill>
                <a:latin typeface="Microsoft YaHei" panose="020B0503020204020204" charset="-122"/>
                <a:ea typeface="Microsoft YaHei" panose="020B0503020204020204" charset="-122"/>
              </a:rPr>
              <a:t>风控能力是规格化程度差异最直观的体现：无规格 = 无风控；规格越详细，风控架构越完善</a:t>
            </a:r>
            <a:endParaRPr sz="1100" b="0">
              <a:solidFill>
                <a:srgbClr val="999999"/>
              </a:solidFill>
              <a:latin typeface="Microsoft YaHei" panose="020B0503020204020204" charset="-122"/>
            </a:endParaRPr>
          </a:p>
        </p:txBody>
      </p:sp>
      <p:sp>
        <p:nvSpPr>
          <p:cNvPr id="13" name="TextBox 12"/>
          <p:cNvSpPr txBox="1"/>
          <p:nvPr/>
        </p:nvSpPr>
        <p:spPr>
          <a:xfrm>
            <a:off x="11094085" y="6400800"/>
            <a:ext cx="914400" cy="365760"/>
          </a:xfrm>
          <a:prstGeom prst="rect">
            <a:avLst/>
          </a:prstGeom>
          <a:noFill/>
        </p:spPr>
        <p:txBody>
          <a:bodyPr wrap="square">
            <a:spAutoFit/>
          </a:bodyPr>
          <a:lstStyle/>
          <a:p>
            <a:pPr algn="r"/>
            <a:r>
              <a:rPr sz="1100" b="0">
                <a:solidFill>
                  <a:srgbClr val="999999"/>
                </a:solidFill>
                <a:latin typeface="Microsoft YaHei" panose="020B0503020204020204" charset="-122"/>
                <a:ea typeface="Microsoft YaHei" panose="020B0503020204020204" charset="-122"/>
              </a:rPr>
              <a:t>29/41</a:t>
            </a:r>
            <a:endParaRPr sz="1100" b="0">
              <a:solidFill>
                <a:srgbClr val="999999"/>
              </a:solidFill>
              <a:latin typeface="Microsoft YaHei" panose="020B0503020204020204" charset="-122"/>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TextBox 1"/>
          <p:cNvSpPr txBox="1"/>
          <p:nvPr/>
        </p:nvSpPr>
        <p:spPr>
          <a:xfrm>
            <a:off x="457200" y="182880"/>
            <a:ext cx="10058400" cy="460375"/>
          </a:xfrm>
          <a:prstGeom prst="rect">
            <a:avLst/>
          </a:prstGeom>
          <a:noFill/>
        </p:spPr>
        <p:txBody>
          <a:bodyPr wrap="square">
            <a:spAutoFit/>
          </a:bodyPr>
          <a:lstStyle/>
          <a:p>
            <a:pPr algn="l"/>
            <a:r>
              <a:rPr sz="2400" b="1">
                <a:solidFill>
                  <a:srgbClr val="333333"/>
                </a:solidFill>
                <a:latin typeface="Microsoft YaHei" panose="020B0503020204020204" charset="-122"/>
                <a:ea typeface="Microsoft YaHei" panose="020B0503020204020204" charset="-122"/>
              </a:rPr>
              <a:t>回测真实性三方对比：回测结果</a:t>
            </a:r>
            <a:r>
              <a:rPr lang="zh-CN" sz="2400" b="1">
                <a:solidFill>
                  <a:srgbClr val="333333"/>
                </a:solidFill>
                <a:latin typeface="Microsoft YaHei" panose="020B0503020204020204" charset="-122"/>
                <a:ea typeface="Microsoft YaHei" panose="020B0503020204020204" charset="-122"/>
              </a:rPr>
              <a:t>评估</a:t>
            </a:r>
            <a:endParaRPr lang="zh-CN" sz="2400" b="1">
              <a:solidFill>
                <a:srgbClr val="333333"/>
              </a:solidFill>
              <a:latin typeface="Microsoft YaHei" panose="020B0503020204020204" charset="-122"/>
              <a:ea typeface="Microsoft YaHei" panose="020B0503020204020204" charset="-122"/>
            </a:endParaRPr>
          </a:p>
        </p:txBody>
      </p:sp>
      <p:sp>
        <p:nvSpPr>
          <p:cNvPr id="3" name="Rectangle 2"/>
          <p:cNvSpPr/>
          <p:nvPr/>
        </p:nvSpPr>
        <p:spPr>
          <a:xfrm>
            <a:off x="457200" y="685800"/>
            <a:ext cx="10332720" cy="50800"/>
          </a:xfrm>
          <a:prstGeom prst="rect">
            <a:avLst/>
          </a:prstGeom>
          <a:solidFill>
            <a:srgbClr val="E8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77240"/>
            <a:ext cx="10058400" cy="320040"/>
          </a:xfrm>
          <a:prstGeom prst="rect">
            <a:avLst/>
          </a:prstGeom>
          <a:noFill/>
        </p:spPr>
        <p:txBody>
          <a:bodyPr wrap="square">
            <a:spAutoFit/>
          </a:bodyPr>
          <a:lstStyle/>
          <a:p>
            <a:pPr algn="l"/>
            <a:r>
              <a:rPr sz="1200" b="0">
                <a:solidFill>
                  <a:srgbClr val="999999"/>
                </a:solidFill>
                <a:latin typeface="Microsoft YaHei" panose="020B0503020204020204" charset="-122"/>
                <a:ea typeface="Microsoft YaHei" panose="020B0503020204020204" charset="-122"/>
              </a:rPr>
              <a:t>回测是量化策略上线前的最后一道关卡。回测越贴近真实市场，上线后的意外越少。</a:t>
            </a:r>
            <a:endParaRPr sz="1200" b="0">
              <a:solidFill>
                <a:srgbClr val="999999"/>
              </a:solidFill>
              <a:latin typeface="Microsoft YaHei" panose="020B0503020204020204" charset="-122"/>
            </a:endParaRPr>
          </a:p>
        </p:txBody>
      </p:sp>
      <p:graphicFrame>
        <p:nvGraphicFramePr>
          <p:cNvPr id="5" name="Table 4"/>
          <p:cNvGraphicFramePr>
            <a:graphicFrameLocks noGrp="1"/>
          </p:cNvGraphicFramePr>
          <p:nvPr/>
        </p:nvGraphicFramePr>
        <p:xfrm>
          <a:off x="457200" y="1234440"/>
          <a:ext cx="6400800" cy="2926080"/>
        </p:xfrm>
        <a:graphic>
          <a:graphicData uri="http://schemas.openxmlformats.org/drawingml/2006/table">
            <a:tbl>
              <a:tblPr firstRow="1" bandRow="1">
                <a:tableStyleId>{5C22544A-7EE6-4342-B048-85BDC9FD1C3A}</a:tableStyleId>
              </a:tblPr>
              <a:tblGrid>
                <a:gridCol w="2194560"/>
                <a:gridCol w="1280160"/>
                <a:gridCol w="1463040"/>
                <a:gridCol w="1463040"/>
              </a:tblGrid>
              <a:tr h="365760">
                <a:tc>
                  <a:txBody>
                    <a:bodyPr/>
                    <a:lstStyle/>
                    <a:p>
                      <a:pPr algn="l">
                        <a:spcBef>
                          <a:spcPts val="0"/>
                        </a:spcBef>
                        <a:spcAft>
                          <a:spcPts val="0"/>
                        </a:spcAft>
                      </a:pPr>
                      <a:r>
                        <a:rPr sz="1100" b="1">
                          <a:solidFill>
                            <a:srgbClr val="FFFFFF"/>
                          </a:solidFill>
                          <a:latin typeface="Microsoft YaHei" panose="020B0503020204020204" charset="-122"/>
                        </a:rPr>
                        <a:t>A 股交易规则</a:t>
                      </a:r>
                      <a:endParaRPr sz="1100" b="1">
                        <a:solidFill>
                          <a:srgbClr val="FFFFFF"/>
                        </a:solidFill>
                        <a:latin typeface="Microsoft YaHei" panose="020B0503020204020204" charset="-122"/>
                      </a:endParaRPr>
                    </a:p>
                  </a:txBody>
                  <a:tcPr marL="50800" marR="50800" marT="25400" marB="25400" anchor="ctr">
                    <a:solidFill>
                      <a:srgbClr val="444444"/>
                    </a:solidFill>
                  </a:tcPr>
                </a:tc>
                <a:tc>
                  <a:txBody>
                    <a:bodyPr/>
                    <a:lstStyle/>
                    <a:p>
                      <a:pPr algn="ctr">
                        <a:spcBef>
                          <a:spcPts val="0"/>
                        </a:spcBef>
                        <a:spcAft>
                          <a:spcPts val="0"/>
                        </a:spcAft>
                      </a:pPr>
                      <a:r>
                        <a:rPr sz="1100" b="1">
                          <a:solidFill>
                            <a:srgbClr val="FFFFFF"/>
                          </a:solidFill>
                          <a:latin typeface="Microsoft YaHei" panose="020B0503020204020204" charset="-122"/>
                        </a:rPr>
                        <a:t>Vanilla</a:t>
                      </a:r>
                      <a:endParaRPr sz="1100" b="1">
                        <a:solidFill>
                          <a:srgbClr val="FFFFFF"/>
                        </a:solidFill>
                        <a:latin typeface="Microsoft YaHei" panose="020B0503020204020204" charset="-122"/>
                      </a:endParaRPr>
                    </a:p>
                  </a:txBody>
                  <a:tcPr marL="50800" marR="50800" marT="25400" marB="25400" anchor="ctr">
                    <a:solidFill>
                      <a:srgbClr val="787878"/>
                    </a:solidFill>
                  </a:tcPr>
                </a:tc>
                <a:tc>
                  <a:txBody>
                    <a:bodyPr/>
                    <a:lstStyle/>
                    <a:p>
                      <a:pPr algn="ctr">
                        <a:spcBef>
                          <a:spcPts val="0"/>
                        </a:spcBef>
                        <a:spcAft>
                          <a:spcPts val="0"/>
                        </a:spcAft>
                      </a:pPr>
                      <a:r>
                        <a:rPr sz="1100" b="1">
                          <a:solidFill>
                            <a:srgbClr val="FFFFFF"/>
                          </a:solidFill>
                          <a:latin typeface="Microsoft YaHei" panose="020B0503020204020204" charset="-122"/>
                        </a:rPr>
                        <a:t>原生 OpenSpec</a:t>
                      </a:r>
                      <a:endParaRPr sz="1100" b="1">
                        <a:solidFill>
                          <a:srgbClr val="FFFFFF"/>
                        </a:solidFill>
                        <a:latin typeface="Microsoft YaHei" panose="020B0503020204020204" charset="-122"/>
                      </a:endParaRPr>
                    </a:p>
                  </a:txBody>
                  <a:tcPr marL="50800" marR="50800" marT="25400" marB="25400" anchor="ctr">
                    <a:solidFill>
                      <a:srgbClr val="0078D4"/>
                    </a:solidFill>
                  </a:tcPr>
                </a:tc>
                <a:tc>
                  <a:txBody>
                    <a:bodyPr/>
                    <a:lstStyle/>
                    <a:p>
                      <a:pPr algn="ctr">
                        <a:spcBef>
                          <a:spcPts val="0"/>
                        </a:spcBef>
                        <a:spcAft>
                          <a:spcPts val="0"/>
                        </a:spcAft>
                      </a:pPr>
                      <a:r>
                        <a:rPr sz="1100" b="1">
                          <a:solidFill>
                            <a:srgbClr val="FFFFFF"/>
                          </a:solidFill>
                          <a:latin typeface="Microsoft YaHei" panose="020B0503020204020204" charset="-122"/>
                        </a:rPr>
                        <a:t>OpenSpec-HW2</a:t>
                      </a:r>
                      <a:endParaRPr sz="1100" b="1">
                        <a:solidFill>
                          <a:srgbClr val="FFFFFF"/>
                        </a:solidFill>
                        <a:latin typeface="Microsoft YaHei" panose="020B0503020204020204" charset="-122"/>
                      </a:endParaRPr>
                    </a:p>
                  </a:txBody>
                  <a:tcPr marL="50800" marR="50800" marT="25400" marB="25400" anchor="ctr">
                    <a:solidFill>
                      <a:srgbClr val="107C10"/>
                    </a:solidFill>
                  </a:tcPr>
                </a:tc>
              </a:tr>
              <a:tr h="365760">
                <a:tc>
                  <a:txBody>
                    <a:bodyPr/>
                    <a:lstStyle/>
                    <a:p>
                      <a:pPr algn="l">
                        <a:spcBef>
                          <a:spcPts val="0"/>
                        </a:spcBef>
                        <a:spcAft>
                          <a:spcPts val="0"/>
                        </a:spcAft>
                      </a:pPr>
                      <a:r>
                        <a:rPr sz="1100" b="0">
                          <a:solidFill>
                            <a:srgbClr val="333333"/>
                          </a:solidFill>
                          <a:latin typeface="Microsoft YaHei" panose="020B0503020204020204" charset="-122"/>
                        </a:rPr>
                        <a:t>T+1 交收制度</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a:t>
                      </a:r>
                      <a:endParaRPr sz="1100" b="0">
                        <a:solidFill>
                          <a:srgbClr val="333333"/>
                        </a:solidFill>
                        <a:latin typeface="Microsoft YaHei" panose="020B0503020204020204" charset="-122"/>
                      </a:endParaRPr>
                    </a:p>
                  </a:txBody>
                  <a:tcPr marL="50800" marR="50800" marT="25400" marB="25400" anchor="ctr"/>
                </a:tc>
              </a:tr>
              <a:tr h="365760">
                <a:tc>
                  <a:txBody>
                    <a:bodyPr/>
                    <a:lstStyle/>
                    <a:p>
                      <a:pPr algn="l">
                        <a:spcBef>
                          <a:spcPts val="0"/>
                        </a:spcBef>
                        <a:spcAft>
                          <a:spcPts val="0"/>
                        </a:spcAft>
                      </a:pPr>
                      <a:r>
                        <a:rPr sz="1100" b="0">
                          <a:solidFill>
                            <a:srgbClr val="333333"/>
                          </a:solidFill>
                          <a:latin typeface="Microsoft YaHei" panose="020B0503020204020204" charset="-122"/>
                        </a:rPr>
                        <a:t>涨跌停限制 (10%)</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a:t>
                      </a:r>
                      <a:endParaRPr sz="1100" b="0">
                        <a:solidFill>
                          <a:srgbClr val="333333"/>
                        </a:solidFill>
                        <a:latin typeface="Microsoft YaHei" panose="020B0503020204020204" charset="-122"/>
                      </a:endParaRPr>
                    </a:p>
                  </a:txBody>
                  <a:tcPr marL="50800" marR="50800" marT="25400" marB="25400" anchor="ctr">
                    <a:solidFill>
                      <a:srgbClr val="F8F8F8"/>
                    </a:solidFill>
                  </a:tcPr>
                </a:tc>
              </a:tr>
              <a:tr h="365760">
                <a:tc>
                  <a:txBody>
                    <a:bodyPr/>
                    <a:lstStyle/>
                    <a:p>
                      <a:pPr algn="l">
                        <a:spcBef>
                          <a:spcPts val="0"/>
                        </a:spcBef>
                        <a:spcAft>
                          <a:spcPts val="0"/>
                        </a:spcAft>
                      </a:pPr>
                      <a:r>
                        <a:rPr sz="1100" b="0">
                          <a:solidFill>
                            <a:srgbClr val="333333"/>
                          </a:solidFill>
                          <a:latin typeface="Microsoft YaHei" panose="020B0503020204020204" charset="-122"/>
                        </a:rPr>
                        <a:t>印花税 / 佣金</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a:t>
                      </a:r>
                      <a:endParaRPr sz="1100" b="0">
                        <a:solidFill>
                          <a:srgbClr val="333333"/>
                        </a:solidFill>
                        <a:latin typeface="Microsoft YaHei" panose="020B0503020204020204" charset="-122"/>
                      </a:endParaRPr>
                    </a:p>
                  </a:txBody>
                  <a:tcPr marL="50800" marR="50800" marT="25400" marB="25400" anchor="ctr"/>
                </a:tc>
              </a:tr>
              <a:tr h="365760">
                <a:tc>
                  <a:txBody>
                    <a:bodyPr/>
                    <a:lstStyle/>
                    <a:p>
                      <a:pPr algn="l">
                        <a:spcBef>
                          <a:spcPts val="0"/>
                        </a:spcBef>
                        <a:spcAft>
                          <a:spcPts val="0"/>
                        </a:spcAft>
                      </a:pPr>
                      <a:r>
                        <a:rPr sz="1100" b="0">
                          <a:solidFill>
                            <a:srgbClr val="333333"/>
                          </a:solidFill>
                          <a:latin typeface="Microsoft YaHei" panose="020B0503020204020204" charset="-122"/>
                        </a:rPr>
                        <a:t>最小买入单位 (100股)</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a:t>
                      </a:r>
                      <a:endParaRPr sz="1100" b="0">
                        <a:solidFill>
                          <a:srgbClr val="333333"/>
                        </a:solidFill>
                        <a:latin typeface="Microsoft YaHei" panose="020B0503020204020204" charset="-122"/>
                      </a:endParaRPr>
                    </a:p>
                  </a:txBody>
                  <a:tcPr marL="50800" marR="50800" marT="25400" marB="25400" anchor="ctr">
                    <a:solidFill>
                      <a:srgbClr val="F8F8F8"/>
                    </a:solidFill>
                  </a:tcPr>
                </a:tc>
              </a:tr>
              <a:tr h="365760">
                <a:tc>
                  <a:txBody>
                    <a:bodyPr/>
                    <a:lstStyle/>
                    <a:p>
                      <a:pPr algn="l">
                        <a:spcBef>
                          <a:spcPts val="0"/>
                        </a:spcBef>
                        <a:spcAft>
                          <a:spcPts val="0"/>
                        </a:spcAft>
                      </a:pPr>
                      <a:r>
                        <a:rPr sz="1100" b="0">
                          <a:solidFill>
                            <a:srgbClr val="333333"/>
                          </a:solidFill>
                          <a:latin typeface="Microsoft YaHei" panose="020B0503020204020204" charset="-122"/>
                        </a:rPr>
                        <a:t>停牌处理</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a:t>
                      </a:r>
                      <a:endParaRPr sz="1100" b="0">
                        <a:solidFill>
                          <a:srgbClr val="333333"/>
                        </a:solidFill>
                        <a:latin typeface="Microsoft YaHei" panose="020B0503020204020204" charset="-122"/>
                      </a:endParaRPr>
                    </a:p>
                  </a:txBody>
                  <a:tcPr marL="50800" marR="50800" marT="25400" marB="25400" anchor="ctr"/>
                </a:tc>
              </a:tr>
              <a:tr h="365760">
                <a:tc>
                  <a:txBody>
                    <a:bodyPr/>
                    <a:lstStyle/>
                    <a:p>
                      <a:pPr algn="l">
                        <a:spcBef>
                          <a:spcPts val="0"/>
                        </a:spcBef>
                        <a:spcAft>
                          <a:spcPts val="0"/>
                        </a:spcAft>
                      </a:pPr>
                      <a:r>
                        <a:rPr sz="1100" b="0">
                          <a:solidFill>
                            <a:srgbClr val="FF0000"/>
                          </a:solidFill>
                          <a:latin typeface="Microsoft YaHei" panose="020B0503020204020204" charset="-122"/>
                        </a:rPr>
                        <a:t>前视偏差检测</a:t>
                      </a:r>
                      <a:endParaRPr sz="1100" b="0">
                        <a:solidFill>
                          <a:srgbClr val="FF0000"/>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1">
                          <a:solidFill>
                            <a:srgbClr val="FF0000"/>
                          </a:solidFill>
                          <a:latin typeface="Microsoft YaHei" panose="020B0503020204020204" charset="-122"/>
                        </a:rPr>
                        <a:t>✓</a:t>
                      </a:r>
                      <a:endParaRPr sz="1100" b="1">
                        <a:solidFill>
                          <a:srgbClr val="FF0000"/>
                        </a:solidFill>
                        <a:latin typeface="Microsoft YaHei" panose="020B0503020204020204" charset="-122"/>
                      </a:endParaRPr>
                    </a:p>
                  </a:txBody>
                  <a:tcPr marL="50800" marR="50800" marT="25400" marB="25400" anchor="ctr">
                    <a:solidFill>
                      <a:srgbClr val="F8F8F8"/>
                    </a:solidFill>
                  </a:tcPr>
                </a:tc>
              </a:tr>
              <a:tr h="365760">
                <a:tc>
                  <a:txBody>
                    <a:bodyPr/>
                    <a:lstStyle/>
                    <a:p>
                      <a:pPr algn="l">
                        <a:spcBef>
                          <a:spcPts val="0"/>
                        </a:spcBef>
                        <a:spcAft>
                          <a:spcPts val="0"/>
                        </a:spcAft>
                      </a:pPr>
                      <a:r>
                        <a:rPr sz="1100" b="0">
                          <a:solidFill>
                            <a:srgbClr val="333333"/>
                          </a:solidFill>
                          <a:latin typeface="Microsoft YaHei" panose="020B0503020204020204" charset="-122"/>
                        </a:rPr>
                        <a:t>滑点模拟</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基础</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完整</a:t>
                      </a:r>
                      <a:endParaRPr sz="1100" b="0">
                        <a:solidFill>
                          <a:srgbClr val="333333"/>
                        </a:solidFill>
                        <a:latin typeface="Microsoft YaHei" panose="020B0503020204020204" charset="-122"/>
                      </a:endParaRPr>
                    </a:p>
                  </a:txBody>
                  <a:tcPr marL="50800" marR="50800" marT="25400" marB="25400" anchor="ctr"/>
                </a:tc>
              </a:tr>
            </a:tbl>
          </a:graphicData>
        </a:graphic>
      </p:graphicFrame>
      <p:sp>
        <p:nvSpPr>
          <p:cNvPr id="6" name="TextBox 5"/>
          <p:cNvSpPr txBox="1"/>
          <p:nvPr/>
        </p:nvSpPr>
        <p:spPr>
          <a:xfrm>
            <a:off x="7132320" y="1234440"/>
            <a:ext cx="3657600" cy="320040"/>
          </a:xfrm>
          <a:prstGeom prst="rect">
            <a:avLst/>
          </a:prstGeom>
          <a:noFill/>
        </p:spPr>
        <p:txBody>
          <a:bodyPr wrap="square">
            <a:spAutoFit/>
          </a:bodyPr>
          <a:lstStyle/>
          <a:p>
            <a:pPr algn="l"/>
            <a:r>
              <a:rPr sz="1400" b="1">
                <a:solidFill>
                  <a:srgbClr val="333333"/>
                </a:solidFill>
                <a:latin typeface="Microsoft YaHei" panose="020B0503020204020204" charset="-122"/>
                <a:ea typeface="Microsoft YaHei" panose="020B0503020204020204" charset="-122"/>
              </a:rPr>
              <a:t>性能评估指标对比</a:t>
            </a:r>
            <a:endParaRPr sz="1400" b="1">
              <a:solidFill>
                <a:srgbClr val="333333"/>
              </a:solidFill>
              <a:latin typeface="Microsoft YaHei" panose="020B0503020204020204" charset="-122"/>
            </a:endParaRPr>
          </a:p>
        </p:txBody>
      </p:sp>
      <p:sp>
        <p:nvSpPr>
          <p:cNvPr id="7" name="TextBox 6"/>
          <p:cNvSpPr txBox="1"/>
          <p:nvPr/>
        </p:nvSpPr>
        <p:spPr>
          <a:xfrm>
            <a:off x="7132320" y="1600200"/>
            <a:ext cx="3657600" cy="3200400"/>
          </a:xfrm>
          <a:prstGeom prst="rect">
            <a:avLst/>
          </a:prstGeom>
          <a:noFill/>
        </p:spPr>
        <p:txBody>
          <a:bodyPr wrap="square">
            <a:spAutoFit/>
          </a:bodyPr>
          <a:lstStyle/>
          <a:p>
            <a:pPr algn="l">
              <a:spcAft>
                <a:spcPts val="300"/>
              </a:spcAft>
            </a:pPr>
            <a:r>
              <a:rPr sz="1200" b="1">
                <a:solidFill>
                  <a:srgbClr val="787878"/>
                </a:solidFill>
                <a:latin typeface="Microsoft YaHei" panose="020B0503020204020204" charset="-122"/>
                <a:ea typeface="Microsoft YaHei" panose="020B0503020204020204" charset="-122"/>
              </a:rPr>
              <a:t>Vanilla Claude Code</a:t>
            </a:r>
            <a:endParaRPr sz="1200" b="1">
              <a:solidFill>
                <a:srgbClr val="787878"/>
              </a:solidFill>
              <a:latin typeface="Microsoft YaHei" panose="020B0503020204020204" charset="-122"/>
            </a:endParaRPr>
          </a:p>
          <a:p>
            <a:pPr algn="l">
              <a:spcAft>
                <a:spcPts val="800"/>
              </a:spcAft>
            </a:pPr>
            <a:r>
              <a:rPr sz="1100" b="0">
                <a:solidFill>
                  <a:srgbClr val="333333"/>
                </a:solidFill>
                <a:latin typeface="Microsoft YaHei" panose="020B0503020204020204" charset="-122"/>
                <a:ea typeface="Microsoft YaHei" panose="020B0503020204020204" charset="-122"/>
              </a:rPr>
              <a:t>• 无标准化性能指标输出</a:t>
            </a:r>
            <a:endParaRPr sz="1100" b="0">
              <a:solidFill>
                <a:srgbClr val="333333"/>
              </a:solidFill>
              <a:latin typeface="Microsoft YaHei" panose="020B0503020204020204" charset="-122"/>
            </a:endParaRPr>
          </a:p>
          <a:p>
            <a:pPr algn="l">
              <a:spcAft>
                <a:spcPts val="300"/>
              </a:spcAft>
            </a:pPr>
            <a:r>
              <a:rPr sz="1200" b="1">
                <a:solidFill>
                  <a:srgbClr val="0078D4"/>
                </a:solidFill>
                <a:latin typeface="Microsoft YaHei" panose="020B0503020204020204" charset="-122"/>
                <a:ea typeface="Microsoft YaHei" panose="020B0503020204020204" charset="-122"/>
              </a:rPr>
              <a:t>原生 OpenSpec — 7 个指标</a:t>
            </a:r>
            <a:endParaRPr sz="1200" b="1">
              <a:solidFill>
                <a:srgbClr val="0078D4"/>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年化收益率、最大回撤、夏普比率</a:t>
            </a:r>
            <a:endParaRPr sz="1100" b="0">
              <a:solidFill>
                <a:srgbClr val="333333"/>
              </a:solidFill>
              <a:latin typeface="Microsoft YaHei" panose="020B0503020204020204" charset="-122"/>
            </a:endParaRPr>
          </a:p>
          <a:p>
            <a:pPr algn="l">
              <a:spcAft>
                <a:spcPts val="800"/>
              </a:spcAft>
            </a:pPr>
            <a:r>
              <a:rPr sz="1100" b="0">
                <a:solidFill>
                  <a:srgbClr val="333333"/>
                </a:solidFill>
                <a:latin typeface="Microsoft YaHei" panose="020B0503020204020204" charset="-122"/>
                <a:ea typeface="Microsoft YaHei" panose="020B0503020204020204" charset="-122"/>
              </a:rPr>
              <a:t>• 胜率、盈亏比、波动率、Calmar比率</a:t>
            </a:r>
            <a:endParaRPr sz="1100" b="0">
              <a:solidFill>
                <a:srgbClr val="333333"/>
              </a:solidFill>
              <a:latin typeface="Microsoft YaHei" panose="020B0503020204020204" charset="-122"/>
            </a:endParaRPr>
          </a:p>
          <a:p>
            <a:pPr algn="l">
              <a:spcAft>
                <a:spcPts val="300"/>
              </a:spcAft>
            </a:pPr>
            <a:r>
              <a:rPr sz="1200" b="1">
                <a:solidFill>
                  <a:srgbClr val="107C10"/>
                </a:solidFill>
                <a:latin typeface="Microsoft YaHei" panose="020B0503020204020204" charset="-122"/>
                <a:ea typeface="Microsoft YaHei" panose="020B0503020204020204" charset="-122"/>
              </a:rPr>
              <a:t>OpenSpec-HW2 — 13+ 个指标</a:t>
            </a:r>
            <a:endParaRPr sz="1200" b="1">
              <a:solidFill>
                <a:srgbClr val="107C10"/>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上述全部 + Sortino 比率</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信息比率、Alpha、Beta</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月度收益分布、连续亏损统计</a:t>
            </a:r>
            <a:endParaRPr sz="1100" b="0">
              <a:solidFill>
                <a:srgbClr val="333333"/>
              </a:solidFill>
              <a:latin typeface="Microsoft YaHei" panose="020B0503020204020204" charset="-122"/>
            </a:endParaRPr>
          </a:p>
          <a:p>
            <a:pPr algn="l">
              <a:spcAft>
                <a:spcPts val="200"/>
              </a:spcAft>
            </a:pPr>
            <a:r>
              <a:rPr sz="1100" b="0">
                <a:solidFill>
                  <a:srgbClr val="333333"/>
                </a:solidFill>
                <a:latin typeface="Microsoft YaHei" panose="020B0503020204020204" charset="-122"/>
                <a:ea typeface="Microsoft YaHei" panose="020B0503020204020204" charset="-122"/>
              </a:rPr>
              <a:t>• 基准对比分析</a:t>
            </a:r>
            <a:endParaRPr sz="1100" b="0">
              <a:solidFill>
                <a:srgbClr val="333333"/>
              </a:solidFill>
              <a:latin typeface="Microsoft YaHei" panose="020B0503020204020204" charset="-122"/>
            </a:endParaRPr>
          </a:p>
        </p:txBody>
      </p:sp>
      <p:sp>
        <p:nvSpPr>
          <p:cNvPr id="8" name="Rounded Rectangle 7"/>
          <p:cNvSpPr/>
          <p:nvPr/>
        </p:nvSpPr>
        <p:spPr>
          <a:xfrm>
            <a:off x="457200" y="4434840"/>
            <a:ext cx="10332720" cy="1188720"/>
          </a:xfrm>
          <a:prstGeom prst="roundRect">
            <a:avLst/>
          </a:prstGeom>
          <a:solidFill>
            <a:srgbClr val="FEF3E8"/>
          </a:solidFill>
          <a:ln w="12700">
            <a:solidFill>
              <a:srgbClr val="E8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526280"/>
            <a:ext cx="9966960" cy="1005840"/>
          </a:xfrm>
          <a:prstGeom prst="rect">
            <a:avLst/>
          </a:prstGeom>
          <a:noFill/>
        </p:spPr>
        <p:txBody>
          <a:bodyPr wrap="square">
            <a:spAutoFit/>
          </a:bodyPr>
          <a:lstStyle/>
          <a:p>
            <a:pPr algn="l">
              <a:spcAft>
                <a:spcPts val="400"/>
              </a:spcAft>
            </a:pPr>
            <a:r>
              <a:rPr sz="1400" b="1">
                <a:solidFill>
                  <a:srgbClr val="E86C00"/>
                </a:solidFill>
                <a:latin typeface="Microsoft YaHei" panose="020B0503020204020204" charset="-122"/>
                <a:ea typeface="Microsoft YaHei" panose="020B0503020204020204" charset="-122"/>
              </a:rPr>
              <a:t>回测真实性结论</a:t>
            </a:r>
            <a:endParaRPr sz="1400" b="1">
              <a:solidFill>
                <a:srgbClr val="E86C00"/>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Vanilla 版完全忽略 A 股交易规则，回测结果无参考价值，直接上线必定亏损。</a:t>
            </a:r>
            <a:endParaRPr sz="1200" b="0">
              <a:solidFill>
                <a:srgbClr val="333333"/>
              </a:solidFill>
              <a:latin typeface="Microsoft YaHei" panose="020B0503020204020204" charset="-122"/>
            </a:endParaRPr>
          </a:p>
          <a:p>
            <a:pPr algn="l">
              <a:spcAft>
                <a:spcPts val="200"/>
              </a:spcAft>
            </a:pPr>
            <a:r>
              <a:rPr sz="1200" b="0">
                <a:solidFill>
                  <a:srgbClr val="333333"/>
                </a:solidFill>
                <a:latin typeface="Microsoft YaHei" panose="020B0503020204020204" charset="-122"/>
                <a:ea typeface="Microsoft YaHei" panose="020B0503020204020204" charset="-122"/>
              </a:rPr>
              <a:t>原生 OpenSpec 版覆盖了核心 A 股规则，回测基本可信；HW2 版进一步增加了前视偏差检测和完整滑点模拟，回测结果最接近真实市场表现。</a:t>
            </a:r>
            <a:endParaRPr sz="1200" b="0">
              <a:solidFill>
                <a:srgbClr val="333333"/>
              </a:solidFill>
              <a:latin typeface="Microsoft YaHei" panose="020B0503020204020204" charset="-122"/>
            </a:endParaRPr>
          </a:p>
        </p:txBody>
      </p:sp>
      <p:sp>
        <p:nvSpPr>
          <p:cNvPr id="10" name="TextBox 9"/>
          <p:cNvSpPr txBox="1"/>
          <p:nvPr/>
        </p:nvSpPr>
        <p:spPr>
          <a:xfrm>
            <a:off x="11094085" y="6400800"/>
            <a:ext cx="914400" cy="365760"/>
          </a:xfrm>
          <a:prstGeom prst="rect">
            <a:avLst/>
          </a:prstGeom>
          <a:noFill/>
        </p:spPr>
        <p:txBody>
          <a:bodyPr wrap="square">
            <a:spAutoFit/>
          </a:bodyPr>
          <a:lstStyle/>
          <a:p>
            <a:pPr algn="r"/>
            <a:r>
              <a:rPr sz="1100" b="0">
                <a:solidFill>
                  <a:srgbClr val="999999"/>
                </a:solidFill>
                <a:latin typeface="Microsoft YaHei" panose="020B0503020204020204" charset="-122"/>
                <a:ea typeface="Microsoft YaHei" panose="020B0503020204020204" charset="-122"/>
              </a:rPr>
              <a:t>30/41</a:t>
            </a:r>
            <a:endParaRPr sz="1100" b="0">
              <a:solidFill>
                <a:srgbClr val="999999"/>
              </a:solidFill>
              <a:latin typeface="Microsoft YaHei" panose="020B0503020204020204" charset="-122"/>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57200" y="182880"/>
            <a:ext cx="10058400" cy="429895"/>
          </a:xfrm>
          <a:prstGeom prst="rect">
            <a:avLst/>
          </a:prstGeom>
          <a:noFill/>
        </p:spPr>
        <p:txBody>
          <a:bodyPr wrap="square">
            <a:spAutoFit/>
          </a:bodyPr>
          <a:lstStyle/>
          <a:p>
            <a:r>
              <a:rPr sz="2200" b="1">
                <a:solidFill>
                  <a:srgbClr val="1A1A2E"/>
                </a:solidFill>
              </a:rPr>
              <a:t>前视偏差检测详解：</a:t>
            </a:r>
            <a:r>
              <a:rPr lang="en-US" sz="2200" b="1">
                <a:solidFill>
                  <a:srgbClr val="1A1A2E"/>
                </a:solidFill>
              </a:rPr>
              <a:t>OpenSpec-</a:t>
            </a:r>
            <a:r>
              <a:rPr sz="2200" b="1">
                <a:solidFill>
                  <a:srgbClr val="1A1A2E"/>
                </a:solidFill>
              </a:rPr>
              <a:t>HW2 </a:t>
            </a:r>
            <a:r>
              <a:rPr lang="zh-CN" sz="2200" b="1">
                <a:solidFill>
                  <a:srgbClr val="1A1A2E"/>
                </a:solidFill>
              </a:rPr>
              <a:t>得益于</a:t>
            </a:r>
            <a:r>
              <a:rPr lang="en-US" altLang="zh-CN" sz="2200" b="1">
                <a:solidFill>
                  <a:srgbClr val="1A1A2E"/>
                </a:solidFill>
              </a:rPr>
              <a:t>Usecase</a:t>
            </a:r>
            <a:r>
              <a:rPr lang="zh-CN" altLang="en-US" sz="2200" b="1">
                <a:solidFill>
                  <a:srgbClr val="1A1A2E"/>
                </a:solidFill>
              </a:rPr>
              <a:t>生成</a:t>
            </a:r>
            <a:r>
              <a:rPr sz="2200" b="1">
                <a:solidFill>
                  <a:srgbClr val="1A1A2E"/>
                </a:solidFill>
              </a:rPr>
              <a:t>独有的回测真实性保障</a:t>
            </a:r>
            <a:endParaRPr sz="2200" b="1">
              <a:solidFill>
                <a:srgbClr val="1A1A2E"/>
              </a:solidFill>
            </a:endParaRPr>
          </a:p>
        </p:txBody>
      </p:sp>
      <p:sp>
        <p:nvSpPr>
          <p:cNvPr id="3" name="Rectangle 2"/>
          <p:cNvSpPr/>
          <p:nvPr/>
        </p:nvSpPr>
        <p:spPr>
          <a:xfrm>
            <a:off x="457200" y="658368"/>
            <a:ext cx="10332720" cy="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713232"/>
            <a:ext cx="10058400" cy="274320"/>
          </a:xfrm>
          <a:prstGeom prst="rect">
            <a:avLst/>
          </a:prstGeom>
          <a:noFill/>
        </p:spPr>
        <p:txBody>
          <a:bodyPr wrap="square">
            <a:spAutoFit/>
          </a:bodyPr>
          <a:lstStyle/>
          <a:p>
            <a:r>
              <a:rPr sz="1000">
                <a:solidFill>
                  <a:srgbClr val="444444"/>
                </a:solidFill>
              </a:rPr>
              <a:t>前视偏差（Look-Ahead Bias）是量化回测中的经典陷阱：回测时"偷看"了当时不可能知道的未来数据，导致回测收益虚高</a:t>
            </a:r>
            <a:endParaRPr sz="1000">
              <a:solidFill>
                <a:srgbClr val="444444"/>
              </a:solidFill>
            </a:endParaRPr>
          </a:p>
        </p:txBody>
      </p:sp>
      <p:sp>
        <p:nvSpPr>
          <p:cNvPr id="5" name="TextBox 4"/>
          <p:cNvSpPr txBox="1"/>
          <p:nvPr/>
        </p:nvSpPr>
        <p:spPr>
          <a:xfrm>
            <a:off x="457200" y="1005840"/>
            <a:ext cx="5029200" cy="274320"/>
          </a:xfrm>
          <a:prstGeom prst="rect">
            <a:avLst/>
          </a:prstGeom>
          <a:noFill/>
        </p:spPr>
        <p:txBody>
          <a:bodyPr wrap="none">
            <a:spAutoFit/>
          </a:bodyPr>
          <a:lstStyle/>
          <a:p>
            <a:r>
              <a:rPr sz="1500" b="1">
                <a:solidFill>
                  <a:srgbClr val="2C3E50"/>
                </a:solidFill>
              </a:rPr>
              <a:t>典型前视偏差场景</a:t>
            </a:r>
            <a:endParaRPr sz="1500" b="1">
              <a:solidFill>
                <a:srgbClr val="2C3E50"/>
              </a:solidFill>
            </a:endParaRPr>
          </a:p>
        </p:txBody>
      </p:sp>
      <p:sp>
        <p:nvSpPr>
          <p:cNvPr id="6" name="TextBox 5"/>
          <p:cNvSpPr txBox="1"/>
          <p:nvPr/>
        </p:nvSpPr>
        <p:spPr>
          <a:xfrm>
            <a:off x="5760720" y="1005840"/>
            <a:ext cx="3005455" cy="321945"/>
          </a:xfrm>
          <a:prstGeom prst="rect">
            <a:avLst/>
          </a:prstGeom>
          <a:noFill/>
        </p:spPr>
        <p:txBody>
          <a:bodyPr wrap="none">
            <a:spAutoFit/>
          </a:bodyPr>
          <a:lstStyle/>
          <a:p>
            <a:r>
              <a:rPr lang="en-US" sz="1500" b="1">
                <a:solidFill>
                  <a:srgbClr val="2C3E50"/>
                </a:solidFill>
              </a:rPr>
              <a:t>OpenSpec-</a:t>
            </a:r>
            <a:r>
              <a:rPr sz="1500" b="1">
                <a:solidFill>
                  <a:srgbClr val="2C3E50"/>
                </a:solidFill>
              </a:rPr>
              <a:t>HW2 的防前视偏差实现</a:t>
            </a:r>
            <a:endParaRPr sz="1500" b="1">
              <a:solidFill>
                <a:srgbClr val="2C3E50"/>
              </a:solidFill>
            </a:endParaRPr>
          </a:p>
        </p:txBody>
      </p:sp>
      <p:sp>
        <p:nvSpPr>
          <p:cNvPr id="7" name="Rounded Rectangle 6"/>
          <p:cNvSpPr/>
          <p:nvPr/>
        </p:nvSpPr>
        <p:spPr>
          <a:xfrm>
            <a:off x="457200" y="1325880"/>
            <a:ext cx="5029200" cy="1143000"/>
          </a:xfrm>
          <a:prstGeom prst="roundRect">
            <a:avLst/>
          </a:prstGeom>
          <a:solidFill>
            <a:srgbClr val="F0F0F0"/>
          </a:solidFill>
          <a:ln w="12700">
            <a:solidFill>
              <a:srgbClr val="7878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399032"/>
            <a:ext cx="4663440" cy="1005840"/>
          </a:xfrm>
          <a:prstGeom prst="rect">
            <a:avLst/>
          </a:prstGeom>
          <a:noFill/>
        </p:spPr>
        <p:txBody>
          <a:bodyPr wrap="square">
            <a:spAutoFit/>
          </a:bodyPr>
          <a:lstStyle/>
          <a:p>
            <a:r>
              <a:rPr sz="1300" b="1">
                <a:solidFill>
                  <a:srgbClr val="787878"/>
                </a:solidFill>
              </a:rPr>
              <a:t>幸存者偏差</a:t>
            </a:r>
            <a:endParaRPr sz="1300" b="1">
              <a:solidFill>
                <a:srgbClr val="787878"/>
              </a:solidFill>
            </a:endParaRPr>
          </a:p>
          <a:p>
            <a:pPr>
              <a:spcBef>
                <a:spcPts val="200"/>
              </a:spcBef>
            </a:pPr>
            <a:r>
              <a:rPr sz="900">
                <a:solidFill>
                  <a:srgbClr val="444444"/>
                </a:solidFill>
              </a:rPr>
              <a:t>• 用今天的成分股列表回测 3 年前</a:t>
            </a:r>
            <a:endParaRPr sz="900">
              <a:solidFill>
                <a:srgbClr val="444444"/>
              </a:solidFill>
            </a:endParaRPr>
          </a:p>
          <a:p>
            <a:pPr>
              <a:spcBef>
                <a:spcPts val="200"/>
              </a:spcBef>
            </a:pPr>
            <a:r>
              <a:rPr sz="900">
                <a:solidFill>
                  <a:srgbClr val="444444"/>
                </a:solidFill>
              </a:rPr>
              <a:t>• 已退市的"坏股票"被排除，回测只选了活下来的赢家</a:t>
            </a:r>
            <a:endParaRPr sz="900">
              <a:solidFill>
                <a:srgbClr val="444444"/>
              </a:solidFill>
            </a:endParaRPr>
          </a:p>
          <a:p>
            <a:pPr>
              <a:spcBef>
                <a:spcPts val="200"/>
              </a:spcBef>
            </a:pPr>
            <a:r>
              <a:rPr sz="900">
                <a:solidFill>
                  <a:srgbClr val="444444"/>
                </a:solidFill>
              </a:rPr>
              <a:t>• 导致回测收益虚高</a:t>
            </a:r>
            <a:endParaRPr sz="900">
              <a:solidFill>
                <a:srgbClr val="444444"/>
              </a:solidFill>
            </a:endParaRPr>
          </a:p>
        </p:txBody>
      </p:sp>
      <p:sp>
        <p:nvSpPr>
          <p:cNvPr id="9" name="Rounded Rectangle 8"/>
          <p:cNvSpPr/>
          <p:nvPr/>
        </p:nvSpPr>
        <p:spPr>
          <a:xfrm>
            <a:off x="457200" y="2560320"/>
            <a:ext cx="5029200" cy="1005840"/>
          </a:xfrm>
          <a:prstGeom prst="roundRect">
            <a:avLst/>
          </a:prstGeom>
          <a:solidFill>
            <a:srgbClr val="F0F0F0"/>
          </a:solidFill>
          <a:ln w="12700">
            <a:solidFill>
              <a:srgbClr val="7878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633472"/>
            <a:ext cx="4663440" cy="868680"/>
          </a:xfrm>
          <a:prstGeom prst="rect">
            <a:avLst/>
          </a:prstGeom>
          <a:noFill/>
        </p:spPr>
        <p:txBody>
          <a:bodyPr wrap="square">
            <a:spAutoFit/>
          </a:bodyPr>
          <a:lstStyle/>
          <a:p>
            <a:r>
              <a:rPr sz="1300" b="1">
                <a:solidFill>
                  <a:srgbClr val="787878"/>
                </a:solidFill>
              </a:rPr>
              <a:t>数据泄露</a:t>
            </a:r>
            <a:endParaRPr sz="1300" b="1">
              <a:solidFill>
                <a:srgbClr val="787878"/>
              </a:solidFill>
            </a:endParaRPr>
          </a:p>
          <a:p>
            <a:pPr>
              <a:spcBef>
                <a:spcPts val="200"/>
              </a:spcBef>
            </a:pPr>
            <a:r>
              <a:rPr sz="900">
                <a:solidFill>
                  <a:srgbClr val="444444"/>
                </a:solidFill>
              </a:rPr>
              <a:t>• 用当天收盘价决定当天是否买入</a:t>
            </a:r>
            <a:endParaRPr sz="900">
              <a:solidFill>
                <a:srgbClr val="444444"/>
              </a:solidFill>
            </a:endParaRPr>
          </a:p>
          <a:p>
            <a:pPr>
              <a:spcBef>
                <a:spcPts val="200"/>
              </a:spcBef>
            </a:pPr>
            <a:r>
              <a:rPr sz="900">
                <a:solidFill>
                  <a:srgbClr val="444444"/>
                </a:solidFill>
              </a:rPr>
              <a:t>• 实际交易中收盘价要到收盘后才知道</a:t>
            </a:r>
            <a:endParaRPr sz="900">
              <a:solidFill>
                <a:srgbClr val="444444"/>
              </a:solidFill>
            </a:endParaRPr>
          </a:p>
        </p:txBody>
      </p:sp>
      <p:sp>
        <p:nvSpPr>
          <p:cNvPr id="11" name="Rounded Rectangle 10"/>
          <p:cNvSpPr/>
          <p:nvPr/>
        </p:nvSpPr>
        <p:spPr>
          <a:xfrm>
            <a:off x="457200" y="3657600"/>
            <a:ext cx="5029200" cy="1005840"/>
          </a:xfrm>
          <a:prstGeom prst="roundRect">
            <a:avLst/>
          </a:prstGeom>
          <a:solidFill>
            <a:srgbClr val="F0F0F0"/>
          </a:solidFill>
          <a:ln w="12700">
            <a:solidFill>
              <a:srgbClr val="7878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730752"/>
            <a:ext cx="4663440" cy="868680"/>
          </a:xfrm>
          <a:prstGeom prst="rect">
            <a:avLst/>
          </a:prstGeom>
          <a:noFill/>
        </p:spPr>
        <p:txBody>
          <a:bodyPr wrap="square">
            <a:spAutoFit/>
          </a:bodyPr>
          <a:lstStyle/>
          <a:p>
            <a:r>
              <a:rPr sz="1300" b="1">
                <a:solidFill>
                  <a:srgbClr val="787878"/>
                </a:solidFill>
              </a:rPr>
              <a:t>未来函数</a:t>
            </a:r>
            <a:endParaRPr sz="1300" b="1">
              <a:solidFill>
                <a:srgbClr val="787878"/>
              </a:solidFill>
            </a:endParaRPr>
          </a:p>
          <a:p>
            <a:pPr>
              <a:spcBef>
                <a:spcPts val="200"/>
              </a:spcBef>
            </a:pPr>
            <a:r>
              <a:rPr sz="900">
                <a:solidFill>
                  <a:srgbClr val="444444"/>
                </a:solidFill>
              </a:rPr>
              <a:t>• 用未来才发布的财报数据做当期因子计算</a:t>
            </a:r>
            <a:endParaRPr sz="900">
              <a:solidFill>
                <a:srgbClr val="444444"/>
              </a:solidFill>
            </a:endParaRPr>
          </a:p>
          <a:p>
            <a:pPr>
              <a:spcBef>
                <a:spcPts val="200"/>
              </a:spcBef>
            </a:pPr>
            <a:r>
              <a:rPr sz="900">
                <a:solidFill>
                  <a:srgbClr val="444444"/>
                </a:solidFill>
              </a:rPr>
              <a:t>• 如 Q3 财报 10 月底发布，但回测在 7 月就使用了</a:t>
            </a:r>
            <a:endParaRPr sz="900">
              <a:solidFill>
                <a:srgbClr val="444444"/>
              </a:solidFill>
            </a:endParaRPr>
          </a:p>
        </p:txBody>
      </p:sp>
      <p:sp>
        <p:nvSpPr>
          <p:cNvPr id="13" name="Rounded Rectangle 12"/>
          <p:cNvSpPr/>
          <p:nvPr/>
        </p:nvSpPr>
        <p:spPr>
          <a:xfrm>
            <a:off x="5760720" y="1325880"/>
            <a:ext cx="5029200" cy="1143000"/>
          </a:xfrm>
          <a:prstGeom prst="roundRect">
            <a:avLst/>
          </a:prstGeom>
          <a:solidFill>
            <a:srgbClr val="E8F5E9"/>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0" y="1399032"/>
            <a:ext cx="4663440" cy="1005840"/>
          </a:xfrm>
          <a:prstGeom prst="rect">
            <a:avLst/>
          </a:prstGeom>
          <a:noFill/>
        </p:spPr>
        <p:txBody>
          <a:bodyPr wrap="square">
            <a:spAutoFit/>
          </a:bodyPr>
          <a:lstStyle/>
          <a:p>
            <a:r>
              <a:rPr sz="1300" b="1">
                <a:solidFill>
                  <a:srgbClr val="107C10"/>
                </a:solidFill>
              </a:rPr>
              <a:t>Point-in-time 股票池查询</a:t>
            </a:r>
            <a:endParaRPr sz="1300" b="1">
              <a:solidFill>
                <a:srgbClr val="107C10"/>
              </a:solidFill>
            </a:endParaRPr>
          </a:p>
          <a:p>
            <a:pPr>
              <a:spcBef>
                <a:spcPts val="200"/>
              </a:spcBef>
            </a:pPr>
            <a:r>
              <a:rPr sz="900">
                <a:solidFill>
                  <a:srgbClr val="444444"/>
                </a:solidFill>
              </a:rPr>
              <a:t>• get_point_in_time_universe(date) 查询历史时点行业分类</a:t>
            </a:r>
            <a:endParaRPr sz="900">
              <a:solidFill>
                <a:srgbClr val="444444"/>
              </a:solidFill>
            </a:endParaRPr>
          </a:p>
          <a:p>
            <a:pPr>
              <a:spcBef>
                <a:spcPts val="200"/>
              </a:spcBef>
            </a:pPr>
            <a:r>
              <a:rPr sz="900">
                <a:solidFill>
                  <a:srgbClr val="444444"/>
                </a:solidFill>
              </a:rPr>
              <a:t>• 包含已退市 / 更名 / 转行业的股票</a:t>
            </a:r>
            <a:endParaRPr sz="900">
              <a:solidFill>
                <a:srgbClr val="444444"/>
              </a:solidFill>
            </a:endParaRPr>
          </a:p>
        </p:txBody>
      </p:sp>
      <p:sp>
        <p:nvSpPr>
          <p:cNvPr id="15" name="Rounded Rectangle 14"/>
          <p:cNvSpPr/>
          <p:nvPr/>
        </p:nvSpPr>
        <p:spPr>
          <a:xfrm>
            <a:off x="5760720" y="2560320"/>
            <a:ext cx="5029200" cy="1005840"/>
          </a:xfrm>
          <a:prstGeom prst="roundRect">
            <a:avLst/>
          </a:prstGeom>
          <a:solidFill>
            <a:srgbClr val="E8F5E9"/>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0" y="2633472"/>
            <a:ext cx="4663440" cy="868680"/>
          </a:xfrm>
          <a:prstGeom prst="rect">
            <a:avLst/>
          </a:prstGeom>
          <a:noFill/>
        </p:spPr>
        <p:txBody>
          <a:bodyPr wrap="square">
            <a:spAutoFit/>
          </a:bodyPr>
          <a:lstStyle/>
          <a:p>
            <a:r>
              <a:rPr sz="1300" b="1">
                <a:solidFill>
                  <a:srgbClr val="107C10"/>
                </a:solidFill>
              </a:rPr>
              <a:t>Spec 明确约束</a:t>
            </a:r>
            <a:endParaRPr sz="1300" b="1">
              <a:solidFill>
                <a:srgbClr val="107C10"/>
              </a:solidFill>
            </a:endParaRPr>
          </a:p>
          <a:p>
            <a:pPr>
              <a:spcBef>
                <a:spcPts val="200"/>
              </a:spcBef>
            </a:pPr>
            <a:r>
              <a:rPr sz="900">
                <a:solidFill>
                  <a:srgbClr val="444444"/>
                </a:solidFill>
              </a:rPr>
              <a:t>• "The stock universe at each backtest date SHALL include</a:t>
            </a:r>
            <a:endParaRPr sz="900">
              <a:solidFill>
                <a:srgbClr val="444444"/>
              </a:solidFill>
            </a:endParaRPr>
          </a:p>
          <a:p>
            <a:pPr>
              <a:spcBef>
                <a:spcPts val="200"/>
              </a:spcBef>
            </a:pPr>
            <a:r>
              <a:rPr sz="900">
                <a:solidFill>
                  <a:srgbClr val="444444"/>
                </a:solidFill>
              </a:rPr>
              <a:t>• only stocks classified as non-ferrous metals on that date"</a:t>
            </a:r>
            <a:endParaRPr sz="900">
              <a:solidFill>
                <a:srgbClr val="444444"/>
              </a:solidFill>
            </a:endParaRPr>
          </a:p>
        </p:txBody>
      </p:sp>
      <p:sp>
        <p:nvSpPr>
          <p:cNvPr id="17" name="Rounded Rectangle 16"/>
          <p:cNvSpPr/>
          <p:nvPr/>
        </p:nvSpPr>
        <p:spPr>
          <a:xfrm>
            <a:off x="5760720" y="3657600"/>
            <a:ext cx="5029200" cy="1005840"/>
          </a:xfrm>
          <a:prstGeom prst="roundRect">
            <a:avLst/>
          </a:prstGeom>
          <a:solidFill>
            <a:srgbClr val="E8F5E9"/>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0" y="3730752"/>
            <a:ext cx="4663440" cy="868680"/>
          </a:xfrm>
          <a:prstGeom prst="rect">
            <a:avLst/>
          </a:prstGeom>
          <a:noFill/>
        </p:spPr>
        <p:txBody>
          <a:bodyPr wrap="square">
            <a:spAutoFit/>
          </a:bodyPr>
          <a:lstStyle/>
          <a:p>
            <a:r>
              <a:rPr sz="1300" b="1">
                <a:solidFill>
                  <a:srgbClr val="107C10"/>
                </a:solidFill>
              </a:rPr>
              <a:t>完整追溯链</a:t>
            </a:r>
            <a:endParaRPr sz="1300" b="1">
              <a:solidFill>
                <a:srgbClr val="107C10"/>
              </a:solidFill>
            </a:endParaRPr>
          </a:p>
          <a:p>
            <a:pPr>
              <a:spcBef>
                <a:spcPts val="200"/>
              </a:spcBef>
            </a:pPr>
            <a:r>
              <a:rPr sz="900">
                <a:solidFill>
                  <a:srgbClr val="444444"/>
                </a:solidFill>
              </a:rPr>
              <a:t>• Usecases 第 6 用例第 7 步 → 驱动 Spec 增加条款</a:t>
            </a:r>
            <a:endParaRPr sz="900">
              <a:solidFill>
                <a:srgbClr val="444444"/>
              </a:solidFill>
            </a:endParaRPr>
          </a:p>
          <a:p>
            <a:pPr>
              <a:spcBef>
                <a:spcPts val="200"/>
              </a:spcBef>
            </a:pPr>
            <a:r>
              <a:rPr sz="900">
                <a:solidFill>
                  <a:srgbClr val="444444"/>
                </a:solidFill>
              </a:rPr>
              <a:t>• → Design 列出 Mitigation → Code 实现函数</a:t>
            </a:r>
            <a:endParaRPr sz="900">
              <a:solidFill>
                <a:srgbClr val="444444"/>
              </a:solidFill>
            </a:endParaRPr>
          </a:p>
        </p:txBody>
      </p:sp>
      <p:sp>
        <p:nvSpPr>
          <p:cNvPr id="19" name="Rectangle 18"/>
          <p:cNvSpPr/>
          <p:nvPr/>
        </p:nvSpPr>
        <p:spPr>
          <a:xfrm>
            <a:off x="457200" y="4800600"/>
            <a:ext cx="10332720" cy="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57200" y="4892040"/>
            <a:ext cx="10332720" cy="1051560"/>
          </a:xfrm>
          <a:prstGeom prst="roundRect">
            <a:avLst/>
          </a:prstGeom>
          <a:solidFill>
            <a:srgbClr val="E3F2FD"/>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4937760"/>
            <a:ext cx="9966960" cy="960120"/>
          </a:xfrm>
          <a:prstGeom prst="rect">
            <a:avLst/>
          </a:prstGeom>
          <a:noFill/>
        </p:spPr>
        <p:txBody>
          <a:bodyPr wrap="square">
            <a:spAutoFit/>
          </a:bodyPr>
          <a:lstStyle/>
          <a:p>
            <a:r>
              <a:rPr sz="1200" b="1">
                <a:solidFill>
                  <a:srgbClr val="0078D4"/>
                </a:solidFill>
              </a:rPr>
              <a:t>需求追溯链（Usecases → Spec → Design → Code）</a:t>
            </a:r>
            <a:endParaRPr sz="1200" b="1">
              <a:solidFill>
                <a:srgbClr val="0078D4"/>
              </a:solidFill>
            </a:endParaRPr>
          </a:p>
          <a:p>
            <a:pPr>
              <a:spcBef>
                <a:spcPts val="100"/>
              </a:spcBef>
            </a:pPr>
            <a:r>
              <a:rPr sz="900">
                <a:solidFill>
                  <a:srgbClr val="444444"/>
                </a:solidFill>
              </a:rPr>
              <a:t>Usecases → "系统使用当时的行业成分股（非当前成分股）以避免幸存者偏差"</a:t>
            </a:r>
            <a:endParaRPr sz="900">
              <a:solidFill>
                <a:srgbClr val="444444"/>
              </a:solidFill>
            </a:endParaRPr>
          </a:p>
          <a:p>
            <a:pPr>
              <a:spcBef>
                <a:spcPts val="100"/>
              </a:spcBef>
            </a:pPr>
            <a:r>
              <a:rPr sz="900">
                <a:solidFill>
                  <a:srgbClr val="444444"/>
                </a:solidFill>
              </a:rPr>
              <a:t>Spec (backtest) → "SHALL use point-in-time industry classification data"</a:t>
            </a:r>
            <a:endParaRPr sz="900">
              <a:solidFill>
                <a:srgbClr val="444444"/>
              </a:solidFill>
            </a:endParaRPr>
          </a:p>
          <a:p>
            <a:pPr>
              <a:spcBef>
                <a:spcPts val="100"/>
              </a:spcBef>
            </a:pPr>
            <a:r>
              <a:rPr sz="900">
                <a:solidFill>
                  <a:srgbClr val="444444"/>
                </a:solidFill>
              </a:rPr>
              <a:t>Spec (universe) → "SHALL support querying the universe as of any historical date"</a:t>
            </a:r>
            <a:endParaRPr sz="900">
              <a:solidFill>
                <a:srgbClr val="444444"/>
              </a:solidFill>
            </a:endParaRPr>
          </a:p>
          <a:p>
            <a:pPr>
              <a:spcBef>
                <a:spcPts val="100"/>
              </a:spcBef>
            </a:pPr>
            <a:r>
              <a:rPr sz="900">
                <a:solidFill>
                  <a:srgbClr val="444444"/>
                </a:solidFill>
              </a:rPr>
              <a:t>Code → src/universe/filter.py → get_point_in_time_universe() 函数</a:t>
            </a:r>
            <a:endParaRPr sz="900">
              <a:solidFill>
                <a:srgbClr val="444444"/>
              </a:solidFill>
            </a:endParaRPr>
          </a:p>
        </p:txBody>
      </p:sp>
      <p:sp>
        <p:nvSpPr>
          <p:cNvPr id="22" name="TextBox 21"/>
          <p:cNvSpPr txBox="1"/>
          <p:nvPr/>
        </p:nvSpPr>
        <p:spPr>
          <a:xfrm>
            <a:off x="457200" y="5989320"/>
            <a:ext cx="10332720" cy="320040"/>
          </a:xfrm>
          <a:prstGeom prst="rect">
            <a:avLst/>
          </a:prstGeom>
          <a:noFill/>
        </p:spPr>
        <p:txBody>
          <a:bodyPr wrap="square">
            <a:spAutoFit/>
          </a:bodyPr>
          <a:lstStyle/>
          <a:p>
            <a:r>
              <a:rPr sz="1100">
                <a:solidFill>
                  <a:srgbClr val="FF0000"/>
                </a:solidFill>
              </a:rPr>
              <a:t>原生 OpenSpec 缺少 Usecases 步骤 → 未捕获此需求 → 代码中无防前视偏差实现。这是 Usecases 带来实质性提升的典型案例。</a:t>
            </a:r>
            <a:endParaRPr sz="1100">
              <a:solidFill>
                <a:srgbClr val="FF0000"/>
              </a:solidFill>
            </a:endParaRPr>
          </a:p>
        </p:txBody>
      </p:sp>
      <p:sp>
        <p:nvSpPr>
          <p:cNvPr id="23" name="TextBox 22"/>
          <p:cNvSpPr txBox="1"/>
          <p:nvPr/>
        </p:nvSpPr>
        <p:spPr>
          <a:xfrm>
            <a:off x="11091672" y="6400800"/>
            <a:ext cx="914400" cy="365760"/>
          </a:xfrm>
          <a:prstGeom prst="rect">
            <a:avLst/>
          </a:prstGeom>
          <a:noFill/>
        </p:spPr>
        <p:txBody>
          <a:bodyPr wrap="none">
            <a:spAutoFit/>
          </a:bodyPr>
          <a:lstStyle/>
          <a:p>
            <a:r>
              <a:rPr sz="1100">
                <a:solidFill>
                  <a:srgbClr val="444444"/>
                </a:solidFill>
              </a:rPr>
              <a:t>31/41</a:t>
            </a:r>
            <a:endParaRPr sz="1100">
              <a:solidFill>
                <a:srgbClr val="444444"/>
              </a:solidFil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57200" y="182880"/>
            <a:ext cx="10058400" cy="457200"/>
          </a:xfrm>
          <a:prstGeom prst="rect">
            <a:avLst/>
          </a:prstGeom>
          <a:noFill/>
        </p:spPr>
        <p:txBody>
          <a:bodyPr wrap="square">
            <a:spAutoFit/>
          </a:bodyPr>
          <a:lstStyle/>
          <a:p>
            <a:r>
              <a:rPr sz="2200" b="1">
                <a:solidFill>
                  <a:srgbClr val="1A1A2E"/>
                </a:solidFill>
              </a:rPr>
              <a:t>测试覆盖度三方深度对比：不只是数量，更是结构与深度</a:t>
            </a:r>
            <a:endParaRPr sz="2200" b="1">
              <a:solidFill>
                <a:srgbClr val="1A1A2E"/>
              </a:solidFill>
            </a:endParaRPr>
          </a:p>
        </p:txBody>
      </p:sp>
      <p:sp>
        <p:nvSpPr>
          <p:cNvPr id="3" name="Rectangle 2"/>
          <p:cNvSpPr/>
          <p:nvPr/>
        </p:nvSpPr>
        <p:spPr>
          <a:xfrm>
            <a:off x="457200" y="658368"/>
            <a:ext cx="10332720" cy="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58368"/>
            <a:ext cx="10058400" cy="245110"/>
          </a:xfrm>
          <a:prstGeom prst="rect">
            <a:avLst/>
          </a:prstGeom>
          <a:noFill/>
        </p:spPr>
        <p:txBody>
          <a:bodyPr wrap="square">
            <a:spAutoFit/>
          </a:bodyPr>
          <a:lstStyle/>
          <a:p>
            <a:r>
              <a:rPr lang="en-US" altLang="zh-CN" sz="1000">
                <a:solidFill>
                  <a:srgbClr val="444444"/>
                </a:solidFill>
              </a:rPr>
              <a:t>OpenSpec</a:t>
            </a:r>
            <a:r>
              <a:rPr lang="zh-CN" altLang="en-US" sz="1000">
                <a:solidFill>
                  <a:srgbClr val="444444"/>
                </a:solidFill>
              </a:rPr>
              <a:t>类工具</a:t>
            </a:r>
            <a:r>
              <a:rPr lang="zh-CN" sz="1000">
                <a:solidFill>
                  <a:srgbClr val="444444"/>
                </a:solidFill>
              </a:rPr>
              <a:t>依据</a:t>
            </a:r>
            <a:r>
              <a:rPr lang="en-US" altLang="zh-CN" sz="1000">
                <a:solidFill>
                  <a:srgbClr val="444444"/>
                </a:solidFill>
              </a:rPr>
              <a:t>task.md</a:t>
            </a:r>
            <a:r>
              <a:rPr lang="zh-CN" altLang="zh-CN" sz="1000">
                <a:solidFill>
                  <a:srgbClr val="444444"/>
                </a:solidFill>
              </a:rPr>
              <a:t>中内容生成测试，</a:t>
            </a:r>
            <a:r>
              <a:rPr sz="1000">
                <a:solidFill>
                  <a:srgbClr val="444444"/>
                </a:solidFill>
              </a:rPr>
              <a:t>测试结构（单元/集成/端到端）、测试深度（每函数断言数）、工程规范（fixtures/conftest）共同决定测试有效性</a:t>
            </a:r>
            <a:endParaRPr sz="1000">
              <a:solidFill>
                <a:srgbClr val="444444"/>
              </a:solidFill>
            </a:endParaRPr>
          </a:p>
        </p:txBody>
      </p:sp>
      <p:sp>
        <p:nvSpPr>
          <p:cNvPr id="5" name="Rounded Rectangle 4"/>
          <p:cNvSpPr/>
          <p:nvPr/>
        </p:nvSpPr>
        <p:spPr>
          <a:xfrm>
            <a:off x="457200" y="1051560"/>
            <a:ext cx="3291840" cy="3657600"/>
          </a:xfrm>
          <a:prstGeom prst="roundRect">
            <a:avLst/>
          </a:prstGeom>
          <a:solidFill>
            <a:srgbClr val="F0F0F0"/>
          </a:solidFill>
          <a:ln w="12700">
            <a:solidFill>
              <a:srgbClr val="7878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124712"/>
            <a:ext cx="2926080" cy="3520440"/>
          </a:xfrm>
          <a:prstGeom prst="rect">
            <a:avLst/>
          </a:prstGeom>
          <a:noFill/>
        </p:spPr>
        <p:txBody>
          <a:bodyPr wrap="square">
            <a:spAutoFit/>
          </a:bodyPr>
          <a:lstStyle/>
          <a:p>
            <a:r>
              <a:rPr sz="1300" b="1">
                <a:solidFill>
                  <a:srgbClr val="787878"/>
                </a:solidFill>
              </a:rPr>
              <a:t>Vanilla Claude Code</a:t>
            </a:r>
            <a:endParaRPr sz="1300" b="1">
              <a:solidFill>
                <a:srgbClr val="787878"/>
              </a:solidFill>
            </a:endParaRPr>
          </a:p>
          <a:p>
            <a:pPr>
              <a:spcBef>
                <a:spcPts val="200"/>
              </a:spcBef>
            </a:pPr>
            <a:r>
              <a:rPr sz="900">
                <a:solidFill>
                  <a:srgbClr val="444444"/>
                </a:solidFill>
              </a:rPr>
              <a:t>• 测试文件：0</a:t>
            </a:r>
            <a:endParaRPr sz="900">
              <a:solidFill>
                <a:srgbClr val="444444"/>
              </a:solidFill>
            </a:endParaRPr>
          </a:p>
          <a:p>
            <a:pPr>
              <a:spcBef>
                <a:spcPts val="200"/>
              </a:spcBef>
            </a:pPr>
            <a:r>
              <a:rPr sz="900">
                <a:solidFill>
                  <a:srgbClr val="444444"/>
                </a:solidFill>
              </a:rPr>
              <a:t>• 测试函数：0</a:t>
            </a:r>
            <a:endParaRPr sz="900">
              <a:solidFill>
                <a:srgbClr val="444444"/>
              </a:solidFill>
            </a:endParaRPr>
          </a:p>
          <a:p>
            <a:pPr>
              <a:spcBef>
                <a:spcPts val="200"/>
              </a:spcBef>
            </a:pPr>
            <a:r>
              <a:rPr sz="900">
                <a:solidFill>
                  <a:srgbClr val="444444"/>
                </a:solidFill>
              </a:rPr>
              <a:t>• 测试代码：0 行</a:t>
            </a:r>
            <a:endParaRPr sz="900">
              <a:solidFill>
                <a:srgbClr val="444444"/>
              </a:solidFill>
            </a:endParaRPr>
          </a:p>
          <a:p>
            <a:pPr>
              <a:spcBef>
                <a:spcPts val="200"/>
              </a:spcBef>
            </a:pPr>
            <a:r>
              <a:rPr sz="900">
                <a:solidFill>
                  <a:srgbClr val="444444"/>
                </a:solidFill>
              </a:rPr>
              <a:t>• </a:t>
            </a:r>
            <a:endParaRPr sz="900">
              <a:solidFill>
                <a:srgbClr val="444444"/>
              </a:solidFill>
            </a:endParaRPr>
          </a:p>
          <a:p>
            <a:pPr>
              <a:spcBef>
                <a:spcPts val="200"/>
              </a:spcBef>
            </a:pPr>
            <a:r>
              <a:rPr sz="900">
                <a:solidFill>
                  <a:srgbClr val="444444"/>
                </a:solidFill>
              </a:rPr>
              <a:t>• AI 完全跳过测试环节</a:t>
            </a:r>
            <a:endParaRPr sz="900">
              <a:solidFill>
                <a:srgbClr val="444444"/>
              </a:solidFill>
            </a:endParaRPr>
          </a:p>
          <a:p>
            <a:pPr>
              <a:spcBef>
                <a:spcPts val="200"/>
              </a:spcBef>
            </a:pPr>
            <a:r>
              <a:rPr sz="900">
                <a:solidFill>
                  <a:srgbClr val="444444"/>
                </a:solidFill>
              </a:rPr>
              <a:t>• 无任何单元测试</a:t>
            </a:r>
            <a:endParaRPr sz="900">
              <a:solidFill>
                <a:srgbClr val="444444"/>
              </a:solidFill>
            </a:endParaRPr>
          </a:p>
          <a:p>
            <a:pPr>
              <a:spcBef>
                <a:spcPts val="200"/>
              </a:spcBef>
            </a:pPr>
            <a:r>
              <a:rPr sz="900">
                <a:solidFill>
                  <a:srgbClr val="444444"/>
                </a:solidFill>
              </a:rPr>
              <a:t>• 无集成测试</a:t>
            </a:r>
            <a:endParaRPr sz="900">
              <a:solidFill>
                <a:srgbClr val="444444"/>
              </a:solidFill>
            </a:endParaRPr>
          </a:p>
          <a:p>
            <a:pPr>
              <a:spcBef>
                <a:spcPts val="200"/>
              </a:spcBef>
            </a:pPr>
            <a:r>
              <a:rPr sz="900">
                <a:solidFill>
                  <a:srgbClr val="444444"/>
                </a:solidFill>
              </a:rPr>
              <a:t>• 无端到端测试</a:t>
            </a:r>
            <a:endParaRPr sz="900">
              <a:solidFill>
                <a:srgbClr val="444444"/>
              </a:solidFill>
            </a:endParaRPr>
          </a:p>
          <a:p>
            <a:pPr>
              <a:spcBef>
                <a:spcPts val="200"/>
              </a:spcBef>
            </a:pPr>
            <a:r>
              <a:rPr sz="900">
                <a:solidFill>
                  <a:srgbClr val="444444"/>
                </a:solidFill>
              </a:rPr>
              <a:t>• 无测试框架引入</a:t>
            </a:r>
            <a:endParaRPr sz="900">
              <a:solidFill>
                <a:srgbClr val="444444"/>
              </a:solidFill>
            </a:endParaRPr>
          </a:p>
          <a:p>
            <a:pPr>
              <a:spcBef>
                <a:spcPts val="200"/>
              </a:spcBef>
            </a:pPr>
            <a:r>
              <a:rPr sz="900">
                <a:solidFill>
                  <a:srgbClr val="444444"/>
                </a:solidFill>
              </a:rPr>
              <a:t>• </a:t>
            </a:r>
            <a:endParaRPr sz="900">
              <a:solidFill>
                <a:srgbClr val="444444"/>
              </a:solidFill>
            </a:endParaRPr>
          </a:p>
          <a:p>
            <a:pPr>
              <a:spcBef>
                <a:spcPts val="200"/>
              </a:spcBef>
            </a:pPr>
            <a:r>
              <a:rPr sz="900">
                <a:solidFill>
                  <a:srgbClr val="444444"/>
                </a:solidFill>
              </a:rPr>
              <a:t>• 覆盖模块：0/6</a:t>
            </a:r>
            <a:endParaRPr sz="900">
              <a:solidFill>
                <a:srgbClr val="444444"/>
              </a:solidFill>
            </a:endParaRPr>
          </a:p>
        </p:txBody>
      </p:sp>
      <p:sp>
        <p:nvSpPr>
          <p:cNvPr id="7" name="Rounded Rectangle 6"/>
          <p:cNvSpPr/>
          <p:nvPr/>
        </p:nvSpPr>
        <p:spPr>
          <a:xfrm>
            <a:off x="3977639" y="1051560"/>
            <a:ext cx="3291840" cy="3657600"/>
          </a:xfrm>
          <a:prstGeom prst="roundRect">
            <a:avLst/>
          </a:prstGeom>
          <a:solidFill>
            <a:srgbClr val="E3F2FD"/>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60520" y="1124712"/>
            <a:ext cx="2926080" cy="3520440"/>
          </a:xfrm>
          <a:prstGeom prst="rect">
            <a:avLst/>
          </a:prstGeom>
          <a:noFill/>
        </p:spPr>
        <p:txBody>
          <a:bodyPr wrap="square">
            <a:spAutoFit/>
          </a:bodyPr>
          <a:lstStyle/>
          <a:p>
            <a:r>
              <a:rPr sz="1300" b="1">
                <a:solidFill>
                  <a:srgbClr val="0078D4"/>
                </a:solidFill>
              </a:rPr>
              <a:t>原生 OpenSpec</a:t>
            </a:r>
            <a:endParaRPr sz="1300" b="1">
              <a:solidFill>
                <a:srgbClr val="0078D4"/>
              </a:solidFill>
            </a:endParaRPr>
          </a:p>
          <a:p>
            <a:pPr>
              <a:spcBef>
                <a:spcPts val="200"/>
              </a:spcBef>
            </a:pPr>
            <a:r>
              <a:rPr sz="900">
                <a:solidFill>
                  <a:srgbClr val="444444"/>
                </a:solidFill>
              </a:rPr>
              <a:t>• 测试文件：8 个 | 测试函数：67 个</a:t>
            </a:r>
            <a:endParaRPr sz="900">
              <a:solidFill>
                <a:srgbClr val="444444"/>
              </a:solidFill>
            </a:endParaRPr>
          </a:p>
          <a:p>
            <a:pPr>
              <a:spcBef>
                <a:spcPts val="200"/>
              </a:spcBef>
            </a:pPr>
            <a:r>
              <a:rPr sz="900">
                <a:solidFill>
                  <a:srgbClr val="444444"/>
                </a:solidFill>
              </a:rPr>
              <a:t>• 测试代码：570 行 | 断言：98 个</a:t>
            </a:r>
            <a:endParaRPr sz="900">
              <a:solidFill>
                <a:srgbClr val="444444"/>
              </a:solidFill>
            </a:endParaRPr>
          </a:p>
          <a:p>
            <a:pPr>
              <a:spcBef>
                <a:spcPts val="200"/>
              </a:spcBef>
            </a:pPr>
            <a:r>
              <a:rPr sz="900">
                <a:solidFill>
                  <a:srgbClr val="444444"/>
                </a:solidFill>
              </a:rPr>
              <a:t>• </a:t>
            </a:r>
            <a:endParaRPr sz="900">
              <a:solidFill>
                <a:srgbClr val="444444"/>
              </a:solidFill>
            </a:endParaRPr>
          </a:p>
          <a:p>
            <a:pPr>
              <a:spcBef>
                <a:spcPts val="200"/>
              </a:spcBef>
            </a:pPr>
            <a:r>
              <a:rPr sz="900">
                <a:solidFill>
                  <a:srgbClr val="444444"/>
                </a:solidFill>
              </a:rPr>
              <a:t>• 按模块覆盖（扁平，全在 tests/ 下）</a:t>
            </a:r>
            <a:endParaRPr sz="900">
              <a:solidFill>
                <a:srgbClr val="444444"/>
              </a:solidFill>
            </a:endParaRPr>
          </a:p>
          <a:p>
            <a:pPr>
              <a:spcBef>
                <a:spcPts val="200"/>
              </a:spcBef>
            </a:pPr>
            <a:r>
              <a:rPr sz="900">
                <a:solidFill>
                  <a:srgbClr val="444444"/>
                </a:solidFill>
              </a:rPr>
              <a:t>• test_backtest.py: 11 函数 / 115 行</a:t>
            </a:r>
            <a:endParaRPr sz="900">
              <a:solidFill>
                <a:srgbClr val="444444"/>
              </a:solidFill>
            </a:endParaRPr>
          </a:p>
          <a:p>
            <a:pPr>
              <a:spcBef>
                <a:spcPts val="200"/>
              </a:spcBef>
            </a:pPr>
            <a:r>
              <a:rPr sz="900">
                <a:solidFill>
                  <a:srgbClr val="444444"/>
                </a:solidFill>
              </a:rPr>
              <a:t>• test_risk.py: 13 函数 / 119 行</a:t>
            </a:r>
            <a:endParaRPr sz="900">
              <a:solidFill>
                <a:srgbClr val="444444"/>
              </a:solidFill>
            </a:endParaRPr>
          </a:p>
          <a:p>
            <a:pPr>
              <a:spcBef>
                <a:spcPts val="200"/>
              </a:spcBef>
            </a:pPr>
            <a:r>
              <a:rPr sz="900">
                <a:solidFill>
                  <a:srgbClr val="444444"/>
                </a:solidFill>
              </a:rPr>
              <a:t>• test_factors.py: 12 函数 / 75 行</a:t>
            </a:r>
            <a:endParaRPr sz="900">
              <a:solidFill>
                <a:srgbClr val="444444"/>
              </a:solidFill>
            </a:endParaRPr>
          </a:p>
          <a:p>
            <a:pPr>
              <a:spcBef>
                <a:spcPts val="200"/>
              </a:spcBef>
            </a:pPr>
            <a:r>
              <a:rPr sz="900">
                <a:solidFill>
                  <a:srgbClr val="444444"/>
                </a:solidFill>
              </a:rPr>
              <a:t>• test_universe.py: 9 函数 / 45 行</a:t>
            </a:r>
            <a:endParaRPr sz="900">
              <a:solidFill>
                <a:srgbClr val="444444"/>
              </a:solidFill>
            </a:endParaRPr>
          </a:p>
          <a:p>
            <a:pPr>
              <a:spcBef>
                <a:spcPts val="200"/>
              </a:spcBef>
            </a:pPr>
            <a:r>
              <a:rPr sz="900">
                <a:solidFill>
                  <a:srgbClr val="444444"/>
                </a:solidFill>
              </a:rPr>
              <a:t>• </a:t>
            </a:r>
            <a:endParaRPr sz="900">
              <a:solidFill>
                <a:srgbClr val="444444"/>
              </a:solidFill>
            </a:endParaRPr>
          </a:p>
          <a:p>
            <a:pPr>
              <a:spcBef>
                <a:spcPts val="200"/>
              </a:spcBef>
            </a:pPr>
            <a:r>
              <a:rPr sz="900">
                <a:solidFill>
                  <a:srgbClr val="444444"/>
                </a:solidFill>
              </a:rPr>
              <a:t>• 覆盖模块：8/8（全部单元测试）</a:t>
            </a:r>
            <a:endParaRPr sz="900">
              <a:solidFill>
                <a:srgbClr val="444444"/>
              </a:solidFill>
            </a:endParaRPr>
          </a:p>
        </p:txBody>
      </p:sp>
      <p:sp>
        <p:nvSpPr>
          <p:cNvPr id="9" name="Rounded Rectangle 8"/>
          <p:cNvSpPr/>
          <p:nvPr/>
        </p:nvSpPr>
        <p:spPr>
          <a:xfrm>
            <a:off x="7498079" y="1051560"/>
            <a:ext cx="3291840" cy="3657600"/>
          </a:xfrm>
          <a:prstGeom prst="roundRect">
            <a:avLst/>
          </a:prstGeom>
          <a:solidFill>
            <a:srgbClr val="E8F5E9"/>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59" y="1124712"/>
            <a:ext cx="2926080" cy="3520440"/>
          </a:xfrm>
          <a:prstGeom prst="rect">
            <a:avLst/>
          </a:prstGeom>
          <a:noFill/>
        </p:spPr>
        <p:txBody>
          <a:bodyPr wrap="square">
            <a:spAutoFit/>
          </a:bodyPr>
          <a:lstStyle/>
          <a:p>
            <a:r>
              <a:rPr sz="1300" b="1">
                <a:solidFill>
                  <a:srgbClr val="107C10"/>
                </a:solidFill>
              </a:rPr>
              <a:t>OpenSpec-HW2</a:t>
            </a:r>
            <a:endParaRPr sz="1300" b="1">
              <a:solidFill>
                <a:srgbClr val="107C10"/>
              </a:solidFill>
            </a:endParaRPr>
          </a:p>
          <a:p>
            <a:pPr>
              <a:spcBef>
                <a:spcPts val="200"/>
              </a:spcBef>
            </a:pPr>
            <a:r>
              <a:rPr sz="900">
                <a:solidFill>
                  <a:srgbClr val="444444"/>
                </a:solidFill>
              </a:rPr>
              <a:t>• 测试文件：9+1 个 | 测试函数：57 个</a:t>
            </a:r>
            <a:endParaRPr sz="900">
              <a:solidFill>
                <a:srgbClr val="444444"/>
              </a:solidFill>
            </a:endParaRPr>
          </a:p>
          <a:p>
            <a:pPr>
              <a:spcBef>
                <a:spcPts val="200"/>
              </a:spcBef>
            </a:pPr>
            <a:r>
              <a:rPr sz="900">
                <a:solidFill>
                  <a:srgbClr val="444444"/>
                </a:solidFill>
              </a:rPr>
              <a:t>• 测试代码：779 行 | 断言：105 个</a:t>
            </a:r>
            <a:endParaRPr sz="900">
              <a:solidFill>
                <a:srgbClr val="444444"/>
              </a:solidFill>
            </a:endParaRPr>
          </a:p>
          <a:p>
            <a:pPr>
              <a:spcBef>
                <a:spcPts val="200"/>
              </a:spcBef>
            </a:pPr>
            <a:r>
              <a:rPr sz="900">
                <a:solidFill>
                  <a:srgbClr val="444444"/>
                </a:solidFill>
              </a:rPr>
              <a:t>• </a:t>
            </a:r>
            <a:endParaRPr sz="900">
              <a:solidFill>
                <a:srgbClr val="444444"/>
              </a:solidFill>
            </a:endParaRPr>
          </a:p>
          <a:p>
            <a:pPr>
              <a:spcBef>
                <a:spcPts val="200"/>
              </a:spcBef>
            </a:pPr>
            <a:r>
              <a:rPr sz="900">
                <a:solidFill>
                  <a:srgbClr val="444444"/>
                </a:solidFill>
              </a:rPr>
              <a:t>• 按模块子目录 + conftest 共享 fixtures</a:t>
            </a:r>
            <a:endParaRPr sz="900">
              <a:solidFill>
                <a:srgbClr val="444444"/>
              </a:solidFill>
            </a:endParaRPr>
          </a:p>
          <a:p>
            <a:pPr>
              <a:spcBef>
                <a:spcPts val="200"/>
              </a:spcBef>
            </a:pPr>
            <a:r>
              <a:rPr sz="900">
                <a:solidFill>
                  <a:srgbClr val="444444"/>
                </a:solidFill>
              </a:rPr>
              <a:t>• test_integration.py: 6 / 195 行 ★</a:t>
            </a:r>
            <a:endParaRPr sz="900">
              <a:solidFill>
                <a:srgbClr val="444444"/>
              </a:solidFill>
            </a:endParaRPr>
          </a:p>
          <a:p>
            <a:pPr>
              <a:spcBef>
                <a:spcPts val="200"/>
              </a:spcBef>
            </a:pPr>
            <a:r>
              <a:rPr sz="900">
                <a:solidFill>
                  <a:srgbClr val="444444"/>
                </a:solidFill>
              </a:rPr>
              <a:t>• backtest/test_backtest.py: 9 / 81 行</a:t>
            </a:r>
            <a:endParaRPr sz="900">
              <a:solidFill>
                <a:srgbClr val="444444"/>
              </a:solidFill>
            </a:endParaRPr>
          </a:p>
          <a:p>
            <a:pPr>
              <a:spcBef>
                <a:spcPts val="200"/>
              </a:spcBef>
            </a:pPr>
            <a:r>
              <a:rPr sz="900">
                <a:solidFill>
                  <a:srgbClr val="444444"/>
                </a:solidFill>
              </a:rPr>
              <a:t>• risk/test_risk.py: 9 / 82 行</a:t>
            </a:r>
            <a:endParaRPr sz="900">
              <a:solidFill>
                <a:srgbClr val="444444"/>
              </a:solidFill>
            </a:endParaRPr>
          </a:p>
          <a:p>
            <a:pPr>
              <a:spcBef>
                <a:spcPts val="200"/>
              </a:spcBef>
            </a:pPr>
            <a:r>
              <a:rPr sz="900">
                <a:solidFill>
                  <a:srgbClr val="444444"/>
                </a:solidFill>
              </a:rPr>
              <a:t>• strategy/test_scorer.py: 6 / 89 行</a:t>
            </a:r>
            <a:endParaRPr sz="900">
              <a:solidFill>
                <a:srgbClr val="444444"/>
              </a:solidFill>
            </a:endParaRPr>
          </a:p>
          <a:p>
            <a:pPr>
              <a:spcBef>
                <a:spcPts val="200"/>
              </a:spcBef>
            </a:pPr>
            <a:r>
              <a:rPr sz="900">
                <a:solidFill>
                  <a:srgbClr val="444444"/>
                </a:solidFill>
              </a:rPr>
              <a:t>• </a:t>
            </a:r>
            <a:endParaRPr sz="900">
              <a:solidFill>
                <a:srgbClr val="444444"/>
              </a:solidFill>
            </a:endParaRPr>
          </a:p>
          <a:p>
            <a:pPr>
              <a:spcBef>
                <a:spcPts val="200"/>
              </a:spcBef>
            </a:pPr>
            <a:r>
              <a:rPr sz="900">
                <a:solidFill>
                  <a:srgbClr val="444444"/>
                </a:solidFill>
              </a:rPr>
              <a:t>• 覆盖：7/7 + 集成测试</a:t>
            </a:r>
            <a:endParaRPr sz="900">
              <a:solidFill>
                <a:srgbClr val="444444"/>
              </a:solidFill>
            </a:endParaRPr>
          </a:p>
        </p:txBody>
      </p:sp>
      <p:sp>
        <p:nvSpPr>
          <p:cNvPr id="11" name="Rectangle 10"/>
          <p:cNvSpPr/>
          <p:nvPr/>
        </p:nvSpPr>
        <p:spPr>
          <a:xfrm>
            <a:off x="457200" y="4846320"/>
            <a:ext cx="10332720" cy="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7200" y="4937760"/>
            <a:ext cx="10332720" cy="1097280"/>
          </a:xfrm>
          <a:prstGeom prst="roundRect">
            <a:avLst/>
          </a:prstGeom>
          <a:solidFill>
            <a:srgbClr val="E3F2FD"/>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983480"/>
            <a:ext cx="9966960" cy="881380"/>
          </a:xfrm>
          <a:prstGeom prst="rect">
            <a:avLst/>
          </a:prstGeom>
          <a:noFill/>
        </p:spPr>
        <p:txBody>
          <a:bodyPr wrap="square">
            <a:spAutoFit/>
          </a:bodyPr>
          <a:lstStyle/>
          <a:p>
            <a:r>
              <a:rPr sz="1200" b="1">
                <a:solidFill>
                  <a:srgbClr val="0078D4"/>
                </a:solidFill>
              </a:rPr>
              <a:t>关键差异分析</a:t>
            </a:r>
            <a:endParaRPr sz="1200" b="1">
              <a:solidFill>
                <a:srgbClr val="0078D4"/>
              </a:solidFill>
            </a:endParaRPr>
          </a:p>
          <a:p>
            <a:pPr>
              <a:spcBef>
                <a:spcPts val="100"/>
              </a:spcBef>
            </a:pPr>
            <a:r>
              <a:rPr sz="900">
                <a:solidFill>
                  <a:srgbClr val="444444"/>
                </a:solidFill>
              </a:rPr>
              <a:t>① 测试结构升级：Native 扁平在 tests/ 下；HW2 按模块建子目录 + conftest.py 共享 fixtures</a:t>
            </a:r>
            <a:endParaRPr sz="900">
              <a:solidFill>
                <a:srgbClr val="444444"/>
              </a:solidFill>
            </a:endParaRPr>
          </a:p>
          <a:p>
            <a:pPr>
              <a:spcBef>
                <a:spcPts val="100"/>
              </a:spcBef>
            </a:pPr>
            <a:r>
              <a:rPr sz="900">
                <a:solidFill>
                  <a:srgbClr val="444444"/>
                </a:solidFill>
              </a:rPr>
              <a:t>② 集成测试从无到有：HW2 新增 195 行端到端集成测试（含合成数据库、完整 pipeline 验证）</a:t>
            </a:r>
            <a:endParaRPr sz="900">
              <a:solidFill>
                <a:srgbClr val="444444"/>
              </a:solidFill>
            </a:endParaRPr>
          </a:p>
          <a:p>
            <a:pPr>
              <a:spcBef>
                <a:spcPts val="100"/>
              </a:spcBef>
            </a:pPr>
            <a:r>
              <a:rPr sz="900">
                <a:solidFill>
                  <a:srgbClr val="444444"/>
                </a:solidFill>
              </a:rPr>
              <a:t>③ 测试深度 &gt; 测试数量：HW2 每函数平均 13.7 </a:t>
            </a:r>
            <a:r>
              <a:rPr lang="zh-CN" sz="900">
                <a:solidFill>
                  <a:srgbClr val="444444"/>
                </a:solidFill>
              </a:rPr>
              <a:t>行</a:t>
            </a:r>
            <a:r>
              <a:rPr sz="900">
                <a:solidFill>
                  <a:srgbClr val="444444"/>
                </a:solidFill>
              </a:rPr>
              <a:t>，含更多多步骤验证</a:t>
            </a:r>
            <a:endParaRPr sz="900">
              <a:solidFill>
                <a:srgbClr val="444444"/>
              </a:solidFill>
            </a:endParaRPr>
          </a:p>
          <a:p>
            <a:pPr>
              <a:spcBef>
                <a:spcPts val="100"/>
              </a:spcBef>
            </a:pPr>
            <a:r>
              <a:rPr sz="900">
                <a:solidFill>
                  <a:srgbClr val="444444"/>
                </a:solidFill>
              </a:rPr>
              <a:t>④ 数据驱动测试：HW2 集成测试用 SQLite + 合成 OHLCV 完整模拟真实数据管道</a:t>
            </a:r>
            <a:endParaRPr sz="900">
              <a:solidFill>
                <a:srgbClr val="444444"/>
              </a:solidFill>
            </a:endParaRPr>
          </a:p>
        </p:txBody>
      </p:sp>
      <p:sp>
        <p:nvSpPr>
          <p:cNvPr id="14" name="TextBox 13"/>
          <p:cNvSpPr txBox="1"/>
          <p:nvPr/>
        </p:nvSpPr>
        <p:spPr>
          <a:xfrm>
            <a:off x="11091672" y="6400800"/>
            <a:ext cx="914400" cy="365760"/>
          </a:xfrm>
          <a:prstGeom prst="rect">
            <a:avLst/>
          </a:prstGeom>
          <a:noFill/>
        </p:spPr>
        <p:txBody>
          <a:bodyPr wrap="none">
            <a:spAutoFit/>
          </a:bodyPr>
          <a:lstStyle/>
          <a:p>
            <a:r>
              <a:rPr sz="1100">
                <a:solidFill>
                  <a:srgbClr val="444444"/>
                </a:solidFill>
              </a:rPr>
              <a:t>32/41</a:t>
            </a:r>
            <a:endParaRPr sz="1100">
              <a:solidFill>
                <a:srgbClr val="444444"/>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457200" y="182880"/>
            <a:ext cx="10058400" cy="457200"/>
          </a:xfrm>
          <a:prstGeom prst="rect">
            <a:avLst/>
          </a:prstGeom>
          <a:noFill/>
        </p:spPr>
        <p:txBody>
          <a:bodyPr wrap="square">
            <a:spAutoFit/>
          </a:bodyPr>
          <a:lstStyle/>
          <a:p>
            <a:r>
              <a:rPr sz="2200" b="1">
                <a:solidFill>
                  <a:srgbClr val="1A1A2E"/>
                </a:solidFill>
              </a:rPr>
              <a:t>代码规模与任务分解三方深度对比：规格化如何驱动系统完整度</a:t>
            </a:r>
            <a:endParaRPr sz="2200" b="1">
              <a:solidFill>
                <a:srgbClr val="1A1A2E"/>
              </a:solidFill>
            </a:endParaRPr>
          </a:p>
        </p:txBody>
      </p:sp>
      <p:sp>
        <p:nvSpPr>
          <p:cNvPr id="3" name="Rectangle 2"/>
          <p:cNvSpPr/>
          <p:nvPr/>
        </p:nvSpPr>
        <p:spPr>
          <a:xfrm>
            <a:off x="457200" y="658368"/>
            <a:ext cx="10332720" cy="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58368"/>
            <a:ext cx="10058400" cy="274320"/>
          </a:xfrm>
          <a:prstGeom prst="rect">
            <a:avLst/>
          </a:prstGeom>
          <a:noFill/>
        </p:spPr>
        <p:txBody>
          <a:bodyPr wrap="square">
            <a:spAutoFit/>
          </a:bodyPr>
          <a:lstStyle/>
          <a:p>
            <a:r>
              <a:rPr sz="1000">
                <a:solidFill>
                  <a:srgbClr val="444444"/>
                </a:solidFill>
              </a:rPr>
              <a:t>相同需求描述，三种方式产出的代码规模、模块分布、任务分解粒度差异直接反映规格化程度对 AI 行为的引导效果</a:t>
            </a:r>
            <a:endParaRPr sz="1000">
              <a:solidFill>
                <a:srgbClr val="444444"/>
              </a:solidFill>
            </a:endParaRPr>
          </a:p>
        </p:txBody>
      </p:sp>
      <p:sp>
        <p:nvSpPr>
          <p:cNvPr id="5" name="TextBox 4"/>
          <p:cNvSpPr txBox="1"/>
          <p:nvPr/>
        </p:nvSpPr>
        <p:spPr>
          <a:xfrm>
            <a:off x="457200" y="960120"/>
            <a:ext cx="4572000" cy="274320"/>
          </a:xfrm>
          <a:prstGeom prst="rect">
            <a:avLst/>
          </a:prstGeom>
          <a:noFill/>
        </p:spPr>
        <p:txBody>
          <a:bodyPr wrap="none">
            <a:spAutoFit/>
          </a:bodyPr>
          <a:lstStyle/>
          <a:p>
            <a:r>
              <a:rPr sz="1300" b="1">
                <a:solidFill>
                  <a:srgbClr val="2C3E50"/>
                </a:solidFill>
              </a:rPr>
              <a:t>代码规模分布（含测试）</a:t>
            </a:r>
            <a:endParaRPr sz="1300" b="1">
              <a:solidFill>
                <a:srgbClr val="2C3E50"/>
              </a:solidFill>
            </a:endParaRPr>
          </a:p>
        </p:txBody>
      </p:sp>
      <p:sp>
        <p:nvSpPr>
          <p:cNvPr id="6" name="Rounded Rectangle 5"/>
          <p:cNvSpPr/>
          <p:nvPr/>
        </p:nvSpPr>
        <p:spPr>
          <a:xfrm>
            <a:off x="457200" y="1234440"/>
            <a:ext cx="3291840" cy="1463040"/>
          </a:xfrm>
          <a:prstGeom prst="roundRect">
            <a:avLst/>
          </a:prstGeom>
          <a:solidFill>
            <a:srgbClr val="F0F0F0"/>
          </a:solidFill>
          <a:ln w="12700">
            <a:solidFill>
              <a:srgbClr val="7878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307592"/>
            <a:ext cx="2926080" cy="1325880"/>
          </a:xfrm>
          <a:prstGeom prst="rect">
            <a:avLst/>
          </a:prstGeom>
          <a:noFill/>
        </p:spPr>
        <p:txBody>
          <a:bodyPr wrap="square">
            <a:spAutoFit/>
          </a:bodyPr>
          <a:lstStyle/>
          <a:p>
            <a:r>
              <a:rPr sz="1300" b="1">
                <a:solidFill>
                  <a:srgbClr val="787878"/>
                </a:solidFill>
              </a:rPr>
              <a:t>Vanilla: 1,194 行 · 6 文件</a:t>
            </a:r>
            <a:endParaRPr sz="1300" b="1">
              <a:solidFill>
                <a:srgbClr val="787878"/>
              </a:solidFill>
            </a:endParaRPr>
          </a:p>
          <a:p>
            <a:pPr>
              <a:spcBef>
                <a:spcPts val="200"/>
              </a:spcBef>
            </a:pPr>
            <a:r>
              <a:rPr sz="800">
                <a:solidFill>
                  <a:srgbClr val="444444"/>
                </a:solidFill>
              </a:rPr>
              <a:t>• data_fetcher.py       316 行</a:t>
            </a:r>
            <a:endParaRPr sz="800">
              <a:solidFill>
                <a:srgbClr val="444444"/>
              </a:solidFill>
            </a:endParaRPr>
          </a:p>
          <a:p>
            <a:pPr>
              <a:spcBef>
                <a:spcPts val="200"/>
              </a:spcBef>
            </a:pPr>
            <a:r>
              <a:rPr sz="800">
                <a:solidFill>
                  <a:srgbClr val="444444"/>
                </a:solidFill>
              </a:rPr>
              <a:t>• factor_engine.py     290 行</a:t>
            </a:r>
            <a:endParaRPr sz="800">
              <a:solidFill>
                <a:srgbClr val="444444"/>
              </a:solidFill>
            </a:endParaRPr>
          </a:p>
          <a:p>
            <a:pPr>
              <a:spcBef>
                <a:spcPts val="200"/>
              </a:spcBef>
            </a:pPr>
            <a:r>
              <a:rPr sz="800">
                <a:solidFill>
                  <a:srgbClr val="444444"/>
                </a:solidFill>
              </a:rPr>
              <a:t>• backtester.py           257 行</a:t>
            </a:r>
            <a:endParaRPr sz="800">
              <a:solidFill>
                <a:srgbClr val="444444"/>
              </a:solidFill>
            </a:endParaRPr>
          </a:p>
          <a:p>
            <a:pPr>
              <a:spcBef>
                <a:spcPts val="200"/>
              </a:spcBef>
            </a:pPr>
            <a:r>
              <a:rPr sz="800">
                <a:solidFill>
                  <a:srgbClr val="444444"/>
                </a:solidFill>
              </a:rPr>
              <a:t>• app.py                      155 行</a:t>
            </a:r>
            <a:endParaRPr sz="800">
              <a:solidFill>
                <a:srgbClr val="444444"/>
              </a:solidFill>
            </a:endParaRPr>
          </a:p>
          <a:p>
            <a:pPr>
              <a:spcBef>
                <a:spcPts val="200"/>
              </a:spcBef>
            </a:pPr>
            <a:r>
              <a:rPr sz="800">
                <a:solidFill>
                  <a:srgbClr val="444444"/>
                </a:solidFill>
              </a:rPr>
              <a:t>• 单文件承担多职责，无模块化</a:t>
            </a:r>
            <a:endParaRPr sz="800">
              <a:solidFill>
                <a:srgbClr val="444444"/>
              </a:solidFill>
            </a:endParaRPr>
          </a:p>
        </p:txBody>
      </p:sp>
      <p:sp>
        <p:nvSpPr>
          <p:cNvPr id="8" name="Rounded Rectangle 7"/>
          <p:cNvSpPr/>
          <p:nvPr/>
        </p:nvSpPr>
        <p:spPr>
          <a:xfrm>
            <a:off x="3977639" y="1234440"/>
            <a:ext cx="3291840" cy="1463040"/>
          </a:xfrm>
          <a:prstGeom prst="roundRect">
            <a:avLst/>
          </a:prstGeom>
          <a:solidFill>
            <a:srgbClr val="E3F2FD"/>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60520" y="1307592"/>
            <a:ext cx="2926080" cy="1325880"/>
          </a:xfrm>
          <a:prstGeom prst="rect">
            <a:avLst/>
          </a:prstGeom>
          <a:noFill/>
        </p:spPr>
        <p:txBody>
          <a:bodyPr wrap="square">
            <a:spAutoFit/>
          </a:bodyPr>
          <a:lstStyle/>
          <a:p>
            <a:r>
              <a:rPr sz="1300" b="1">
                <a:solidFill>
                  <a:srgbClr val="0078D4"/>
                </a:solidFill>
              </a:rPr>
              <a:t>原生 OpenSpec: 2,824 行 · 32 文件</a:t>
            </a:r>
            <a:endParaRPr sz="1300" b="1">
              <a:solidFill>
                <a:srgbClr val="0078D4"/>
              </a:solidFill>
            </a:endParaRPr>
          </a:p>
          <a:p>
            <a:pPr>
              <a:spcBef>
                <a:spcPts val="200"/>
              </a:spcBef>
            </a:pPr>
            <a:r>
              <a:rPr sz="800">
                <a:solidFill>
                  <a:srgbClr val="444444"/>
                </a:solidFill>
              </a:rPr>
              <a:t>• src/data        512 行  数据管道</a:t>
            </a:r>
            <a:endParaRPr sz="800">
              <a:solidFill>
                <a:srgbClr val="444444"/>
              </a:solidFill>
            </a:endParaRPr>
          </a:p>
          <a:p>
            <a:pPr>
              <a:spcBef>
                <a:spcPts val="200"/>
              </a:spcBef>
            </a:pPr>
            <a:r>
              <a:rPr sz="800">
                <a:solidFill>
                  <a:srgbClr val="444444"/>
                </a:solidFill>
              </a:rPr>
              <a:t>• src/backtest  423 行  回测引擎</a:t>
            </a:r>
            <a:endParaRPr sz="800">
              <a:solidFill>
                <a:srgbClr val="444444"/>
              </a:solidFill>
            </a:endParaRPr>
          </a:p>
          <a:p>
            <a:pPr>
              <a:spcBef>
                <a:spcPts val="200"/>
              </a:spcBef>
            </a:pPr>
            <a:r>
              <a:rPr sz="800">
                <a:solidFill>
                  <a:srgbClr val="444444"/>
                </a:solidFill>
              </a:rPr>
              <a:t>• src/factors    314 行  因子引擎</a:t>
            </a:r>
            <a:endParaRPr sz="800">
              <a:solidFill>
                <a:srgbClr val="444444"/>
              </a:solidFill>
            </a:endParaRPr>
          </a:p>
          <a:p>
            <a:pPr>
              <a:spcBef>
                <a:spcPts val="200"/>
              </a:spcBef>
            </a:pPr>
            <a:r>
              <a:rPr sz="800">
                <a:solidFill>
                  <a:srgbClr val="444444"/>
                </a:solidFill>
              </a:rPr>
              <a:t>• src/risk         207 行  风控体系</a:t>
            </a:r>
            <a:endParaRPr sz="800">
              <a:solidFill>
                <a:srgbClr val="444444"/>
              </a:solidFill>
            </a:endParaRPr>
          </a:p>
          <a:p>
            <a:pPr>
              <a:spcBef>
                <a:spcPts val="200"/>
              </a:spcBef>
            </a:pPr>
            <a:r>
              <a:rPr sz="800">
                <a:solidFill>
                  <a:srgbClr val="444444"/>
                </a:solidFill>
              </a:rPr>
              <a:t>• (含 570 行测试)</a:t>
            </a:r>
            <a:endParaRPr sz="800">
              <a:solidFill>
                <a:srgbClr val="444444"/>
              </a:solidFill>
            </a:endParaRPr>
          </a:p>
        </p:txBody>
      </p:sp>
      <p:sp>
        <p:nvSpPr>
          <p:cNvPr id="10" name="Rounded Rectangle 9"/>
          <p:cNvSpPr/>
          <p:nvPr/>
        </p:nvSpPr>
        <p:spPr>
          <a:xfrm>
            <a:off x="7498079" y="1234440"/>
            <a:ext cx="3291840" cy="1463040"/>
          </a:xfrm>
          <a:prstGeom prst="roundRect">
            <a:avLst/>
          </a:prstGeom>
          <a:solidFill>
            <a:srgbClr val="E8F5E9"/>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80959" y="1307592"/>
            <a:ext cx="2926080" cy="1325880"/>
          </a:xfrm>
          <a:prstGeom prst="rect">
            <a:avLst/>
          </a:prstGeom>
          <a:noFill/>
        </p:spPr>
        <p:txBody>
          <a:bodyPr wrap="square">
            <a:spAutoFit/>
          </a:bodyPr>
          <a:lstStyle/>
          <a:p>
            <a:r>
              <a:rPr sz="1300" b="1">
                <a:solidFill>
                  <a:srgbClr val="107C10"/>
                </a:solidFill>
              </a:rPr>
              <a:t>HW2: 5,015 行 · 31 文件</a:t>
            </a:r>
            <a:endParaRPr sz="1300" b="1">
              <a:solidFill>
                <a:srgbClr val="107C10"/>
              </a:solidFill>
            </a:endParaRPr>
          </a:p>
          <a:p>
            <a:pPr>
              <a:spcBef>
                <a:spcPts val="200"/>
              </a:spcBef>
            </a:pPr>
            <a:r>
              <a:rPr sz="800">
                <a:solidFill>
                  <a:srgbClr val="444444"/>
                </a:solidFill>
              </a:rPr>
              <a:t>• src/data        813 行  多源管道+验证器</a:t>
            </a:r>
            <a:endParaRPr sz="800">
              <a:solidFill>
                <a:srgbClr val="444444"/>
              </a:solidFill>
            </a:endParaRPr>
          </a:p>
          <a:p>
            <a:pPr>
              <a:spcBef>
                <a:spcPts val="200"/>
              </a:spcBef>
            </a:pPr>
            <a:r>
              <a:rPr sz="800">
                <a:solidFill>
                  <a:srgbClr val="444444"/>
                </a:solidFill>
              </a:rPr>
              <a:t>• src/backtest  775 行  4 子模块引擎</a:t>
            </a:r>
            <a:endParaRPr sz="800">
              <a:solidFill>
                <a:srgbClr val="444444"/>
              </a:solidFill>
            </a:endParaRPr>
          </a:p>
          <a:p>
            <a:pPr>
              <a:spcBef>
                <a:spcPts val="200"/>
              </a:spcBef>
            </a:pPr>
            <a:r>
              <a:rPr sz="800">
                <a:solidFill>
                  <a:srgbClr val="444444"/>
                </a:solidFill>
              </a:rPr>
              <a:t>• src/factors    607 行  16 因子+标准化</a:t>
            </a:r>
            <a:endParaRPr sz="800">
              <a:solidFill>
                <a:srgbClr val="444444"/>
              </a:solidFill>
            </a:endParaRPr>
          </a:p>
          <a:p>
            <a:pPr>
              <a:spcBef>
                <a:spcPts val="200"/>
              </a:spcBef>
            </a:pPr>
            <a:r>
              <a:rPr sz="800">
                <a:solidFill>
                  <a:srgbClr val="444444"/>
                </a:solidFill>
              </a:rPr>
              <a:t>• src/risk         501 行  4 层+聚合</a:t>
            </a:r>
            <a:endParaRPr sz="800">
              <a:solidFill>
                <a:srgbClr val="444444"/>
              </a:solidFill>
            </a:endParaRPr>
          </a:p>
          <a:p>
            <a:pPr>
              <a:spcBef>
                <a:spcPts val="200"/>
              </a:spcBef>
            </a:pPr>
            <a:r>
              <a:rPr sz="800">
                <a:solidFill>
                  <a:srgbClr val="444444"/>
                </a:solidFill>
              </a:rPr>
              <a:t>• (含 779 行测试 + 114 行 notebook)</a:t>
            </a:r>
            <a:endParaRPr sz="800">
              <a:solidFill>
                <a:srgbClr val="444444"/>
              </a:solidFill>
            </a:endParaRPr>
          </a:p>
        </p:txBody>
      </p:sp>
      <p:sp>
        <p:nvSpPr>
          <p:cNvPr id="12" name="TextBox 11"/>
          <p:cNvSpPr txBox="1"/>
          <p:nvPr/>
        </p:nvSpPr>
        <p:spPr>
          <a:xfrm>
            <a:off x="457200" y="2834640"/>
            <a:ext cx="4572000" cy="274320"/>
          </a:xfrm>
          <a:prstGeom prst="rect">
            <a:avLst/>
          </a:prstGeom>
          <a:noFill/>
        </p:spPr>
        <p:txBody>
          <a:bodyPr wrap="none">
            <a:spAutoFit/>
          </a:bodyPr>
          <a:lstStyle/>
          <a:p>
            <a:r>
              <a:rPr sz="1300" b="1">
                <a:solidFill>
                  <a:srgbClr val="2C3E50"/>
                </a:solidFill>
              </a:rPr>
              <a:t>任务分解对比</a:t>
            </a:r>
            <a:endParaRPr sz="1300" b="1">
              <a:solidFill>
                <a:srgbClr val="2C3E50"/>
              </a:solidFill>
            </a:endParaRPr>
          </a:p>
        </p:txBody>
      </p:sp>
      <p:sp>
        <p:nvSpPr>
          <p:cNvPr id="13" name="Rounded Rectangle 12"/>
          <p:cNvSpPr/>
          <p:nvPr/>
        </p:nvSpPr>
        <p:spPr>
          <a:xfrm>
            <a:off x="457200" y="3108960"/>
            <a:ext cx="3291840" cy="1097280"/>
          </a:xfrm>
          <a:prstGeom prst="roundRect">
            <a:avLst/>
          </a:prstGeom>
          <a:solidFill>
            <a:srgbClr val="F0F0F0"/>
          </a:solidFill>
          <a:ln w="12700">
            <a:solidFill>
              <a:srgbClr val="78787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182112"/>
            <a:ext cx="2926080" cy="960120"/>
          </a:xfrm>
          <a:prstGeom prst="rect">
            <a:avLst/>
          </a:prstGeom>
          <a:noFill/>
        </p:spPr>
        <p:txBody>
          <a:bodyPr wrap="square">
            <a:spAutoFit/>
          </a:bodyPr>
          <a:lstStyle/>
          <a:p>
            <a:r>
              <a:rPr sz="1300" b="1">
                <a:solidFill>
                  <a:srgbClr val="787878"/>
                </a:solidFill>
              </a:rPr>
              <a:t>Vanilla: 0 个任务</a:t>
            </a:r>
            <a:endParaRPr sz="1300" b="1">
              <a:solidFill>
                <a:srgbClr val="787878"/>
              </a:solidFill>
            </a:endParaRPr>
          </a:p>
          <a:p>
            <a:pPr>
              <a:spcBef>
                <a:spcPts val="200"/>
              </a:spcBef>
            </a:pPr>
            <a:r>
              <a:rPr sz="800">
                <a:solidFill>
                  <a:srgbClr val="444444"/>
                </a:solidFill>
              </a:rPr>
              <a:t>• 无任何前置规划</a:t>
            </a:r>
            <a:endParaRPr sz="800">
              <a:solidFill>
                <a:srgbClr val="444444"/>
              </a:solidFill>
            </a:endParaRPr>
          </a:p>
          <a:p>
            <a:pPr>
              <a:spcBef>
                <a:spcPts val="200"/>
              </a:spcBef>
            </a:pPr>
            <a:r>
              <a:rPr sz="800">
                <a:solidFill>
                  <a:srgbClr val="444444"/>
                </a:solidFill>
              </a:rPr>
              <a:t>• AI 凭自身判断决定架构</a:t>
            </a:r>
            <a:endParaRPr sz="800">
              <a:solidFill>
                <a:srgbClr val="444444"/>
              </a:solidFill>
            </a:endParaRPr>
          </a:p>
          <a:p>
            <a:pPr>
              <a:spcBef>
                <a:spcPts val="200"/>
              </a:spcBef>
            </a:pPr>
            <a:r>
              <a:rPr sz="800">
                <a:solidFill>
                  <a:srgbClr val="444444"/>
                </a:solidFill>
              </a:rPr>
              <a:t>• 结果：6 个文件一气呵成</a:t>
            </a:r>
            <a:endParaRPr sz="800">
              <a:solidFill>
                <a:srgbClr val="444444"/>
              </a:solidFill>
            </a:endParaRPr>
          </a:p>
        </p:txBody>
      </p:sp>
      <p:sp>
        <p:nvSpPr>
          <p:cNvPr id="15" name="Rounded Rectangle 14"/>
          <p:cNvSpPr/>
          <p:nvPr/>
        </p:nvSpPr>
        <p:spPr>
          <a:xfrm>
            <a:off x="3977639" y="3108960"/>
            <a:ext cx="3291840" cy="1097280"/>
          </a:xfrm>
          <a:prstGeom prst="roundRect">
            <a:avLst/>
          </a:prstGeom>
          <a:solidFill>
            <a:srgbClr val="E3F2FD"/>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60520" y="3182112"/>
            <a:ext cx="2926080" cy="960120"/>
          </a:xfrm>
          <a:prstGeom prst="rect">
            <a:avLst/>
          </a:prstGeom>
          <a:noFill/>
        </p:spPr>
        <p:txBody>
          <a:bodyPr wrap="square">
            <a:spAutoFit/>
          </a:bodyPr>
          <a:lstStyle/>
          <a:p>
            <a:r>
              <a:rPr sz="1300" b="1">
                <a:solidFill>
                  <a:srgbClr val="0078D4"/>
                </a:solidFill>
              </a:rPr>
              <a:t>原生 OpenSpec: 44 个任务 · 10 模块</a:t>
            </a:r>
            <a:endParaRPr sz="1300" b="1">
              <a:solidFill>
                <a:srgbClr val="0078D4"/>
              </a:solidFill>
            </a:endParaRPr>
          </a:p>
          <a:p>
            <a:pPr>
              <a:spcBef>
                <a:spcPts val="200"/>
              </a:spcBef>
            </a:pPr>
            <a:r>
              <a:rPr sz="800">
                <a:solidFill>
                  <a:srgbClr val="444444"/>
                </a:solidFill>
              </a:rPr>
              <a:t>• 数据管道 6 | 股票池 4 | 因子 7</a:t>
            </a:r>
            <a:endParaRPr sz="800">
              <a:solidFill>
                <a:srgbClr val="444444"/>
              </a:solidFill>
            </a:endParaRPr>
          </a:p>
          <a:p>
            <a:pPr>
              <a:spcBef>
                <a:spcPts val="200"/>
              </a:spcBef>
            </a:pPr>
            <a:r>
              <a:rPr sz="800">
                <a:solidFill>
                  <a:srgbClr val="444444"/>
                </a:solidFill>
              </a:rPr>
              <a:t>• 评分 4 | 风控 5 | 择时 4</a:t>
            </a:r>
            <a:endParaRPr sz="800">
              <a:solidFill>
                <a:srgbClr val="444444"/>
              </a:solidFill>
            </a:endParaRPr>
          </a:p>
          <a:p>
            <a:pPr>
              <a:spcBef>
                <a:spcPts val="200"/>
              </a:spcBef>
            </a:pPr>
            <a:r>
              <a:rPr sz="800">
                <a:solidFill>
                  <a:srgbClr val="444444"/>
                </a:solidFill>
              </a:rPr>
              <a:t>• 回测 5 | 报告 4 | CLI 2 | 基建 3</a:t>
            </a:r>
            <a:endParaRPr sz="800">
              <a:solidFill>
                <a:srgbClr val="444444"/>
              </a:solidFill>
            </a:endParaRPr>
          </a:p>
        </p:txBody>
      </p:sp>
      <p:sp>
        <p:nvSpPr>
          <p:cNvPr id="17" name="Rounded Rectangle 16"/>
          <p:cNvSpPr/>
          <p:nvPr/>
        </p:nvSpPr>
        <p:spPr>
          <a:xfrm>
            <a:off x="7498079" y="3108960"/>
            <a:ext cx="3291840" cy="1097280"/>
          </a:xfrm>
          <a:prstGeom prst="roundRect">
            <a:avLst/>
          </a:prstGeom>
          <a:solidFill>
            <a:srgbClr val="E8F5E9"/>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80959" y="3182112"/>
            <a:ext cx="2926080" cy="960120"/>
          </a:xfrm>
          <a:prstGeom prst="rect">
            <a:avLst/>
          </a:prstGeom>
          <a:noFill/>
        </p:spPr>
        <p:txBody>
          <a:bodyPr wrap="square">
            <a:spAutoFit/>
          </a:bodyPr>
          <a:lstStyle/>
          <a:p>
            <a:r>
              <a:rPr sz="1300" b="1">
                <a:solidFill>
                  <a:srgbClr val="107C10"/>
                </a:solidFill>
              </a:rPr>
              <a:t>HW2: 65 个任务 · 10 模块</a:t>
            </a:r>
            <a:endParaRPr sz="1300" b="1">
              <a:solidFill>
                <a:srgbClr val="107C10"/>
              </a:solidFill>
            </a:endParaRPr>
          </a:p>
          <a:p>
            <a:pPr>
              <a:spcBef>
                <a:spcPts val="200"/>
              </a:spcBef>
            </a:pPr>
            <a:r>
              <a:rPr sz="800">
                <a:solidFill>
                  <a:srgbClr val="444444"/>
                </a:solidFill>
              </a:rPr>
              <a:t>• 数据管道 8 | 股票池 6 | 因子 9</a:t>
            </a:r>
            <a:endParaRPr sz="800">
              <a:solidFill>
                <a:srgbClr val="444444"/>
              </a:solidFill>
            </a:endParaRPr>
          </a:p>
          <a:p>
            <a:pPr>
              <a:spcBef>
                <a:spcPts val="200"/>
              </a:spcBef>
            </a:pPr>
            <a:r>
              <a:rPr sz="800">
                <a:solidFill>
                  <a:srgbClr val="444444"/>
                </a:solidFill>
              </a:rPr>
              <a:t>• 评分 7 | 风控 6 | 择时 4</a:t>
            </a:r>
            <a:endParaRPr sz="800">
              <a:solidFill>
                <a:srgbClr val="444444"/>
              </a:solidFill>
            </a:endParaRPr>
          </a:p>
          <a:p>
            <a:pPr>
              <a:spcBef>
                <a:spcPts val="200"/>
              </a:spcBef>
            </a:pPr>
            <a:r>
              <a:rPr sz="800">
                <a:solidFill>
                  <a:srgbClr val="444444"/>
                </a:solidFill>
              </a:rPr>
              <a:t>• 回测 7 | 报告 8 | 集成 5 | 基建 5</a:t>
            </a:r>
            <a:endParaRPr sz="800">
              <a:solidFill>
                <a:srgbClr val="444444"/>
              </a:solidFill>
            </a:endParaRPr>
          </a:p>
        </p:txBody>
      </p:sp>
      <p:sp>
        <p:nvSpPr>
          <p:cNvPr id="19" name="Rectangle 18"/>
          <p:cNvSpPr/>
          <p:nvPr/>
        </p:nvSpPr>
        <p:spPr>
          <a:xfrm>
            <a:off x="457200" y="4343400"/>
            <a:ext cx="10332720" cy="54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57200" y="4434840"/>
            <a:ext cx="10332720" cy="1554480"/>
          </a:xfrm>
          <a:prstGeom prst="roundRect">
            <a:avLst/>
          </a:prstGeom>
          <a:solidFill>
            <a:srgbClr val="E3F2FD"/>
          </a:solidFill>
          <a:ln w="127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4480560"/>
            <a:ext cx="9966960" cy="1463040"/>
          </a:xfrm>
          <a:prstGeom prst="rect">
            <a:avLst/>
          </a:prstGeom>
          <a:noFill/>
        </p:spPr>
        <p:txBody>
          <a:bodyPr wrap="square">
            <a:spAutoFit/>
          </a:bodyPr>
          <a:lstStyle/>
          <a:p>
            <a:r>
              <a:rPr sz="1200" b="1">
                <a:solidFill>
                  <a:srgbClr val="0078D4"/>
                </a:solidFill>
              </a:rPr>
              <a:t>Usecases 步骤的增量影响</a:t>
            </a:r>
            <a:endParaRPr sz="1200" b="1">
              <a:solidFill>
                <a:srgbClr val="0078D4"/>
              </a:solidFill>
            </a:endParaRPr>
          </a:p>
          <a:p>
            <a:pPr>
              <a:spcBef>
                <a:spcPts val="200"/>
              </a:spcBef>
            </a:pPr>
            <a:r>
              <a:rPr sz="900">
                <a:solidFill>
                  <a:srgbClr val="444444"/>
                </a:solidFill>
              </a:rPr>
              <a:t>① 任务粒度更细：HW2 比 Native 多 21 个任务（65 vs 44，+48%），增量在数据验证器、存活偏差防护、因子 IC 跟踪等</a:t>
            </a:r>
            <a:endParaRPr sz="900">
              <a:solidFill>
                <a:srgbClr val="444444"/>
              </a:solidFill>
            </a:endParaRPr>
          </a:p>
          <a:p>
            <a:pPr>
              <a:spcBef>
                <a:spcPts val="200"/>
              </a:spcBef>
            </a:pPr>
            <a:r>
              <a:rPr sz="900">
                <a:solidFill>
                  <a:srgbClr val="444444"/>
                </a:solidFill>
              </a:rPr>
              <a:t>② 代码量增长显著：HW2 源码 4,236 行 vs Native 2,254 行（+88%），增量集中在 strategy（+248%）、risk（+142%）</a:t>
            </a:r>
            <a:endParaRPr sz="900">
              <a:solidFill>
                <a:srgbClr val="444444"/>
              </a:solidFill>
            </a:endParaRPr>
          </a:p>
          <a:p>
            <a:pPr>
              <a:spcBef>
                <a:spcPts val="200"/>
              </a:spcBef>
            </a:pPr>
            <a:r>
              <a:rPr sz="900">
                <a:solidFill>
                  <a:srgbClr val="444444"/>
                </a:solidFill>
              </a:rPr>
              <a:t>③ 模块功能密度提升：HW2 data 模块增加 DataSource Protocol + 验证器；backtest 拆分为 engine/broker/portfolio/metrics</a:t>
            </a:r>
            <a:endParaRPr sz="900">
              <a:solidFill>
                <a:srgbClr val="444444"/>
              </a:solidFill>
            </a:endParaRPr>
          </a:p>
          <a:p>
            <a:pPr>
              <a:spcBef>
                <a:spcPts val="200"/>
              </a:spcBef>
            </a:pPr>
            <a:r>
              <a:rPr sz="900">
                <a:solidFill>
                  <a:srgbClr val="444444"/>
                </a:solidFill>
              </a:rPr>
              <a:t>④ 工程化产物：HW2 独有 conftest.py 共享 fixtures、demo_workflow.py 演示流程</a:t>
            </a:r>
            <a:endParaRPr sz="900">
              <a:solidFill>
                <a:srgbClr val="444444"/>
              </a:solidFill>
            </a:endParaRPr>
          </a:p>
        </p:txBody>
      </p:sp>
      <p:sp>
        <p:nvSpPr>
          <p:cNvPr id="22" name="TextBox 21"/>
          <p:cNvSpPr txBox="1"/>
          <p:nvPr/>
        </p:nvSpPr>
        <p:spPr>
          <a:xfrm>
            <a:off x="457200" y="6035040"/>
            <a:ext cx="10332720" cy="260350"/>
          </a:xfrm>
          <a:prstGeom prst="rect">
            <a:avLst/>
          </a:prstGeom>
          <a:noFill/>
        </p:spPr>
        <p:txBody>
          <a:bodyPr wrap="square">
            <a:spAutoFit/>
          </a:bodyPr>
          <a:lstStyle/>
          <a:p>
            <a:r>
              <a:rPr sz="1100">
                <a:solidFill>
                  <a:srgbClr val="FF0000"/>
                </a:solidFill>
              </a:rPr>
              <a:t>Usecases 让 AI 在编码前充分理解业务场景 → 更细的任务分解 → 更完整的模块实现 → 更高的代码量和测试质量</a:t>
            </a:r>
            <a:endParaRPr sz="1100">
              <a:solidFill>
                <a:srgbClr val="FF0000"/>
              </a:solidFill>
            </a:endParaRPr>
          </a:p>
        </p:txBody>
      </p:sp>
      <p:sp>
        <p:nvSpPr>
          <p:cNvPr id="23" name="TextBox 22"/>
          <p:cNvSpPr txBox="1"/>
          <p:nvPr/>
        </p:nvSpPr>
        <p:spPr>
          <a:xfrm>
            <a:off x="11091672" y="6400800"/>
            <a:ext cx="914400" cy="365760"/>
          </a:xfrm>
          <a:prstGeom prst="rect">
            <a:avLst/>
          </a:prstGeom>
          <a:noFill/>
        </p:spPr>
        <p:txBody>
          <a:bodyPr wrap="none">
            <a:spAutoFit/>
          </a:bodyPr>
          <a:lstStyle/>
          <a:p>
            <a:r>
              <a:rPr sz="1100">
                <a:solidFill>
                  <a:srgbClr val="444444"/>
                </a:solidFill>
              </a:rPr>
              <a:t>33/41</a:t>
            </a:r>
            <a:endParaRPr sz="1100">
              <a:solidFill>
                <a:srgbClr val="444444"/>
              </a:solidFil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p:sp>
        <p:nvSpPr>
          <p:cNvPr id="2" name="TextBox 1"/>
          <p:cNvSpPr txBox="1"/>
          <p:nvPr/>
        </p:nvSpPr>
        <p:spPr>
          <a:xfrm>
            <a:off x="457200" y="182880"/>
            <a:ext cx="10058400" cy="502920"/>
          </a:xfrm>
          <a:prstGeom prst="rect">
            <a:avLst/>
          </a:prstGeom>
          <a:noFill/>
        </p:spPr>
        <p:txBody>
          <a:bodyPr wrap="square">
            <a:spAutoFit/>
          </a:bodyPr>
          <a:lstStyle/>
          <a:p>
            <a:pPr algn="l"/>
            <a:r>
              <a:rPr sz="2400" b="1">
                <a:solidFill>
                  <a:srgbClr val="333333"/>
                </a:solidFill>
                <a:latin typeface="Microsoft YaHei" panose="020B0503020204020204" charset="-122"/>
                <a:ea typeface="Microsoft YaHei" panose="020B0503020204020204" charset="-122"/>
              </a:rPr>
              <a:t>综合评分：三方八维度逐项打分</a:t>
            </a:r>
            <a:endParaRPr sz="2400" b="1">
              <a:solidFill>
                <a:srgbClr val="333333"/>
              </a:solidFill>
              <a:latin typeface="Microsoft YaHei" panose="020B0503020204020204" charset="-122"/>
            </a:endParaRPr>
          </a:p>
        </p:txBody>
      </p:sp>
      <p:sp>
        <p:nvSpPr>
          <p:cNvPr id="3" name="Rectangle 2"/>
          <p:cNvSpPr/>
          <p:nvPr/>
        </p:nvSpPr>
        <p:spPr>
          <a:xfrm>
            <a:off x="457200" y="685800"/>
            <a:ext cx="10332720" cy="508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57200" y="914400"/>
          <a:ext cx="10332720" cy="3840480"/>
        </p:xfrm>
        <a:graphic>
          <a:graphicData uri="http://schemas.openxmlformats.org/drawingml/2006/table">
            <a:tbl>
              <a:tblPr firstRow="1" bandRow="1">
                <a:tableStyleId>{5C22544A-7EE6-4342-B048-85BDC9FD1C3A}</a:tableStyleId>
              </a:tblPr>
              <a:tblGrid>
                <a:gridCol w="1645920"/>
                <a:gridCol w="1097280"/>
                <a:gridCol w="1097280"/>
                <a:gridCol w="1097280"/>
                <a:gridCol w="5394960"/>
              </a:tblGrid>
              <a:tr h="384048">
                <a:tc>
                  <a:txBody>
                    <a:bodyPr/>
                    <a:lstStyle/>
                    <a:p>
                      <a:pPr algn="l">
                        <a:spcBef>
                          <a:spcPts val="0"/>
                        </a:spcBef>
                        <a:spcAft>
                          <a:spcPts val="0"/>
                        </a:spcAft>
                      </a:pPr>
                      <a:r>
                        <a:rPr sz="1100" b="1">
                          <a:solidFill>
                            <a:srgbClr val="FFFFFF"/>
                          </a:solidFill>
                          <a:latin typeface="Microsoft YaHei" panose="020B0503020204020204" charset="-122"/>
                        </a:rPr>
                        <a:t>维度 (/10)</a:t>
                      </a:r>
                      <a:endParaRPr sz="1100" b="1">
                        <a:solidFill>
                          <a:srgbClr val="FFFFFF"/>
                        </a:solidFill>
                        <a:latin typeface="Microsoft YaHei" panose="020B0503020204020204" charset="-122"/>
                      </a:endParaRPr>
                    </a:p>
                  </a:txBody>
                  <a:tcPr marL="50800" marR="50800" marT="25400" marB="25400" anchor="ctr">
                    <a:solidFill>
                      <a:srgbClr val="444444"/>
                    </a:solidFill>
                  </a:tcPr>
                </a:tc>
                <a:tc>
                  <a:txBody>
                    <a:bodyPr/>
                    <a:lstStyle/>
                    <a:p>
                      <a:pPr algn="ctr">
                        <a:spcBef>
                          <a:spcPts val="0"/>
                        </a:spcBef>
                        <a:spcAft>
                          <a:spcPts val="0"/>
                        </a:spcAft>
                      </a:pPr>
                      <a:r>
                        <a:rPr sz="1100" b="1">
                          <a:solidFill>
                            <a:srgbClr val="FFFFFF"/>
                          </a:solidFill>
                          <a:latin typeface="Microsoft YaHei" panose="020B0503020204020204" charset="-122"/>
                        </a:rPr>
                        <a:t>Vanilla</a:t>
                      </a:r>
                      <a:endParaRPr sz="1100" b="1">
                        <a:solidFill>
                          <a:srgbClr val="FFFFFF"/>
                        </a:solidFill>
                        <a:latin typeface="Microsoft YaHei" panose="020B0503020204020204" charset="-122"/>
                      </a:endParaRPr>
                    </a:p>
                  </a:txBody>
                  <a:tcPr marL="50800" marR="50800" marT="25400" marB="25400" anchor="ctr">
                    <a:solidFill>
                      <a:srgbClr val="787878"/>
                    </a:solidFill>
                  </a:tcPr>
                </a:tc>
                <a:tc>
                  <a:txBody>
                    <a:bodyPr/>
                    <a:lstStyle/>
                    <a:p>
                      <a:pPr algn="ctr">
                        <a:spcBef>
                          <a:spcPts val="0"/>
                        </a:spcBef>
                        <a:spcAft>
                          <a:spcPts val="0"/>
                        </a:spcAft>
                      </a:pPr>
                      <a:r>
                        <a:rPr sz="1100" b="1">
                          <a:solidFill>
                            <a:srgbClr val="FFFFFF"/>
                          </a:solidFill>
                          <a:latin typeface="Microsoft YaHei" panose="020B0503020204020204" charset="-122"/>
                        </a:rPr>
                        <a:t>原生</a:t>
                      </a:r>
                      <a:endParaRPr sz="1100" b="1">
                        <a:solidFill>
                          <a:srgbClr val="FFFFFF"/>
                        </a:solidFill>
                        <a:latin typeface="Microsoft YaHei" panose="020B0503020204020204" charset="-122"/>
                      </a:endParaRPr>
                    </a:p>
                  </a:txBody>
                  <a:tcPr marL="50800" marR="50800" marT="25400" marB="25400" anchor="ctr">
                    <a:solidFill>
                      <a:srgbClr val="0078D4"/>
                    </a:solidFill>
                  </a:tcPr>
                </a:tc>
                <a:tc>
                  <a:txBody>
                    <a:bodyPr/>
                    <a:lstStyle/>
                    <a:p>
                      <a:pPr algn="ctr">
                        <a:spcBef>
                          <a:spcPts val="0"/>
                        </a:spcBef>
                        <a:spcAft>
                          <a:spcPts val="0"/>
                        </a:spcAft>
                      </a:pPr>
                      <a:r>
                        <a:rPr sz="1100" b="1">
                          <a:solidFill>
                            <a:srgbClr val="FFFFFF"/>
                          </a:solidFill>
                          <a:latin typeface="Microsoft YaHei" panose="020B0503020204020204" charset="-122"/>
                        </a:rPr>
                        <a:t>HW2</a:t>
                      </a:r>
                      <a:endParaRPr sz="1100" b="1">
                        <a:solidFill>
                          <a:srgbClr val="FFFFFF"/>
                        </a:solidFill>
                        <a:latin typeface="Microsoft YaHei" panose="020B0503020204020204" charset="-122"/>
                      </a:endParaRPr>
                    </a:p>
                  </a:txBody>
                  <a:tcPr marL="50800" marR="50800" marT="25400" marB="25400" anchor="ctr">
                    <a:solidFill>
                      <a:srgbClr val="107C10"/>
                    </a:solidFill>
                  </a:tcPr>
                </a:tc>
                <a:tc>
                  <a:txBody>
                    <a:bodyPr/>
                    <a:lstStyle/>
                    <a:p>
                      <a:pPr algn="ctr">
                        <a:spcBef>
                          <a:spcPts val="0"/>
                        </a:spcBef>
                        <a:spcAft>
                          <a:spcPts val="0"/>
                        </a:spcAft>
                      </a:pPr>
                      <a:r>
                        <a:rPr sz="1100" b="1">
                          <a:solidFill>
                            <a:srgbClr val="FFFFFF"/>
                          </a:solidFill>
                          <a:latin typeface="Microsoft YaHei" panose="020B0503020204020204" charset="-122"/>
                        </a:rPr>
                        <a:t>关键差异</a:t>
                      </a:r>
                      <a:endParaRPr sz="1100" b="1">
                        <a:solidFill>
                          <a:srgbClr val="FFFFFF"/>
                        </a:solidFill>
                        <a:latin typeface="Microsoft YaHei" panose="020B0503020204020204" charset="-122"/>
                      </a:endParaRPr>
                    </a:p>
                  </a:txBody>
                  <a:tcPr marL="50800" marR="50800" marT="25400" marB="25400" anchor="ctr">
                    <a:solidFill>
                      <a:srgbClr val="0078D4"/>
                    </a:solidFill>
                  </a:tcPr>
                </a:tc>
              </a:tr>
              <a:tr h="384048">
                <a:tc>
                  <a:txBody>
                    <a:bodyPr/>
                    <a:lstStyle/>
                    <a:p>
                      <a:pPr algn="l">
                        <a:spcBef>
                          <a:spcPts val="0"/>
                        </a:spcBef>
                        <a:spcAft>
                          <a:spcPts val="0"/>
                        </a:spcAft>
                      </a:pPr>
                      <a:r>
                        <a:rPr sz="1100" b="0">
                          <a:solidFill>
                            <a:srgbClr val="333333"/>
                          </a:solidFill>
                          <a:latin typeface="Microsoft YaHei" panose="020B0503020204020204" charset="-122"/>
                        </a:rPr>
                        <a:t>架构清晰度</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6</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7</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9</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Protocol 架构 vs 简单类 vs 扁平</a:t>
                      </a:r>
                      <a:endParaRPr sz="1100" b="0">
                        <a:solidFill>
                          <a:srgbClr val="333333"/>
                        </a:solidFill>
                        <a:latin typeface="Microsoft YaHei" panose="020B0503020204020204" charset="-122"/>
                      </a:endParaRPr>
                    </a:p>
                  </a:txBody>
                  <a:tcPr marL="50800" marR="50800" marT="25400" marB="25400" anchor="ctr"/>
                </a:tc>
              </a:tr>
              <a:tr h="384048">
                <a:tc>
                  <a:txBody>
                    <a:bodyPr/>
                    <a:lstStyle/>
                    <a:p>
                      <a:pPr algn="l">
                        <a:spcBef>
                          <a:spcPts val="0"/>
                        </a:spcBef>
                        <a:spcAft>
                          <a:spcPts val="0"/>
                        </a:spcAft>
                      </a:pPr>
                      <a:r>
                        <a:rPr sz="1100" b="0">
                          <a:solidFill>
                            <a:srgbClr val="333333"/>
                          </a:solidFill>
                          <a:latin typeface="Microsoft YaHei" panose="020B0503020204020204" charset="-122"/>
                        </a:rPr>
                        <a:t>测试完备性</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2</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7</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9</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0→67→88 测试用例</a:t>
                      </a:r>
                      <a:endParaRPr sz="1100" b="0">
                        <a:solidFill>
                          <a:srgbClr val="333333"/>
                        </a:solidFill>
                        <a:latin typeface="Microsoft YaHei" panose="020B0503020204020204" charset="-122"/>
                      </a:endParaRPr>
                    </a:p>
                  </a:txBody>
                  <a:tcPr marL="50800" marR="50800" marT="25400" marB="25400" anchor="ctr">
                    <a:solidFill>
                      <a:srgbClr val="F8F8F8"/>
                    </a:solidFill>
                  </a:tcPr>
                </a:tc>
              </a:tr>
              <a:tr h="384048">
                <a:tc>
                  <a:txBody>
                    <a:bodyPr/>
                    <a:lstStyle/>
                    <a:p>
                      <a:pPr algn="l">
                        <a:spcBef>
                          <a:spcPts val="0"/>
                        </a:spcBef>
                        <a:spcAft>
                          <a:spcPts val="0"/>
                        </a:spcAft>
                      </a:pPr>
                      <a:r>
                        <a:rPr sz="1100" b="0">
                          <a:solidFill>
                            <a:srgbClr val="333333"/>
                          </a:solidFill>
                          <a:latin typeface="Microsoft YaHei" panose="020B0503020204020204" charset="-122"/>
                        </a:rPr>
                        <a:t>需求完整度</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5</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8</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9</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需求0条→基本覆盖→用例驱动完整覆盖（以风控为例）</a:t>
                      </a:r>
                      <a:endParaRPr sz="1100" b="0">
                        <a:solidFill>
                          <a:srgbClr val="333333"/>
                        </a:solidFill>
                        <a:latin typeface="Microsoft YaHei" panose="020B0503020204020204" charset="-122"/>
                      </a:endParaRPr>
                    </a:p>
                  </a:txBody>
                  <a:tcPr marL="50800" marR="50800" marT="25400" marB="25400" anchor="ctr"/>
                </a:tc>
              </a:tr>
              <a:tr h="384048">
                <a:tc>
                  <a:txBody>
                    <a:bodyPr/>
                    <a:lstStyle/>
                    <a:p>
                      <a:pPr algn="l">
                        <a:spcBef>
                          <a:spcPts val="0"/>
                        </a:spcBef>
                        <a:spcAft>
                          <a:spcPts val="0"/>
                        </a:spcAft>
                      </a:pPr>
                      <a:r>
                        <a:rPr sz="1100" b="0">
                          <a:solidFill>
                            <a:srgbClr val="333333"/>
                          </a:solidFill>
                          <a:latin typeface="Microsoft YaHei" panose="020B0503020204020204" charset="-122"/>
                        </a:rPr>
                        <a:t>边界条件处理</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6</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7</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8</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无边界处理→基本约束→完整约束建模（以回测为例）</a:t>
                      </a:r>
                      <a:endParaRPr sz="1100" b="0">
                        <a:solidFill>
                          <a:srgbClr val="333333"/>
                        </a:solidFill>
                        <a:latin typeface="Microsoft YaHei" panose="020B0503020204020204" charset="-122"/>
                      </a:endParaRPr>
                    </a:p>
                  </a:txBody>
                  <a:tcPr marL="50800" marR="50800" marT="25400" marB="25400" anchor="ctr">
                    <a:solidFill>
                      <a:srgbClr val="F8F8F8"/>
                    </a:solidFill>
                  </a:tcPr>
                </a:tc>
              </a:tr>
              <a:tr h="384048">
                <a:tc>
                  <a:txBody>
                    <a:bodyPr/>
                    <a:lstStyle/>
                    <a:p>
                      <a:pPr algn="l">
                        <a:spcBef>
                          <a:spcPts val="0"/>
                        </a:spcBef>
                        <a:spcAft>
                          <a:spcPts val="0"/>
                        </a:spcAft>
                      </a:pPr>
                      <a:r>
                        <a:rPr sz="1100" b="0">
                          <a:solidFill>
                            <a:srgbClr val="333333"/>
                          </a:solidFill>
                          <a:latin typeface="Microsoft YaHei" panose="020B0503020204020204" charset="-122"/>
                        </a:rPr>
                        <a:t>需求可追溯性</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4</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8</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9</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无追溯→Spec→Usecase→Spec→Code 全链追溯</a:t>
                      </a:r>
                      <a:endParaRPr sz="1100" b="0">
                        <a:solidFill>
                          <a:srgbClr val="333333"/>
                        </a:solidFill>
                        <a:latin typeface="Microsoft YaHei" panose="020B0503020204020204" charset="-122"/>
                      </a:endParaRPr>
                    </a:p>
                  </a:txBody>
                  <a:tcPr marL="50800" marR="50800" marT="25400" marB="25400" anchor="ctr"/>
                </a:tc>
              </a:tr>
              <a:tr h="384048">
                <a:tc>
                  <a:txBody>
                    <a:bodyPr/>
                    <a:lstStyle/>
                    <a:p>
                      <a:pPr algn="l">
                        <a:spcBef>
                          <a:spcPts val="0"/>
                        </a:spcBef>
                        <a:spcAft>
                          <a:spcPts val="0"/>
                        </a:spcAft>
                      </a:pPr>
                      <a:r>
                        <a:rPr sz="1100" b="0">
                          <a:solidFill>
                            <a:srgbClr val="333333"/>
                          </a:solidFill>
                          <a:latin typeface="Microsoft YaHei" panose="020B0503020204020204" charset="-122"/>
                        </a:rPr>
                        <a:t>可维护性</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7</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7</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8</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简单易读→模块化→YAML配置</a:t>
                      </a:r>
                      <a:endParaRPr sz="1100" b="0">
                        <a:solidFill>
                          <a:srgbClr val="333333"/>
                        </a:solidFill>
                        <a:latin typeface="Microsoft YaHei" panose="020B0503020204020204" charset="-122"/>
                      </a:endParaRPr>
                    </a:p>
                  </a:txBody>
                  <a:tcPr marL="50800" marR="50800" marT="25400" marB="25400" anchor="ctr">
                    <a:solidFill>
                      <a:srgbClr val="F8F8F8"/>
                    </a:solidFill>
                  </a:tcPr>
                </a:tc>
              </a:tr>
              <a:tr h="384048">
                <a:tc>
                  <a:txBody>
                    <a:bodyPr/>
                    <a:lstStyle/>
                    <a:p>
                      <a:pPr algn="l">
                        <a:spcBef>
                          <a:spcPts val="0"/>
                        </a:spcBef>
                        <a:spcAft>
                          <a:spcPts val="0"/>
                        </a:spcAft>
                      </a:pPr>
                      <a:r>
                        <a:rPr sz="1100" b="0">
                          <a:solidFill>
                            <a:srgbClr val="333333"/>
                          </a:solidFill>
                          <a:latin typeface="Microsoft YaHei" panose="020B0503020204020204" charset="-122"/>
                        </a:rPr>
                        <a:t>可扩展性</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5</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6</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8</a:t>
                      </a:r>
                      <a:endParaRPr sz="1100" b="0">
                        <a:solidFill>
                          <a:srgbClr val="333333"/>
                        </a:solidFill>
                        <a:latin typeface="Microsoft YaHei" panose="020B0503020204020204" charset="-122"/>
                      </a:endParaRPr>
                    </a:p>
                  </a:txBody>
                  <a:tcPr marL="50800" marR="50800" marT="25400" marB="25400" anchor="ctr"/>
                </a:tc>
                <a:tc>
                  <a:txBody>
                    <a:bodyPr/>
                    <a:lstStyle/>
                    <a:p>
                      <a:pPr algn="ctr">
                        <a:spcBef>
                          <a:spcPts val="0"/>
                        </a:spcBef>
                        <a:spcAft>
                          <a:spcPts val="0"/>
                        </a:spcAft>
                      </a:pPr>
                      <a:r>
                        <a:rPr sz="1100" b="0">
                          <a:solidFill>
                            <a:srgbClr val="333333"/>
                          </a:solidFill>
                          <a:latin typeface="Microsoft YaHei" panose="020B0503020204020204" charset="-122"/>
                        </a:rPr>
                        <a:t>改代码→基本扩展→插件式</a:t>
                      </a:r>
                      <a:endParaRPr sz="1100" b="0">
                        <a:solidFill>
                          <a:srgbClr val="333333"/>
                        </a:solidFill>
                        <a:latin typeface="Microsoft YaHei" panose="020B0503020204020204" charset="-122"/>
                      </a:endParaRPr>
                    </a:p>
                  </a:txBody>
                  <a:tcPr marL="50800" marR="50800" marT="25400" marB="25400" anchor="ctr"/>
                </a:tc>
              </a:tr>
              <a:tr h="384048">
                <a:tc>
                  <a:txBody>
                    <a:bodyPr/>
                    <a:lstStyle/>
                    <a:p>
                      <a:pPr algn="l">
                        <a:spcBef>
                          <a:spcPts val="0"/>
                        </a:spcBef>
                        <a:spcAft>
                          <a:spcPts val="0"/>
                        </a:spcAft>
                      </a:pPr>
                      <a:r>
                        <a:rPr sz="1100" b="0">
                          <a:solidFill>
                            <a:srgbClr val="333333"/>
                          </a:solidFill>
                          <a:latin typeface="Microsoft YaHei" panose="020B0503020204020204" charset="-122"/>
                        </a:rPr>
                        <a:t>开发效率</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9</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6</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7</a:t>
                      </a:r>
                      <a:endParaRPr sz="1100" b="0">
                        <a:solidFill>
                          <a:srgbClr val="333333"/>
                        </a:solidFill>
                        <a:latin typeface="Microsoft YaHei" panose="020B0503020204020204" charset="-122"/>
                      </a:endParaRPr>
                    </a:p>
                  </a:txBody>
                  <a:tcPr marL="50800" marR="50800" marT="25400" marB="25400" anchor="ctr">
                    <a:solidFill>
                      <a:srgbClr val="F8F8F8"/>
                    </a:solidFill>
                  </a:tcPr>
                </a:tc>
                <a:tc>
                  <a:txBody>
                    <a:bodyPr/>
                    <a:lstStyle/>
                    <a:p>
                      <a:pPr algn="ctr">
                        <a:spcBef>
                          <a:spcPts val="0"/>
                        </a:spcBef>
                        <a:spcAft>
                          <a:spcPts val="0"/>
                        </a:spcAft>
                      </a:pPr>
                      <a:r>
                        <a:rPr sz="1100" b="0">
                          <a:solidFill>
                            <a:srgbClr val="333333"/>
                          </a:solidFill>
                          <a:latin typeface="Microsoft YaHei" panose="020B0503020204020204" charset="-122"/>
                        </a:rPr>
                        <a:t>最快交付（但质量最低）</a:t>
                      </a:r>
                      <a:endParaRPr sz="1100" b="0">
                        <a:solidFill>
                          <a:srgbClr val="333333"/>
                        </a:solidFill>
                        <a:latin typeface="Microsoft YaHei" panose="020B0503020204020204" charset="-122"/>
                      </a:endParaRPr>
                    </a:p>
                  </a:txBody>
                  <a:tcPr marL="50800" marR="50800" marT="25400" marB="25400" anchor="ctr">
                    <a:solidFill>
                      <a:srgbClr val="F8F8F8"/>
                    </a:solidFill>
                  </a:tcPr>
                </a:tc>
              </a:tr>
              <a:tr h="384048">
                <a:tc>
                  <a:txBody>
                    <a:bodyPr/>
                    <a:lstStyle/>
                    <a:p>
                      <a:pPr algn="l">
                        <a:spcBef>
                          <a:spcPts val="0"/>
                        </a:spcBef>
                        <a:spcAft>
                          <a:spcPts val="0"/>
                        </a:spcAft>
                      </a:pPr>
                      <a:r>
                        <a:rPr sz="1100" b="1">
                          <a:solidFill>
                            <a:srgbClr val="333333"/>
                          </a:solidFill>
                          <a:latin typeface="Microsoft YaHei" panose="020B0503020204020204" charset="-122"/>
                        </a:rPr>
                        <a:t>合计 (/80)</a:t>
                      </a:r>
                      <a:endParaRPr sz="1100" b="1">
                        <a:solidFill>
                          <a:srgbClr val="333333"/>
                        </a:solidFill>
                        <a:latin typeface="Microsoft YaHei" panose="020B0503020204020204" charset="-122"/>
                      </a:endParaRPr>
                    </a:p>
                  </a:txBody>
                  <a:tcPr marL="50800" marR="50800" marT="25400" marB="25400" anchor="ctr">
                    <a:solidFill>
                      <a:srgbClr val="E0E0E0"/>
                    </a:solidFill>
                  </a:tcPr>
                </a:tc>
                <a:tc>
                  <a:txBody>
                    <a:bodyPr/>
                    <a:lstStyle/>
                    <a:p>
                      <a:pPr algn="ctr">
                        <a:spcBef>
                          <a:spcPts val="0"/>
                        </a:spcBef>
                        <a:spcAft>
                          <a:spcPts val="0"/>
                        </a:spcAft>
                      </a:pPr>
                      <a:r>
                        <a:rPr sz="1100" b="1">
                          <a:solidFill>
                            <a:srgbClr val="333333"/>
                          </a:solidFill>
                          <a:latin typeface="Microsoft YaHei" panose="020B0503020204020204" charset="-122"/>
                        </a:rPr>
                        <a:t>44</a:t>
                      </a:r>
                      <a:endParaRPr sz="1100" b="1">
                        <a:solidFill>
                          <a:srgbClr val="333333"/>
                        </a:solidFill>
                        <a:latin typeface="Microsoft YaHei" panose="020B0503020204020204" charset="-122"/>
                      </a:endParaRPr>
                    </a:p>
                  </a:txBody>
                  <a:tcPr marL="50800" marR="50800" marT="25400" marB="25400" anchor="ctr">
                    <a:solidFill>
                      <a:srgbClr val="E0E0E0"/>
                    </a:solidFill>
                  </a:tcPr>
                </a:tc>
                <a:tc>
                  <a:txBody>
                    <a:bodyPr/>
                    <a:lstStyle/>
                    <a:p>
                      <a:pPr algn="ctr">
                        <a:spcBef>
                          <a:spcPts val="0"/>
                        </a:spcBef>
                        <a:spcAft>
                          <a:spcPts val="0"/>
                        </a:spcAft>
                      </a:pPr>
                      <a:r>
                        <a:rPr sz="1100" b="1">
                          <a:solidFill>
                            <a:srgbClr val="333333"/>
                          </a:solidFill>
                          <a:latin typeface="Microsoft YaHei" panose="020B0503020204020204" charset="-122"/>
                        </a:rPr>
                        <a:t>56</a:t>
                      </a:r>
                      <a:endParaRPr sz="1100" b="1">
                        <a:solidFill>
                          <a:srgbClr val="333333"/>
                        </a:solidFill>
                        <a:latin typeface="Microsoft YaHei" panose="020B0503020204020204" charset="-122"/>
                      </a:endParaRPr>
                    </a:p>
                  </a:txBody>
                  <a:tcPr marL="50800" marR="50800" marT="25400" marB="25400" anchor="ctr">
                    <a:solidFill>
                      <a:srgbClr val="E0E0E0"/>
                    </a:solidFill>
                  </a:tcPr>
                </a:tc>
                <a:tc>
                  <a:txBody>
                    <a:bodyPr/>
                    <a:lstStyle/>
                    <a:p>
                      <a:pPr algn="ctr">
                        <a:spcBef>
                          <a:spcPts val="0"/>
                        </a:spcBef>
                        <a:spcAft>
                          <a:spcPts val="0"/>
                        </a:spcAft>
                      </a:pPr>
                      <a:r>
                        <a:rPr sz="1100" b="1">
                          <a:solidFill>
                            <a:srgbClr val="333333"/>
                          </a:solidFill>
                          <a:latin typeface="Microsoft YaHei" panose="020B0503020204020204" charset="-122"/>
                        </a:rPr>
                        <a:t>67</a:t>
                      </a:r>
                      <a:endParaRPr sz="1100" b="1">
                        <a:solidFill>
                          <a:srgbClr val="333333"/>
                        </a:solidFill>
                        <a:latin typeface="Microsoft YaHei" panose="020B0503020204020204" charset="-122"/>
                      </a:endParaRPr>
                    </a:p>
                  </a:txBody>
                  <a:tcPr marL="50800" marR="50800" marT="25400" marB="25400" anchor="ctr">
                    <a:solidFill>
                      <a:srgbClr val="E0E0E0"/>
                    </a:solidFill>
                  </a:tcPr>
                </a:tc>
                <a:tc>
                  <a:txBody>
                    <a:bodyPr/>
                    <a:lstStyle/>
                    <a:p>
                      <a:pPr algn="ctr">
                        <a:spcBef>
                          <a:spcPts val="0"/>
                        </a:spcBef>
                        <a:spcAft>
                          <a:spcPts val="0"/>
                        </a:spcAft>
                      </a:pPr>
                      <a:r>
                        <a:rPr sz="1100" b="1">
                          <a:solidFill>
                            <a:srgbClr val="333333"/>
                          </a:solidFill>
                          <a:latin typeface="Microsoft YaHei" panose="020B0503020204020204" charset="-122"/>
                        </a:rPr>
                        <a:t>Vanilla 仅在</a:t>
                      </a:r>
                      <a:r>
                        <a:rPr lang="zh-CN" sz="1100" b="1">
                          <a:solidFill>
                            <a:srgbClr val="333333"/>
                          </a:solidFill>
                          <a:latin typeface="Microsoft YaHei" panose="020B0503020204020204" charset="-122"/>
                        </a:rPr>
                        <a:t>可能</a:t>
                      </a:r>
                      <a:r>
                        <a:rPr sz="1100" b="1">
                          <a:solidFill>
                            <a:srgbClr val="333333"/>
                          </a:solidFill>
                          <a:latin typeface="Microsoft YaHei" panose="020B0503020204020204" charset="-122"/>
                        </a:rPr>
                        <a:t>开发效率领先</a:t>
                      </a:r>
                      <a:endParaRPr sz="1100" b="1">
                        <a:solidFill>
                          <a:srgbClr val="333333"/>
                        </a:solidFill>
                        <a:latin typeface="Microsoft YaHei" panose="020B0503020204020204" charset="-122"/>
                      </a:endParaRPr>
                    </a:p>
                  </a:txBody>
                  <a:tcPr marL="50800" marR="50800" marT="25400" marB="25400" anchor="ctr">
                    <a:solidFill>
                      <a:srgbClr val="E0E0E0"/>
                    </a:solidFill>
                  </a:tcPr>
                </a:tc>
              </a:tr>
            </a:tbl>
          </a:graphicData>
        </a:graphic>
      </p:graphicFrame>
      <p:sp>
        <p:nvSpPr>
          <p:cNvPr id="5" name="Rounded Rectangle 4"/>
          <p:cNvSpPr/>
          <p:nvPr/>
        </p:nvSpPr>
        <p:spPr>
          <a:xfrm>
            <a:off x="457200" y="4937760"/>
            <a:ext cx="10332720" cy="1097280"/>
          </a:xfrm>
          <a:prstGeom prst="roundRect">
            <a:avLst/>
          </a:prstGeom>
          <a:solidFill>
            <a:srgbClr val="E8F5E9"/>
          </a:solidFill>
          <a:ln w="12700">
            <a:solidFill>
              <a:srgbClr val="107C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029200"/>
            <a:ext cx="9966960" cy="914400"/>
          </a:xfrm>
          <a:prstGeom prst="rect">
            <a:avLst/>
          </a:prstGeom>
          <a:noFill/>
        </p:spPr>
        <p:txBody>
          <a:bodyPr wrap="square">
            <a:spAutoFit/>
          </a:bodyPr>
          <a:lstStyle/>
          <a:p>
            <a:pPr algn="l">
              <a:spcAft>
                <a:spcPts val="400"/>
              </a:spcAft>
            </a:pPr>
            <a:r>
              <a:rPr sz="1400" b="1">
                <a:solidFill>
                  <a:srgbClr val="107C10"/>
                </a:solidFill>
                <a:latin typeface="Microsoft YaHei" panose="020B0503020204020204" charset="-122"/>
                <a:ea typeface="Microsoft YaHei" panose="020B0503020204020204" charset="-122"/>
              </a:rPr>
              <a:t>三方对比核心结论</a:t>
            </a:r>
            <a:endParaRPr sz="1400" b="1">
              <a:solidFill>
                <a:srgbClr val="107C10"/>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① 规格前置 = 质量保障：三者总分 44→56→67，规格化程度越高，产出质量越高</a:t>
            </a:r>
            <a:endParaRPr sz="1200" b="0">
              <a:solidFill>
                <a:srgbClr val="333333"/>
              </a:solidFill>
              <a:latin typeface="Microsoft YaHei" panose="020B0503020204020204" charset="-122"/>
            </a:endParaRPr>
          </a:p>
          <a:p>
            <a:pPr algn="l">
              <a:spcAft>
                <a:spcPts val="300"/>
              </a:spcAft>
            </a:pPr>
            <a:r>
              <a:rPr sz="1200" b="0">
                <a:solidFill>
                  <a:srgbClr val="333333"/>
                </a:solidFill>
                <a:latin typeface="Microsoft YaHei" panose="020B0503020204020204" charset="-122"/>
                <a:ea typeface="Microsoft YaHei" panose="020B0503020204020204" charset="-122"/>
              </a:rPr>
              <a:t>② OpenSpec-HW2 Usecases 的增量价值：原生→HW2 的 11 分差距（56→67），完全由 Usecases 步骤驱动</a:t>
            </a:r>
            <a:endParaRPr sz="1200" b="0">
              <a:solidFill>
                <a:srgbClr val="333333"/>
              </a:solidFill>
              <a:latin typeface="Microsoft YaHei" panose="020B0503020204020204" charset="-122"/>
            </a:endParaRPr>
          </a:p>
          <a:p>
            <a:pPr algn="l">
              <a:spcAft>
                <a:spcPts val="200"/>
              </a:spcAft>
            </a:pPr>
            <a:r>
              <a:rPr sz="1200" b="0">
                <a:solidFill>
                  <a:srgbClr val="333333"/>
                </a:solidFill>
                <a:latin typeface="Microsoft YaHei" panose="020B0503020204020204" charset="-122"/>
                <a:ea typeface="Microsoft YaHei" panose="020B0503020204020204" charset="-122"/>
              </a:rPr>
              <a:t>③ 不是代码多就好：Vanilla 代码最少但最快，适合原型；企业级系统需要 HW2 级别的规格化</a:t>
            </a:r>
            <a:endParaRPr sz="1200" b="0">
              <a:solidFill>
                <a:srgbClr val="333333"/>
              </a:solidFill>
              <a:latin typeface="Microsoft YaHei" panose="020B0503020204020204" charset="-122"/>
            </a:endParaRPr>
          </a:p>
        </p:txBody>
      </p:sp>
      <p:sp>
        <p:nvSpPr>
          <p:cNvPr id="7" name="TextBox 6"/>
          <p:cNvSpPr txBox="1"/>
          <p:nvPr/>
        </p:nvSpPr>
        <p:spPr>
          <a:xfrm>
            <a:off x="11094085" y="6400800"/>
            <a:ext cx="914400" cy="365760"/>
          </a:xfrm>
          <a:prstGeom prst="rect">
            <a:avLst/>
          </a:prstGeom>
          <a:noFill/>
        </p:spPr>
        <p:txBody>
          <a:bodyPr wrap="square">
            <a:spAutoFit/>
          </a:bodyPr>
          <a:lstStyle/>
          <a:p>
            <a:pPr algn="r"/>
            <a:r>
              <a:rPr sz="1100" b="0">
                <a:solidFill>
                  <a:srgbClr val="999999"/>
                </a:solidFill>
                <a:latin typeface="Microsoft YaHei" panose="020B0503020204020204" charset="-122"/>
                <a:ea typeface="Microsoft YaHei" panose="020B0503020204020204" charset="-122"/>
              </a:rPr>
              <a:t>34/41</a:t>
            </a:r>
            <a:endParaRPr sz="1100" b="0">
              <a:solidFill>
                <a:srgbClr val="999999"/>
              </a:solidFill>
              <a:latin typeface="Microsoft YaHei" panose="020B0503020204020204" charset="-122"/>
            </a:endParaRPr>
          </a:p>
        </p:txBody>
      </p:sp>
    </p:spTree>
  </p:cSld>
  <p:clrMapOvr>
    <a:masterClrMapping/>
  </p:clrMapOvr>
</p:sld>
</file>

<file path=ppt/tags/tag1.xml><?xml version="1.0" encoding="utf-8"?>
<p:tagLst xmlns:p="http://schemas.openxmlformats.org/presentationml/2006/main">
  <p:tag name="KSO_WM_DIAGRAM_VIRTUALLY_FRAME" val="{&quot;height&quot;:316.8,&quot;left&quot;:36,&quot;top&quot;:151.2,&quot;width&quot;:871.2}"/>
</p:tagLst>
</file>

<file path=ppt/tags/tag2.xml><?xml version="1.0" encoding="utf-8"?>
<p:tagLst xmlns:p="http://schemas.openxmlformats.org/presentationml/2006/main">
  <p:tag name="KSO_WM_DIAGRAM_VIRTUALLY_FRAME" val="{&quot;height&quot;:316.8,&quot;left&quot;:36,&quot;top&quot;:151.2,&quot;width&quot;:871.2}"/>
</p:tagLst>
</file>

<file path=ppt/tags/tag3.xml><?xml version="1.0" encoding="utf-8"?>
<p:tagLst xmlns:p="http://schemas.openxmlformats.org/presentationml/2006/main">
  <p:tag name="KSO_WM_DIAGRAM_VIRTUALLY_FRAME" val="{&quot;height&quot;:316.8,&quot;left&quot;:36,&quot;top&quot;:151.2,&quot;width&quot;:871.2}"/>
</p:tagLst>
</file>

<file path=ppt/tags/tag4.xml><?xml version="1.0" encoding="utf-8"?>
<p:tagLst xmlns:p="http://schemas.openxmlformats.org/presentationml/2006/main">
  <p:tag name="KSO_WM_DIAGRAM_VIRTUALLY_FRAME" val="{&quot;height&quot;:316.8,&quot;left&quot;:36,&quot;top&quot;:151.2,&quot;width&quot;:871.2}"/>
</p:tagLst>
</file>

<file path=ppt/tags/tag5.xml><?xml version="1.0" encoding="utf-8"?>
<p:tagLst xmlns:p="http://schemas.openxmlformats.org/presentationml/2006/main">
  <p:tag name="KSO_WM_DIAGRAM_VIRTUALLY_FRAME" val="{&quot;height&quot;:316.8,&quot;left&quot;:36,&quot;top&quot;:151.2,&quot;width&quot;:871.2}"/>
</p:tagLst>
</file>

<file path=ppt/tags/tag6.xml><?xml version="1.0" encoding="utf-8"?>
<p:tagLst xmlns:p="http://schemas.openxmlformats.org/presentationml/2006/main">
  <p:tag name="KSO_WM_DIAGRAM_VIRTUALLY_FRAME" val="{&quot;height&quot;:316.8,&quot;left&quot;:36,&quot;top&quot;:151.2,&quot;width&quot;:871.2}"/>
</p:tagLst>
</file>

<file path=ppt/tags/tag7.xml><?xml version="1.0" encoding="utf-8"?>
<p:tagLst xmlns:p="http://schemas.openxmlformats.org/presentationml/2006/main">
  <p:tag name="KSO_WM_DIAGRAM_VIRTUALLY_FRAME" val="{&quot;height&quot;:316.8,&quot;left&quot;:36,&quot;top&quot;:151.2,&quot;width&quot;:871.2}"/>
</p:tagLst>
</file>

<file path=ppt/tags/tag8.xml><?xml version="1.0" encoding="utf-8"?>
<p:tagLst xmlns:p="http://schemas.openxmlformats.org/presentationml/2006/main">
  <p:tag name="KSO_WM_DIAGRAM_VIRTUALLY_FRAME" val="{&quot;height&quot;:316.8,&quot;left&quot;:36,&quot;top&quot;:151.2,&quot;width&quot;:871.2}"/>
</p:tagLst>
</file>

<file path=ppt/tags/tag9.xml><?xml version="1.0" encoding="utf-8"?>
<p:tagLst xmlns:p="http://schemas.openxmlformats.org/presentationml/2006/main">
  <p:tag name="KSO_WM_DIAGRAM_VIRTUALLY_FRAME" val="{&quot;height&quot;:316.8,&quot;left&quot;:36,&quot;top&quot;:151.2,&quot;width&quot;:871.2}"/>
</p:tagLst>
</file>

<file path=ppt/tags/tag10.xml><?xml version="1.0" encoding="utf-8"?>
<p:tagLst xmlns:p="http://schemas.openxmlformats.org/presentationml/2006/main">
  <p:tag name="KSO_WM_DIAGRAM_VIRTUALLY_FRAME" val="{&quot;height&quot;:316.8,&quot;left&quot;:36,&quot;top&quot;:151.2,&quot;width&quot;:871.2}"/>
</p:tagLst>
</file>

<file path=ppt/tags/tag11.xml><?xml version="1.0" encoding="utf-8"?>
<p:tagLst xmlns:p="http://schemas.openxmlformats.org/presentationml/2006/main">
  <p:tag name="KSO_WM_DIAGRAM_VIRTUALLY_FRAME" val="{&quot;height&quot;:316.8,&quot;left&quot;:36,&quot;top&quot;:151.2,&quot;width&quot;:871.2}"/>
</p:tagLst>
</file>

<file path=ppt/tags/tag12.xml><?xml version="1.0" encoding="utf-8"?>
<p:tagLst xmlns:p="http://schemas.openxmlformats.org/presentationml/2006/main">
  <p:tag name="KSO_WM_DIAGRAM_VIRTUALLY_FRAME" val="{&quot;height&quot;:316.8,&quot;left&quot;:36,&quot;top&quot;:151.2,&quot;width&quot;:871.2}"/>
</p:tagLst>
</file>

<file path=ppt/tags/tag13.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14.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15.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16.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17.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18.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19.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20.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21.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22.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23.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24.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25.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26.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27.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28.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29.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30.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31.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32.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33.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34.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35.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36.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37.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38.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39.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40.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41.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42.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43.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44.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45.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46.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47.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48.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49.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50.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51.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ags/tag52.xml><?xml version="1.0" encoding="utf-8"?>
<p:tagLst xmlns:p="http://schemas.openxmlformats.org/presentationml/2006/main">
  <p:tag name="KSO_WM_DIAGRAM_VIRTUALLY_FRAME" val="{&quot;height&quot;:393.92637795275584,&quot;left&quot;:170.07125984251968,&quot;top&quot;:88.18818897637796,&quot;width&quot;:574.0149606299212}"/>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20323</Words>
  <Application>WPS Presentation</Application>
  <PresentationFormat>On-screen Show (4:3)</PresentationFormat>
  <Paragraphs>1716</Paragraphs>
  <Slides>34</Slides>
  <Notes>0</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34</vt:i4>
      </vt:variant>
    </vt:vector>
  </HeadingPairs>
  <TitlesOfParts>
    <vt:vector size="42" baseType="lpstr">
      <vt:lpstr>Arial</vt:lpstr>
      <vt:lpstr>SimSun</vt:lpstr>
      <vt:lpstr>Wingdings</vt:lpstr>
      <vt:lpstr>Arial</vt:lpstr>
      <vt:lpstr>Microsoft YaHei</vt:lpstr>
      <vt:lpstr>Calibri</vt:lpstr>
      <vt:lpstr>Arial Unicode MS</vt:lpstr>
      <vt:lpstr>Office Theme</vt:lpstr>
      <vt:lpstr>PowerPoint 演示文稿</vt:lpstr>
      <vt:lpstr>PowerPoint 演示文稿</vt:lpstr>
      <vt:lpstr>PowerPoint 演示文稿</vt:lpstr>
      <vt:lpstr>OpenSpec-HW2 实验</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OpenSpec-HW2 （类OpenSpec工具）的价值和潜在研究方向</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Zhifei Dou</cp:lastModifiedBy>
  <cp:revision>282</cp:revision>
  <dcterms:created xsi:type="dcterms:W3CDTF">2026-02-24T22:00:00Z</dcterms:created>
  <dcterms:modified xsi:type="dcterms:W3CDTF">2026-02-25T03:55:30Z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E95AA71CD3944AFEB73BA736E01F3CBD_12</vt:lpwstr>
  </property>
  <property fmtid="{D5CDD505-2E9C-101B-9397-08002B2CF9AE}" pid="3" name="KSOProductBuildVer">
    <vt:lpwstr>1033-12.2.0.23196</vt:lpwstr>
  </property>
</Properties>
</file>