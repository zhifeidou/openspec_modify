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82" r:id="rId9"/>
    <p:sldId id="262" r:id="rId10"/>
    <p:sldId id="263" r:id="rId11"/>
    <p:sldId id="264" r:id="rId12"/>
    <p:sldId id="296" r:id="rId13"/>
    <p:sldId id="297" r:id="rId14"/>
    <p:sldId id="298" r:id="rId15"/>
    <p:sldId id="283" r:id="rId18"/>
    <p:sldId id="284" r:id="rId19"/>
    <p:sldId id="285" r:id="rId20"/>
    <p:sldId id="265" r:id="rId21"/>
    <p:sldId id="266" r:id="rId22"/>
    <p:sldId id="267" r:id="rId23"/>
    <p:sldId id="268" r:id="rId24"/>
    <p:sldId id="271" r:id="rId25"/>
    <p:sldId id="272" r:id="rId26"/>
    <p:sldId id="273" r:id="rId27"/>
    <p:sldId id="274" r:id="rId28"/>
    <p:sldId id="275" r:id="rId29"/>
    <p:sldId id="270" r:id="rId30"/>
    <p:sldId id="276" r:id="rId31"/>
    <p:sldId id="277" r:id="rId32"/>
    <p:sldId id="278" r:id="rId33"/>
    <p:sldId id="279" r:id="rId34"/>
    <p:sldId id="280" r:id="rId35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4" userDrawn="1">
          <p15:clr>
            <a:srgbClr val="A4A3A4"/>
          </p15:clr>
        </p15:guide>
        <p15:guide id="2" pos="29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04"/>
        <p:guide pos="291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0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jpeg"/><Relationship Id="rId3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OpenSpec：规范化 Agentic Coding 的关键基础设施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CCEE"/>
                </a:solidFill>
                <a:latin typeface="微软雅黑" panose="020B0503020204020204" charset="-122"/>
              </a:defRPr>
            </a:pPr>
            <a:r>
              <a:t>基于 Claude Code 的企业级 AI 辅助开发规范化研究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3840480"/>
            <a:ext cx="210312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389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技术研究汇报  |  2026年2月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1/41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0000"/>
            <a:ext cx="9144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微软雅黑" panose="020B0503020204020204" charset="-122"/>
              </a:rPr>
              <a:t>目录</a:t>
            </a:r>
            <a:endParaRPr sz="30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75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90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1520" y="1010000"/>
            <a:ext cx="500000" cy="5000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1520" y="104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01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550000" y="98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微软雅黑" panose="020B0503020204020204" charset="-122"/>
              </a:rPr>
              <a:t>背景与问题</a:t>
            </a:r>
            <a:endParaRPr sz="16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50000" y="130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</a:rPr>
              <a:t>Agentic Coding 现状与挑战</a:t>
            </a:r>
            <a:endParaRPr sz="11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31520" y="167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1520" y="1780000"/>
            <a:ext cx="500000" cy="5000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1520" y="181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02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550000" y="175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微软雅黑" panose="020B0503020204020204" charset="-122"/>
              </a:rPr>
              <a:t>OpenSpec 核心解析</a:t>
            </a:r>
            <a:endParaRPr sz="16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50000" y="207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</a:rPr>
              <a:t>概念、工作流程、协作模式</a:t>
            </a:r>
            <a:endParaRPr sz="11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31520" y="244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1520" y="2550000"/>
            <a:ext cx="500000" cy="5000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1520" y="258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03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550000" y="252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微软雅黑" panose="020B0503020204020204" charset="-122"/>
              </a:rPr>
              <a:t>实测对比验证</a:t>
            </a:r>
            <a:endParaRPr sz="16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550000" y="284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</a:rPr>
              <a:t>三方对比实验（Vanilla / 原生 / HW2）+ 需求变更</a:t>
            </a:r>
            <a:endParaRPr sz="11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731520" y="321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1520" y="3320000"/>
            <a:ext cx="500000" cy="5000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1520" y="335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04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550000" y="329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微软雅黑" panose="020B0503020204020204" charset="-122"/>
              </a:rPr>
              <a:t>企业级价值与 ROI</a:t>
            </a:r>
            <a:endParaRPr sz="16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0000" y="361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</a:rPr>
              <a:t>规范化、可追溯、可协作、投资回报</a:t>
            </a:r>
            <a:endParaRPr sz="11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731520" y="398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51520" y="4090000"/>
            <a:ext cx="500000" cy="500000"/>
          </a:xfrm>
          <a:prstGeom prst="round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1520" y="412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05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550000" y="406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微软雅黑" panose="020B0503020204020204" charset="-122"/>
              </a:rPr>
              <a:t>学术前沿与竞争格局</a:t>
            </a:r>
            <a:endParaRPr sz="16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550000" y="438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</a:rPr>
              <a:t>2023-2026 五大趋势 + 差异化定位</a:t>
            </a:r>
            <a:endParaRPr sz="11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731520" y="475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51520" y="4860000"/>
            <a:ext cx="500000" cy="5000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1520" y="489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06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550000" y="483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微软雅黑" panose="020B0503020204020204" charset="-122"/>
              </a:rPr>
              <a:t>六大研究改进方向</a:t>
            </a:r>
            <a:endParaRPr sz="16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550000" y="515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</a:rPr>
              <a:t>高商业价值改进路线图</a:t>
            </a:r>
            <a:endParaRPr sz="11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731520" y="552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1520" y="5630000"/>
            <a:ext cx="500000" cy="500000"/>
          </a:xfrm>
          <a:prstGeom prst="round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1520" y="566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07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550000" y="560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微软雅黑" panose="020B0503020204020204" charset="-122"/>
              </a:rPr>
              <a:t>研究计划与建议</a:t>
            </a:r>
            <a:endParaRPr sz="16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550000" y="592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</a:rPr>
              <a:t>落地路径与资源需求</a:t>
            </a:r>
            <a:endParaRPr sz="11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微软雅黑" panose="020B0503020204020204" charset="-122"/>
              </a:rPr>
              <a:t>2/41</a:t>
            </a:r>
            <a:endParaRPr sz="10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背景：Agentic Coding 正在改变软件开发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16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Claude Code 等 AI 编程工具已经能够自主完成复杂的软件开发任务。</a:t>
            </a:r>
          </a:p>
          <a:p>
            <a:pPr algn="l">
              <a:spcAft>
                <a:spcPts val="960"/>
              </a:spcAft>
              <a:defRPr sz="16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但在企业环境中，"能写代码"只是第一步 - 更关键的是"写对的代码"。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43200"/>
            <a:ext cx="2560320" cy="3200400"/>
          </a:xfrm>
          <a:prstGeom prst="rect">
            <a:avLst/>
          </a:prstGeom>
          <a:solidFill>
            <a:srgbClr val="FDE8E8"/>
          </a:solidFill>
          <a:ln w="19050">
            <a:solidFill>
              <a:srgbClr val="D134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13438"/>
                </a:solidFill>
                <a:latin typeface="微软雅黑" panose="020B0503020204020204" charset="-122"/>
              </a:defRPr>
            </a:pPr>
            <a:r>
              <a:t>需求失控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AI 容易自作主张添加/遗漏功能</a:t>
            </a:r>
          </a:p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需求只存在于聊天记录中，无法追溯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2743200"/>
            <a:ext cx="2560320" cy="3200400"/>
          </a:xfrm>
          <a:prstGeom prst="rect">
            <a:avLst/>
          </a:prstGeom>
          <a:solidFill>
            <a:srgbClr val="FFF3E0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3017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6C00"/>
                </a:solidFill>
                <a:latin typeface="微软雅黑" panose="020B0503020204020204" charset="-122"/>
              </a:defRPr>
            </a:pPr>
            <a:r>
              <a:t>质量不稳定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65760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同样的需求，不同对话产出差异大</a:t>
            </a:r>
          </a:p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缺乏验证标准，靠人肉 review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743200"/>
            <a:ext cx="2560320" cy="3200400"/>
          </a:xfrm>
          <a:prstGeom prst="rect">
            <a:avLst/>
          </a:prstGeom>
          <a:solidFill>
            <a:srgbClr val="E8F4FD"/>
          </a:solidFill>
          <a:ln w="1905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017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协作困难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65760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一个人的 AI 对话上下文无法共享</a:t>
            </a:r>
          </a:p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多人并行修改容易冲突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2743200"/>
            <a:ext cx="2560320" cy="3200400"/>
          </a:xfrm>
          <a:prstGeom prst="rect">
            <a:avLst/>
          </a:prstGeom>
          <a:solidFill>
            <a:srgbClr val="F5F5F5"/>
          </a:solidFill>
          <a:ln w="190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3017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知识流失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365760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为什么做、怎么做的决策过程随对话消失</a:t>
            </a:r>
          </a:p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新人接手困难，重复踩坑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13438"/>
                </a:solidFill>
                <a:latin typeface="微软雅黑" panose="020B0503020204020204" charset="-122"/>
              </a:defRPr>
            </a:pPr>
            <a:r>
              <a:t>Claude Code 解决了"怎么写"，但没有解决"写什么"和"写得对不对"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3/41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OpenSpec：AI 辅助开发的规格框架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OpenSpec 是一个轻量级的规格驱动框架，让人和 AI 在写代码之前先达成共识。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流动而非僵化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没有阶段门控，按需推进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迭代而非瀑布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边做边学，持续优化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增量而非全量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用 Delta 记录变更，不重写整体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98280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存量优先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为已有项目设计，不是只给新项目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项目结构（两个核心目录）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023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44444"/>
                </a:solidFill>
                <a:latin typeface="Consolas" panose="020B0609020204030204"/>
              </a:defRPr>
            </a:pPr>
            <a:r>
              <a:t>openspec/</a:t>
            </a:r>
            <a:br/>
            <a:r>
              <a:t>├── specs/              ← 当前行为的真相源</a:t>
            </a:r>
            <a:br/>
            <a:r>
              <a:t>│   └── &lt;domain&gt;/spec.md    （按领域组织的需求）</a:t>
            </a:r>
            <a:br/>
            <a:r>
              <a:t>└── changes/            ← 提议的变更</a:t>
            </a:r>
            <a:br/>
            <a:r>
              <a:t>    ├── &lt;change-name&gt;/</a:t>
            </a:r>
            <a:br/>
            <a:r>
              <a:t>    │   ├── proposal.md     （为什么改）</a:t>
            </a:r>
            <a:br/>
            <a:r>
              <a:t>    │   ├── usecases.md     （用户场景）</a:t>
            </a:r>
            <a:br/>
            <a:r>
              <a:t>    │   ├── specs/          （Delta: 增/改/删）</a:t>
            </a:r>
            <a:br/>
            <a:r>
              <a:t>    │   ├── design.md       （怎么改）</a:t>
            </a:r>
            <a:br/>
            <a:r>
              <a:t>    │   └── tasks.md        （实现清单）</a:t>
            </a:r>
            <a:br/>
            <a:r>
              <a:t>    └── archive/            （已完成变更的归档）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566160"/>
            <a:ext cx="5029200" cy="27432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3749039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核心创新：Delta Spec（增量规格）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206240"/>
            <a:ext cx="4663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不是重写整个规格，而是只描述变化：</a:t>
            </a:r>
          </a:p>
          <a:p>
            <a:pPr algn="l">
              <a:spcAft>
                <a:spcPts val="480"/>
              </a:spcAft>
              <a:defRPr sz="1600" b="0">
                <a:solidFill>
                  <a:srgbClr val="444444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480"/>
              </a:spcAft>
              <a:defRPr sz="1200" b="0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## ADDED Requirements      ← 新增需求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E86C00"/>
                </a:solidFill>
                <a:latin typeface="微软雅黑" panose="020B0503020204020204" charset="-122"/>
              </a:defRPr>
            </a:pPr>
            <a:r>
              <a:t>## MODIFIED Requirements  ← 修改需求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D13438"/>
                </a:solidFill>
                <a:latin typeface="微软雅黑" panose="020B0503020204020204" charset="-122"/>
              </a:defRPr>
            </a:pPr>
            <a:r>
              <a:t>## REMOVED Requirements   ← 删除需求</a:t>
            </a:r>
          </a:p>
          <a:p>
            <a:pPr algn="l">
              <a:spcAft>
                <a:spcPts val="480"/>
              </a:spcAft>
              <a:defRPr sz="1600" b="0">
                <a:solidFill>
                  <a:srgbClr val="444444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48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每个需求附带 Given/When/Then 验证场景</a:t>
            </a:r>
          </a:p>
          <a:p>
            <a:pPr algn="l">
              <a:spcAft>
                <a:spcPts val="48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归档时自动合并到主规格 → 活文档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4/41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OpenSpec 实际运行效果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Dashboard 总览（终端界面）</a:t>
            </a:r>
          </a:p>
        </p:txBody>
      </p:sp>
      <p:pic>
        <p:nvPicPr>
          <p:cNvPr id="6" name="Picture 5" descr="openspec_dashboar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37360"/>
            <a:ext cx="475488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Change Workflow 全景（人机协作流程）</a:t>
            </a:r>
          </a:p>
        </p:txBody>
      </p:sp>
      <p:pic>
        <p:nvPicPr>
          <p:cNvPr id="8" name="Picture 7" descr="workflow_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737360"/>
            <a:ext cx="576072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左图：openspec view 命令展示项目规格状态、活跃变更和任务进度  |  右图：完整的 Propose → Review → Apply → Archive 工作流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图片来源：github.com/Fission-AI/OpenSpec  |  harikrishnan.io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5/41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OpenSpec 工作流程：从想法到归档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1143000" cy="2011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Explore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探索想法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明确方向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CC"/>
                </a:solidFill>
                <a:latin typeface="微软雅黑" panose="020B0503020204020204" charset="-122"/>
              </a:defRPr>
            </a:pPr>
            <a:r>
              <a:t>可选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19072" y="1828800"/>
            <a:ext cx="1143000" cy="2011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为什么改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改什么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2072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80944" y="1828800"/>
            <a:ext cx="1143000" cy="2011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80944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Use Cases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26664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用户场景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主流程+异常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23944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42816" y="1828800"/>
            <a:ext cx="1143000" cy="20116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42816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Specs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88536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Delta 规格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Given/When/Then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85816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04688" y="1828800"/>
            <a:ext cx="1143000" cy="20116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04688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0408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技术方案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架构决策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04688" y="347472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CC"/>
                </a:solidFill>
                <a:latin typeface="微软雅黑" panose="020B0503020204020204" charset="-122"/>
              </a:defRPr>
            </a:pPr>
            <a:r>
              <a:t>可选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7688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1828800"/>
            <a:ext cx="114300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0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Tasks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实现清单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可追踪进度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28432" y="1828800"/>
            <a:ext cx="114300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28432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Apply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4152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AI 按清单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写代码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1432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90304" y="1828800"/>
            <a:ext cx="1143000" cy="201168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90304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Verify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36024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验证实现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匹配规格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3304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552176" y="1828800"/>
            <a:ext cx="1143000" cy="201168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52176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Archive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97896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合并规格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归档变更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389120"/>
            <a:ext cx="11247120" cy="3657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4663440"/>
            <a:ext cx="73152" cy="457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68172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一键加速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60320" y="4681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/opsx:ff 可以一步生成所有工件，省去逐步创建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303520"/>
            <a:ext cx="73152" cy="4572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532180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灵活不僵化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60320" y="5321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工件之间是依赖图（DAG），不是固定流水线，可跳过可选步骤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5943600"/>
            <a:ext cx="73152" cy="4572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96188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6C00"/>
                </a:solidFill>
                <a:latin typeface="微软雅黑" panose="020B0503020204020204" charset="-122"/>
              </a:defRPr>
            </a:pPr>
            <a:r>
              <a:t>闭环演进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60320" y="596188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Archive 后 specs 自动更新 → 下次变更基于最新状态 → 持续积累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6/41</a:t>
            </a:r>
          </a:p>
        </p:txBody>
      </p:sp>
      <p:sp>
        <p:nvSpPr>
          <p:cNvPr id="53" name="TextBox 17"/>
          <p:cNvSpPr txBox="1"/>
          <p:nvPr/>
        </p:nvSpPr>
        <p:spPr>
          <a:xfrm>
            <a:off x="2862199" y="3840353"/>
            <a:ext cx="1463040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8C00"/>
                </a:solidFill>
                <a:latin typeface="微软雅黑" panose="020B0503020204020204" charset="-122"/>
              </a:rPr>
              <a:t>▲ </a:t>
            </a:r>
            <a:r>
              <a:rPr lang="zh-CN" sz="1000" b="1">
                <a:solidFill>
                  <a:srgbClr val="FF8C00"/>
                </a:solidFill>
                <a:latin typeface="微软雅黑" panose="020B0503020204020204" charset="-122"/>
              </a:rPr>
              <a:t>本</a:t>
            </a:r>
            <a:r>
              <a:rPr lang="zh-CN" sz="1000" b="1">
                <a:solidFill>
                  <a:srgbClr val="FF8C00"/>
                </a:solidFill>
                <a:latin typeface="微软雅黑" panose="020B0503020204020204" charset="-122"/>
              </a:rPr>
              <a:t>工作新增</a:t>
            </a:r>
            <a:endParaRPr lang="zh-CN" sz="1000" b="1">
              <a:solidFill>
                <a:srgbClr val="FF8C0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微软雅黑" panose="020B0503020204020204" charset="-122"/>
              </a:rPr>
              <a:t>Use Cases 阶段详解（本研究新增）</a:t>
            </a:r>
            <a:endParaRPr sz="30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" name="Chevron 3"/>
          <p:cNvSpPr/>
          <p:nvPr/>
        </p:nvSpPr>
        <p:spPr>
          <a:xfrm>
            <a:off x="457200" y="1005840"/>
            <a:ext cx="1463040" cy="411480"/>
          </a:xfrm>
          <a:prstGeom prst="chevron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 panose="020B0503020204020204" charset="-122"/>
              </a:rPr>
              <a:t>Explore</a:t>
            </a:r>
            <a:endParaRPr sz="1000" b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Chevron 5"/>
          <p:cNvSpPr/>
          <p:nvPr/>
        </p:nvSpPr>
        <p:spPr>
          <a:xfrm>
            <a:off x="1947672" y="1005840"/>
            <a:ext cx="1463040" cy="411480"/>
          </a:xfrm>
          <a:prstGeom prst="chevron">
            <a:avLst/>
          </a:prstGeom>
          <a:solidFill>
            <a:srgbClr val="BE6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30552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 panose="020B0503020204020204" charset="-122"/>
              </a:rPr>
              <a:t>Proposal</a:t>
            </a:r>
            <a:endParaRPr sz="1000" b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Chevron 7"/>
          <p:cNvSpPr/>
          <p:nvPr/>
        </p:nvSpPr>
        <p:spPr>
          <a:xfrm>
            <a:off x="3438144" y="1005840"/>
            <a:ext cx="1463040" cy="411480"/>
          </a:xfrm>
          <a:prstGeom prst="chevron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21024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</a:rPr>
              <a:t>Use Cases</a:t>
            </a:r>
            <a:endParaRPr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Chevron 9"/>
          <p:cNvSpPr/>
          <p:nvPr/>
        </p:nvSpPr>
        <p:spPr>
          <a:xfrm>
            <a:off x="4928616" y="1005840"/>
            <a:ext cx="1463040" cy="411480"/>
          </a:xfrm>
          <a:prstGeom prst="chevron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11496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 panose="020B0503020204020204" charset="-122"/>
              </a:rPr>
              <a:t>Specs</a:t>
            </a:r>
            <a:endParaRPr sz="1000" b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Chevron 11"/>
          <p:cNvSpPr/>
          <p:nvPr/>
        </p:nvSpPr>
        <p:spPr>
          <a:xfrm>
            <a:off x="6419088" y="1005840"/>
            <a:ext cx="1463040" cy="411480"/>
          </a:xfrm>
          <a:prstGeom prst="chevron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 panose="020B0503020204020204" charset="-122"/>
              </a:rPr>
              <a:t>Design</a:t>
            </a:r>
            <a:endParaRPr sz="1000" b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Chevron 13"/>
          <p:cNvSpPr/>
          <p:nvPr/>
        </p:nvSpPr>
        <p:spPr>
          <a:xfrm>
            <a:off x="7909560" y="1005840"/>
            <a:ext cx="1463040" cy="411480"/>
          </a:xfrm>
          <a:prstGeom prst="chevron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 panose="020B0503020204020204" charset="-122"/>
              </a:rPr>
              <a:t>Tasks</a:t>
            </a:r>
            <a:endParaRPr sz="1000" b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Chevron 15"/>
          <p:cNvSpPr/>
          <p:nvPr/>
        </p:nvSpPr>
        <p:spPr>
          <a:xfrm>
            <a:off x="9400032" y="1005840"/>
            <a:ext cx="1463040" cy="411480"/>
          </a:xfrm>
          <a:prstGeom prst="chevron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82912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 panose="020B0503020204020204" charset="-122"/>
              </a:rPr>
              <a:t>...</a:t>
            </a:r>
            <a:endParaRPr sz="1000" b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38144" y="1435608"/>
            <a:ext cx="1463040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8C00"/>
                </a:solidFill>
                <a:latin typeface="微软雅黑" panose="020B0503020204020204" charset="-122"/>
              </a:rPr>
              <a:t>▲ 本</a:t>
            </a:r>
            <a:r>
              <a:rPr lang="zh-CN" sz="1000" b="1">
                <a:solidFill>
                  <a:srgbClr val="FF8C00"/>
                </a:solidFill>
                <a:latin typeface="微软雅黑" panose="020B0503020204020204" charset="-122"/>
              </a:rPr>
              <a:t>工作</a:t>
            </a:r>
            <a:r>
              <a:rPr lang="zh-CN" sz="1000" b="1">
                <a:solidFill>
                  <a:srgbClr val="FF8C00"/>
                </a:solidFill>
                <a:latin typeface="微软雅黑" panose="020B0503020204020204" charset="-122"/>
              </a:rPr>
              <a:t>新增</a:t>
            </a:r>
            <a:endParaRPr lang="zh-CN" sz="1000" b="1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57200" y="1828800"/>
            <a:ext cx="1024128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011680"/>
            <a:ext cx="5943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FF8C00"/>
                </a:solidFill>
                <a:latin typeface="微软雅黑" panose="020B0503020204020204" charset="-122"/>
              </a:rPr>
              <a:t>这一步做什么</a:t>
            </a:r>
            <a:endParaRPr sz="1800" b="1">
              <a:solidFill>
                <a:srgbClr val="FF8C0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400" b="0">
                <a:solidFill>
                  <a:srgbClr val="555555"/>
                </a:solidFill>
                <a:latin typeface="微软雅黑" panose="020B0503020204020204" charset="-122"/>
              </a:rPr>
              <a:t>在 Proposal（提案）和 Specs（规格）之间，插入一个结构化的用户场景建模环节。AI 不再从提案直接跳到技术规格，而是先系统地梳理：谁在用这个系统、他想达成什么目标、正常流程是什么、出错了怎么办。</a:t>
            </a:r>
            <a:endParaRPr sz="14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FF8C00"/>
                </a:solidFill>
                <a:latin typeface="微软雅黑" panose="020B0503020204020204" charset="-122"/>
              </a:rPr>
              <a:t>基于什么方法论</a:t>
            </a:r>
            <a:endParaRPr sz="1800" b="1">
              <a:solidFill>
                <a:srgbClr val="FF8C0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微软雅黑" panose="020B0503020204020204" charset="-122"/>
              </a:rPr>
              <a:t>采用 Alistair Cockburn 的《Writing Effective Use Cases》方法论，核心是"渐进式揭示"流程：</a:t>
            </a:r>
            <a:endParaRPr sz="14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394335" y="4780915"/>
            <a:ext cx="1325880" cy="777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4335" y="47809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微软雅黑" panose="020B0503020204020204" charset="-122"/>
              </a:rPr>
              <a:t>Step 1</a:t>
            </a:r>
            <a:endParaRPr sz="1100" b="1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40055" y="5055235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微软雅黑" panose="020B0503020204020204" charset="-122"/>
              </a:rPr>
              <a:t>识别参与者
与用户目标</a:t>
            </a:r>
            <a:endParaRPr sz="11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720215" y="4780915"/>
            <a:ext cx="1097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8C00"/>
                </a:solidFill>
                <a:latin typeface="微软雅黑" panose="020B0503020204020204" charset="-122"/>
              </a:rPr>
              <a:t>→</a:t>
            </a:r>
            <a:endParaRPr sz="1600" b="0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1829943" y="4780915"/>
            <a:ext cx="1325880" cy="777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9943" y="47809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微软雅黑" panose="020B0503020204020204" charset="-122"/>
              </a:rPr>
              <a:t>Step 2</a:t>
            </a:r>
            <a:endParaRPr sz="1100" b="1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875663" y="5055235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微软雅黑" panose="020B0503020204020204" charset="-122"/>
              </a:rPr>
              <a:t>编写主成功
场景</a:t>
            </a:r>
            <a:endParaRPr sz="11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155823" y="4780915"/>
            <a:ext cx="1097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8C00"/>
                </a:solidFill>
                <a:latin typeface="微软雅黑" panose="020B0503020204020204" charset="-122"/>
              </a:rPr>
              <a:t>→</a:t>
            </a:r>
            <a:endParaRPr sz="1600" b="0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265551" y="4780915"/>
            <a:ext cx="1325880" cy="777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65551" y="47809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微软雅黑" panose="020B0503020204020204" charset="-122"/>
              </a:rPr>
              <a:t>Step 3</a:t>
            </a:r>
            <a:endParaRPr sz="1100" b="1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311271" y="5055235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微软雅黑" panose="020B0503020204020204" charset="-122"/>
              </a:rPr>
              <a:t>头脑风暴扩展
异常与边界</a:t>
            </a:r>
            <a:endParaRPr sz="11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591431" y="4780915"/>
            <a:ext cx="1097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8C00"/>
                </a:solidFill>
                <a:latin typeface="微软雅黑" panose="020B0503020204020204" charset="-122"/>
              </a:rPr>
              <a:t>→</a:t>
            </a:r>
            <a:endParaRPr sz="1600" b="0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4701159" y="4780915"/>
            <a:ext cx="1325880" cy="777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01159" y="47809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微软雅黑" panose="020B0503020204020204" charset="-122"/>
              </a:rPr>
              <a:t>Step 4</a:t>
            </a:r>
            <a:endParaRPr sz="1100" b="1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746879" y="5055235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微软雅黑" panose="020B0503020204020204" charset="-122"/>
              </a:rPr>
              <a:t>添加契约要素
前置/后置条件</a:t>
            </a:r>
            <a:endParaRPr sz="11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675120" y="2011680"/>
            <a:ext cx="4114800" cy="1828800"/>
          </a:xfrm>
          <a:prstGeom prst="roundRect">
            <a:avLst/>
          </a:prstGeom>
          <a:solidFill>
            <a:srgbClr val="FDF0F0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0" y="2148840"/>
            <a:ext cx="3749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微软雅黑" panose="020B0503020204020204" charset="-122"/>
              </a:rPr>
              <a:t>没有这一步会怎样？</a:t>
            </a:r>
            <a:endParaRPr sz="1600" b="1">
              <a:solidFill>
                <a:srgbClr val="C0392B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微软雅黑" panose="020B0503020204020204" charset="-122"/>
              </a:rPr>
              <a:t>• </a:t>
            </a:r>
            <a:r>
              <a:rPr sz="1300" b="0">
                <a:solidFill>
                  <a:srgbClr val="663333"/>
                </a:solidFill>
                <a:latin typeface="微软雅黑" panose="020B0503020204020204" charset="-122"/>
              </a:rPr>
              <a:t>AI 只实现 Happy Path，异常场景大面积遗漏</a:t>
            </a:r>
            <a:endParaRPr sz="1300" b="0">
              <a:solidFill>
                <a:srgbClr val="663333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微软雅黑" panose="020B0503020204020204" charset="-122"/>
              </a:rPr>
              <a:t>• </a:t>
            </a:r>
            <a:r>
              <a:rPr sz="1300" b="0">
                <a:solidFill>
                  <a:srgbClr val="663333"/>
                </a:solidFill>
                <a:latin typeface="微软雅黑" panose="020B0503020204020204" charset="-122"/>
              </a:rPr>
              <a:t>Specs 缺乏用例支撑，需求验收无据可依</a:t>
            </a:r>
            <a:endParaRPr sz="1300" b="0">
              <a:solidFill>
                <a:srgbClr val="663333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微软雅黑" panose="020B0503020204020204" charset="-122"/>
              </a:rPr>
              <a:t>• </a:t>
            </a:r>
            <a:r>
              <a:rPr sz="1300" b="0">
                <a:solidFill>
                  <a:srgbClr val="663333"/>
                </a:solidFill>
                <a:latin typeface="微软雅黑" panose="020B0503020204020204" charset="-122"/>
              </a:rPr>
              <a:t>30-50% 的返工源自需求阶段的遗漏和模糊</a:t>
            </a:r>
            <a:endParaRPr sz="1300" b="0">
              <a:solidFill>
                <a:srgbClr val="663333"/>
              </a:solidFill>
              <a:latin typeface="微软雅黑" panose="020B0503020204020204" charset="-122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6675120" y="4023360"/>
            <a:ext cx="4114800" cy="2331720"/>
          </a:xfrm>
          <a:prstGeom prst="roundRect">
            <a:avLst/>
          </a:prstGeom>
          <a:solidFill>
            <a:srgbClr val="F0F8F0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0" y="4160520"/>
            <a:ext cx="3749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E7D32"/>
                </a:solidFill>
                <a:latin typeface="微软雅黑" panose="020B0503020204020204" charset="-122"/>
              </a:rPr>
              <a:t>实测效果（量化交易系统）</a:t>
            </a:r>
            <a:endParaRPr sz="1600" b="1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2E7D32"/>
                </a:solidFill>
                <a:latin typeface="微软雅黑" panose="020B0503020204020204" charset="-122"/>
              </a:rPr>
              <a:t>4 层风控体系</a:t>
            </a:r>
            <a:endParaRPr sz="2000" b="1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止损、持仓限制、异常检测、合规检查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2E7D32"/>
                </a:solidFill>
                <a:latin typeface="微软雅黑" panose="020B0503020204020204" charset="-122"/>
              </a:rPr>
              <a:t>100+ 测试用例</a:t>
            </a:r>
            <a:endParaRPr sz="2000" b="1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覆盖主流程、异常分支、边界条件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2E7D32"/>
                </a:solidFill>
                <a:latin typeface="微软雅黑" panose="020B0503020204020204" charset="-122"/>
              </a:rPr>
              <a:t>完整 A 股规则模拟</a:t>
            </a:r>
            <a:endParaRPr sz="2000" b="1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均源于 Use Cases 阶段对异常场景的系统梳理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微软雅黑" panose="020B0503020204020204" charset="-122"/>
              </a:rPr>
              <a:t>7/41</a:t>
            </a:r>
            <a:endParaRPr sz="10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2785" y="393065"/>
            <a:ext cx="9512935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OpenSpec 协作模式：Project Owner / AI / Developer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penspec_sequenc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30352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企业级集成示例：Linear + OpenSpec</a:t>
            </a:r>
          </a:p>
        </p:txBody>
      </p:sp>
      <p:pic>
        <p:nvPicPr>
          <p:cNvPr id="7" name="Picture 6" descr="linear_work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737360"/>
            <a:ext cx="530352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557784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三方协作：Owner 定义需求 → OpenSpec 管理规格 → Developer/AI 实现</a:t>
            </a:r>
          </a:p>
          <a:p>
            <a:pPr algn="l">
              <a:spcAft>
                <a:spcPts val="64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全程可追踪：每个阶段的产出都是持久化的 Markdown 文件</a:t>
            </a:r>
          </a:p>
          <a:p>
            <a:pPr algn="l">
              <a:spcAft>
                <a:spcPts val="640"/>
              </a:spcAft>
              <a:defRPr sz="1200" b="0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可集成现有工具链：Linear、Jira、GitHub Issues 等项目管理工具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图片来源：hashrocket.com/blog  |  intent-driven.dev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8/41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/>
              </a:rPr>
              <a:t>实测对比：同一需求，三种方法的量化差异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Microsoft YaHei"/>
              </a:rPr>
              <a:t>测试项目：A股有色金属量化选股交易系统 | 相同需求描述，分别用三种方式让 Claude Code 实现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291840" cy="3931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787878"/>
                </a:solidFill>
                <a:latin typeface="Microsoft YaHei"/>
              </a:rPr>
              <a:t>Vanilla Claude Code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Microsoft YaHei"/>
              </a:rPr>
              <a:t>工作流</a:t>
            </a: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787878"/>
                </a:solidFill>
                <a:latin typeface="Microsoft YaHei"/>
              </a:rPr>
              <a:t>需求描述 → AI 直接编码 → 代码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Microsoft YaHei"/>
              </a:rPr>
              <a:t>特征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无前置规划步骤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AI 凭自身判断决定架构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无 spec / design / task 产出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最快交付，但无质量保障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999999"/>
                </a:solidFill>
                <a:latin typeface="Microsoft YaHei"/>
              </a:rPr>
              <a:t>Artifact 数量：0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40" y="1371600"/>
            <a:ext cx="3291840" cy="393192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0520" y="150876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78D4"/>
                </a:solidFill>
                <a:latin typeface="Microsoft YaHei"/>
              </a:rPr>
              <a:t>原生 OpenSpec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Microsoft YaHei"/>
              </a:rPr>
              <a:t>工作流</a:t>
            </a: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0078D4"/>
                </a:solidFill>
                <a:latin typeface="Microsoft YaHei"/>
              </a:rPr>
              <a:t>Proposal → Specs + Design → Tasks → 代码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Microsoft YaHei"/>
              </a:rPr>
              <a:t>特征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标准 4-artifact 工作流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Specs 与 Design 并行生成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基本规格约束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质量显著优于无规格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999999"/>
                </a:solidFill>
                <a:latin typeface="Microsoft YaHei"/>
              </a:rPr>
              <a:t>Artifact 数量：4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0" y="1371600"/>
            <a:ext cx="3291840" cy="39319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50876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07C10"/>
                </a:solidFill>
                <a:latin typeface="Microsoft YaHei"/>
              </a:rPr>
              <a:t>OpenSpec-HW2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Microsoft YaHei"/>
              </a:rPr>
              <a:t>工作流</a:t>
            </a: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107C10"/>
                </a:solidFill>
                <a:latin typeface="Microsoft YaHei"/>
              </a:rPr>
              <a:t>Proposal → Usecases → Specs → Design → Tasks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Microsoft YaHei"/>
              </a:rPr>
              <a:t>特征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新增 Usecases 场景建模步骤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8 个用例驱动规格细化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级联放大效应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企业级质量产出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999999"/>
                </a:solidFill>
                <a:latin typeface="Microsoft YaHei"/>
              </a:rPr>
              <a:t>Artifact 数量：5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532120"/>
            <a:ext cx="10332720" cy="508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623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99999"/>
                </a:solidFill>
                <a:latin typeface="Microsoft YaHei"/>
              </a:rPr>
              <a:t>控制变量：完全相同的需求描述  |  同一 AI 模型 (Claude Sonnet)  |  独立执行  |  无人工干预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/>
              </a:rPr>
              <a:t>9/41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/>
              </a:rPr>
              <a:t>核心指标对比：规格层级决定代码质量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914400"/>
          <a:ext cx="103327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743200"/>
                <a:gridCol w="2834640"/>
              </a:tblGrid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对比维度</a:t>
                      </a:r>
                    </a:p>
                  </a:txBody>
                  <a:tcPr anchor="ctr" marT="25400" marB="25400" marL="50800" marR="50800"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Vanilla Claude Code</a:t>
                      </a:r>
                    </a:p>
                  </a:txBody>
                  <a:tcPr anchor="ctr" marT="25400" marB="25400" marL="50800" marR="50800">
                    <a:solidFill>
                      <a:srgbClr val="7878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原生 OpenSpec</a:t>
                      </a:r>
                    </a:p>
                  </a:txBody>
                  <a:tcPr anchor="ctr" marT="25400" marB="25400" marL="50800" marR="50800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OpenSpec-HW2</a:t>
                      </a:r>
                    </a:p>
                  </a:txBody>
                  <a:tcPr anchor="ctr" marT="25400" marB="25400" marL="50800" marR="50800">
                    <a:solidFill>
                      <a:srgbClr val="107C10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代码总量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~1,200 行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~2,824 行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~5,015 行</a:t>
                      </a:r>
                    </a:p>
                  </a:txBody>
                  <a:tcPr anchor="ctr" marT="25400" marB="25400" marL="50800" marR="50800"/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文件数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5-6 个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35 个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43 个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架构层级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扁平结构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分层 / 简单类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6 层 Protocol 架构</a:t>
                      </a:r>
                    </a:p>
                  </a:txBody>
                  <a:tcPr anchor="ctr" marT="25400" marB="25400" marL="50800" marR="50800"/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设计模式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无（直接实现）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简单类 / 函数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Protocol + 装饰器注册表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测试文件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0 个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8 个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12 个</a:t>
                      </a:r>
                    </a:p>
                  </a:txBody>
                  <a:tcPr anchor="ctr" marT="25400" marB="25400" marL="50800" marR="50800"/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测试用例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67 个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88 个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风控层级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固定止损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4 层完整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4 层 + 聚合入口</a:t>
                      </a:r>
                    </a:p>
                  </a:txBody>
                  <a:tcPr anchor="ctr" marT="25400" marB="25400" marL="50800" marR="50800"/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Artifact 数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Design 深度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93 行 / 6 决策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255 行 / 8 决策</a:t>
                      </a:r>
                    </a:p>
                  </a:txBody>
                  <a:tcPr anchor="ctr" marT="25400" marB="25400" marL="50800" marR="50800"/>
                </a:tc>
              </a:tr>
              <a:tr h="38239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任务分解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44 个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95 个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5349240"/>
            <a:ext cx="1033272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4406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7C10"/>
                </a:solidFill>
                <a:latin typeface="Microsoft YaHei"/>
              </a:rPr>
              <a:t>→ 规格化程度与代码质量强正相关：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Artifact 数量 0→4→5 | 代码量 1,200→2,824→5,015 | 测试 0→67→88 | 任务分解 0→44→95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/>
              </a:rPr>
              <a:t>10/41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/>
              </a:rPr>
              <a:t>架构与风控：从扁平实现到企业级分层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8D4"/>
                </a:solidFill>
                <a:latin typeface="Microsoft YaHei"/>
              </a:rPr>
              <a:t>架构对比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5029200" cy="13258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87878"/>
                </a:solidFill>
                <a:latin typeface="Microsoft YaHei"/>
              </a:rPr>
              <a:t>Vanilla Claude Code — 扁平原型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5-6 个文件，所有逻辑堆在一起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无接口抽象，直接调用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无数据验证层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029200" cy="132588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Microsoft YaHei"/>
              </a:rPr>
              <a:t>原生 OpenSpec — 分层架构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35 个文件，数据/因子/策略/风控分层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简单类和函数组织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基本模块化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069080"/>
            <a:ext cx="5029200" cy="13258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16052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Microsoft YaHei"/>
              </a:rPr>
              <a:t>OpenSpec-HW2 — 6 层 Protocol 架构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43 个文件，6 层清晰分离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Protocol 接口 + 装饰器注册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完整依赖注入，可独立测试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868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6C00"/>
                </a:solidFill>
                <a:latin typeface="Microsoft YaHei"/>
              </a:rPr>
              <a:t>风控对比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1234440"/>
            <a:ext cx="5029200" cy="13258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132588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87878"/>
                </a:solidFill>
                <a:latin typeface="Microsoft YaHei"/>
              </a:rPr>
              <a:t>Vanilla — 固定止损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硬编码止损阈值（如固定 5%）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无动态调整 / 持仓限制 / 异常检测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D13438"/>
                </a:solidFill>
                <a:latin typeface="Microsoft YaHei"/>
              </a:rPr>
              <a:t>• 真实交易风险极高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2651760"/>
            <a:ext cx="5029200" cy="132588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274320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Microsoft YaHei"/>
              </a:rPr>
              <a:t>原生 — 4 层完整风控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L1 ATR动态止损 / L2 持仓限制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L3 行业集中度 / L4 异常波动检测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78D4"/>
                </a:solidFill>
                <a:latin typeface="Microsoft YaHei"/>
              </a:rPr>
              <a:t>• 完整风控体系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4069080"/>
            <a:ext cx="5029200" cy="13258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416052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Microsoft YaHei"/>
              </a:rPr>
              <a:t>HW2 — 4 层 + 聚合入口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上述 4 层 + RiskAggregator 统一调度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风控规则可配置 + 完整日志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07C10"/>
                </a:solidFill>
                <a:latin typeface="Microsoft YaHei"/>
              </a:rPr>
              <a:t>• 生产级风控架构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53212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623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99999"/>
                </a:solidFill>
                <a:latin typeface="Microsoft YaHei"/>
              </a:rPr>
              <a:t>架构分层和风控完善度与规格化程度高度正相关：规格越详细，AI 的架构决策越成熟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/>
              </a:rPr>
              <a:t>11/41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/>
              </a:rPr>
              <a:t>测试 × 回测 × 可维护性：三维质量对比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3291840" cy="429768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0078D4"/>
                </a:solidFill>
                <a:latin typeface="Microsoft YaHei"/>
              </a:rPr>
              <a:t>测试覆盖度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787878"/>
                </a:solidFill>
                <a:latin typeface="Microsoft YaHei"/>
              </a:rPr>
              <a:t>Vanilla Claude Code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0 测试文件，0 测试用例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AI 完全跳过测试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Microsoft YaHei"/>
              </a:rPr>
              <a:t>原生 OpenSpec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8 测试文件，67 测试用例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单元测试覆盖核心模块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Microsoft YaHei"/>
              </a:rPr>
              <a:t>OpenSpec-HW2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12 测试文件，88 测试用例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195 行集成测试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单元 + 集成 + 端到端全覆盖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40" y="1005840"/>
            <a:ext cx="3291840" cy="42976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60520" y="11430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E86C00"/>
                </a:solidFill>
                <a:latin typeface="Microsoft YaHei"/>
              </a:rPr>
              <a:t>回测真实性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787878"/>
                </a:solidFill>
                <a:latin typeface="Microsoft YaHei"/>
              </a:rPr>
              <a:t>Vanilla Claude Code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无 A 股规则模拟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回测结果不可信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Microsoft YaHei"/>
              </a:rPr>
              <a:t>原生 OpenSpec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完整 A 股规则（T+1, 涨跌停, 印花税）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7 个性能评估指标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Microsoft YaHei"/>
              </a:rPr>
              <a:t>OpenSpec-HW2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完整 A 股规则 + 防前视偏差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13+ 个性能评估指标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回测结果接近真实市场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0" y="1005840"/>
            <a:ext cx="3291840" cy="42976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1430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07C10"/>
                </a:solidFill>
                <a:latin typeface="Microsoft YaHei"/>
              </a:rPr>
              <a:t>可维护性 &amp; 配置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787878"/>
                </a:solidFill>
                <a:latin typeface="Microsoft YaHei"/>
              </a:rPr>
              <a:t>Vanilla Claude Code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硬编码常量，0 配置外部化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修改参数需改源码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Microsoft YaHei"/>
              </a:rPr>
              <a:t>原生 OpenSpec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基本模块化，代码分层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部分参数仍内嵌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Microsoft YaHei"/>
              </a:rPr>
              <a:t>OpenSpec-HW2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外部 YAML 配置管理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12 类参数外部化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• 改配置不改代码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532120"/>
            <a:ext cx="1033272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623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99999"/>
                </a:solidFill>
                <a:latin typeface="Microsoft YaHei"/>
              </a:rPr>
              <a:t>三个维度均呈现 Vanilla &lt; 原生 &lt; HW2 的阶梯式提升，Usecases 步骤的增量价值在每个维度均可量化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/>
              </a:rPr>
              <a:t>12/41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/>
              </a:rPr>
              <a:t>综合评分与适用场景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914400"/>
          <a:ext cx="62179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55448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评分维度 (/10)</a:t>
                      </a:r>
                    </a:p>
                  </a:txBody>
                  <a:tcPr anchor="ctr" marT="25400" marB="25400" marL="50800" marR="50800"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Vanilla</a:t>
                      </a:r>
                    </a:p>
                  </a:txBody>
                  <a:tcPr anchor="ctr" marT="25400" marB="25400" marL="50800" marR="50800">
                    <a:solidFill>
                      <a:srgbClr val="7878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原生 OpenSpec</a:t>
                      </a:r>
                    </a:p>
                  </a:txBody>
                  <a:tcPr anchor="ctr" marT="25400" marB="25400" marL="50800" marR="50800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OpenSpec-HW2</a:t>
                      </a:r>
                    </a:p>
                  </a:txBody>
                  <a:tcPr anchor="ctr" marT="25400" marB="25400" marL="50800" marR="50800">
                    <a:solidFill>
                      <a:srgbClr val="107C1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架构清晰度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anchor="ctr" marT="25400" marB="25400" marL="50800" marR="50800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测试完备性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风控能力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anchor="ctr" marT="25400" marB="25400" marL="50800" marR="50800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回测真实性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A 股规则合规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anchor="ctr" marT="25400" marB="25400" marL="50800" marR="50800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可维护性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可扩展性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anchor="ctr" marT="25400" marB="25400" marL="50800" marR="50800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开发效率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Microsoft YaHei"/>
                        </a:rPr>
                        <a:t>合计 (/80)</a:t>
                      </a:r>
                    </a:p>
                  </a:txBody>
                  <a:tcPr anchor="ctr" marT="25400" marB="25400" marL="50800" marR="50800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Microsoft YaHei"/>
                        </a:rPr>
                        <a:t>44</a:t>
                      </a:r>
                    </a:p>
                  </a:txBody>
                  <a:tcPr anchor="ctr" marT="25400" marB="25400" marL="50800" marR="50800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Microsoft YaHei"/>
                        </a:rPr>
                        <a:t>56</a:t>
                      </a:r>
                    </a:p>
                  </a:txBody>
                  <a:tcPr anchor="ctr" marT="25400" marB="25400" marL="50800" marR="50800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Microsoft YaHei"/>
                        </a:rPr>
                        <a:t>67</a:t>
                      </a:r>
                    </a:p>
                  </a:txBody>
                  <a:tcPr anchor="ctr" marT="25400" marB="25400" marL="50800" marR="50800">
                    <a:solidFill>
                      <a:srgbClr val="E0E0E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9144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Microsoft YaHei"/>
              </a:rPr>
              <a:t>适用场景推荐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0" y="1234440"/>
            <a:ext cx="3840480" cy="508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41732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87878"/>
                </a:solidFill>
                <a:latin typeface="Microsoft YaHei"/>
              </a:rPr>
              <a:t>Vanilla Claude Code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33333"/>
                </a:solidFill>
                <a:latin typeface="Microsoft YaHei"/>
              </a:rPr>
              <a:t>44/80  适用：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快速原型验证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一次性脚本 / 学习用途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无长期维护需求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269748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Microsoft YaHei"/>
              </a:rPr>
              <a:t>原生 OpenSpec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33333"/>
                </a:solidFill>
                <a:latin typeface="Microsoft YaHei"/>
              </a:rPr>
              <a:t>56/80  适用：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中等复杂度项目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团队协作基础场景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标准业务系统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397764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Microsoft YaHei"/>
              </a:rPr>
              <a:t>OpenSpec-HW2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33333"/>
                </a:solidFill>
                <a:latin typeface="Microsoft YaHei"/>
              </a:rPr>
              <a:t>67/80  适用：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企业级系统 / 多模块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合规要求高（金融/医疗）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长期维护 / 团队交接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074920"/>
            <a:ext cx="1033272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1663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Microsoft YaHei"/>
              </a:rPr>
              <a:t>核心结论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44444"/>
                </a:solidFill>
                <a:latin typeface="Microsoft YaHei"/>
              </a:rPr>
              <a:t>规格化程度直接决定最终质量。Vanilla（无规格）→ 原生 OpenSpec（4 artifact）→ HW2（5 artifact + Usecases），三者总分 44→56→67，呈阶梯式提升。Usecases 步骤是 ROI 最高的前置投入。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/>
              </a:rPr>
              <a:t>13/41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微软雅黑" panose="020B0503020204020204" charset="-122"/>
              </a:rPr>
              <a:t>需求变更实验：OpenSpec 的迭代维护优势</a:t>
            </a:r>
            <a:endParaRPr sz="28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微软雅黑" panose="020B0503020204020204" charset="-122"/>
              </a:rPr>
              <a:t>前面展示了初始构建的对比。但软件 80% 的成本在维护阶段 — 需求变更时，两种方式差距更大。</a:t>
            </a:r>
            <a:endParaRPr sz="160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303520" cy="192024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65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7E22"/>
                </a:solidFill>
                <a:latin typeface="微软雅黑" panose="020B0503020204020204" charset="-122"/>
              </a:rPr>
              <a:t>实验场景</a:t>
            </a:r>
            <a:endParaRPr sz="1800" b="1">
              <a:solidFill>
                <a:srgbClr val="E67E22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微软雅黑" panose="020B0503020204020204" charset="-122"/>
              </a:rPr>
              <a:t>2024 年有色金属市场剧烈波动，铜价暴涨暴跌。</a:t>
            </a:r>
            <a:endParaRPr sz="14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400" b="0">
                <a:solidFill>
                  <a:srgbClr val="1A1A2E"/>
                </a:solidFill>
                <a:latin typeface="微软雅黑" panose="020B0503020204020204" charset="-122"/>
              </a:rPr>
              <a:t>客户反馈：固定参数风控策略反应太迟钝，多次在大幅</a:t>
            </a:r>
            <a:endParaRPr sz="14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400" b="0">
                <a:solidFill>
                  <a:srgbClr val="1A1A2E"/>
                </a:solidFill>
                <a:latin typeface="微软雅黑" panose="020B0503020204020204" charset="-122"/>
              </a:rPr>
              <a:t>回撤后才触发止损。产品经理提出 3 项需求变更。</a:t>
            </a:r>
            <a:endParaRPr sz="1400" b="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035040" y="1920240"/>
            <a:ext cx="5486400" cy="19202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965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8D4"/>
                </a:solidFill>
                <a:latin typeface="微软雅黑" panose="020B0503020204020204" charset="-122"/>
              </a:rPr>
              <a:t>三项需求变更</a:t>
            </a:r>
            <a:endParaRPr sz="18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217920" y="23774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1. 波动率自适应止损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   低波动收紧 → 高波动放宽，避免固定参数的迟钝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2. 动态再平衡频率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   正常月度 → 高波动双周 → 极端波动周度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3. 极端行情熔断机制（全新功能）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   单日跌3%减半仓 | 跌5%全清仓 | 恢复需连续回升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7200" y="4114800"/>
            <a:ext cx="5303520" cy="1828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160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微软雅黑" panose="020B0503020204020204" charset="-122"/>
              </a:rPr>
              <a:t>OpenSpec 版方法</a:t>
            </a:r>
            <a:endParaRPr sz="1600" b="1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45720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proposal → usecases (10个场景) → delta specs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→ design → tasks (10项) → 逐项实现代码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生成 6 个 artifact 文档（636行），确保编码前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完成影响分析和边界场景识别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035040" y="4114800"/>
            <a:ext cx="5486400" cy="18288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1605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62828"/>
                </a:solidFill>
                <a:latin typeface="微软雅黑" panose="020B0503020204020204" charset="-122"/>
              </a:rPr>
              <a:t>非 OpenSpec 版方法</a:t>
            </a:r>
            <a:endParaRPr sz="1600" b="1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217920" y="457200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直接拿到需求文档 → 让 AI 编码实现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不使用任何规格框架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模拟最常见的"拿到需求直接写代码"方式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无 spec、无 design、无 task 分解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171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关键选题：跨风控/回测/策略/配置 4 个模块，同时涉及修改现有功能和新增全新功能，最能体现迭代维护的复杂性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  <a:latin typeface="微软雅黑" panose="020B0503020204020204" charset="-122"/>
              </a:rPr>
              <a:t>14/41</a:t>
            </a:r>
            <a:endParaRPr sz="1100" b="0">
              <a:solidFill>
                <a:srgbClr val="88888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微软雅黑" panose="020B0503020204020204" charset="-122"/>
              </a:rPr>
              <a:t>需求变更实验结果：量化对比</a:t>
            </a:r>
            <a:endParaRPr sz="28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56032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17520" y="1280160"/>
            <a:ext cx="3840480" cy="42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1280160"/>
            <a:ext cx="3840480" cy="4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98480" y="1280160"/>
            <a:ext cx="109728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7200" y="1340160"/>
            <a:ext cx="240032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对比维度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097520" y="1340160"/>
            <a:ext cx="36804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OpenSpec 版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938000" y="1340160"/>
            <a:ext cx="36804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非 OpenSpec 版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778480" y="134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倍数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57200" y="1700160"/>
            <a:ext cx="256032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17520" y="1700160"/>
            <a:ext cx="3840480" cy="42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0" y="1700160"/>
            <a:ext cx="3840480" cy="42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1700160"/>
            <a:ext cx="109728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7200" y="173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微软雅黑" panose="020B0503020204020204" charset="-122"/>
              </a:rPr>
              <a:t>边界场景覆盖</a:t>
            </a:r>
            <a:endParaRPr sz="11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097520" y="172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10 个边界场景（含 T+1 冲突、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熔断恢复中断、频率切换等）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38000" y="172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2 个边界场景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（数据不足、熔断升级）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778480" y="176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微软雅黑" panose="020B0503020204020204" charset="-122"/>
              </a:rPr>
              <a:t>5x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57200" y="212016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017520" y="2120160"/>
            <a:ext cx="3840480" cy="420000"/>
          </a:xfrm>
          <a:prstGeom prst="rect">
            <a:avLst/>
          </a:prstGeom>
          <a:solidFill>
            <a:srgbClr val="F1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0" y="2120160"/>
            <a:ext cx="3840480" cy="420000"/>
          </a:xfrm>
          <a:prstGeom prst="rect">
            <a:avLst/>
          </a:prstGeom>
          <a:solidFill>
            <a:srgbClr val="FC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98480" y="212016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7200" y="215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微软雅黑" panose="020B0503020204020204" charset="-122"/>
              </a:rPr>
              <a:t>测试用例</a:t>
            </a:r>
            <a:endParaRPr sz="11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097520" y="214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27 个新增测试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（3 个测试文件，pytest 框架）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938000" y="214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0 个测试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（无任何自动化测试）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778480" y="218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微软雅黑" panose="020B0503020204020204" charset="-122"/>
              </a:rPr>
              <a:t>∞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57200" y="2540160"/>
            <a:ext cx="256032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17520" y="2540160"/>
            <a:ext cx="3840480" cy="42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0" y="2540160"/>
            <a:ext cx="3840480" cy="42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698480" y="2540160"/>
            <a:ext cx="109728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7200" y="257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微软雅黑" panose="020B0503020204020204" charset="-122"/>
              </a:rPr>
              <a:t>变更文档</a:t>
            </a:r>
            <a:endParaRPr sz="11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097520" y="256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636 行 artifact 文档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（proposal→usecases→specs→design→tasks）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938000" y="256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0 行文档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（无 proposal、无 design、无记录）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0778480" y="260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微软雅黑" panose="020B0503020204020204" charset="-122"/>
              </a:rPr>
              <a:t>∞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57200" y="296016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017520" y="2960160"/>
            <a:ext cx="3840480" cy="420000"/>
          </a:xfrm>
          <a:prstGeom prst="rect">
            <a:avLst/>
          </a:prstGeom>
          <a:solidFill>
            <a:srgbClr val="F1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858000" y="2960160"/>
            <a:ext cx="3840480" cy="420000"/>
          </a:xfrm>
          <a:prstGeom prst="rect">
            <a:avLst/>
          </a:prstGeom>
          <a:solidFill>
            <a:srgbClr val="FC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698480" y="296016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7200" y="299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微软雅黑" panose="020B0503020204020204" charset="-122"/>
              </a:rPr>
              <a:t>代码模块化</a:t>
            </a:r>
            <a:endParaRPr sz="11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097520" y="298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7 个文件（2 新模块 + 3 测试 +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2 个修改），单一职责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938000" y="298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2 个文件，所有逻辑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挤在 backtester.py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0778480" y="302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微软雅黑" panose="020B0503020204020204" charset="-122"/>
              </a:rPr>
              <a:t>3.5x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457200" y="3380160"/>
            <a:ext cx="256032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017520" y="3380160"/>
            <a:ext cx="3840480" cy="42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858000" y="3380160"/>
            <a:ext cx="3840480" cy="42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698480" y="3380160"/>
            <a:ext cx="109728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7200" y="341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微软雅黑" panose="020B0503020204020204" charset="-122"/>
              </a:rPr>
              <a:t>新增代码行</a:t>
            </a:r>
            <a:endParaRPr sz="11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097520" y="340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662 行（源码 303 + 测试 359）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分布在独立模块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6938000" y="340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163 行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全部混在主函数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0778480" y="344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微软雅黑" panose="020B0503020204020204" charset="-122"/>
              </a:rPr>
              <a:t>4x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457200" y="380016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017520" y="3800160"/>
            <a:ext cx="3840480" cy="420000"/>
          </a:xfrm>
          <a:prstGeom prst="rect">
            <a:avLst/>
          </a:prstGeom>
          <a:solidFill>
            <a:srgbClr val="F1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858000" y="3800160"/>
            <a:ext cx="3840480" cy="420000"/>
          </a:xfrm>
          <a:prstGeom prst="rect">
            <a:avLst/>
          </a:prstGeom>
          <a:solidFill>
            <a:srgbClr val="FC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698480" y="380016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7200" y="383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微软雅黑" panose="020B0503020204020204" charset="-122"/>
              </a:rPr>
              <a:t>遗漏的关键边界</a:t>
            </a:r>
            <a:endParaRPr sz="11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097520" y="382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0 个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6938000" y="382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3 个（T+1冲突、渐进恢复、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频率切换间隔）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0778480" y="386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微软雅黑" panose="020B0503020204020204" charset="-122"/>
              </a:rPr>
              <a:t>—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457200" y="4220160"/>
            <a:ext cx="256032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017520" y="4220160"/>
            <a:ext cx="3840480" cy="42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858000" y="4220160"/>
            <a:ext cx="3840480" cy="42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698480" y="4220160"/>
            <a:ext cx="109728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37200" y="425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微软雅黑" panose="020B0503020204020204" charset="-122"/>
              </a:rPr>
              <a:t>可追溯性</a:t>
            </a:r>
            <a:endParaRPr sz="11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3097520" y="424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完整链路：需求→场景→规格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→设计→任务→代码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938000" y="424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仅 git diff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6个月后无法理解变更原因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0778480" y="428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微软雅黑" panose="020B0503020204020204" charset="-122"/>
              </a:rPr>
              <a:t>—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365760" y="468016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8640" y="47251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OpenSpec 的 usecases 强制思考边界场景，发现了非 OpenSpec 版遗漏的 3 个关键边界：T+1 冲突、渐进式恢复、频率切换时机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  <a:latin typeface="微软雅黑" panose="020B0503020204020204" charset="-122"/>
              </a:rPr>
              <a:t>15/41</a:t>
            </a:r>
            <a:endParaRPr sz="1100" b="0">
              <a:solidFill>
                <a:srgbClr val="88888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微软雅黑" panose="020B0503020204020204" charset="-122"/>
              </a:rPr>
              <a:t>需求变更实验：核心发现与评分</a:t>
            </a:r>
            <a:endParaRPr sz="28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微软雅黑" panose="020B0503020204020204" charset="-122"/>
              </a:rPr>
              <a:t>OpenSpec 的核心价值不在于初始构建，而在于持续迭代 — 需求变更时差距更加显著</a:t>
            </a:r>
            <a:endParaRPr sz="160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303520" cy="356616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65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1A2E"/>
                </a:solidFill>
                <a:latin typeface="微软雅黑" panose="020B0503020204020204" charset="-122"/>
              </a:rPr>
              <a:t>七维评分对比</a:t>
            </a:r>
            <a:endParaRPr sz="18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 panose="020B0503020204020204" charset="-122"/>
              </a:rPr>
              <a:t>影响分析准确性</a:t>
            </a:r>
            <a:endParaRPr sz="12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00000" y="24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微软雅黑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900000" y="24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微软雅黑" panose="020B0503020204020204" charset="-122"/>
              </a:rPr>
              <a:t>★★☆☆☆</a:t>
            </a:r>
            <a:endParaRPr sz="13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28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 panose="020B0503020204020204" charset="-122"/>
              </a:rPr>
              <a:t>需求覆盖完整性</a:t>
            </a:r>
            <a:endParaRPr sz="12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00000" y="28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微软雅黑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900000" y="28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微软雅黑" panose="020B0503020204020204" charset="-122"/>
              </a:rPr>
              <a:t>★★★☆☆</a:t>
            </a:r>
            <a:endParaRPr sz="13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32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 panose="020B0503020204020204" charset="-122"/>
              </a:rPr>
              <a:t>代码变更模块化</a:t>
            </a:r>
            <a:endParaRPr sz="12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400000" y="32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微软雅黑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900000" y="32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微软雅黑" panose="020B0503020204020204" charset="-122"/>
              </a:rPr>
              <a:t>★★☆☆☆</a:t>
            </a:r>
            <a:endParaRPr sz="13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36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 panose="020B0503020204020204" charset="-122"/>
              </a:rPr>
              <a:t>测试覆盖</a:t>
            </a:r>
            <a:endParaRPr sz="12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400000" y="36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微软雅黑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900000" y="36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微软雅黑" panose="020B0503020204020204" charset="-122"/>
              </a:rPr>
              <a:t>★☆☆☆☆</a:t>
            </a:r>
            <a:endParaRPr sz="13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080" y="40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 panose="020B0503020204020204" charset="-122"/>
              </a:rPr>
              <a:t>文档/可追溯性</a:t>
            </a:r>
            <a:endParaRPr sz="12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400000" y="40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微软雅黑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900000" y="40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微软雅黑" panose="020B0503020204020204" charset="-122"/>
              </a:rPr>
              <a:t>★☆☆☆☆</a:t>
            </a:r>
            <a:endParaRPr sz="13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80" y="44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 panose="020B0503020204020204" charset="-122"/>
              </a:rPr>
              <a:t>回归风险</a:t>
            </a:r>
            <a:endParaRPr sz="12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400000" y="44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微软雅黑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900000" y="44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微软雅黑" panose="020B0503020204020204" charset="-122"/>
              </a:rPr>
              <a:t>★★☆☆☆</a:t>
            </a:r>
            <a:endParaRPr sz="13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40080" y="48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 panose="020B0503020204020204" charset="-122"/>
              </a:rPr>
              <a:t>可复现性</a:t>
            </a:r>
            <a:endParaRPr sz="12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400000" y="48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微软雅黑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900000" y="48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微软雅黑" panose="020B0503020204020204" charset="-122"/>
              </a:rPr>
              <a:t>★★☆☆☆</a:t>
            </a:r>
            <a:endParaRPr sz="13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40080" y="5303520"/>
            <a:ext cx="278765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微软雅黑" panose="020B0503020204020204" charset="-122"/>
              </a:rPr>
              <a:t>总分：</a:t>
            </a:r>
            <a:r>
              <a:rPr lang="en-US" sz="1600" b="1">
                <a:solidFill>
                  <a:srgbClr val="2E7D32"/>
                </a:solidFill>
                <a:latin typeface="微软雅黑" panose="020B0503020204020204" charset="-122"/>
              </a:rPr>
              <a:t>                     </a:t>
            </a:r>
            <a:r>
              <a:rPr sz="1600" b="1">
                <a:solidFill>
                  <a:srgbClr val="2E7D32"/>
                </a:solidFill>
                <a:latin typeface="微软雅黑" panose="020B0503020204020204" charset="-122"/>
              </a:rPr>
              <a:t>35/35</a:t>
            </a:r>
            <a:endParaRPr sz="1600" b="1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557860" y="5303520"/>
            <a:ext cx="180000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62828"/>
                </a:solidFill>
                <a:latin typeface="微软雅黑" panose="020B0503020204020204" charset="-122"/>
              </a:rPr>
              <a:t>vs  </a:t>
            </a:r>
            <a:r>
              <a:rPr lang="en-US" sz="1600" b="1">
                <a:solidFill>
                  <a:srgbClr val="C62828"/>
                </a:solidFill>
                <a:latin typeface="微软雅黑" panose="020B0503020204020204" charset="-122"/>
              </a:rPr>
              <a:t>   </a:t>
            </a:r>
            <a:r>
              <a:rPr sz="1600" b="1">
                <a:solidFill>
                  <a:srgbClr val="C62828"/>
                </a:solidFill>
                <a:latin typeface="微软雅黑" panose="020B0503020204020204" charset="-122"/>
              </a:rPr>
              <a:t>13/35</a:t>
            </a:r>
            <a:endParaRPr sz="1600" b="1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035040" y="1920240"/>
            <a:ext cx="5486400" cy="35661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1965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8D4"/>
                </a:solidFill>
                <a:latin typeface="微软雅黑" panose="020B0503020204020204" charset="-122"/>
              </a:rPr>
              <a:t>OpenSpec 在变更场景的三大核心优势</a:t>
            </a:r>
            <a:endParaRPr sz="18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217920" y="2468880"/>
            <a:ext cx="51206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25146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微软雅黑" panose="020B0503020204020204" charset="-122"/>
              </a:rPr>
              <a:t>前置思考 — 编码前完成需求分析</a:t>
            </a:r>
            <a:endParaRPr sz="14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355080" y="28346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proposal → usecases → specs 的过程强制在写代码前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/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识别出 10 个边界场景，避免了 3 个关键遗漏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217920" y="3474720"/>
            <a:ext cx="51206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35204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微软雅黑" panose="020B0503020204020204" charset="-122"/>
              </a:rPr>
              <a:t>知识沉淀 — 636 行文档是团队资产</a:t>
            </a:r>
            <a:endParaRPr sz="14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355080" y="384048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完整的 proposal→specs→design→tasks 链路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/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6个月后仍可追溯每个变更的动机和设计决策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217920" y="4480560"/>
            <a:ext cx="51206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45262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微软雅黑" panose="020B0503020204020204" charset="-122"/>
              </a:rPr>
              <a:t>质量保障 — tasks 确保测试不被遗忘</a:t>
            </a:r>
            <a:endParaRPr sz="14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355080" y="48463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tasks.md 显式列出 3 个测试文件 + 27 个测试用例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/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非 OpenSpec 版：0 测试，无法验证任何逻辑正确性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6171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实验完整数据见 testing_projct_quant_requirement_changing_experiment/comparison/result.md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  <a:latin typeface="微软雅黑" panose="020B0503020204020204" charset="-122"/>
              </a:rPr>
              <a:t>16/41</a:t>
            </a:r>
            <a:endParaRPr sz="1100" b="0">
              <a:solidFill>
                <a:srgbClr val="88888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微软雅黑" panose="020B0503020204020204" charset="-122"/>
              </a:rPr>
              <a:t>企业级价值：为什么公司需要 OpenSpec</a:t>
            </a:r>
            <a:endParaRPr sz="28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微软雅黑" panose="020B0503020204020204" charset="-122"/>
              </a:rPr>
              <a:t>AI 编码工具解决了「怎么写代码」，但没有解决「怎么管理 AI 写的代码」——OpenSpec 填补这一空白。</a:t>
            </a:r>
            <a:endParaRPr sz="14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246120" cy="64008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规范化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DEEFF"/>
                </a:solidFill>
                <a:latin typeface="微软雅黑" panose="020B0503020204020204" charset="-122"/>
              </a:rPr>
              <a:t>让 AI 编码有章可循</a:t>
            </a:r>
            <a:endParaRPr sz="1100" b="0">
              <a:solidFill>
                <a:srgbClr val="DDEEFF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3246120" cy="3657600"/>
          </a:xfrm>
          <a:prstGeom prst="roundRect">
            <a:avLst/>
          </a:prstGeom>
          <a:solidFill>
            <a:srgbClr val="E8F4FD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40280"/>
            <a:ext cx="54864" cy="1143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2240280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70C0"/>
                </a:solidFill>
                <a:latin typeface="微软雅黑" panose="020B0503020204020204" charset="-122"/>
              </a:rPr>
              <a:t>统一工作流标准</a:t>
            </a:r>
            <a:endParaRPr sz="1400" b="1">
              <a:solidFill>
                <a:srgbClr val="0070C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所有团队遵循 proposal → spec → design → task → implement 流程，AI 不再各行其是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66928" y="3456432"/>
            <a:ext cx="54864" cy="1143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3456432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70C0"/>
                </a:solidFill>
                <a:latin typeface="微软雅黑" panose="020B0503020204020204" charset="-122"/>
              </a:rPr>
              <a:t>需求有据可查</a:t>
            </a:r>
            <a:endParaRPr sz="1400" b="1">
              <a:solidFill>
                <a:srgbClr val="0070C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每个变更都有 proposal（为什么改）、spec（改什么）、design（怎么做），不再是一句聊天记录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67055" y="4672330"/>
            <a:ext cx="76200" cy="7772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672584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70C0"/>
                </a:solidFill>
                <a:latin typeface="微软雅黑" panose="020B0503020204020204" charset="-122"/>
              </a:rPr>
              <a:t>验收有标准可依</a:t>
            </a:r>
            <a:endParaRPr sz="1400" b="1">
              <a:solidFill>
                <a:srgbClr val="0070C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BDD 场景（Given/When/Then）提供明确的验收条件，代码好不好有客观依据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40080" y="3383280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99432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86200" y="1371600"/>
            <a:ext cx="3246120" cy="6400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86200" y="141732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可追溯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886200" y="169164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DEEFF"/>
                </a:solidFill>
                <a:latin typeface="微软雅黑" panose="020B0503020204020204" charset="-122"/>
              </a:rPr>
              <a:t>每一步决策都有据可查</a:t>
            </a:r>
            <a:endParaRPr sz="1100" b="0">
              <a:solidFill>
                <a:srgbClr val="DDEEFF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886200" y="2103120"/>
            <a:ext cx="3246120" cy="3657600"/>
          </a:xfrm>
          <a:prstGeom prst="roundRect">
            <a:avLst/>
          </a:prstGeom>
          <a:solidFill>
            <a:srgbClr val="E8F8E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95928" y="2240280"/>
            <a:ext cx="54864" cy="1143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33088" y="2240280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7AE60"/>
                </a:solidFill>
                <a:latin typeface="微软雅黑" panose="020B0503020204020204" charset="-122"/>
              </a:rPr>
              <a:t>变更全链路追踪</a:t>
            </a:r>
            <a:endParaRPr sz="1400" b="1">
              <a:solidFill>
                <a:srgbClr val="27AE6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从需求到设计到任务到代码，每一步都有文档记录，出了问题能快速定位根因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995928" y="3456432"/>
            <a:ext cx="54864" cy="1143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33088" y="3456432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7AE60"/>
                </a:solidFill>
                <a:latin typeface="微软雅黑" panose="020B0503020204020204" charset="-122"/>
              </a:rPr>
              <a:t>审计友好</a:t>
            </a:r>
            <a:endParaRPr sz="1400" b="1">
              <a:solidFill>
                <a:srgbClr val="27AE6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归档机制保留完整上下文，满足合规要求；监管审查时能拿出完整的决策链条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996055" y="4672330"/>
            <a:ext cx="76200" cy="756285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33088" y="4672584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7AE60"/>
                </a:solidFill>
                <a:latin typeface="微软雅黑" panose="020B0503020204020204" charset="-122"/>
              </a:rPr>
              <a:t>决策可回溯</a:t>
            </a:r>
            <a:endParaRPr sz="1400" b="1">
              <a:solidFill>
                <a:srgbClr val="27AE6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design.md 记录技术选型理由和替代方案权衡——三个月后还能看懂当初为什么这么选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069080" y="3383280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69080" y="4599432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15200" y="1371600"/>
            <a:ext cx="3246120" cy="64008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0" y="141732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可协作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315200" y="169164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DEEFF"/>
                </a:solidFill>
                <a:latin typeface="微软雅黑" panose="020B0503020204020204" charset="-122"/>
              </a:rPr>
              <a:t>团队协同不再靠喊话</a:t>
            </a:r>
            <a:endParaRPr sz="1100" b="0">
              <a:solidFill>
                <a:srgbClr val="DDEEFF"/>
              </a:solidFill>
              <a:latin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7315200" y="2103120"/>
            <a:ext cx="3246120" cy="365760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24928" y="2240280"/>
            <a:ext cx="54864" cy="1143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62088" y="2240280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8C00"/>
                </a:solidFill>
                <a:latin typeface="微软雅黑" panose="020B0503020204020204" charset="-122"/>
              </a:rPr>
              <a:t>多人并行不冲突</a:t>
            </a:r>
            <a:endParaRPr sz="1400" b="1">
              <a:solidFill>
                <a:srgbClr val="FF8C0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Delta spec 机制让不同变更可以并行推进，各自只描述自己的增量，合并时自动检测冲突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7424928" y="3456432"/>
            <a:ext cx="54864" cy="1143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62088" y="3456432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8C00"/>
                </a:solidFill>
                <a:latin typeface="微软雅黑" panose="020B0503020204020204" charset="-122"/>
              </a:rPr>
              <a:t>上下文可共享</a:t>
            </a:r>
            <a:endParaRPr sz="1400" b="1">
              <a:solidFill>
                <a:srgbClr val="FF8C0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规格文件是团队共享资产，不是某个人的 IDE 聊天记录；任何人都能读懂系统全貌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 flipH="1">
            <a:off x="7413625" y="4672330"/>
            <a:ext cx="76200" cy="77597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62088" y="4672584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8C00"/>
                </a:solidFill>
                <a:latin typeface="微软雅黑" panose="020B0503020204020204" charset="-122"/>
              </a:rPr>
              <a:t>新人可快速接手</a:t>
            </a:r>
            <a:endParaRPr sz="1400" b="1">
              <a:solidFill>
                <a:srgbClr val="FF8C0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读 specs + design + archived changes 即可理解系统演化历程，不用再问"这段代码为什么这样写"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498080" y="3383280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98080" y="4599432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5897880"/>
            <a:ext cx="10241280" cy="5029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598932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CC00"/>
                </a:solidFill>
                <a:latin typeface="微软雅黑" panose="020B0503020204020204" charset="-122"/>
              </a:rPr>
              <a:t>一句话总结：</a:t>
            </a:r>
            <a:r>
              <a:rPr sz="1400" b="0">
                <a:solidFill>
                  <a:srgbClr val="FFFFFF"/>
                </a:solidFill>
                <a:latin typeface="微软雅黑" panose="020B0503020204020204" charset="-122"/>
              </a:rPr>
              <a:t>OpenSpec 让 AI 编码从"个人即兴创作"变成"团队工程协作"——代码有规范、变更有记录、协作有秩序。</a:t>
            </a:r>
            <a:endParaRPr sz="1400" b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微软雅黑" panose="020B0503020204020204" charset="-122"/>
              </a:rPr>
              <a:t>17/41</a:t>
            </a:r>
            <a:endParaRPr sz="10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商业价值：Agentic Coding 治理是蓝海市场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486400" cy="22860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市场趋势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AI 编程工具正从"辅助"走向"自主"（Agentic）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• Cursor, Windsurf, Claude Code 等工具快速普及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• 企业采用率快速增长，但治理和规范严重缺失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D13438"/>
                </a:solidFill>
                <a:latin typeface="微软雅黑" panose="020B0503020204020204" charset="-122"/>
              </a:defRPr>
            </a:pPr>
            <a:r>
              <a:t>• 当前阶段类比：代码版本管理出现前的混乱期</a:t>
            </a:r>
          </a:p>
          <a:p>
            <a:pPr algn="l">
              <a:spcAft>
                <a:spcPts val="800"/>
              </a:spcAft>
              <a:defRPr sz="1400" b="0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• OpenSpec 定位 = Agentic Coding 时代的 Git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371600"/>
            <a:ext cx="5486400" cy="2286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为什么现在值得研究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• OpenSpec 仍处于早期阶段，先发优势明显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• 与 Claude Code 深度集成，Anthropic 生态优势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• 开源项目，可以基于自身需求定制和贡献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• 规格驱动思想与现有 DevOps 体系天然兼容</a:t>
            </a:r>
          </a:p>
          <a:p>
            <a:pPr algn="l">
              <a:spcAft>
                <a:spcPts val="800"/>
              </a:spcAft>
              <a:defRPr sz="1400" b="0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• 掌握核心方法论 → 可输出咨询/工具/培训服务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商业化方向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572000"/>
            <a:ext cx="2743200" cy="2011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709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企业内部效率提升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12064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统一 AI 编码规范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减少返工、提升交付质量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降低代码审查成本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4572000"/>
            <a:ext cx="2743200" cy="20116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4709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工具产品化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512064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基于 OpenSpec 的企业级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管理平台（Web UI、审批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流程、数据统计）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572000"/>
            <a:ext cx="274320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4709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咨询与培训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512064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Agentic Coding 治理方法论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企业落地咨询、团队培训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最佳实践输出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4572000"/>
            <a:ext cx="2743200" cy="201168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4709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生态贡献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512064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自定义 Schema 市场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行业特定工作流模板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插件和集成开发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18/41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ROI 分析：规范化带来的投资回报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486400" cy="5029200"/>
          </a:xfrm>
          <a:prstGeom prst="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13438"/>
                </a:solidFill>
                <a:latin typeface="微软雅黑" panose="020B0503020204020204" charset="-122"/>
              </a:defRPr>
            </a:pPr>
            <a:r>
              <a:t>Without OpenSpec（当前状态）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✗  需求理解偏差率高 → 返工率 30-50%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✗  无测试 → 上线后 bug 修复成本高 (10-100x)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✗  代码审查耗时 → 审查者需从头理解意图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✗  知识流失 → 新人上手周期长 (2-4 周)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✗  多人协作冲突 → 集成时间占 20-30%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✗  无法审计 → 合规风险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5486400" cy="50292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With OpenSpec（目标状态）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031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✓  规格前置 → 返工率降至 10-15%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6974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✓  任务清单强制测试 → bug 在开发阶段发现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918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✓  审查者读 proposal + spec → 审查效率提升 50%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8862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✓  活文档 + 归档 → 新人上手周期缩短至 3-5 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4805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✓  Delta spec 隔离 → 并行开发无冲突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5074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✓  全链路追踪 → 天然满足审计需求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19/41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定位：OpenSpec 与现有工具链的互补关系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OpenSpec 不是替代品，而是缺失的一环 - 填补 AI 编程的"治理真空"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2011680"/>
            <a:ext cx="2286000" cy="8229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94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需求管理层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011680"/>
            <a:ext cx="41148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2194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OpenSpec Specs +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194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WHO / WHAT / WHY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108960"/>
            <a:ext cx="2286000" cy="82296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AI 执行层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08960"/>
            <a:ext cx="41148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0" y="3291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Claude Code / Cursor / Copilot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2918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HOW（写代码）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206240"/>
            <a:ext cx="2286000" cy="82296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4389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版本控制层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0" y="4206240"/>
            <a:ext cx="41148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43891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Git / GitHub / GitLab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389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版本管理 + 协作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5303520"/>
            <a:ext cx="2286000" cy="82296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5486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CI/CD 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5303520"/>
            <a:ext cx="41148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0" y="5486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Jenkins / GitHub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5486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构建 + 部署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97280" y="1874519"/>
            <a:ext cx="7315200" cy="1097280"/>
          </a:xfrm>
          <a:prstGeom prst="rect">
            <a:avLst/>
          </a:prstGeom>
          <a:solidFill>
            <a:srgbClr val="0078D4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97940" y="6126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OpenSpec 管理的是 AI 的"输入质量" - 输入越精确，AI 的输出越可控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20/41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333333"/>
                </a:solidFill>
                <a:latin typeface="微软雅黑" panose="020B0503020204020204" charset="-122"/>
              </a:rPr>
              <a:t>学术前沿：2023-2026 五大宏观趋势</a:t>
            </a:r>
            <a:endParaRPr sz="28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00000"/>
            <a:ext cx="100584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666666"/>
                </a:solidFill>
                <a:latin typeface="微软雅黑" panose="020B0503020204020204" charset="-122"/>
              </a:rPr>
              <a:t>大量顶级学术研究与产业实践正在验证 OpenSpec 所处赛道的战略价值</a:t>
            </a:r>
            <a:endParaRPr sz="13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0000" y="1600000"/>
            <a:ext cx="3500000" cy="22000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0000" y="1700000"/>
            <a:ext cx="3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78D4"/>
                </a:solidFill>
                <a:latin typeface="微软雅黑" panose="020B0503020204020204" charset="-122"/>
              </a:rPr>
              <a:t>从自动补全到自主 Agent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00000" y="2100000"/>
            <a:ext cx="3200000" cy="1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三代演进：补全(2021) → 对话(2023) → Agent(2025)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SWE-bench 解题率：个位数% → 79.2%（3年）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多 Agent 协作成为 2026 年前沿方向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150000" y="1600000"/>
            <a:ext cx="3500000" cy="22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0000" y="1700000"/>
            <a:ext cx="3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107C10"/>
                </a:solidFill>
                <a:latin typeface="微软雅黑" panose="020B0503020204020204" charset="-122"/>
              </a:rPr>
              <a:t>规格驱动开发强势回归</a:t>
            </a:r>
            <a:endParaRPr sz="1400" b="1">
              <a:solidFill>
                <a:srgbClr val="107C10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300000" y="2100000"/>
            <a:ext cx="3200000" cy="1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Amazon Kiro（2025.7）—— 首个 SDD IDE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GitHub Spec Kit / Tessl / OpenSpec 并行发展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arXiv 2026 论文：定义 SDD 三成熟度模型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850000" y="1600000"/>
            <a:ext cx="3500000" cy="22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0000" y="1700000"/>
            <a:ext cx="3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E86C00"/>
                </a:solidFill>
                <a:latin typeface="微软雅黑" panose="020B0503020204020204" charset="-122"/>
              </a:rPr>
              <a:t>需求工程被 LLM 深度变革</a:t>
            </a:r>
            <a:endParaRPr sz="1400" b="1">
              <a:solidFill>
                <a:srgbClr val="E86C00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00000" y="2100000"/>
            <a:ext cx="3200000" cy="1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LLM4RE 论文量：4篇(2022) → 113篇(2024)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GPT-4 生成需求：速度快 720x，成本仅 0.06%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挑战：幻觉、领域推理、复杂依赖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300000" y="4000000"/>
            <a:ext cx="3500000" cy="2200000"/>
          </a:xfrm>
          <a:prstGeom prst="round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50000" y="4100000"/>
            <a:ext cx="3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6B69D6"/>
                </a:solidFill>
                <a:latin typeface="微软雅黑" panose="020B0503020204020204" charset="-122"/>
              </a:rPr>
              <a:t>形式化方法与 LLM 融合</a:t>
            </a:r>
            <a:endParaRPr sz="1400" b="1">
              <a:solidFill>
                <a:srgbClr val="6B69D6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450000" y="4500000"/>
            <a:ext cx="3200000" cy="1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Vericoding 验证成功率 68% → 96%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Req2LTL / nl2spec：自然语言→时序逻辑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预言：AI 将使形式化验证走向主流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000000" y="4000000"/>
            <a:ext cx="3500000" cy="2200000"/>
          </a:xfrm>
          <a:prstGeom prst="round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0000" y="4100000"/>
            <a:ext cx="3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D13438"/>
                </a:solidFill>
                <a:latin typeface="微软雅黑" panose="020B0503020204020204" charset="-122"/>
              </a:rPr>
              <a:t>基准测试快速成熟</a:t>
            </a:r>
            <a:endParaRPr sz="1400" b="1">
              <a:solidFill>
                <a:srgbClr val="D13438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150000" y="4500000"/>
            <a:ext cx="3200000" cy="1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SWE-bench 扩展：多语言/Windows/Pro 版本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SWE-bench Illusion 论文揭示记忆化问题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推动更严格、更真实的评估体系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31520" y="6300000"/>
            <a:ext cx="9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>
                <a:solidFill>
                  <a:srgbClr val="666666"/>
                </a:solidFill>
                <a:latin typeface="微软雅黑" panose="020B0503020204020204" charset="-122"/>
              </a:rPr>
              <a:t>数据来源：Ferrari et al.(2025), Cheng et al.(2026), arXiv, SWE-bench, Martin Kleppmann(2025)</a:t>
            </a:r>
            <a:endParaRPr sz="8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666666"/>
                </a:solidFill>
                <a:latin typeface="微软雅黑" panose="020B0503020204020204" charset="-122"/>
              </a:rPr>
              <a:t>21/41</a:t>
            </a:r>
            <a:endParaRPr sz="10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000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t>竞争格局：OpenSpec 的差异化定位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0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0000" y="1050000"/>
            <a:ext cx="1400000" cy="520000"/>
          </a:xfrm>
          <a:prstGeom prst="rect">
            <a:avLst/>
          </a:prstGeom>
          <a:solidFill>
            <a:srgbClr val="0078D4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070000"/>
            <a:ext cx="132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维度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1900000" y="1050000"/>
            <a:ext cx="2200000" cy="520000"/>
          </a:xfrm>
          <a:prstGeom prst="rect">
            <a:avLst/>
          </a:prstGeom>
          <a:solidFill>
            <a:srgbClr val="F8F8F8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40000" y="1070000"/>
            <a:ext cx="212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</a:defRPr>
            </a:pPr>
            <a:r>
              <a:t>Amazon Kiro</a:t>
            </a:r>
          </a:p>
        </p:txBody>
      </p:sp>
      <p:sp>
        <p:nvSpPr>
          <p:cNvPr id="9" name="Rectangle 8"/>
          <p:cNvSpPr/>
          <p:nvPr/>
        </p:nvSpPr>
        <p:spPr>
          <a:xfrm>
            <a:off x="4100000" y="1050000"/>
            <a:ext cx="2400000" cy="520000"/>
          </a:xfrm>
          <a:prstGeom prst="rect">
            <a:avLst/>
          </a:prstGeom>
          <a:solidFill>
            <a:srgbClr val="F8F8F8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0000" y="1070000"/>
            <a:ext cx="232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</a:defRPr>
            </a:pPr>
            <a:r>
              <a:t>GitHub Spec Kit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00000" y="1050000"/>
            <a:ext cx="2200000" cy="520000"/>
          </a:xfrm>
          <a:prstGeom prst="rect">
            <a:avLst/>
          </a:prstGeom>
          <a:solidFill>
            <a:srgbClr val="F8F8F8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0000" y="1070000"/>
            <a:ext cx="212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</a:defRPr>
            </a:pPr>
            <a:r>
              <a:t>Tessl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0000" y="1050000"/>
            <a:ext cx="2200000" cy="520000"/>
          </a:xfrm>
          <a:prstGeom prst="rect">
            <a:avLst/>
          </a:prstGeom>
          <a:solidFill>
            <a:srgbClr val="0078D4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40000" y="1070000"/>
            <a:ext cx="212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OpenSpec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157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0" y="159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开发方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0000" y="157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0000" y="15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Amazon (AWS)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00000" y="1570000"/>
            <a:ext cx="24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40000" y="159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Microsoft (GitHub)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00000" y="157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0000" y="15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Tessl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00000" y="157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40000" y="15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Fission AI (开源)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205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0000" y="207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定位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00000" y="205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40000" y="20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AI IDE（封闭生态）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00000" y="2050000"/>
            <a:ext cx="24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40000" y="207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CLI 模板工具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0000" y="205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0000" y="20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Agent 上下文平台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00000" y="205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40000" y="20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跨工具规格框架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0000" y="253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0" y="255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支持工具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00000" y="253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40000" y="25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仅 Kiro IDE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00000" y="2530000"/>
            <a:ext cx="24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40000" y="255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GitHub Copilot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00000" y="253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40000" y="25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多 Agent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700000" y="253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40000" y="25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20+ AI 工具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0000" y="301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0" y="303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Delta Spec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00000" y="301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40000" y="303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不支持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00000" y="3010000"/>
            <a:ext cx="24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40000" y="303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不支持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00000" y="301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40000" y="303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不支持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00000" y="301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40000" y="303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核心创新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0000" y="349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0000" y="351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工件依赖图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00000" y="349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940000" y="351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线性流程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00000" y="3490000"/>
            <a:ext cx="24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40000" y="351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无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000" y="349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40000" y="351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无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700000" y="349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40000" y="351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DAG 拓扑排序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0000" y="397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0000" y="399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并行变更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900000" y="397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940000" y="39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不支持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00000" y="3970000"/>
            <a:ext cx="24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40000" y="399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不支持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500000" y="397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40000" y="39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有限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700000" y="397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740000" y="39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完整支持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0000" y="445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0000" y="447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规格质量检查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900000" y="445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940000" y="44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无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00000" y="4450000"/>
            <a:ext cx="24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40000" y="447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无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00000" y="445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40000" y="44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无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700000" y="445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740000" y="44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可扩展（改进点）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0000" y="493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0000" y="495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开源/可定制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900000" y="493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940000" y="49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闭源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00000" y="4930000"/>
            <a:ext cx="24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40000" y="495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模板开源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00000" y="493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40000" y="49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商业产品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700000" y="493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740000" y="49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完全开源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00000" y="5610000"/>
            <a:ext cx="105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78D4"/>
                </a:solidFill>
              </a:defRPr>
            </a:pPr>
            <a:r>
              <a:t>OpenSpec 的核心壁垒：跨工具兼容 + Delta Spec + DAG 依赖图 —— 竞品均未实现这三者的组合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22/41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微软雅黑" panose="020B0503020204020204" charset="-122"/>
              </a:rPr>
              <a:t>六大高商业价值的研究改进方向</a:t>
            </a:r>
            <a:endParaRPr sz="26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2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0000" y="1200000"/>
            <a:ext cx="3500000" cy="24000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0000" y="1200000"/>
            <a:ext cx="3500000" cy="65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0000" y="1350000"/>
            <a:ext cx="360000" cy="3600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0000" y="137000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60000" y="137000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  <a:latin typeface="微软雅黑" panose="020B0503020204020204" charset="-122"/>
              </a:rPr>
              <a:t>Spec Quality Gate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0000" y="182000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在 spec 生成的每个环节植入质量检查
歧义检测 + 冲突分析 + 覆盖率评估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60000" y="2700000"/>
            <a:ext cx="3180000" cy="1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000" y="2820000"/>
            <a:ext cx="318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1">
                <a:solidFill>
                  <a:srgbClr val="0078D4"/>
                </a:solidFill>
                <a:latin typeface="微软雅黑" panose="020B0503020204020204" charset="-122"/>
              </a:rPr>
              <a:t>无直接竞品，核心差异化
返工率降低 30-50%</a:t>
            </a:r>
            <a:endParaRPr sz="11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250000" y="1200000"/>
            <a:ext cx="3500000" cy="24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0000" y="1200000"/>
            <a:ext cx="3500000" cy="65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70000" y="1350000"/>
            <a:ext cx="360000" cy="3600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0000" y="137000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810000" y="137000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7C10"/>
                </a:solidFill>
                <a:latin typeface="微软雅黑" panose="020B0503020204020204" charset="-122"/>
              </a:rPr>
              <a:t>Spec-Code Traceability</a:t>
            </a:r>
            <a:endParaRPr sz="1400" b="1">
              <a:solidFill>
                <a:srgbClr val="107C10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410000" y="182000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建立 Spec ↔ Code 双向追溯链
代码变更后自动检测 spec drift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410000" y="2700000"/>
            <a:ext cx="3180000" cy="18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0000" y="2820000"/>
            <a:ext cx="318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1">
                <a:solidFill>
                  <a:srgbClr val="107C10"/>
                </a:solidFill>
                <a:latin typeface="微软雅黑" panose="020B0503020204020204" charset="-122"/>
              </a:rPr>
              <a:t>EU AI Act 2026.8 合规刚需
进入金融/医疗市场的前置条件</a:t>
            </a:r>
            <a:endParaRPr sz="1100" b="1">
              <a:solidFill>
                <a:srgbClr val="107C10"/>
              </a:solidFill>
              <a:latin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8000000" y="1200000"/>
            <a:ext cx="3500000" cy="24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00000" y="1200000"/>
            <a:ext cx="3500000" cy="6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20000" y="1350000"/>
            <a:ext cx="360000" cy="3600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0000" y="137000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560000" y="137000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C00"/>
                </a:solidFill>
                <a:latin typeface="微软雅黑" panose="020B0503020204020204" charset="-122"/>
              </a:rPr>
              <a:t>Multi-Agent Orchestration</a:t>
            </a:r>
            <a:endParaRPr sz="1400" b="1">
              <a:solidFill>
                <a:srgbClr val="E86C00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160000" y="182000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基于现有 DAG 拓扑排序拆分 task
多 Agent 并行 + artifact 状态协调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8160000" y="2700000"/>
            <a:ext cx="3180000" cy="1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60000" y="2820000"/>
            <a:ext cx="318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1">
                <a:solidFill>
                  <a:srgbClr val="E86C00"/>
                </a:solidFill>
                <a:latin typeface="微软雅黑" panose="020B0503020204020204" charset="-122"/>
              </a:rPr>
              <a:t>已有 DAG 架构，实现成本低
效率提升 3-4x，支撑团队级定价</a:t>
            </a:r>
            <a:endParaRPr sz="1100" b="1">
              <a:solidFill>
                <a:srgbClr val="E86C00"/>
              </a:solidFill>
              <a:latin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00000" y="3800000"/>
            <a:ext cx="3500000" cy="2400000"/>
          </a:xfrm>
          <a:prstGeom prst="round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0" y="3800000"/>
            <a:ext cx="3500000" cy="65000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0000" y="3950000"/>
            <a:ext cx="360000" cy="360000"/>
          </a:xfrm>
          <a:prstGeom prst="round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000" y="397000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60000" y="397000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B69D6"/>
                </a:solidFill>
                <a:latin typeface="微软雅黑" panose="020B0503020204020204" charset="-122"/>
              </a:rPr>
              <a:t>Platform / Web Hub</a:t>
            </a:r>
            <a:endParaRPr sz="1400" b="1">
              <a:solidFill>
                <a:srgbClr val="6B69D6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60000" y="442000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CLI → Web 平台：可视化 artifact graph
团队 spec review + 质量 dashboard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60000" y="5300000"/>
            <a:ext cx="3180000" cy="18000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000" y="5420000"/>
            <a:ext cx="318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1">
                <a:solidFill>
                  <a:srgbClr val="6B69D6"/>
                </a:solidFill>
                <a:latin typeface="微软雅黑" panose="020B0503020204020204" charset="-122"/>
              </a:rPr>
              <a:t>CLI(免费) → Platform(付费)
最自然的 SaaS 商业化路径</a:t>
            </a:r>
            <a:endParaRPr sz="1100" b="1">
              <a:solidFill>
                <a:srgbClr val="6B69D6"/>
              </a:solidFill>
              <a:latin typeface="微软雅黑" panose="020B0503020204020204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4250000" y="3800000"/>
            <a:ext cx="3500000" cy="2400000"/>
          </a:xfrm>
          <a:prstGeom prst="roundRect">
            <a:avLst/>
          </a:prstGeom>
          <a:solidFill>
            <a:srgbClr val="E0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50000" y="3800000"/>
            <a:ext cx="3500000" cy="65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370000" y="3950000"/>
            <a:ext cx="360000" cy="36000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70000" y="397000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5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810000" y="397000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B8B"/>
                </a:solidFill>
                <a:latin typeface="微软雅黑" panose="020B0503020204020204" charset="-122"/>
              </a:rPr>
              <a:t>Domain-Specific Packs</a:t>
            </a:r>
            <a:endParaRPr sz="1400" b="1">
              <a:solidFill>
                <a:srgbClr val="008B8B"/>
              </a:solidFill>
              <a:latin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410000" y="442000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医疗/金融/汽车行业预配置
合规 rules + spec 模板 + schema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4410000" y="5300000"/>
            <a:ext cx="3180000" cy="1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10000" y="5420000"/>
            <a:ext cx="318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1">
                <a:solidFill>
                  <a:srgbClr val="008B8B"/>
                </a:solidFill>
                <a:latin typeface="微软雅黑" panose="020B0503020204020204" charset="-122"/>
              </a:rPr>
              <a:t>Vertical SaaS 策略
每个行业 = 独立收入 + 高粘性</a:t>
            </a:r>
            <a:endParaRPr sz="1100" b="1">
              <a:solidFill>
                <a:srgbClr val="008B8B"/>
              </a:solidFill>
              <a:latin typeface="微软雅黑" panose="020B0503020204020204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8000000" y="3800000"/>
            <a:ext cx="3500000" cy="2400000"/>
          </a:xfrm>
          <a:prstGeom prst="round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00000" y="3800000"/>
            <a:ext cx="3500000" cy="65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120000" y="3950000"/>
            <a:ext cx="360000" cy="360000"/>
          </a:xfrm>
          <a:prstGeom prst="round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20000" y="397000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6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560000" y="397000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13438"/>
                </a:solidFill>
                <a:latin typeface="微软雅黑" panose="020B0503020204020204" charset="-122"/>
              </a:rPr>
              <a:t>Formal Verification</a:t>
            </a:r>
            <a:endParaRPr sz="1400" b="1">
              <a:solidFill>
                <a:srgbClr val="D13438"/>
              </a:solidFill>
              <a:latin typeface="微软雅黑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8160000" y="442000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Given/When/Then → 形式化断言
编译期自动验证代码满足 spec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8160000" y="5300000"/>
            <a:ext cx="3180000" cy="18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60000" y="5420000"/>
            <a:ext cx="318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1">
                <a:solidFill>
                  <a:srgbClr val="D13438"/>
                </a:solidFill>
                <a:latin typeface="微软雅黑" panose="020B0503020204020204" charset="-122"/>
              </a:rPr>
              <a:t>安全关键场景的极高客单价
Vericoding 成功率已达 96%</a:t>
            </a:r>
            <a:endParaRPr sz="1100" b="1">
              <a:solidFill>
                <a:srgbClr val="D13438"/>
              </a:solidFill>
              <a:latin typeface="微软雅黑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微软雅黑" panose="020B0503020204020204" charset="-122"/>
              </a:rPr>
              <a:t>23/41</a:t>
            </a:r>
            <a:endParaRPr sz="10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2E"/>
                </a:solidFill>
                <a:latin typeface="微软雅黑"/>
              </a:rPr>
              <a:t>优先投入的四个方向</a:t>
            </a:r>
            <a:endParaRPr sz="26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667512"/>
            <a:ext cx="9144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99999"/>
                </a:solidFill>
                <a:latin typeface="微软雅黑"/>
              </a:rPr>
              <a:t>按见效速度 × 实现成本 × 竞争壁垒排序</a:t>
            </a:r>
            <a:endParaRPr sz="1300" b="0">
              <a:solidFill>
                <a:srgbClr val="999999"/>
              </a:solidFill>
              <a:latin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50000" y="1300000"/>
            <a:ext cx="2700000" cy="5100000"/>
          </a:xfrm>
          <a:prstGeom prst="roundRect">
            <a:avLst/>
          </a:prstGeom>
          <a:solidFill>
            <a:srgbClr val="F0F5FF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50000" y="1300000"/>
            <a:ext cx="2700000" cy="55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000" y="1400000"/>
            <a:ext cx="135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8D4"/>
                </a:solidFill>
                <a:latin typeface="微软雅黑"/>
              </a:rPr>
              <a:t>Spec Quality Gate</a:t>
            </a:r>
            <a:endParaRPr sz="15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870000" y="1420000"/>
            <a:ext cx="1100000" cy="2900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0000" y="1420000"/>
            <a:ext cx="11000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短期 1-3 月</a:t>
            </a:r>
            <a:endParaRPr sz="11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10000" y="1900000"/>
            <a:ext cx="2580000" cy="1200000"/>
          </a:xfrm>
          <a:prstGeom prst="round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0" y="19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13438"/>
                </a:solidFill>
                <a:latin typeface="微软雅黑"/>
              </a:rPr>
              <a:t>Problem</a:t>
            </a:r>
            <a:endParaRPr sz="1300" b="1">
              <a:solidFill>
                <a:srgbClr val="D13438"/>
              </a:solidFill>
              <a:latin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0000" y="21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PM 写"优化体验"就丢给 AI
AI 按自己理解写 3 天 → 全部返工
需求模糊导致返工占开发 30-50%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10000" y="3200000"/>
            <a:ext cx="2580000" cy="1500000"/>
          </a:xfrm>
          <a:prstGeom prst="roundRect">
            <a:avLst/>
          </a:prstGeom>
          <a:solidFill>
            <a:srgbClr val="F0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000" y="32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微软雅黑"/>
              </a:rPr>
              <a:t>Solution</a:t>
            </a:r>
            <a:endParaRPr sz="1300" b="1">
              <a:solidFill>
                <a:srgbClr val="107C1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70000" y="3450000"/>
            <a:ext cx="246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proposal → spec 转换时植入 Gate：
• 歧义检测：拒绝模糊需求
• 冲突分析：与 main specs 交叉比对
• 覆盖评估：输出 Quality Score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10000" y="4800000"/>
            <a:ext cx="2580000" cy="1200000"/>
          </a:xfrm>
          <a:prstGeom prst="round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000" y="48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8D4"/>
                </a:solidFill>
                <a:latin typeface="微软雅黑"/>
              </a:rPr>
              <a:t>Business Value</a:t>
            </a:r>
            <a:endParaRPr sz="13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70000" y="50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微软雅黑"/>
              </a:rPr>
              <a:t>Kiro / Spec Kit 均无此能力
返工率 40%→15%，直接省人力
基于 LLM + 规则，1-3 月可 MVP</a:t>
            </a:r>
            <a:endParaRPr sz="11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170000" y="1300000"/>
            <a:ext cx="2700000" cy="5100000"/>
          </a:xfrm>
          <a:prstGeom prst="roundRect">
            <a:avLst/>
          </a:prstGeom>
          <a:solidFill>
            <a:srgbClr val="F0F8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70000" y="1300000"/>
            <a:ext cx="2700000" cy="55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70000" y="1400000"/>
            <a:ext cx="135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8B8B"/>
                </a:solidFill>
                <a:latin typeface="微软雅黑"/>
              </a:rPr>
              <a:t>Domain-Specific Packs</a:t>
            </a:r>
            <a:endParaRPr sz="1500" b="1">
              <a:solidFill>
                <a:srgbClr val="008B8B"/>
              </a:solidFill>
              <a:latin typeface="微软雅黑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690000" y="1420000"/>
            <a:ext cx="1100000" cy="29000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90000" y="1420000"/>
            <a:ext cx="11000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短期 1-3 月</a:t>
            </a:r>
            <a:endParaRPr sz="11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230000" y="1900000"/>
            <a:ext cx="2580000" cy="1200000"/>
          </a:xfrm>
          <a:prstGeom prst="round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0000" y="19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13438"/>
                </a:solidFill>
                <a:latin typeface="微软雅黑"/>
              </a:rPr>
              <a:t>Problem</a:t>
            </a:r>
            <a:endParaRPr sz="1300" b="1">
              <a:solidFill>
                <a:srgbClr val="D13438"/>
              </a:solidFill>
              <a:latin typeface="微软雅黑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290000" y="21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AI 不懂行业术语和合规要求
每个项目重复教育 AI 同样的领域常识
生成的 spec 缺乏行业深度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3230000" y="3200000"/>
            <a:ext cx="2580000" cy="1500000"/>
          </a:xfrm>
          <a:prstGeom prst="roundRect">
            <a:avLst/>
          </a:prstGeom>
          <a:solidFill>
            <a:srgbClr val="F0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0000" y="32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微软雅黑"/>
              </a:rPr>
              <a:t>Solution</a:t>
            </a:r>
            <a:endParaRPr sz="1300" b="1">
              <a:solidFill>
                <a:srgbClr val="107C10"/>
              </a:solidFill>
              <a:latin typeface="微软雅黑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290000" y="3450000"/>
            <a:ext cx="246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将领域知识打包为 Domain Packs：
• 行业术语表 + 规则模板
• 合规清单（金融/医疗/汽车）
• AI 生成 spec 时自动引用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3230000" y="4800000"/>
            <a:ext cx="2580000" cy="1200000"/>
          </a:xfrm>
          <a:prstGeom prst="round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90000" y="48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8B8B"/>
                </a:solidFill>
                <a:latin typeface="微软雅黑"/>
              </a:rPr>
              <a:t>Business Value</a:t>
            </a:r>
            <a:endParaRPr sz="1300" b="1">
              <a:solidFill>
                <a:srgbClr val="008B8B"/>
              </a:solidFill>
              <a:latin typeface="微软雅黑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290000" y="50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8B8B"/>
                </a:solidFill>
                <a:latin typeface="微软雅黑"/>
              </a:rPr>
              <a:t>领域知识 = 护城河，竞品难复制
垂直行业客单价高，商业价值大
先验知识沉淀 = 可售卖数据资产</a:t>
            </a:r>
            <a:endParaRPr sz="1100" b="1">
              <a:solidFill>
                <a:srgbClr val="008B8B"/>
              </a:solidFill>
              <a:latin typeface="微软雅黑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5990000" y="1300000"/>
            <a:ext cx="2700000" cy="5100000"/>
          </a:xfrm>
          <a:prstGeom prst="roundRect">
            <a:avLst/>
          </a:prstGeom>
          <a:solidFill>
            <a:srgbClr val="FFF5E6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90000" y="1300000"/>
            <a:ext cx="2700000" cy="5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0000" y="1400000"/>
            <a:ext cx="135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6C00"/>
                </a:solidFill>
                <a:latin typeface="微软雅黑"/>
              </a:rPr>
              <a:t>Multi-Agent
Orchestration</a:t>
            </a:r>
            <a:endParaRPr sz="1500" b="1">
              <a:solidFill>
                <a:srgbClr val="E86C00"/>
              </a:solidFill>
              <a:latin typeface="微软雅黑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7510000" y="1420000"/>
            <a:ext cx="1100000" cy="2900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10000" y="1420000"/>
            <a:ext cx="11000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中期 3-6 月</a:t>
            </a:r>
            <a:endParaRPr sz="11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6050000" y="1900000"/>
            <a:ext cx="2580000" cy="1200000"/>
          </a:xfrm>
          <a:prstGeom prst="round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10000" y="19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13438"/>
                </a:solidFill>
                <a:latin typeface="微软雅黑"/>
              </a:rPr>
              <a:t>Problem</a:t>
            </a:r>
            <a:endParaRPr sz="1300" b="1">
              <a:solidFill>
                <a:srgbClr val="D13438"/>
              </a:solidFill>
              <a:latin typeface="微软雅黑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110000" y="21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20 个 tasks 只能单 Agent 串行
端到端耗时 4 小时
无依赖的 task 本可并行却在等待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6050000" y="3200000"/>
            <a:ext cx="2580000" cy="1500000"/>
          </a:xfrm>
          <a:prstGeom prst="roundRect">
            <a:avLst/>
          </a:prstGeom>
          <a:solidFill>
            <a:srgbClr val="F0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10000" y="32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微软雅黑"/>
              </a:rPr>
              <a:t>Solution</a:t>
            </a:r>
            <a:endParaRPr sz="1300" b="1">
              <a:solidFill>
                <a:srgbClr val="107C10"/>
              </a:solidFill>
              <a:latin typeface="微软雅黑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110000" y="3450000"/>
            <a:ext cx="246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利用 OpenSpec 已有 DAG：
• 拓扑排序识别可并行 task 分组
• 每组独立 Agent + worktree
• 通过 artifact 状态隐式协调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6050000" y="4800000"/>
            <a:ext cx="2580000" cy="1200000"/>
          </a:xfrm>
          <a:prstGeom prst="round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10000" y="48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C00"/>
                </a:solidFill>
                <a:latin typeface="微软雅黑"/>
              </a:rPr>
              <a:t>Business Value</a:t>
            </a:r>
            <a:endParaRPr sz="1300" b="1">
              <a:solidFill>
                <a:srgbClr val="E86C00"/>
              </a:solidFill>
              <a:latin typeface="微软雅黑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110000" y="50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6C00"/>
                </a:solidFill>
                <a:latin typeface="微软雅黑"/>
              </a:rPr>
              <a:t>DAG 架构已就绪，边际成本低
效率 3-4x → 最直观的卖点
个人版 $20 → 团队版 $200/人/月</a:t>
            </a:r>
            <a:endParaRPr sz="1100" b="1">
              <a:solidFill>
                <a:srgbClr val="E86C00"/>
              </a:solidFill>
              <a:latin typeface="微软雅黑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8810000" y="1300000"/>
            <a:ext cx="2700000" cy="5100000"/>
          </a:xfrm>
          <a:prstGeom prst="roundRect">
            <a:avLst/>
          </a:prstGeom>
          <a:solidFill>
            <a:srgbClr val="F0F8F0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810000" y="1300000"/>
            <a:ext cx="2700000" cy="55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10000" y="1400000"/>
            <a:ext cx="135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7C10"/>
                </a:solidFill>
                <a:latin typeface="微软雅黑"/>
              </a:rPr>
              <a:t>Spec-Code
Traceability</a:t>
            </a:r>
            <a:endParaRPr sz="1500" b="1">
              <a:solidFill>
                <a:srgbClr val="107C10"/>
              </a:solidFill>
              <a:latin typeface="微软雅黑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10330000" y="1420000"/>
            <a:ext cx="1100000" cy="2900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30000" y="1420000"/>
            <a:ext cx="11000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长期 6-12 月</a:t>
            </a:r>
            <a:endParaRPr sz="11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8870000" y="1900000"/>
            <a:ext cx="2580000" cy="1200000"/>
          </a:xfrm>
          <a:prstGeom prst="round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30000" y="19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13438"/>
                </a:solidFill>
                <a:latin typeface="微软雅黑"/>
              </a:rPr>
              <a:t>Problem</a:t>
            </a:r>
            <a:endParaRPr sz="1300" b="1">
              <a:solidFill>
                <a:srgbClr val="D13438"/>
              </a:solidFill>
              <a:latin typeface="微软雅黑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930000" y="21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迭代半年后 spec 与代码严重 drift
新人问 design decision，无人能答
合规审计拿不出追溯证据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8870000" y="3200000"/>
            <a:ext cx="2580000" cy="1500000"/>
          </a:xfrm>
          <a:prstGeom prst="roundRect">
            <a:avLst/>
          </a:prstGeom>
          <a:solidFill>
            <a:srgbClr val="F0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930000" y="32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微软雅黑"/>
              </a:rPr>
              <a:t>Solution</a:t>
            </a:r>
            <a:endParaRPr sz="1300" b="1">
              <a:solidFill>
                <a:srgbClr val="107C10"/>
              </a:solidFill>
              <a:latin typeface="微软雅黑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930000" y="3450000"/>
            <a:ext cx="246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构建双向 traceability 链：
• Spec → Code：标注实现位置
• Code → Spec：变更触发 drift 告警
• Living Specs：规格随代码演进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8870000" y="4800000"/>
            <a:ext cx="2580000" cy="1200000"/>
          </a:xfrm>
          <a:prstGeom prst="round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30000" y="48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微软雅黑"/>
              </a:rPr>
              <a:t>Business Value</a:t>
            </a:r>
            <a:endParaRPr sz="1300" b="1">
              <a:solidFill>
                <a:srgbClr val="107C10"/>
              </a:solidFill>
              <a:latin typeface="微软雅黑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8930000" y="50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微软雅黑"/>
              </a:rPr>
              <a:t>EU AI Act 2026.8 强制 traceability
医疗/金融/政府 = 高客单价市场
持续监控 = SaaS 订阅 → 稳定 MRR</a:t>
            </a:r>
            <a:endParaRPr sz="1100" b="1">
              <a:solidFill>
                <a:srgbClr val="107C10"/>
              </a:solidFill>
              <a:latin typeface="微软雅黑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微软雅黑"/>
              </a:rPr>
              <a:t>24/41</a:t>
            </a:r>
            <a:endParaRPr sz="1000" b="0">
              <a:solidFill>
                <a:srgbClr val="999999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微软雅黑" panose="020B0503020204020204" charset="-122"/>
              </a:rPr>
              <a:t>改进优先级矩阵与实施路线图</a:t>
            </a:r>
            <a:endParaRPr sz="28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0000" y="1100000"/>
            <a:ext cx="3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微软雅黑" panose="020B0503020204020204" charset="-122"/>
              </a:rPr>
              <a:t>优先级排序（价值 × 可行性）</a:t>
            </a:r>
            <a:endParaRPr sz="1400" b="1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0000" y="1400000"/>
            <a:ext cx="11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99999"/>
                </a:solidFill>
                <a:latin typeface="微软雅黑" panose="020B0503020204020204" charset="-122"/>
              </a:rPr>
              <a:t>方向</a:t>
            </a:r>
            <a:endParaRPr sz="1100" b="1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500000" y="1400000"/>
            <a:ext cx="11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99999"/>
                </a:solidFill>
                <a:latin typeface="微软雅黑" panose="020B0503020204020204" charset="-122"/>
              </a:rPr>
              <a:t>商业价值</a:t>
            </a:r>
            <a:endParaRPr sz="1100" b="1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00000" y="1400000"/>
            <a:ext cx="11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99999"/>
                </a:solidFill>
                <a:latin typeface="微软雅黑" panose="020B0503020204020204" charset="-122"/>
              </a:rPr>
              <a:t>可行性</a:t>
            </a:r>
            <a:endParaRPr sz="1100" b="1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800000" y="1400000"/>
            <a:ext cx="11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99999"/>
                </a:solidFill>
                <a:latin typeface="微软雅黑" panose="020B0503020204020204" charset="-122"/>
              </a:rPr>
              <a:t>优先级</a:t>
            </a:r>
            <a:endParaRPr sz="1100" b="1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00000" y="1640000"/>
            <a:ext cx="55000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0000" y="1680000"/>
            <a:ext cx="70000" cy="48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0000" y="1680000"/>
            <a:ext cx="5330000" cy="48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000" y="1785000"/>
            <a:ext cx="270000" cy="2700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000" y="178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20115" y="1784985"/>
            <a:ext cx="167132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微软雅黑" panose="020B0503020204020204" charset="-122"/>
              </a:rPr>
              <a:t>Spec Quality Gate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25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0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0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1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0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9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10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2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50000" y="1785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  <a:latin typeface="微软雅黑" panose="020B0503020204020204" charset="-122"/>
              </a:rPr>
              <a:t>最高</a:t>
            </a:r>
            <a:endParaRPr sz="1300" b="1">
              <a:solidFill>
                <a:srgbClr val="C0392B"/>
              </a:solidFill>
              <a:latin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00000" y="2220000"/>
            <a:ext cx="70000" cy="480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0000" y="2325000"/>
            <a:ext cx="270000" cy="270000"/>
          </a:xfrm>
          <a:prstGeom prst="ellipse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000" y="232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48055" y="2240280"/>
            <a:ext cx="1912620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微软雅黑" panose="020B0503020204020204" charset="-122"/>
              </a:rPr>
              <a:t>Domain-Specific Packs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255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0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85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00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5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65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80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95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10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250000" y="240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50000" y="2325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C00"/>
                </a:solidFill>
                <a:latin typeface="微软雅黑" panose="020B0503020204020204" charset="-122"/>
              </a:rPr>
              <a:t>高</a:t>
            </a:r>
            <a:endParaRPr sz="1300" b="1">
              <a:solidFill>
                <a:srgbClr val="E86C00"/>
              </a:solidFill>
              <a:latin typeface="微软雅黑" panose="020B0503020204020204" charset="-122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500000" y="2760000"/>
            <a:ext cx="70000" cy="48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70000" y="2760000"/>
            <a:ext cx="5330000" cy="48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50000" y="2865000"/>
            <a:ext cx="270000" cy="27000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000" y="286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47930" y="2879605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微软雅黑" panose="020B0503020204020204" charset="-122"/>
              </a:rPr>
              <a:t>Multi-Agent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255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70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85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0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150000" y="294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65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80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95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10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50000" y="294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850000" y="2865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C00"/>
                </a:solidFill>
                <a:latin typeface="微软雅黑" panose="020B0503020204020204" charset="-122"/>
              </a:rPr>
              <a:t>高</a:t>
            </a:r>
            <a:endParaRPr sz="1300" b="1">
              <a:solidFill>
                <a:srgbClr val="E86C00"/>
              </a:solidFill>
              <a:latin typeface="微软雅黑" panose="020B0503020204020204" charset="-122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500000" y="3300000"/>
            <a:ext cx="70000" cy="480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50000" y="3405000"/>
            <a:ext cx="270000" cy="27000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0000" y="340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947930" y="3330705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微软雅黑" panose="020B0503020204020204" charset="-122"/>
              </a:rPr>
              <a:t>Spec-Code Traceability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255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70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85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00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150000" y="348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65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80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95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100000" y="348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250000" y="348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850000" y="3405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微软雅黑" panose="020B0503020204020204" charset="-122"/>
              </a:rPr>
              <a:t>中高</a:t>
            </a:r>
            <a:endParaRPr sz="1300" b="1">
              <a:solidFill>
                <a:srgbClr val="107C10"/>
              </a:solidFill>
              <a:latin typeface="微软雅黑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500000" y="3840000"/>
            <a:ext cx="70000" cy="480000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70000" y="3840000"/>
            <a:ext cx="5330000" cy="48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50000" y="3945000"/>
            <a:ext cx="270000" cy="270000"/>
          </a:xfrm>
          <a:prstGeom prst="ellipse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0000" y="394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5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947930" y="3839590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微软雅黑" panose="020B0503020204020204" charset="-122"/>
              </a:rPr>
              <a:t>Platform / Web Hub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2550000" y="402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2700000" y="402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2850000" y="402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000000" y="402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150000" y="402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650000" y="402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800000" y="402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950000" y="402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100000" y="402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4250000" y="402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850000" y="3945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B69D6"/>
                </a:solidFill>
                <a:latin typeface="微软雅黑" panose="020B0503020204020204" charset="-122"/>
              </a:rPr>
              <a:t>中</a:t>
            </a:r>
            <a:endParaRPr sz="1300" b="1">
              <a:solidFill>
                <a:srgbClr val="6B69D6"/>
              </a:solidFill>
              <a:latin typeface="微软雅黑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500000" y="4380000"/>
            <a:ext cx="70000" cy="480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50000" y="4485000"/>
            <a:ext cx="270000" cy="270000"/>
          </a:xfrm>
          <a:prstGeom prst="ellipse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50000" y="448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6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947930" y="4380225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微软雅黑" panose="020B0503020204020204" charset="-122"/>
              </a:rPr>
              <a:t>Formal Verification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93" name="Oval 92"/>
          <p:cNvSpPr/>
          <p:nvPr/>
        </p:nvSpPr>
        <p:spPr>
          <a:xfrm>
            <a:off x="2550000" y="45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700000" y="45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850000" y="45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3000000" y="456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150000" y="456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650000" y="45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3800000" y="45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950000" y="456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4100000" y="456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4250000" y="456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850000" y="4485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99999"/>
                </a:solidFill>
                <a:latin typeface="微软雅黑" panose="020B0503020204020204" charset="-122"/>
              </a:rPr>
              <a:t>低</a:t>
            </a:r>
            <a:endParaRPr sz="1300" b="1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500000" y="4970000"/>
            <a:ext cx="1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8C00"/>
                </a:solidFill>
                <a:latin typeface="微软雅黑" panose="020B0503020204020204" charset="-122"/>
              </a:rPr>
              <a:t>● 商业价值</a:t>
            </a:r>
            <a:endParaRPr sz="1000" b="0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3700000" y="4970000"/>
            <a:ext cx="1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8C00"/>
                </a:solidFill>
                <a:latin typeface="微软雅黑" panose="020B0503020204020204" charset="-122"/>
              </a:rPr>
              <a:t>● 实现可行性</a:t>
            </a:r>
            <a:endParaRPr sz="1000" b="0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6200000" y="1100000"/>
            <a:ext cx="54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微软雅黑" panose="020B0503020204020204" charset="-122"/>
              </a:rPr>
              <a:t>建议实施路线图</a:t>
            </a:r>
            <a:endParaRPr sz="1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6200000" y="1500000"/>
            <a:ext cx="5400000" cy="3000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50000" y="1500000"/>
            <a:ext cx="5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短期（1-3月）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6350000" y="1840000"/>
            <a:ext cx="51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实现 Spec Quality Gate（质量关卡）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集成 ISO 29148 需求质量评估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启动 Domain Packs 基础框架搭建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快速验证核心差异化价值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6200000" y="2700020"/>
            <a:ext cx="5400000" cy="3000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50000" y="2700020"/>
            <a:ext cx="5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中期（3-6月）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6350000" y="3040020"/>
            <a:ext cx="51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首批 Domain Packs 落地（金融/医疗）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多 Agent 编排层（基于现有 DAG）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Spec↔Code 基础追溯链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原型 Web Dashboard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113" name="Rounded Rectangle 112"/>
          <p:cNvSpPr/>
          <p:nvPr/>
        </p:nvSpPr>
        <p:spPr>
          <a:xfrm>
            <a:off x="6200000" y="3875275"/>
            <a:ext cx="5400000" cy="3000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350000" y="3875275"/>
            <a:ext cx="5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长期（6-12月）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6350000" y="4215275"/>
            <a:ext cx="51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完整 Drift Detection + Living Specs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Domain Packs 扩展（汽车/合规等）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形式化验证集成探索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平台化 + 企业级功能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116" name="Rounded Rectangle 115"/>
          <p:cNvSpPr/>
          <p:nvPr/>
        </p:nvSpPr>
        <p:spPr>
          <a:xfrm>
            <a:off x="500000" y="5750000"/>
            <a:ext cx="11200000" cy="500000"/>
          </a:xfrm>
          <a:prstGeom prst="roundRect">
            <a:avLst/>
          </a:prstGeom>
          <a:solidFill>
            <a:srgbClr val="F0F5FF"/>
          </a:solidFill>
          <a:ln w="1905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00000" y="5830000"/>
            <a:ext cx="10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78D4"/>
                </a:solidFill>
                <a:latin typeface="微软雅黑" panose="020B0503020204020204" charset="-122"/>
              </a:rPr>
              <a:t>核心策略：</a:t>
            </a:r>
            <a:r>
              <a:rPr sz="1300" b="0">
                <a:solidFill>
                  <a:srgbClr val="335588"/>
                </a:solidFill>
                <a:latin typeface="微软雅黑" panose="020B0503020204020204" charset="-122"/>
              </a:rPr>
              <a:t>Spec Quality Gate 快速建立差异化，Domain Packs 构建护城河——先证明 spec 治理的价值，再通过领域知识形成不可替代性。</a:t>
            </a:r>
            <a:endParaRPr sz="1300" b="0">
              <a:solidFill>
                <a:srgbClr val="335588"/>
              </a:solidFill>
              <a:latin typeface="微软雅黑" panose="020B0503020204020204" charset="-122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微软雅黑" panose="020B0503020204020204" charset="-122"/>
              </a:rPr>
              <a:t>25/41</a:t>
            </a:r>
            <a:endParaRPr sz="10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0972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总结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73152" cy="5943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20299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Agentic Coding 已是趋势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202996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微软雅黑" panose="020B0503020204020204" charset="-122"/>
              </a:defRPr>
            </a:pPr>
            <a:r>
              <a:t>Claude Code 等工具让 AI 自主写代码成为现实，但企业缺少治理手段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34640"/>
            <a:ext cx="73152" cy="5943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85292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OpenSpec 填补治理空白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85292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微软雅黑" panose="020B0503020204020204" charset="-122"/>
              </a:defRPr>
            </a:pPr>
            <a:r>
              <a:t>在"AI 能写代码"和"AI 写对代码"之间架起桥梁，用规格驱动 AI 行为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657600"/>
            <a:ext cx="73152" cy="5943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67588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实测验证：质量提升显著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367588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微软雅黑" panose="020B0503020204020204" charset="-122"/>
              </a:defRPr>
            </a:pPr>
            <a:r>
              <a:t>三方对比：总分 44→56→67（Vanilla→原生→HW2） | 需求变更：边界覆盖 5x、测试 27:0、文档 636:0 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480560"/>
            <a:ext cx="73152" cy="5943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49884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商业价值：蓝海赛道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44988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微软雅黑" panose="020B0503020204020204" charset="-122"/>
              </a:defRPr>
            </a:pPr>
            <a:r>
              <a:t>先发优势 + 开源可定制 + 咨询/工具/培训多种变现路径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5303520"/>
            <a:ext cx="73152" cy="5943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32180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建议：立项研究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32180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微软雅黑" panose="020B0503020204020204" charset="-122"/>
              </a:defRPr>
            </a:pPr>
            <a:r>
              <a:t>10 周、低成本投入，高潜力回报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6217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谢谢  |  Q&amp;A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26/41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附录 1：量化交易系统三方深度对比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2468880"/>
            <a:ext cx="2743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83464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600"/>
              </a:spcAft>
            </a:pPr>
            <a:r>
              <a:rPr sz="1800" b="1">
                <a:solidFill>
                  <a:srgbClr val="CCCCCC"/>
                </a:solidFill>
                <a:latin typeface="Microsoft YaHei"/>
              </a:rPr>
              <a:t>Vanilla Claude Code  vs  原生 OpenSpec  vs  OpenSpec-HW2</a:t>
            </a:r>
          </a:p>
          <a:p>
            <a:pPr algn="ctr">
              <a:spcAft>
                <a:spcPts val="1600"/>
              </a:spcAft>
            </a:pPr>
            <a:r>
              <a:rPr sz="1400" b="0">
                <a:solidFill>
                  <a:srgbClr val="999999"/>
                </a:solidFill>
                <a:latin typeface="Microsoft YaHei"/>
              </a:rPr>
              <a:t>A股有色金属多因子量化交易系统  |  同一需求 · 三种实现 · 逐项拆解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E8F5E9"/>
                </a:solidFill>
                <a:latin typeface="Microsoft YaHei"/>
              </a:rPr>
              <a:t>OpenSpec-HW2 版：43 源码文件 · 88 测试用例 · 6 层 Protocol 架构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E3F2FD"/>
                </a:solidFill>
                <a:latin typeface="Microsoft YaHei"/>
              </a:rPr>
              <a:t>原生 OpenSpec 版：35 源码文件 · 67 测试用例 · 分层架构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0F0F0"/>
                </a:solidFill>
                <a:latin typeface="Microsoft YaHei"/>
              </a:rPr>
              <a:t>Vanilla Claude Code 版：5-6 源码文件 · 0 测试 · 扁平结构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/>
              </a:rPr>
              <a:t>27/41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/>
              </a:rPr>
              <a:t>三方架构深度对比：代码组织与设计模式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3291840" cy="466344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69848"/>
            <a:ext cx="2926080" cy="4443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87878"/>
                </a:solidFill>
                <a:latin typeface="Microsoft YaHei"/>
              </a:rPr>
              <a:t>Vanilla Claude Code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333333"/>
                </a:solidFill>
                <a:latin typeface="Microsoft YaHei"/>
              </a:rPr>
              <a:t>5-6 个文件 · 扁平结构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87878"/>
                </a:solidFill>
                <a:latin typeface="Microsoft YaHei"/>
              </a:rPr>
              <a:t>文件清单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main.py: 策略逻辑+数据获取 (~400行)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backtest.py: 回测引擎 (~300行)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utils.py: 工具函数 (~200行)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config.py: 硬编码配置 (~100行)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app.py: Flask Web (~200行)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87878"/>
                </a:solidFill>
                <a:latin typeface="Microsoft YaHei"/>
              </a:rPr>
              <a:t>设计模式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无设计模式，过程式代码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函数间直接调用，高耦合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无接口抽象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40" y="960120"/>
            <a:ext cx="3291840" cy="466344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60520" y="1069848"/>
            <a:ext cx="2926080" cy="4443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Microsoft YaHei"/>
              </a:rPr>
              <a:t>原生 OpenSpec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333333"/>
                </a:solidFill>
                <a:latin typeface="Microsoft YaHei"/>
              </a:rPr>
              <a:t>35 个文件 · 分层架构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078D4"/>
                </a:solidFill>
                <a:latin typeface="Microsoft YaHei"/>
              </a:rPr>
              <a:t>目录结构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src/data/: 数据获取与存储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src/factors/: 因子计算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src/strategy/: 选股策略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src/risk/: 风控 (4层)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src/backtest/: 回测引擎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tests/: 8 个测试文件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078D4"/>
                </a:solidFill>
                <a:latin typeface="Microsoft YaHei"/>
              </a:rPr>
              <a:t>设计模式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简单类封装 + 函数组织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基本模块化，职责初步分离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0" y="960120"/>
            <a:ext cx="3291840" cy="466344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069848"/>
            <a:ext cx="2926080" cy="4443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Microsoft YaHei"/>
              </a:rPr>
              <a:t>OpenSpec-HW2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333333"/>
                </a:solidFill>
                <a:latin typeface="Microsoft YaHei"/>
              </a:rPr>
              <a:t>43 个文件 · 6 层 Protocol 架构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07C10"/>
                </a:solidFill>
                <a:latin typeface="Microsoft YaHei"/>
              </a:rPr>
              <a:t>6 层架构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L1 数据层: 多源适配+验证器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L2 因子层: 注册表+可扩展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L3 选股层: 多策略组合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L4 交易层: 订单管理+执行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L5 风控层: 4层+聚合器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L6 回测层: 真实性检验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07C10"/>
                </a:solidFill>
                <a:latin typeface="Microsoft YaHei"/>
              </a:rPr>
              <a:t>设计模式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Protocol 接口 + 装饰器注册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/>
              </a:rPr>
              <a:t>• 依赖注入 + 外部 YAML 配置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/>
              </a:rPr>
              <a:t>28/41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/>
              </a:rPr>
              <a:t>风控能力三方对比：量化交易的生死线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Microsoft YaHei"/>
              </a:rPr>
              <a:t>在量化交易中，风控能力决定了系统能否在真实市场中存活。这是三个版本差距最大的地方。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3291840" cy="4389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87878"/>
                </a:solidFill>
                <a:latin typeface="Microsoft YaHei"/>
              </a:rPr>
              <a:t>Vanilla Claude Code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D13438"/>
                </a:solidFill>
                <a:latin typeface="Microsoft YaHei"/>
              </a:rPr>
              <a:t>风控等级：初级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Microsoft YaHei"/>
              </a:rPr>
              <a:t>仅固定止损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硬编码止损阈值（如固定 5%）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不随市场波动调整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无持仓限制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无行业集中度控制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无异常波动检测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D13438"/>
                </a:solidFill>
                <a:latin typeface="Microsoft YaHei"/>
              </a:rPr>
              <a:t>风险评估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真实交易风险极高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极端行情下可能爆仓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40" y="1234440"/>
            <a:ext cx="3291840" cy="438912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0520" y="13258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Microsoft YaHei"/>
              </a:rPr>
              <a:t>原生 OpenSpec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0078D4"/>
                </a:solidFill>
                <a:latin typeface="Microsoft YaHei"/>
              </a:rPr>
              <a:t>风控等级：完整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Microsoft YaHei"/>
              </a:rPr>
              <a:t>4 层风控体系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L1 ATR 动态止损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999999"/>
                </a:solidFill>
                <a:latin typeface="Microsoft YaHei"/>
              </a:rPr>
              <a:t>  根据波动率自动调整止损位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L2 持仓限制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999999"/>
                </a:solidFill>
                <a:latin typeface="Microsoft YaHei"/>
              </a:rPr>
              <a:t>  单只上限 + 总仓位控制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L3 行业集中度控制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999999"/>
                </a:solidFill>
                <a:latin typeface="Microsoft YaHei"/>
              </a:rPr>
              <a:t>  避免板块过度集中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L4 异常波动检测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999999"/>
                </a:solidFill>
                <a:latin typeface="Microsoft YaHei"/>
              </a:rPr>
              <a:t>  异常行情自动触发保护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0" y="1234440"/>
            <a:ext cx="3291840" cy="43891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3258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Microsoft YaHei"/>
              </a:rPr>
              <a:t>OpenSpec-HW2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107C10"/>
                </a:solidFill>
                <a:latin typeface="Microsoft YaHei"/>
              </a:rPr>
              <a:t>风控等级：生产级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Microsoft YaHei"/>
              </a:rPr>
              <a:t>4 层 + 聚合入口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包含原生全部 4 层风控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+ RiskAggregator 统一调度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+ 风控规则 YAML 可配置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+ 完整风控执行日志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+ 风控事件回调机制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07C10"/>
                </a:solidFill>
                <a:latin typeface="Microsoft YaHei"/>
              </a:rPr>
              <a:t>增量价值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统一入口让风控层可独立测试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配置化支持快速策略调整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80644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89788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99999"/>
                </a:solidFill>
                <a:latin typeface="Microsoft YaHei"/>
              </a:rPr>
              <a:t>风控能力是规格化程度差异最直观的体现：无规格 = 无风控；规格越详细，风控架构越完善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/>
              </a:rPr>
              <a:t>29/41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/>
              </a:rPr>
              <a:t>回测真实性三方对比：你的回测结果能信多少？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Microsoft YaHei"/>
              </a:rPr>
              <a:t>回测是量化策略上线前的最后一道关卡。回测越贴近真实市场，上线后的意外越少。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34440"/>
          <a:ext cx="6400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28016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A 股交易规则</a:t>
                      </a:r>
                    </a:p>
                  </a:txBody>
                  <a:tcPr anchor="ctr" marT="25400" marB="25400" marL="50800" marR="50800"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Vanilla</a:t>
                      </a:r>
                    </a:p>
                  </a:txBody>
                  <a:tcPr anchor="ctr" marT="25400" marB="25400" marL="50800" marR="50800">
                    <a:solidFill>
                      <a:srgbClr val="7878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原生 OpenSpec</a:t>
                      </a:r>
                    </a:p>
                  </a:txBody>
                  <a:tcPr anchor="ctr" marT="25400" marB="25400" marL="50800" marR="50800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OpenSpec-HW2</a:t>
                      </a:r>
                    </a:p>
                  </a:txBody>
                  <a:tcPr anchor="ctr" marT="25400" marB="25400" marL="50800" marR="50800">
                    <a:solidFill>
                      <a:srgbClr val="107C1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T+1 交收制度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anchor="ctr" marT="25400" marB="25400" marL="50800" marR="50800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涨跌停限制 (10%)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印花税 / 佣金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anchor="ctr" marT="25400" marB="25400" marL="50800" marR="50800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最小买入单位 (100股)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停牌处理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anchor="ctr" marT="25400" marB="25400" marL="50800" marR="50800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前视偏差检测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滑点模拟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基础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完整</a:t>
                      </a:r>
                    </a:p>
                  </a:txBody>
                  <a:tcPr anchor="ctr" marT="25400" marB="25400" marL="50800" marR="5080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0" y="1234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Microsoft YaHei"/>
              </a:rPr>
              <a:t>性能评估指标对比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60020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87878"/>
                </a:solidFill>
                <a:latin typeface="Microsoft YaHei"/>
              </a:rPr>
              <a:t>Vanilla Claude Code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无标准化性能指标输出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078D4"/>
                </a:solidFill>
                <a:latin typeface="Microsoft YaHei"/>
              </a:rPr>
              <a:t>原生 OpenSpec — 7 个指标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年化收益率、最大回撤、夏普比率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胜率、盈亏比、波动率、Calmar比率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07C10"/>
                </a:solidFill>
                <a:latin typeface="Microsoft YaHei"/>
              </a:rPr>
              <a:t>OpenSpec-HW2 — 13+ 个指标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上述全部 + Sortino 比率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信息比率、Alpha、Beta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月度收益分布、连续亏损统计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</a:rPr>
              <a:t>• 基准对比分析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434840"/>
            <a:ext cx="10332720" cy="1188720"/>
          </a:xfrm>
          <a:prstGeom prst="roundRect">
            <a:avLst/>
          </a:prstGeom>
          <a:solidFill>
            <a:srgbClr val="FEF3E8"/>
          </a:solidFill>
          <a:ln w="127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526280"/>
            <a:ext cx="9966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6C00"/>
                </a:solidFill>
                <a:latin typeface="Microsoft YaHei"/>
              </a:rPr>
              <a:t>回测真实性结论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Vanilla 版完全忽略 A 股交易规则，回测结果无参考价值，直接上线必定亏损。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原生 OpenSpec 版覆盖了核心 A 股规则，回测基本可信；HW2 版进一步增加了前视偏差检测和完整滑点模拟，回测结果最接近真实市场表现。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/>
              </a:rPr>
              <a:t>30/41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/>
              </a:rPr>
              <a:t>综合评分：三方八维度逐项打分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914400"/>
          <a:ext cx="103327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97280"/>
                <a:gridCol w="1097280"/>
                <a:gridCol w="1097280"/>
                <a:gridCol w="5394960"/>
              </a:tblGrid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维度 (/10)</a:t>
                      </a:r>
                    </a:p>
                  </a:txBody>
                  <a:tcPr anchor="ctr" marT="25400" marB="25400" marL="50800" marR="50800"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Vanilla</a:t>
                      </a:r>
                    </a:p>
                  </a:txBody>
                  <a:tcPr anchor="ctr" marT="25400" marB="25400" marL="50800" marR="50800">
                    <a:solidFill>
                      <a:srgbClr val="7878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原生</a:t>
                      </a:r>
                    </a:p>
                  </a:txBody>
                  <a:tcPr anchor="ctr" marT="25400" marB="25400" marL="50800" marR="50800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HW2</a:t>
                      </a:r>
                    </a:p>
                  </a:txBody>
                  <a:tcPr anchor="ctr" marT="25400" marB="25400" marL="50800" marR="50800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关键差异</a:t>
                      </a:r>
                    </a:p>
                  </a:txBody>
                  <a:tcPr anchor="ctr" marT="25400" marB="25400" marL="50800" marR="50800">
                    <a:solidFill>
                      <a:srgbClr val="0078D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架构清晰度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Protocol 架构 vs 简单类 vs 扁平</a:t>
                      </a:r>
                    </a:p>
                  </a:txBody>
                  <a:tcPr anchor="ctr" marT="25400" marB="25400" marL="50800" marR="50800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测试完备性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0→67→88 测试用例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风控能力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固定止损→4层→4层+聚合</a:t>
                      </a:r>
                    </a:p>
                  </a:txBody>
                  <a:tcPr anchor="ctr" marT="25400" marB="25400" marL="50800" marR="50800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回测真实性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无规则→完整→+防前视偏差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A股规则合规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无→完整模拟→完整+增强</a:t>
                      </a:r>
                    </a:p>
                  </a:txBody>
                  <a:tcPr anchor="ctr" marT="25400" marB="25400" marL="50800" marR="50800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可维护性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简单易读→模块化→YAML配置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可扩展性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anchor="ctr" marT="25400" marB="25400" marL="50800" marR="5080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改代码→基本扩展→插件式</a:t>
                      </a:r>
                    </a:p>
                  </a:txBody>
                  <a:tcPr anchor="ctr" marT="25400" marB="25400" marL="50800" marR="50800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开发效率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/>
                        </a:rPr>
                        <a:t>最快交付（但质量最低）</a:t>
                      </a:r>
                    </a:p>
                  </a:txBody>
                  <a:tcPr anchor="ctr" marT="25400" marB="25400" marL="50800" marR="50800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Microsoft YaHei"/>
                        </a:rPr>
                        <a:t>合计 (/80)</a:t>
                      </a:r>
                    </a:p>
                  </a:txBody>
                  <a:tcPr anchor="ctr" marT="25400" marB="25400" marL="50800" marR="50800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Microsoft YaHei"/>
                        </a:rPr>
                        <a:t>44</a:t>
                      </a:r>
                    </a:p>
                  </a:txBody>
                  <a:tcPr anchor="ctr" marT="25400" marB="25400" marL="50800" marR="50800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Microsoft YaHei"/>
                        </a:rPr>
                        <a:t>56</a:t>
                      </a:r>
                    </a:p>
                  </a:txBody>
                  <a:tcPr anchor="ctr" marT="25400" marB="25400" marL="50800" marR="50800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Microsoft YaHei"/>
                        </a:rPr>
                        <a:t>67</a:t>
                      </a:r>
                    </a:p>
                  </a:txBody>
                  <a:tcPr anchor="ctr" marT="25400" marB="25400" marL="50800" marR="50800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Microsoft YaHei"/>
                        </a:rPr>
                        <a:t>Vanilla 仅在开发效率领先</a:t>
                      </a:r>
                    </a:p>
                  </a:txBody>
                  <a:tcPr anchor="ctr" marT="25400" marB="25400" marL="50800" marR="50800">
                    <a:solidFill>
                      <a:srgbClr val="E0E0E0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937760"/>
            <a:ext cx="10332720" cy="10972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7C10"/>
                </a:solidFill>
                <a:latin typeface="Microsoft YaHei"/>
              </a:rPr>
              <a:t>三方对比核心结论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① 规格前置 = 质量保障：三者总分 44→56→67，规格化程度越高，产出质量越高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② Usecases 的增量价值：原生→HW2 的 11 分差距（56→67），完全由 Usecases 步骤驱动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Microsoft YaHei"/>
              </a:rPr>
              <a:t>③ 不是代码多就好：Vanilla 代码最少但最快，适合原型；企业级系统需要 HW2 级别的规格化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/>
              </a:rPr>
              <a:t>31/41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微软雅黑" panose="020B0503020204020204" charset="-122"/>
              </a:rPr>
              <a:t>附录 2：六大研究改进方向详解</a:t>
            </a:r>
            <a:endParaRPr sz="3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114800" y="2926080"/>
            <a:ext cx="2743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CCCCCC"/>
                </a:solidFill>
                <a:latin typeface="微软雅黑" panose="020B0503020204020204" charset="-122"/>
              </a:rPr>
              <a:t>以下内容基于 2023-2026 年软件工程与需求工程领域的学术研究，</a:t>
            </a:r>
            <a:endParaRPr sz="1500" b="0">
              <a:solidFill>
                <a:srgbClr val="CCCCCC"/>
              </a:solidFill>
              <a:latin typeface="微软雅黑" panose="020B0503020204020204" charset="-122"/>
            </a:endParaRPr>
          </a:p>
          <a:p>
            <a:pPr algn="ctr">
              <a:spcAft>
                <a:spcPts val="2000"/>
              </a:spcAft>
            </a:pPr>
            <a:r>
              <a:rPr sz="1500" b="0">
                <a:solidFill>
                  <a:srgbClr val="CCCCCC"/>
                </a:solidFill>
                <a:latin typeface="微软雅黑" panose="020B0503020204020204" charset="-122"/>
              </a:rPr>
              <a:t>结合 17 次定向文献检索，梳理了 OpenSpec 最具潜力的六大改进方向。</a:t>
            </a:r>
            <a:endParaRPr sz="1500" b="0">
              <a:solidFill>
                <a:srgbClr val="CCCCCC"/>
              </a:solidFill>
              <a:latin typeface="微软雅黑" panose="020B0503020204020204" charset="-122"/>
            </a:endParaRPr>
          </a:p>
          <a:p>
            <a:pPr algn="ctr">
              <a:spcAft>
                <a:spcPts val="800"/>
              </a:spcAft>
            </a:pPr>
            <a:r>
              <a:rPr sz="1400" b="0">
                <a:solidFill>
                  <a:srgbClr val="999999"/>
                </a:solidFill>
                <a:latin typeface="微软雅黑" panose="020B0503020204020204" charset="-122"/>
              </a:rPr>
              <a:t>每个方向包含：现状问题 → 解决方案 → 学术依据 → 商业价值</a:t>
            </a:r>
            <a:endParaRPr sz="1400" b="0">
              <a:solidFill>
                <a:srgbClr val="999999"/>
              </a:solidFill>
              <a:latin typeface="微软雅黑" panose="020B0503020204020204" charset="-122"/>
            </a:endParaRPr>
          </a:p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D700"/>
                </a:solidFill>
                <a:latin typeface="微软雅黑" panose="020B0503020204020204" charset="-122"/>
              </a:rPr>
              <a:t>其中 Domain-Specific Packs 作为公司核心竞争力方向，进行了重点展开。</a:t>
            </a:r>
            <a:endParaRPr sz="1400" b="1">
              <a:solidFill>
                <a:srgbClr val="FFD700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32/41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</a:rPr>
              <a:t>改进方向 1：Spec Quality Gate（智能需求质量关卡）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8D4"/>
                </a:solidFill>
                <a:latin typeface="微软雅黑" panose="020B0503020204020204" charset="-122"/>
              </a:rPr>
              <a:t>优先级：最高 | 短期可落地</a:t>
            </a:r>
            <a:endParaRPr sz="12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微软雅黑" panose="020B0503020204020204" charset="-122"/>
              </a:rPr>
              <a:t>现状问题</a:t>
            </a:r>
            <a:endParaRPr sz="16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在大多数团队中，需求规格的撰写依赖个人经验，缺乏统一的质量标准。PM 写完需求后直接交给开发，但"写了什么"和"开发理解了什么"之间往往存在巨大偏差。学术研究表明，30-50% 的软件返工最终可以追溯到需求阶段的模糊、遗漏或矛盾。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微软雅黑" panose="020B0503020204020204" charset="-122"/>
              </a:rPr>
              <a:t>解决方案</a:t>
            </a:r>
            <a:endParaRPr sz="16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在 OpenSpec 的工作流中增加一个 AI 驱动的"质量关卡"节点。每条需求在进入设计和开发阶段之前，自动接受三项检查：可测试性（能否写出对应的测试用例）、无歧义性（是否存在多种理解方式）、完整性（是否覆盖了所有必要场景）。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系统会为每条需求生成一个 0-100 分的 Quality Score，未达标的条目会附带具体的改进建议，让作者在源头修正问题。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097280"/>
            <a:ext cx="3749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78D4"/>
                </a:solidFill>
                <a:latin typeface="微软雅黑" panose="020B0503020204020204" charset="-122"/>
              </a:rPr>
              <a:t>学术依据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Ferrari et al. (2023) 通过 74 篇系统性综述证实，LLM 在需求缺陷检测上已达到实用水平。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Hymel et al. (2025) 实验显示，GPT-4 检测需求歧义的 F1 值达 0.72，覆盖率超过人工审查。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6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ISO 29148 提供了国际通用的需求工程质量框架，可作为评分标准的参照系。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078D4"/>
                </a:solidFill>
                <a:latin typeface="微软雅黑" panose="020B0503020204020204" charset="-122"/>
              </a:rPr>
              <a:t>商业价值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减少 30-50% 的需求返工成本，这在大型项目中意味着数周的开发时间节省。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可作为 ISO/CMMI 合规工具，面向有审计需求的企业客户销售。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作为 OpenSpec 的"第一个可交付功能"，是最快见效的改进点。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</a:rPr>
              <a:t>实施路径：proposal → 校验检查点 → specs 分析 → 评分报告 → design 审查 → Quality Score 仪表盘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33/41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203835"/>
            <a:ext cx="8400415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</a:rPr>
              <a:t>改进方向 2：Spec-Code Traceability（需求-代码自动追溯）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107C10"/>
                </a:solidFill>
                <a:latin typeface="微软雅黑" panose="020B0503020204020204" charset="-122"/>
              </a:rPr>
              <a:t>优先级：高 | 中期建设</a:t>
            </a:r>
            <a:endParaRPr sz="1200" b="1">
              <a:solidFill>
                <a:srgbClr val="107C10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7C10"/>
                </a:solidFill>
                <a:latin typeface="微软雅黑" panose="020B0503020204020204" charset="-122"/>
              </a:rPr>
              <a:t>现状问题</a:t>
            </a:r>
            <a:endParaRPr sz="16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随着项目迭代，需求文档和实际代码之间会逐渐"漂移"（Spec Drift）——需求改了但代码没跟上，或者代码改了但需求文档还是旧版本。在大型团队中，这种漂移往往要到集成测试甚至上线后才被发现。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更关键的是，EU AI Act 将于 2026 年 8 月正式实施，要求所有 AI 系统必须具备完整的需求-代码可追溯性（Article 11）。这意味着 traceability 不再是"锦上添花"，而是合规刚需。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07C10"/>
                </a:solidFill>
                <a:latin typeface="微软雅黑" panose="020B0503020204020204" charset="-122"/>
              </a:rPr>
              <a:t>解决方案</a:t>
            </a:r>
            <a:endParaRPr sz="16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建立从 spec ID 到代码位置的双向映射关系。当需求变更时，系统自动标记受影响的代码文件；当代码被修改时，反向检查是否有需求需要同步更新。整套机制集成到 CI/CD 流水线中，实现"Living Specs"——需求文档始终反映代码的真实状态。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097280"/>
            <a:ext cx="3749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7C10"/>
                </a:solidFill>
                <a:latin typeface="微软雅黑" panose="020B0503020204020204" charset="-122"/>
              </a:rPr>
              <a:t>学术依据</a:t>
            </a:r>
            <a:endParaRPr sz="14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Cheng et al. (2026) 提出基于 LLMARE 的需求追踪框架，F1 值达 0.88，显著优于传统方法。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EU AI Act Article 11 明确要求高风险 AI 系统具备全链路可追溯性。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6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多家监管机构（FDA、金融监管）正在跟进类似要求。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07C10"/>
                </a:solidFill>
                <a:latin typeface="微软雅黑" panose="020B0503020204020204" charset="-122"/>
              </a:rPr>
              <a:t>商业价值</a:t>
            </a:r>
            <a:endParaRPr sz="14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合规驱动型市场：面向金融、医疗、AI 等受监管行业，traceability 是准入门槛。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SaaS 订阅模式：按项目规模收费的持续性收入。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与 Quality Gate 形成产品组合：先检查质量，再追踪落地，闭环管理。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</a:rPr>
              <a:t>实施路径：spec ↔ code mapping → git diff drift detection → CI/CD 集成 → Living Specs 仪表盘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34/41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94945" y="271145"/>
            <a:ext cx="9040495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</a:rPr>
              <a:t>改进方向 3：Multi-Agent Orchestration（多智能体协同编排）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E86C00"/>
                </a:solidFill>
                <a:latin typeface="微软雅黑" panose="020B0503020204020204" charset="-122"/>
              </a:rPr>
              <a:t>优先级：高 | 中期建设</a:t>
            </a:r>
            <a:endParaRPr sz="1200" b="1">
              <a:solidFill>
                <a:srgbClr val="E86C00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6C00"/>
                </a:solidFill>
                <a:latin typeface="微软雅黑" panose="020B0503020204020204" charset="-122"/>
              </a:rPr>
              <a:t>现状问题</a:t>
            </a:r>
            <a:endParaRPr sz="1600" b="1">
              <a:solidFill>
                <a:srgbClr val="E86C00"/>
              </a:solidFill>
              <a:latin typeface="微软雅黑" panose="020B0503020204020204" charset="-122"/>
            </a:endParaRP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当前的 AI 编程助手通常是"单 Agent"模式——一个 AI 从头到尾处理整个任务。这在简单任务上没问题，但面对包含 20+ 子任务的复杂项目时，单个 Agent 容易丢失上下文、遗忘前序步骤，错误率随任务规模急剧上升。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E86C00"/>
                </a:solidFill>
                <a:latin typeface="微软雅黑" panose="020B0503020204020204" charset="-122"/>
              </a:rPr>
              <a:t>解决方案</a:t>
            </a:r>
            <a:endParaRPr sz="1600" b="1">
              <a:solidFill>
                <a:srgbClr val="E86C00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利用 OpenSpec 天然的 task DAG（任务有向无环图）结构，将复杂任务拆解为多个子任务，分配给不同的专业化 Agent 并行处理。每个 Agent 只需关注自己的子任务，而 OpenSpec 的 artifact（需求规格、设计文档）充当 Agent 之间的"协议"，确保最终产出一致。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这类似于软件团队的分工协作，只不过"团队成员"变成了多个 AI Agent。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097280"/>
            <a:ext cx="3749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6C00"/>
                </a:solidFill>
                <a:latin typeface="微软雅黑" panose="020B0503020204020204" charset="-122"/>
              </a:rPr>
              <a:t>学术依据</a:t>
            </a:r>
            <a:endParaRPr sz="1400" b="1">
              <a:solidFill>
                <a:srgbClr val="E86C00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GitHub 于 2026 年 2 月发布 Agent HQ，支持多 Agent 协同开发，验证了这一方向的产业价值。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Anthropic 的 Claude Code Agent Teams、SWE-bench 多 Agent 方案均显示并行处理效率提升 3-4 倍。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6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DAG 调度是成熟的工程范式（Airflow、Prefect 等已在数据工程领域广泛验证）。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E86C00"/>
                </a:solidFill>
                <a:latin typeface="微软雅黑" panose="020B0503020204020204" charset="-122"/>
              </a:rPr>
              <a:t>商业价值</a:t>
            </a:r>
            <a:endParaRPr sz="1400" b="1">
              <a:solidFill>
                <a:srgbClr val="E86C00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效率提升 3-4 倍：复杂任务的端到端时间大幅缩短。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计算资源按量付费：多 Agent 并行 = 更高的 API 调用量 = 收入增长。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与 GitHub/Anthropic 的生态对齐，可借势而非逆流。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</a:rPr>
              <a:t>实施路径：tasks.md → DAG 解析 → Agent Worker Pool → 乐观并发 → artifact 冲突检测 → 合并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35/41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8010" y="228600"/>
            <a:ext cx="8250555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</a:rPr>
              <a:t>改进方向 4：Platform / Web Hub（从命令行到协作平台）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6B69D6"/>
                </a:solidFill>
                <a:latin typeface="微软雅黑" panose="020B0503020204020204" charset="-122"/>
              </a:rPr>
              <a:t>优先级：中 | 中长期</a:t>
            </a:r>
            <a:endParaRPr sz="1200" b="1">
              <a:solidFill>
                <a:srgbClr val="6B69D6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6B69D6"/>
                </a:solidFill>
                <a:latin typeface="微软雅黑" panose="020B0503020204020204" charset="-122"/>
              </a:rPr>
              <a:t>现状问题</a:t>
            </a:r>
            <a:endParaRPr sz="1600" b="1">
              <a:solidFill>
                <a:srgbClr val="6B69D6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OpenSpec 目前是一个命令行工具（CLI），这意味着只有会用终端的工程师才能使用它。但在实际项目中，需求的利益相关者还包括产品经理、测试工程师、业务方——他们需要查看和评审需求文档，但不会使用命令行。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此外，artifact graph（需求之间的依赖关系图）在 CLI 中难以直观呈现，而这恰恰是理解项目全貌的关键信息。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6B69D6"/>
                </a:solidFill>
                <a:latin typeface="微软雅黑" panose="020B0503020204020204" charset="-122"/>
              </a:rPr>
              <a:t>解决方案</a:t>
            </a:r>
            <a:endParaRPr sz="1600" b="1">
              <a:solidFill>
                <a:srgbClr val="6B69D6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分阶段将 OpenSpec 从 CLI 扩展为 Web 平台：第一步是提供 Web UI 来可视化 artifact graph 和 spec 文档；第二步增加协作功能（评审、评论、审批流）；第三步构建 Marketplace，让社区可以分享和交易 spec 模板和 Domain Packs。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097280"/>
            <a:ext cx="3749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B69D6"/>
                </a:solidFill>
                <a:latin typeface="微软雅黑" panose="020B0503020204020204" charset="-122"/>
              </a:rPr>
              <a:t>学术依据</a:t>
            </a:r>
            <a:endParaRPr sz="1400" b="1">
              <a:solidFill>
                <a:srgbClr val="6B69D6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AI 编程工具市场 2025 年规模达 $202 亿，Cursor ($2.5B+)、Devin ($2B+) 均走产品化路线。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6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Kiro (Amazon) 和 GitHub 已推出 spec review 的可视化功能，证明市场需求存在。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6B69D6"/>
                </a:solidFill>
                <a:latin typeface="微软雅黑" panose="020B0503020204020204" charset="-122"/>
              </a:rPr>
              <a:t>商业价值</a:t>
            </a:r>
            <a:endParaRPr sz="1400" b="1">
              <a:solidFill>
                <a:srgbClr val="6B69D6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PLG（产品驱动增长）：免费 CLI → 付费 Web 协作 → 企业版，经典的 SaaS 增长路径。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Marketplace 抽成：第三方 spec 模板和 Domain Pack 的交易平台。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扩大用户群：从"工程师专用"变为"全团队可用"，市场天花板大幅提高。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</a:rPr>
              <a:t>实施路径：CLI 引擎（已有）→ REST API 层 → Web 前端 → 团队协作功能 → Marketplace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36/41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</a:rPr>
              <a:t>改进方向 5：Domain-Specific Packs（领域规格智能包）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8B8B"/>
                </a:solidFill>
                <a:latin typeface="微软雅黑" panose="020B0503020204020204" charset="-122"/>
              </a:rPr>
              <a:t>核心竞争力方向 | 1/3</a:t>
            </a:r>
            <a:endParaRPr sz="1200" b="1">
              <a:solidFill>
                <a:srgbClr val="008B8B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1051560"/>
            <a:ext cx="10058400" cy="1371600"/>
          </a:xfrm>
          <a:prstGeom prst="roundRect">
            <a:avLst/>
          </a:prstGeom>
          <a:solidFill>
            <a:srgbClr val="E6F7F7"/>
          </a:solidFill>
          <a:ln w="12700">
            <a:solidFill>
              <a:srgbClr val="00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9509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8B8B"/>
                </a:solidFill>
                <a:latin typeface="微软雅黑" panose="020B0503020204020204" charset="-122"/>
              </a:rPr>
              <a:t>核心洞察</a:t>
            </a:r>
            <a:endParaRPr sz="1600" b="1">
              <a:solidFill>
                <a:srgbClr val="008B8B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通用大模型（LLM）擅长写代码，但不懂行业。它不知道金融交易必须做风控检查、医疗系统必须符合 HIPAA、汽车软件必须通过 ISO 26262 认证。而公司多年积累的行业 Know-How——业务规则、合规标准、最佳实践——恰好填补了这个空白。将这些 domain knowledge 封装成结构化的"领域规格包"（Domain Pack），就是把公司的隐性知识变成可复用、可销售的数字资产。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60604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8B8B"/>
                </a:solidFill>
                <a:latin typeface="微软雅黑" panose="020B0503020204020204" charset="-122"/>
              </a:rPr>
              <a:t>什么是 Domain Pack？</a:t>
            </a:r>
            <a:endParaRPr sz="1600" b="1">
              <a:solidFill>
                <a:srgbClr val="008B8B"/>
              </a:solidFill>
              <a:latin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一个 Domain Pack 本质上是一组行业专属的"规格模板 + 规则集 + 验证逻辑"，以 OpenSpec 的标准格式封装。当 AI 在生成需求规格和代码时，Domain Pack 会作为先验知识（prior knowledge）注入工作流，使 AI 的产出自动遵守该行业的规范和约束条件。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微软雅黑" panose="020B0503020204020204" charset="-122"/>
              </a:rPr>
              <a:t>一个 Pack 包含的具体内容：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Rules（行业规则）：如"所有交易必须经过风控引擎"、"患者数据必须加密存储"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Spec 模板：预定义的需求规格模板，包含行业必填字段和标准结构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Schema 定义：数据结构和接口的行业标准约束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验证规则（Validators）：自动检查生成的代码是否违反行业规范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</a:rPr>
              <a:t>类比：如果 OpenSpec 是一个"AI 建筑师"，那么 Domain Pack 就是"行业建筑规范手册"——没有它，AI 盖的房子不合规。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37/41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</a:rPr>
              <a:t>Domain-Specific Packs：为什么是核心竞争壁垒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8B8B"/>
                </a:solidFill>
                <a:latin typeface="微软雅黑" panose="020B0503020204020204" charset="-122"/>
              </a:rPr>
              <a:t>核心竞争力方向 | 2/3</a:t>
            </a:r>
            <a:endParaRPr sz="1200" b="1">
              <a:solidFill>
                <a:srgbClr val="008B8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8B8B"/>
                </a:solidFill>
                <a:latin typeface="微软雅黑" panose="020B0503020204020204" charset="-122"/>
              </a:rPr>
              <a:t>护城河分析：为什么别人难以复制</a:t>
            </a:r>
            <a:endParaRPr sz="1600" b="1">
              <a:solidFill>
                <a:srgbClr val="008B8B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333333"/>
                </a:solidFill>
                <a:latin typeface="微软雅黑" panose="020B0503020204020204" charset="-122"/>
              </a:rPr>
              <a:t>1. Domain Knowledge 是稀缺资源</a:t>
            </a:r>
            <a:endParaRPr sz="14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行业规则、合规标准、最佳实践，这些知识散布在行业专家的脑中、监管文件里、和多年项目经验中。它们无法通过简单的网页爬取或模型训练获得。公司已有的行业积累，就是天然的数据壁垒。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333333"/>
                </a:solidFill>
                <a:latin typeface="微软雅黑" panose="020B0503020204020204" charset="-122"/>
              </a:rPr>
              <a:t>2. 先发优势带来网络效应</a:t>
            </a:r>
            <a:endParaRPr sz="14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第一个做出高质量金融 Pack 的团队，会吸引金融领域的用户；用户的使用反馈又会帮助改进 Pack 质量，形成"越用越好→越好越多人用"的飞轮。后来者即使有技术能力，也缺乏这个冷启动的数据积累。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333333"/>
                </a:solidFill>
                <a:latin typeface="微软雅黑" panose="020B0503020204020204" charset="-122"/>
              </a:rPr>
              <a:t>3. 合规认证构成额外壁垒</a:t>
            </a:r>
            <a:endParaRPr sz="14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如果 Domain Pack 能通过 ISO 26262（汽车）、HIPAA（医疗）、SOX（金融）等行业认证，这本身就是一个极高的准入门槛。竞争对手不仅要做出 Pack，还要花时间和成本通过认证。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333333"/>
                </a:solidFill>
                <a:latin typeface="微软雅黑" panose="020B0503020204020204" charset="-122"/>
              </a:rPr>
              <a:t>4. 与 OpenSpec 生态深度绑定</a:t>
            </a:r>
            <a:endParaRPr sz="14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Domain Pack 是基于 OpenSpec 的 spec 格式和 schema 体系构建的，这意味着使用 Pack 的客户同时也被锁定在 OpenSpec 生态中。Pack 越多，生态越强，切换成本越高。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</a:rPr>
              <a:t>一句话总结：AI 能力人人都有，但 domain knowledge + 结构化封装 + 合规认证 = 难以逾越的竞争壁垒。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38/41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</a:rPr>
              <a:t>Domain-Specific Packs：行业示例与落地路线图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8B8B"/>
                </a:solidFill>
                <a:latin typeface="微软雅黑" panose="020B0503020204020204" charset="-122"/>
              </a:rPr>
              <a:t>核心竞争力方向 | 3/3</a:t>
            </a:r>
            <a:endParaRPr sz="1200" b="1">
              <a:solidFill>
                <a:srgbClr val="008B8B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3108960" cy="31089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2743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微软雅黑" panose="020B0503020204020204" charset="-122"/>
              </a:rPr>
              <a:t>金融 / 量化交易 Pack</a:t>
            </a:r>
            <a:endParaRPr sz="15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</a:rPr>
              <a:t>为什么先做金融？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公司在量化交易项目中已积累了完整的风控规则、回测验证逻辑和交易引擎架构经验。这些就是现成的 domain knowledge，只需结构化封装即可变成 Pack。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</a:rPr>
              <a:t>Pack 包含的内容：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风控规则集（止损、持仓限制、异常检测）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回测真实性验证逻辑（防前视偏差）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交易引擎 spec 模板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SOX / MiFID II 合规检查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931920" y="1097280"/>
            <a:ext cx="3108960" cy="31089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234440"/>
            <a:ext cx="2743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微软雅黑" panose="020B0503020204020204" charset="-122"/>
              </a:rPr>
              <a:t>医疗 / 生命科学 Pack</a:t>
            </a:r>
            <a:endParaRPr sz="15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FDA 对医疗软件的监管日趋严格，HIPAA 合规是所有医疗 IT 系统的准入门槛。医疗机构愿意为确定性的合规方案支付高溢价。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</a:rPr>
              <a:t>Pack 包含的内容：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HIPAA 数据保护规则集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FDA 510(k) 软件验证流程模板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HL7 FHIR 接口 schema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EU MDR 合规检查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315200" y="1097280"/>
            <a:ext cx="3108960" cy="3108960"/>
          </a:xfrm>
          <a:prstGeom prst="roundRect">
            <a:avLst/>
          </a:prstGeom>
          <a:solidFill>
            <a:srgbClr val="FEF3E8"/>
          </a:solidFill>
          <a:ln w="127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0" y="1234440"/>
            <a:ext cx="2743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6C00"/>
                </a:solidFill>
                <a:latin typeface="微软雅黑" panose="020B0503020204020204" charset="-122"/>
              </a:rPr>
              <a:t>汽车 / 工业控制 Pack</a:t>
            </a:r>
            <a:endParaRPr sz="1500" b="1">
              <a:solidFill>
                <a:srgbClr val="E86C00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汽车软件正从嵌入式向智能化转型，ISO 26262 功能安全认证是强制要求。传统车企缺乏 AI 辅助的 spec 工具，这是一个蓝海市场。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</a:rPr>
              <a:t>Pack 包含的内容：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ASIL 等级 spec 模板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AUTOSAR 架构约束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OTA 更新安全验证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IEC 61508 工业安全标准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43891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8B8B"/>
                </a:solidFill>
                <a:latin typeface="微软雅黑" panose="020B0503020204020204" charset="-122"/>
              </a:rPr>
              <a:t>商业模式：Vertical SaaS</a:t>
            </a:r>
            <a:endParaRPr sz="1400" b="1">
              <a:solidFill>
                <a:srgbClr val="008B8B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每个 Domain Pack 按行业 + 规模定价（年订阅制），目标客单价 $10K-50K/年。先从公司最熟悉的金融领域切入（冷启动成本最低），再向医疗和汽车扩展。每进入一个新行业，都需要与该领域的行业专家合作，这进一步巩固了护城河。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</a:rPr>
              <a:t>落地路线：金融 Pack（Q1，已有基础）→ 医疗 Pack（Q2，合规驱动）→ 汽车 Pack（Q3，安全关键）→ 更多行业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39/41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</a:rPr>
              <a:t>改进方向 6：Formal Verification（规格的形式化验证）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381250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D13438"/>
                </a:solidFill>
                <a:latin typeface="微软雅黑" panose="020B0503020204020204" charset="-122"/>
              </a:rPr>
              <a:t>优先级：低（长期） | 技术储备</a:t>
            </a:r>
            <a:endParaRPr sz="1200" b="1">
              <a:solidFill>
                <a:srgbClr val="D13438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13438"/>
                </a:solidFill>
                <a:latin typeface="微软雅黑" panose="020B0503020204020204" charset="-122"/>
              </a:rPr>
              <a:t>现状问题</a:t>
            </a:r>
            <a:endParaRPr sz="1600" b="1">
              <a:solidFill>
                <a:srgbClr val="D13438"/>
              </a:solidFill>
              <a:latin typeface="微软雅黑" panose="020B0503020204020204" charset="-122"/>
            </a:endParaRP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目前验证"代码是否满足需求"主要依赖测试——但测试只能覆盖有限的场景。对于关键代码路径，"测试没报错"不等于"一定没有 bug"。在航空、金融、医疗等领域，这种不确定性是不可接受的。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D13438"/>
                </a:solidFill>
                <a:latin typeface="微软雅黑" panose="020B0503020204020204" charset="-122"/>
              </a:rPr>
              <a:t>解决方案</a:t>
            </a:r>
            <a:endParaRPr sz="1600" b="1">
              <a:solidFill>
                <a:srgbClr val="D13438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将 OpenSpec 的 Given/When/Then 格式的需求规格，自动转换为形式化语言（如 LTL、CTL、SMT 公式），然后用数学方法证明代码在所有可能的输入下都满足规格要求——而不是仅在测试用例覆盖的输入下。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这是一个技术门槛很高的长期方向，但一旦实现，将是 OpenSpec 最具技术壁垒的差异化功能。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097280"/>
            <a:ext cx="3749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13438"/>
                </a:solidFill>
                <a:latin typeface="微软雅黑" panose="020B0503020204020204" charset="-122"/>
              </a:rPr>
              <a:t>学术依据</a:t>
            </a:r>
            <a:endParaRPr sz="1400" b="1">
              <a:solidFill>
                <a:srgbClr val="D13438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Klopmann (2025) 提出 AI 辅助形式化验证框架，将验证通过率从 68% 提升至 96%。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Vericode benchmark 显示 LLM 生成的形式化 spec 质量已接近人工水平。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6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ReaLis、Zhipu 等团队正在该方向快速推进。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D13438"/>
                </a:solidFill>
                <a:latin typeface="微软雅黑" panose="020B0503020204020204" charset="-122"/>
              </a:rPr>
              <a:t>商业价值</a:t>
            </a:r>
            <a:endParaRPr sz="1400" b="1">
              <a:solidFill>
                <a:srgbClr val="D13438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安全关键行业（航空、医疗、金融）的形式化验证咨询费用通常在 $10K-$100K+ 量级。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FDA/ISO 认证越来越认可形式化方法，长期具有合规价值。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技术壁垒极高，一旦建立先发优势，竞争对手追赶成本巨大。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</a:rPr>
              <a:t>实施路径：Given/When/Then → 属性提取 → LTL/CTL 公式生成 → SMT 求解器验证 → 验证报告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40/41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</a:rPr>
              <a:t>优先级排序与推荐实施路径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457200" cy="6858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" y="1097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微软雅黑" panose="020B0503020204020204" charset="-122"/>
              </a:rPr>
              <a:t>Spec Quality Gate</a:t>
            </a:r>
            <a:endParaRPr sz="15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" y="13990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短期（1-3月）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840480" y="1161288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微软雅黑" panose="020B0503020204020204" charset="-122"/>
              </a:rPr>
              <a:t>最快见效，直接提升需求质量，降低返工成本</a:t>
            </a:r>
            <a:endParaRPr sz="13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48640" y="1810512"/>
            <a:ext cx="457200" cy="68580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476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7280" y="18562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微软雅黑" panose="020B0503020204020204" charset="-122"/>
              </a:rPr>
              <a:t>Domain-Specific Packs</a:t>
            </a:r>
            <a:endParaRPr sz="15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97280" y="215798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短期启动，持续建设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840480" y="19202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微软雅黑" panose="020B0503020204020204" charset="-122"/>
              </a:rPr>
              <a:t>核心竞争壁垒，公司 domain knowledge 的商业化载体</a:t>
            </a:r>
            <a:endParaRPr sz="13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291840" y="185623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700"/>
                </a:solidFill>
                <a:latin typeface="微软雅黑" panose="020B0503020204020204" charset="-122"/>
              </a:rPr>
              <a:t>★</a:t>
            </a:r>
            <a:endParaRPr sz="1400" b="1">
              <a:solidFill>
                <a:srgbClr val="FFD700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48640" y="2569464"/>
            <a:ext cx="457200" cy="6858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7066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97280" y="261518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微软雅黑" panose="020B0503020204020204" charset="-122"/>
              </a:rPr>
              <a:t>Multi-Agent Orchestration</a:t>
            </a:r>
            <a:endParaRPr sz="15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" y="29169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中期（3-6月）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840480" y="267919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微软雅黑" panose="020B0503020204020204" charset="-122"/>
              </a:rPr>
              <a:t>效率倍增器，与行业趋势对齐</a:t>
            </a:r>
            <a:endParaRPr sz="13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48640" y="3328416"/>
            <a:ext cx="457200" cy="6858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46557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97280" y="337413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微软雅黑" panose="020B0503020204020204" charset="-122"/>
              </a:rPr>
              <a:t>Spec-Code Traceability</a:t>
            </a:r>
            <a:endParaRPr sz="15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7280" y="36758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中期（3-6月）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840480" y="3438144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微软雅黑" panose="020B0503020204020204" charset="-122"/>
              </a:rPr>
              <a:t>合规刚需，EU AI Act 驱动</a:t>
            </a:r>
            <a:endParaRPr sz="13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48640" y="4087368"/>
            <a:ext cx="457200" cy="685800"/>
          </a:xfrm>
          <a:prstGeom prst="round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2245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5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97280" y="413308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微软雅黑" panose="020B0503020204020204" charset="-122"/>
              </a:rPr>
              <a:t>Platform / Web Hub</a:t>
            </a:r>
            <a:endParaRPr sz="15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97280" y="4434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中长期（6-12月）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840480" y="4197096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微软雅黑" panose="020B0503020204020204" charset="-122"/>
              </a:rPr>
              <a:t>PLG 增长引擎，扩大用户群</a:t>
            </a:r>
            <a:endParaRPr sz="13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48640" y="4846320"/>
            <a:ext cx="457200" cy="685800"/>
          </a:xfrm>
          <a:prstGeom prst="round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9834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6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097280" y="4892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微软雅黑" panose="020B0503020204020204" charset="-122"/>
              </a:rPr>
              <a:t>Formal Verification</a:t>
            </a:r>
            <a:endParaRPr sz="15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97280" y="51937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长期（12月+）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840480" y="4956048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微软雅黑" panose="020B0503020204020204" charset="-122"/>
              </a:rPr>
              <a:t>技术储备，极高壁垒但实现周期长</a:t>
            </a:r>
            <a:endParaRPr sz="13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48640" y="5715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333333"/>
                </a:solidFill>
                <a:latin typeface="微软雅黑" panose="020B0503020204020204" charset="-122"/>
              </a:rPr>
              <a:t>推荐策略</a:t>
            </a:r>
            <a:endParaRPr sz="14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短期以 Spec Quality Gate 作为 MVP 快速验证产品价值，同步启动 Domain-Specific Packs（金融领域）的建设。中期补齐 Multi-Agent 和 Traceability 能力，长期向平台化和形式化验证演进。Domain Packs 贯穿始终，是从短期到长期持续积累竞争壁垒的核心抓手。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41/41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25570</Words>
  <Application>WPS 演示</Application>
  <PresentationFormat>On-screen Show (4:3)</PresentationFormat>
  <Paragraphs>2554</Paragraphs>
  <Slides>50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50</vt:i4>
      </vt:variant>
    </vt:vector>
  </HeadingPairs>
  <TitlesOfParts>
    <vt:vector size="65" baseType="lpstr">
      <vt:lpstr>Arial</vt:lpstr>
      <vt:lpstr>宋体</vt:lpstr>
      <vt:lpstr>Wingdings</vt:lpstr>
      <vt:lpstr>Arial</vt:lpstr>
      <vt:lpstr>微软雅黑</vt:lpstr>
      <vt:lpstr>汉仪旗黑</vt:lpstr>
      <vt:lpstr>Consolas</vt:lpstr>
      <vt:lpstr>Calibri</vt:lpstr>
      <vt:lpstr>Helvetica Neue</vt:lpstr>
      <vt:lpstr>宋体-简</vt:lpstr>
      <vt:lpstr>宋体</vt:lpstr>
      <vt:lpstr>Arial Unicode MS</vt:lpstr>
      <vt:lpstr>微软雅黑</vt:lpstr>
      <vt:lpstr>Hiragino Sans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zhifei dou</cp:lastModifiedBy>
  <cp:revision>17</cp:revision>
  <dcterms:created xsi:type="dcterms:W3CDTF">2026-02-23T18:26:31Z</dcterms:created>
  <dcterms:modified xsi:type="dcterms:W3CDTF">2026-02-23T18:26:31Z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E95AA71CD3944AFEB73BA736E01F3CBD_12</vt:lpwstr>
  </property>
  <property fmtid="{D5CDD505-2E9C-101B-9397-08002B2CF9AE}" pid="3" name="KSOProductBuildVer">
    <vt:lpwstr>2052-12.1.23155.23155</vt:lpwstr>
  </property>
</Properties>
</file>