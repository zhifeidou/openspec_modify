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61" r:id="rId4"/>
    <p:sldId id="282" r:id="rId5"/>
    <p:sldId id="263" r:id="rId6"/>
    <p:sldId id="264" r:id="rId7"/>
    <p:sldId id="296" r:id="rId8"/>
    <p:sldId id="297" r:id="rId9"/>
    <p:sldId id="298" r:id="rId10"/>
    <p:sldId id="283" r:id="rId11"/>
    <p:sldId id="284" r:id="rId12"/>
    <p:sldId id="285" r:id="rId13"/>
    <p:sldId id="265" r:id="rId14"/>
    <p:sldId id="268" r:id="rId15"/>
    <p:sldId id="299" r:id="rId16"/>
    <p:sldId id="304" r:id="rId17"/>
    <p:sldId id="273" r:id="rId18"/>
    <p:sldId id="274" r:id="rId19"/>
    <p:sldId id="307" r:id="rId20"/>
    <p:sldId id="308" r:id="rId21"/>
    <p:sldId id="309" r:id="rId22"/>
    <p:sldId id="310" r:id="rId23"/>
    <p:sldId id="311" r:id="rId24"/>
    <p:sldId id="312" r:id="rId25"/>
    <p:sldId id="276" r:id="rId26"/>
    <p:sldId id="277" r:id="rId27"/>
    <p:sldId id="278" r:id="rId28"/>
    <p:sldId id="279" r:id="rId29"/>
    <p:sldId id="305" r:id="rId30"/>
    <p:sldId id="306" r:id="rId31"/>
    <p:sldId id="280" r:id="rId32"/>
    <p:sldId id="286" r:id="rId33"/>
    <p:sldId id="287" r:id="rId34"/>
    <p:sldId id="288" r:id="rId35"/>
    <p:sldId id="289" r:id="rId36"/>
    <p:sldId id="291" r:id="rId37"/>
    <p:sldId id="293" r:id="rId38"/>
    <p:sldId id="292" r:id="rId3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3" userDrawn="1">
          <p15:clr>
            <a:srgbClr val="A4A3A4"/>
          </p15:clr>
        </p15:guide>
        <p15:guide id="2" pos="29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53"/>
        <p:guide pos="297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2" Type="http://schemas.openxmlformats.org/officeDocument/2006/relationships/tableStyles" Target="tableStyles.xml"/><Relationship Id="rId41" Type="http://schemas.openxmlformats.org/officeDocument/2006/relationships/viewProps" Target="viewProps.xml"/><Relationship Id="rId40" Type="http://schemas.openxmlformats.org/officeDocument/2006/relationships/presProps" Target="presProps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</a:rPr>
              <a:t>规范化 Agentic Coding 的</a:t>
            </a:r>
            <a:r>
              <a:rPr lang="zh-CN" sz="2800" b="1">
                <a:solidFill>
                  <a:schemeClr val="bg1"/>
                </a:solidFill>
                <a:latin typeface="微软雅黑"/>
                <a:ea typeface="微软雅黑"/>
              </a:rPr>
              <a:t>系统工程支持</a:t>
            </a:r>
            <a:endParaRPr lang="zh-CN" sz="2800" b="1">
              <a:solidFill>
                <a:schemeClr val="bg1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微软雅黑" panose="020B0503020204020204" charset="-122"/>
              </a:defRPr>
            </a:pPr>
            <a:r>
              <a:rPr sz="1600" b="0">
                <a:solidFill>
                  <a:srgbClr val="444455"/>
                </a:solidFill>
                <a:latin typeface="微软雅黑"/>
                <a:ea typeface="微软雅黑"/>
              </a:rPr>
              <a:t>基于 Claude Code 的企业级 AI 辅助开发规范化研究</a:t>
            </a:r>
            <a:endParaRPr sz="11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400" b="0">
                <a:solidFill>
                  <a:srgbClr val="666677"/>
                </a:solidFill>
                <a:latin typeface="微软雅黑"/>
                <a:ea typeface="微软雅黑"/>
              </a:rPr>
              <a:t>技术研究汇报  |  2026年2月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000">
                <a:solidFill>
                  <a:srgbClr val="333333"/>
                </a:solidFill>
                <a:latin typeface="微软雅黑"/>
                <a:ea typeface="微软雅黑"/>
              </a:rPr>
              <a:t>1/34</a:t>
            </a:r>
            <a:endParaRPr sz="10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1A1A2E"/>
                </a:solidFill>
                <a:latin typeface="微软雅黑"/>
                <a:ea typeface="微软雅黑"/>
              </a:rPr>
              <a:t>OpenSpec</a:t>
            </a:r>
            <a:r>
              <a:rPr lang="en-US">
                <a:solidFill>
                  <a:srgbClr val="1A1A2E"/>
                </a:solidFill>
                <a:latin typeface="微软雅黑"/>
                <a:ea typeface="微软雅黑"/>
              </a:rPr>
              <a:t>-HW2</a:t>
            </a:r>
            <a:r>
              <a:rPr>
                <a:solidFill>
                  <a:srgbClr val="1A1A2E"/>
                </a:solidFill>
                <a:latin typeface="微软雅黑"/>
                <a:ea typeface="微软雅黑"/>
              </a:rPr>
              <a:t> 工作流程：从想法到归档</a:t>
            </a:r>
            <a:endParaRPr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Explore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探索想法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明确方向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可选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0020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719072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Proposal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76479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为什么改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改什么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86207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980944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Use Cases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2666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用户场景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主流程+异常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2394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242816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281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Specs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28853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100">
                <a:solidFill>
                  <a:srgbClr val="FFFFFF"/>
                </a:solidFill>
                <a:latin typeface="微软雅黑"/>
                <a:ea typeface="微软雅黑"/>
              </a:rPr>
              <a:t>Delta 规格</a:t>
            </a:r>
            <a:endParaRPr sz="11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100">
                <a:solidFill>
                  <a:srgbClr val="FFFFFF"/>
                </a:solidFill>
                <a:latin typeface="微软雅黑"/>
                <a:ea typeface="微软雅黑"/>
              </a:rPr>
              <a:t>Given/When/Then</a:t>
            </a:r>
            <a:endParaRPr sz="11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85816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504688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Design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50408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技术方案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架构决策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04688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可选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647688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766560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Tasks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81228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实现清单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可追踪进度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90956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28432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2843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Apply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07415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AI 按清单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写代码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7143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290304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Verify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33602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验证实现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匹配规格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43330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→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0552176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5217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Archive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59789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合并规格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FFFFFF"/>
                </a:solidFill>
                <a:latin typeface="微软雅黑"/>
                <a:ea typeface="微软雅黑"/>
              </a:rPr>
              <a:t>归档变更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663440"/>
            <a:ext cx="73152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681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一键加速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560320" y="4681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/opsx:ff 可以一步生成所有工件，省去逐步创建</a:t>
            </a:r>
            <a:endParaRPr sz="11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5303520"/>
            <a:ext cx="73152" cy="4572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3218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灵活不僵化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560320" y="5321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工件之间是依赖图（DAG），不是固定流水线，可跳过可选步骤</a:t>
            </a:r>
            <a:endParaRPr sz="11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457200" y="5943600"/>
            <a:ext cx="73152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9618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闭环演进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560320" y="59618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Archive 后 specs 自动更新 → 下次变更基于最新状态 → 持续积累</a:t>
            </a:r>
            <a:endParaRPr sz="11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 sz="1000">
                <a:solidFill>
                  <a:srgbClr val="333333"/>
                </a:solidFill>
                <a:latin typeface="微软雅黑"/>
                <a:ea typeface="微软雅黑"/>
              </a:rPr>
              <a:t>2/34</a:t>
            </a:r>
            <a:endParaRPr sz="10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53" name="TextBox 17"/>
          <p:cNvSpPr txBox="1"/>
          <p:nvPr/>
        </p:nvSpPr>
        <p:spPr>
          <a:xfrm>
            <a:off x="2862199" y="3840353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▲ 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本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工作新增</a:t>
            </a:r>
            <a:endParaRPr lang="zh-CN" sz="10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55" name="TextBox 4"/>
          <p:cNvSpPr txBox="1"/>
          <p:nvPr/>
        </p:nvSpPr>
        <p:spPr>
          <a:xfrm>
            <a:off x="731520" y="1119505"/>
            <a:ext cx="100584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基于</a:t>
            </a:r>
            <a:r>
              <a:rPr lang="en-US" altLang="zh-CN"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OpenSpec</a:t>
            </a:r>
            <a:r>
              <a:rPr lang="zh-CN" altLang="en-US"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，根据</a:t>
            </a:r>
            <a:r>
              <a:rPr lang="en-US" altLang="zh-CN"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Huawei</a:t>
            </a:r>
            <a:r>
              <a:rPr lang="zh-CN" altLang="en-US"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实际情况客制化的</a:t>
            </a:r>
            <a:r>
              <a:rPr lang="en-US" altLang="zh-CN"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fork</a:t>
            </a:r>
            <a:endParaRPr lang="en-US" altLang="zh-CN" sz="160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OpenSpec-HW2：Use Cases 阶段详解</a:t>
            </a:r>
            <a:endParaRPr sz="30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57200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Explore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1947672" y="1005840"/>
            <a:ext cx="1463040" cy="411480"/>
          </a:xfrm>
          <a:prstGeom prst="chevron">
            <a:avLst/>
          </a:prstGeom>
          <a:solidFill>
            <a:srgbClr val="BE6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055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Proposal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Chevron 7"/>
          <p:cNvSpPr/>
          <p:nvPr/>
        </p:nvSpPr>
        <p:spPr>
          <a:xfrm>
            <a:off x="3438144" y="1005840"/>
            <a:ext cx="1463040" cy="411480"/>
          </a:xfrm>
          <a:prstGeom prst="chevron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Use Cases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4928616" y="1005840"/>
            <a:ext cx="1463040" cy="411480"/>
          </a:xfrm>
          <a:prstGeom prst="chevron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Specs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6419088" y="1005840"/>
            <a:ext cx="1463040" cy="411480"/>
          </a:xfrm>
          <a:prstGeom prst="chevron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Design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Chevron 13"/>
          <p:cNvSpPr/>
          <p:nvPr/>
        </p:nvSpPr>
        <p:spPr>
          <a:xfrm>
            <a:off x="7909560" y="1005840"/>
            <a:ext cx="1463040" cy="411480"/>
          </a:xfrm>
          <a:prstGeom prst="chevron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Tasks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Chevron 15"/>
          <p:cNvSpPr/>
          <p:nvPr/>
        </p:nvSpPr>
        <p:spPr>
          <a:xfrm>
            <a:off x="9400032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...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8144" y="1435608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▲ 本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工作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新增</a:t>
            </a:r>
            <a:endParaRPr lang="zh-CN" sz="10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02412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11680"/>
            <a:ext cx="5943600" cy="4754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这一步做什么</a:t>
            </a:r>
            <a:endParaRPr sz="18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在 Proposal（提案）和 Specs（规格）之间，插入一个结构化的用户场景建模环节。AI 不再从提案直接跳到技术规格，而是先系统地梳理：谁在用这个系统、他想达成什么目标、正常流程是什么、出错了怎么办。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基于什么方法论</a:t>
            </a:r>
            <a:endParaRPr sz="18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采用 Alistair Cockburn 的《Writing Effective Use Cases》方法论，核心是"渐进式揭示"流程：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zh-CN" sz="2000" b="1">
                <a:solidFill>
                  <a:srgbClr val="FF8C00"/>
                </a:solidFill>
                <a:latin typeface="微软雅黑" panose="020B0503020204020204" charset="-122"/>
                <a:ea typeface="微软雅黑"/>
                <a:sym typeface="+mn-ea"/>
              </a:rPr>
              <a:t>为什么适合我们</a:t>
            </a:r>
            <a:r>
              <a:rPr lang="en-US" altLang="zh-CN" sz="2000" b="1">
                <a:solidFill>
                  <a:srgbClr val="FF8C00"/>
                </a:solidFill>
                <a:latin typeface="微软雅黑" panose="020B0503020204020204" charset="-122"/>
                <a:ea typeface="微软雅黑"/>
                <a:sym typeface="+mn-ea"/>
              </a:rPr>
              <a:t>：</a:t>
            </a:r>
            <a:endParaRPr lang="en-US" altLang="zh-CN" sz="2000" b="1">
              <a:solidFill>
                <a:srgbClr val="FF8C00"/>
              </a:solidFill>
              <a:latin typeface="微软雅黑" panose="020B0503020204020204" charset="-122"/>
              <a:sym typeface="+mn-ea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我们观察到生产线</a:t>
            </a:r>
            <a:r>
              <a:rPr lang="en-US" alt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（</a:t>
            </a:r>
            <a:r>
              <a:rPr lang="zh-CN" altLang="en-US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光</a:t>
            </a:r>
            <a:r>
              <a:rPr lang="en-US" alt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，GTS</a:t>
            </a:r>
            <a:r>
              <a:rPr lang="zh-CN" altLang="en-US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等</a:t>
            </a:r>
            <a:r>
              <a:rPr lang="en-US" alt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）</a:t>
            </a:r>
            <a:r>
              <a:rPr lang="zh-CN" altLang="en-US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的规格说明书中大量的</a:t>
            </a:r>
            <a:r>
              <a:rPr lang="en-US" alt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IR SR</a:t>
            </a:r>
            <a:r>
              <a:rPr lang="zh-CN" altLang="en-US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需求规格是从用例推导出来的</a:t>
            </a:r>
            <a:r>
              <a:rPr lang="en-US" alt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，</a:t>
            </a:r>
            <a:r>
              <a:rPr lang="zh-CN" altLang="en-US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所以在生成</a:t>
            </a:r>
            <a:r>
              <a:rPr lang="en-US" alt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Spec</a:t>
            </a:r>
            <a:r>
              <a:rPr lang="zh-CN" altLang="en-US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规格之前商定</a:t>
            </a:r>
            <a:r>
              <a:rPr lang="en-US" altLang="zh-CN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Usecase</a:t>
            </a:r>
            <a:r>
              <a:rPr lang="zh-CN" altLang="en-US" sz="14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用例这种做法也符合我们的实际情况</a:t>
            </a:r>
            <a:endParaRPr sz="18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39115" y="4160520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115" y="416052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Step 1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84835" y="443484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识别参与者
与用户目标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864995" y="4160520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974723" y="4160520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74723" y="416052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Step 2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020443" y="443484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编写主成功
场景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00603" y="4160520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0331" y="4160520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10331" y="416052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Step 3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456051" y="443484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头脑风暴扩展
异常与边界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36211" y="4160520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845939" y="4160520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5939" y="4160520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Step 4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891659" y="443484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添加契约要素
前置/后置条件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675120" y="2011680"/>
            <a:ext cx="4114800" cy="182880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2148840"/>
            <a:ext cx="3749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微软雅黑" panose="020B0503020204020204" charset="-122"/>
                <a:ea typeface="微软雅黑"/>
              </a:rPr>
              <a:t>没有这一步会怎样？</a:t>
            </a:r>
            <a:endParaRPr sz="1600" b="1">
              <a:solidFill>
                <a:srgbClr val="C0392B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  <a:ea typeface="微软雅黑"/>
              </a:rPr>
              <a:t>AI 只实现 Happy Path，异常场景大面积遗漏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  <a:ea typeface="微软雅黑"/>
              </a:rPr>
              <a:t>Specs 缺乏用例支撑，需求验收无据可依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  <a:ea typeface="微软雅黑"/>
              </a:rPr>
              <a:t>30-50% 的返工源自需求阶段的遗漏和模糊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675120" y="4023360"/>
            <a:ext cx="4114800" cy="233172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3970655"/>
            <a:ext cx="4114165" cy="2251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实测效果</a:t>
            </a:r>
            <a:r>
              <a:rPr lang="en-US"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：</a:t>
            </a:r>
            <a:r>
              <a:rPr lang="zh-CN" altLang="en-US"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具体见后文</a:t>
            </a:r>
            <a:endParaRPr sz="14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zh-CN"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更完整的</a:t>
            </a:r>
            <a:r>
              <a:rPr lang="en-US" altLang="zh-CN"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4</a:t>
            </a:r>
            <a:r>
              <a:rPr lang="zh-CN" altLang="en-US"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层</a:t>
            </a:r>
            <a:r>
              <a:rPr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体系</a:t>
            </a:r>
            <a:endParaRPr sz="14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止损、持仓限制、异常检测、合规检查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zh-CN"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更多</a:t>
            </a:r>
            <a:r>
              <a:rPr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测试用例</a:t>
            </a:r>
            <a:endParaRPr sz="14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覆盖主流程、异常分支、边界条件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zh-CN"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更</a:t>
            </a:r>
            <a:r>
              <a:rPr sz="14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完整规则模拟</a:t>
            </a:r>
            <a:endParaRPr sz="14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均源于 OpenSpec-HW2 的 Use Cases 阶段对异常场景的系统梳理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3/34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实验</a:t>
            </a:r>
            <a:r>
              <a:rPr lang="en-US" alt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1-</a:t>
            </a:r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实测对比</a:t>
            </a:r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：</a:t>
            </a:r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同一需求，三种方法的量化差异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测试项目：</a:t>
            </a:r>
            <a:r>
              <a:rPr lang="zh-CN" sz="14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金融领域</a:t>
            </a: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A股有色金属量化交易系统</a:t>
            </a:r>
            <a:r>
              <a:rPr lang="zh-CN" sz="14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（</a:t>
            </a:r>
            <a:r>
              <a:rPr lang="en-US" altLang="zh-CN" sz="14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Spec Critical</a:t>
            </a:r>
            <a:r>
              <a:rPr lang="zh-CN" altLang="en-US" sz="14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）</a:t>
            </a: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 | 相同需求描述，分别用三种方式让 Claude Code 实现</a:t>
            </a:r>
            <a:endParaRPr sz="1400" b="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91840" cy="3931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2926080" cy="2422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6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工作流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需求描述 → AI 直接编码 → 代码</a:t>
            </a:r>
            <a:endParaRPr sz="12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特征</a:t>
            </a:r>
            <a:r>
              <a:rPr lang="zh-CN"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总结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无前置规划步骤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AI 凭自身判断决定架构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 spec / design / task 产出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最快交付，但无质量保障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Artifact 数量：0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77640" y="1371600"/>
            <a:ext cx="3291840" cy="39319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508760"/>
            <a:ext cx="2926080" cy="26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工作流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Proposal → Specs + Design → Tasks → 代码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特征</a:t>
            </a:r>
            <a:r>
              <a:rPr lang="zh-CN"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总结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标准 4-artifact 工作流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Specs 与 Design 并行生成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基本规格约束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质量显著优于无规格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Artifact 数量：4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498080" y="1371600"/>
            <a:ext cx="3291840" cy="3931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508760"/>
            <a:ext cx="2926080" cy="26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工作流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Proposal → Usecases → Specs → Design → Tasks</a:t>
            </a:r>
            <a:r>
              <a:rPr lang="en-US"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 </a:t>
            </a: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  <a:sym typeface="+mn-ea"/>
              </a:rPr>
              <a:t>→ </a:t>
            </a:r>
            <a:r>
              <a:rPr lang="zh-CN"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  <a:sym typeface="+mn-ea"/>
              </a:rPr>
              <a:t>代码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特征</a:t>
            </a:r>
            <a:r>
              <a:rPr lang="zh-CN"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总结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新增 Usecases 场景建模步骤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8 个用例驱动规格细化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逐步提升效果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较高质量产出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Artifact 数量：5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033272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控制变量：完全相同的需求描述  |  同一 AI 模型 (Claude </a:t>
            </a:r>
            <a:r>
              <a:rPr lang="en-US" sz="11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Opus4.6</a:t>
            </a:r>
            <a:r>
              <a:rPr sz="11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)  |  独立执行  |  无人工干预</a:t>
            </a:r>
            <a:endParaRPr sz="1100" b="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4/34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实验</a:t>
            </a:r>
            <a:r>
              <a:rPr lang="en-US" alt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1-</a:t>
            </a:r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核心指标对比：规格层级决定代码质量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10332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2834640"/>
              </a:tblGrid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对比维度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Vanilla Claude Code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原生 OpenSpec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OpenSpec-HW2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代码总量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~1,200 行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~2,824 行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~5,015 行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文件数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5-6 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39 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43 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架构层级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扁平结构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分层 / 简单类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 层 Protocol 架构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设计模式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无（直接实现）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简单类 / 函数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Protocol + 装饰器注册表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测试文件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0 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 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 </a:t>
                      </a: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风控层级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固定止损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 层完整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 层 + 聚合入口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Artifact 数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0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Design 深度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0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92 行 / 6 决策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254 行 / 8 决策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9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任务分解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0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44 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75 个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534924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40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→ 规格化程度与代码质量强正相关：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Artifact 数量 0→4→5 | 代码量 1,200→2,824→5,015 | 测试 0→67→88 | 任务分解 0→44→75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5/34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实验</a:t>
            </a:r>
            <a:r>
              <a:rPr lang="en-US" alt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1 - </a:t>
            </a:r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架构与风控：从扁平实现到分层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架构对比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029200" cy="13258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 — 扁平原型</a:t>
            </a:r>
            <a:endParaRPr sz="13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5-6 个文件，所有逻辑堆在一起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无接口抽象，直接调用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无数据验证层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029200" cy="13258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466344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 — 分层架构</a:t>
            </a:r>
            <a:endParaRPr sz="13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lang="en-US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32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 个文件，数据/因子/策略/风控分层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简单类和函数组织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基本模块化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069080"/>
            <a:ext cx="5029200" cy="13258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4663440" cy="694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 — 6 层 Protocol 架构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lang="en-US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38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 个文件，6 层清晰分离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Protocol 接口* + 装饰器注册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760720" y="868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风控对比</a:t>
            </a:r>
            <a:endParaRPr sz="15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760720" y="1234440"/>
            <a:ext cx="5029200" cy="13258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325880"/>
            <a:ext cx="466344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— 固定止损</a:t>
            </a:r>
            <a:endParaRPr sz="13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硬编码止损阈值（如固定 </a:t>
            </a:r>
            <a:r>
              <a:rPr lang="en-US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8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%）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无动态调整 / 持仓限制 / 异常检测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D13438"/>
                </a:solidFill>
                <a:latin typeface="微软雅黑" panose="020B0503020204020204" charset="-122"/>
                <a:ea typeface="微软雅黑"/>
              </a:rPr>
              <a:t>• 真实交易风险高</a:t>
            </a:r>
            <a:endParaRPr sz="1100" b="0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760720" y="2651760"/>
            <a:ext cx="5029200" cy="13258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743200"/>
            <a:ext cx="466344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— 4 层完整风控</a:t>
            </a:r>
            <a:endParaRPr sz="13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L1 ATR动态止损 / L2 持仓限制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L3 行业集中度 / L4 异常波动检测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lang="zh-CN" sz="1100" b="0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基本</a:t>
            </a:r>
            <a:r>
              <a:rPr sz="1100" b="0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风控体系</a:t>
            </a:r>
            <a:endParaRPr sz="1100" b="0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760720" y="4069080"/>
            <a:ext cx="5029200" cy="13258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160520"/>
            <a:ext cx="466344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HW2 — 4 层 + 聚合入口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上述 4 层 + RiskAggregator 统一调度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风控规则可配置 + 完整日志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lang="zh-CN" sz="1100" b="0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较完整</a:t>
            </a:r>
            <a:r>
              <a:rPr sz="1100" b="0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风控架构</a:t>
            </a:r>
            <a:endParaRPr sz="1100" b="0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架构分层和风控完善度与规格化程度高度正相关：规格越详细，AI 的架构决策越成熟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6/34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5349240"/>
            <a:ext cx="10332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888888"/>
                </a:solidFill>
                <a:latin typeface="微软雅黑"/>
                <a:ea typeface="微软雅黑"/>
              </a:rPr>
              <a:t>* Protocol 接口：模块间通过抽象接口通信，实现可插拔替换，类似 Java 的 Interface</a:t>
            </a:r>
            <a:endParaRPr sz="900">
              <a:solidFill>
                <a:srgbClr val="888888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实验</a:t>
            </a:r>
            <a:r>
              <a:rPr lang="en-US" alt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1 - </a:t>
            </a:r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测试 × 回测 × 可维护性：三维质量对比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291840" cy="42976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2926080" cy="2661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测试覆盖度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3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0 测试文件，0 测试用例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AI 完全跳过测试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</a:t>
            </a:r>
            <a:endParaRPr sz="13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8 测试</a:t>
            </a:r>
            <a:r>
              <a:rPr lang="zh-CN"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文件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单元测试覆盖核心模块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lang="en-US"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9</a:t>
            </a: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 测试文件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195 行集成测试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977640" y="1005840"/>
            <a:ext cx="3291840" cy="42976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11430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回测真实性</a:t>
            </a:r>
            <a:endParaRPr sz="16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3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 A 股规则模拟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回测结果不可信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</a:t>
            </a:r>
            <a:endParaRPr sz="13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完整 A 股规则（T+1, 涨跌停, 印花税）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7 个性能评估指标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完整 A 股规则 + 防前视偏差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13+ 个性能评估指标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回测结果接近真实市场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80" y="1005840"/>
            <a:ext cx="3291840" cy="42976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143000"/>
            <a:ext cx="2926080" cy="2884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可维护性 &amp; 配置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3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硬编码常量，0 配置外部化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修改参数需改源码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</a:t>
            </a:r>
            <a:endParaRPr sz="13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基本模块化，代码分层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部分参数仍内嵌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外部 YAML 配置管理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</a:t>
            </a:r>
            <a:r>
              <a:rPr lang="en-US"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8</a:t>
            </a: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类参数外部化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改配置不改代码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三个维度均呈现 Vanilla &lt; 原生 &lt; HW2 的阶梯式提升，OpenSpec-HW2 Usecases 步骤的增量价值在每个维度均可量化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7/34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实验</a:t>
            </a:r>
            <a:r>
              <a:rPr lang="en-US" alt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1 - </a:t>
            </a:r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综合评分与适用场景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6217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5544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评分维度 (/10)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Vanilla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原生 OpenSpec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OpenSpec-HW2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架构清晰度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测试完备性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2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风控能力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回测真实性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A 股规则合规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可维护性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可扩展性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开发效率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合计 (/80)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44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56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67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914400"/>
            <a:ext cx="3840480" cy="321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5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5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适用场景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49440" y="1234440"/>
            <a:ext cx="384048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417320"/>
            <a:ext cx="3840480" cy="1096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3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44/80  </a:t>
            </a:r>
            <a:r>
              <a:rPr lang="zh-CN"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适用：</a:t>
            </a:r>
            <a:endParaRPr sz="11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内部工具脚本、PoC 验证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Hackathon / 技术预研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无跨团队协作需求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49440" y="2697480"/>
            <a:ext cx="3840480" cy="901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</a:t>
            </a:r>
            <a:endParaRPr sz="13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56/80  </a:t>
            </a:r>
            <a:r>
              <a:rPr lang="zh-CN"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适用：</a:t>
            </a:r>
            <a:endParaRPr sz="11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中等规模功能</a:t>
            </a:r>
            <a:r>
              <a:rPr lang="zh-CN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生产级别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模块开发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迭代周期较短的版本需求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949440" y="3977640"/>
            <a:ext cx="3840480" cy="901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67/80  </a:t>
            </a:r>
            <a:r>
              <a:rPr lang="zh-CN"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1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适用：</a:t>
            </a:r>
            <a:endParaRPr sz="11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光/GTS/智驾等团队</a:t>
            </a:r>
            <a:r>
              <a:rPr lang="zh-CN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多人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协作</a:t>
            </a:r>
            <a:r>
              <a:rPr lang="zh-CN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生产级别开发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长期演进 / 跨团队交接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0332720" cy="699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核心结论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/>
              </a:rPr>
              <a:t>规格化程度直接决定最终质量。Vanilla（无规格）→ 原生 OpenSpec（4 artifact）→ HW2（5 artifact + Usecases），三者总分 44→56→67，呈阶梯式提升</a:t>
            </a:r>
            <a:r>
              <a:rPr lang="en-US" sz="1200" b="0">
                <a:solidFill>
                  <a:srgbClr val="444444"/>
                </a:solidFill>
                <a:latin typeface="微软雅黑" panose="020B0503020204020204" charset="-122"/>
                <a:ea typeface="微软雅黑"/>
              </a:rPr>
              <a:t> </a:t>
            </a:r>
            <a:r>
              <a:rPr sz="1200" b="0">
                <a:solidFill>
                  <a:srgbClr val="444444"/>
                </a:solidFill>
                <a:latin typeface="微软雅黑" panose="020B0503020204020204" charset="-122"/>
                <a:ea typeface="微软雅黑"/>
              </a:rPr>
              <a:t>OpenSpec-HW2 的 Usecases 步骤是</a:t>
            </a:r>
            <a:r>
              <a:rPr lang="zh-CN" sz="1200" b="0">
                <a:solidFill>
                  <a:srgbClr val="444444"/>
                </a:solidFill>
                <a:latin typeface="微软雅黑" panose="020B0503020204020204" charset="-122"/>
                <a:ea typeface="微软雅黑"/>
              </a:rPr>
              <a:t>符合华为实践并且带来实质性提升的</a:t>
            </a:r>
            <a:endParaRPr sz="1200" b="0">
              <a:solidFill>
                <a:srgbClr val="444444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8/34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  <a:sym typeface="+mn-ea"/>
              </a:rPr>
              <a:t>实验</a:t>
            </a:r>
            <a:r>
              <a:rPr lang="en-US" alt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  <a:sym typeface="+mn-ea"/>
              </a:rPr>
              <a:t>2- </a:t>
            </a:r>
            <a:r>
              <a:rPr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需求变更实验：OpenSpec-HW2 的迭代维护优势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前面展示了初始构建的对比。但软件 80% 的成本在维护阶段 — 需求变更时，两种方式差距更大。</a:t>
            </a:r>
            <a:endParaRPr sz="160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>
            <p:custDataLst>
              <p:tags r:id="rId1"/>
            </p:custDataLst>
          </p:nvPr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7E22"/>
                </a:solidFill>
                <a:latin typeface="微软雅黑" panose="020B0503020204020204" charset="-122"/>
                <a:ea typeface="微软雅黑"/>
              </a:rPr>
              <a:t>实验场景</a:t>
            </a:r>
            <a:endParaRPr sz="1800" b="1">
              <a:solidFill>
                <a:srgbClr val="E67E22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>
            <p:custDataLst>
              <p:tags r:id="rId4"/>
            </p:custDataLst>
          </p:nvPr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三项需求变更</a:t>
            </a:r>
            <a:endParaRPr sz="18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1. 波动率自适应止损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2. 动态再平衡频率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>
            <p:custDataLst>
              <p:tags r:id="rId7"/>
            </p:custDataLst>
          </p:nvPr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OpenSpec-HW2 方法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594360" y="4572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proposal → usecases (10个场景) → delta specs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→ design → tasks (10项) → 逐项实现代码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>
            <p:custDataLst>
              <p:tags r:id="rId10"/>
            </p:custDataLst>
          </p:nvPr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r>
              <a:rPr sz="1600" b="1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 方法</a:t>
            </a:r>
            <a:endParaRPr sz="1600" b="1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6217920" y="45720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不使用任何规格框架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模拟最常见的"拿到需求直接写代码"方式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  <a:ea typeface="微软雅黑"/>
              </a:rPr>
              <a:t>9/34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  <a:sym typeface="+mn-ea"/>
              </a:rPr>
              <a:t>实验</a:t>
            </a:r>
            <a:r>
              <a:rPr lang="en-US" alt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  <a:sym typeface="+mn-ea"/>
              </a:rPr>
              <a:t>2- </a:t>
            </a:r>
            <a:r>
              <a:rPr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  <a:sym typeface="+mn-ea"/>
              </a:rPr>
              <a:t>需求变更</a:t>
            </a:r>
            <a:r>
              <a:rPr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实验结果</a:t>
            </a:r>
            <a:r>
              <a:rPr 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：</a:t>
            </a:r>
            <a:r>
              <a:rPr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量化对比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128016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98480" y="128016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340160"/>
            <a:ext cx="24003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对比维度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9752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OpenSpec-HW2 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38000" y="1340160"/>
            <a:ext cx="36804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r>
              <a:rPr sz="14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 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78480" y="1340160"/>
            <a:ext cx="9372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sz="14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提升</a:t>
            </a:r>
            <a:endParaRPr lang="zh-CN" sz="1400" b="1">
              <a:solidFill>
                <a:srgbClr val="FFFFFF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70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170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0" y="170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170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200" y="17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边界场景覆盖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752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10 个边界场景（含 T+1 冲突、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熔断恢复中断、频率切换等）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3800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2 个边界场景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（数据不足、熔断升级）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778480" y="17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5x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212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212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212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98480" y="212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200" y="21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测试用例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09752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27 个新增测试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（3 个测试文件，pytest 框架）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3800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0 个测试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（无任何自动化测试）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78480" y="21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∞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254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254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0" y="254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98480" y="254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7200" y="257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变更文档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9752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636 行 artifact 文档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（proposal→usecases→specs→design→tasks）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3800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0 行文档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（无 proposal、无 design、无记录）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778480" y="260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∞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96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17520" y="296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0" y="296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98480" y="296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200" y="299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代码模块化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09752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7 个文件（2 新模块 + 3 测试 +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2 个修改），单一职责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3800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2 个文件，所有逻辑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挤在 backtester.py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778480" y="302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3.5x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57200" y="338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17520" y="338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0" y="338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98480" y="338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7200" y="341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新增代码行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09752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662 行（源码 303 + 测试 359）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分布在独立模块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93800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163 行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全部混在主函数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778480" y="34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4x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57200" y="380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17520" y="380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0" y="380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98480" y="380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7200" y="38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遗漏的关键边界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9752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0 个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93800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3 个（T+1冲突、渐进恢复、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频率切换间隔）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0778480" y="38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—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57200" y="422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17520" y="422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422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98480" y="422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7200" y="42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可追溯性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09752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完整链路：需求→场景→规格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→设计→任务→代码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938000" y="4240160"/>
            <a:ext cx="368048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仅 git diff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lang="zh-CN"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潜在一段时间</a:t>
            </a:r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后</a:t>
            </a:r>
            <a:r>
              <a:rPr lang="zh-CN"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因文档缺失</a:t>
            </a:r>
            <a:r>
              <a:rPr sz="10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无法理解变更原因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778480" y="42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—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5760" y="468016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725160"/>
            <a:ext cx="1106424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OpenSpec-HW2 的 usecases 强制思考边界场景，发现了</a:t>
            </a:r>
            <a:r>
              <a:rPr lang="en-US"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遗漏的 3 个关键边界：T+1 冲突、渐进式恢复、频率切换时机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  <a:ea typeface="微软雅黑"/>
              </a:rPr>
              <a:t>10/34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实验</a:t>
            </a:r>
            <a:r>
              <a:rPr lang="en-US" alt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2-</a:t>
            </a:r>
            <a:r>
              <a:rPr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需求变更实验：核心发现与评分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OpenSpec-HW2 的核心价值不在于初始构建，而在于持续迭代 — 需求变更时差距更加显著</a:t>
            </a:r>
            <a:endParaRPr sz="160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356616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七维评分对比</a:t>
            </a:r>
            <a:endParaRPr sz="1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影响分析准确性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9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需求覆盖完整性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★★★☆☆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32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代码变更模块化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36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测试覆盖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★☆☆☆☆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40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文档/可追溯性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★☆☆☆☆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4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回归风险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4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4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可复现性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278765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总分：</a:t>
            </a:r>
            <a:r>
              <a:rPr lang="en-US" sz="16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                     </a:t>
            </a:r>
            <a:r>
              <a:rPr sz="1600" b="1">
                <a:solidFill>
                  <a:srgbClr val="2E7D32"/>
                </a:solidFill>
                <a:latin typeface="微软雅黑" panose="020B0503020204020204" charset="-122"/>
                <a:ea typeface="微软雅黑"/>
              </a:rPr>
              <a:t>35/35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57860" y="5303520"/>
            <a:ext cx="18000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vs  </a:t>
            </a:r>
            <a:r>
              <a:rPr lang="en-US" sz="1600" b="1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   </a:t>
            </a:r>
            <a:r>
              <a:rPr sz="1600" b="1">
                <a:solidFill>
                  <a:srgbClr val="C62828"/>
                </a:solidFill>
                <a:latin typeface="微软雅黑" panose="020B0503020204020204" charset="-122"/>
                <a:ea typeface="微软雅黑"/>
              </a:rPr>
              <a:t>13/35</a:t>
            </a:r>
            <a:endParaRPr sz="1600" b="1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035040" y="1920240"/>
            <a:ext cx="5486400" cy="3566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OpenSpec-HW2 在变更场景的三大核心优势</a:t>
            </a:r>
            <a:endParaRPr sz="18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217920" y="246888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5146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前置思考 — 编码前完成需求分析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309360" y="2738120"/>
            <a:ext cx="50292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OpenSpec-HW2 的 proposal → usecases → specs 过程强制在写代码前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识别出 10 个边界场景，避免了 3 个关键遗漏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17920" y="347472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520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知识沉淀 — 636 行文档是团队资产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355080" y="38404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完整的 proposal→specs→design→tasks 链路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6个月后仍可追溯每个变更的动机和设计决策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217920" y="448056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质量保障 — tasks 确保测试不被遗忘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55080" y="4846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tasks.md 显式列出 3 个测试文件 + 27 个测试用例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非 OpenSpec-HW2 版：0 测试，无法验证任何逻辑正确性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实验完整数据见 testing_projct_quant_requirement_changing_experiment/comparison/result.md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  <a:ea typeface="微软雅黑"/>
              </a:rPr>
              <a:t>11/34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3510" y="228600"/>
            <a:ext cx="118872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为什么公司需要 OpenSpec</a:t>
            </a:r>
            <a:r>
              <a:rPr lang="en-US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-HW2</a:t>
            </a:r>
            <a:r>
              <a:rPr lang="zh-CN" altLang="en-US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（</a:t>
            </a:r>
            <a:r>
              <a:rPr lang="en-US" alt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OpenSpec</a:t>
            </a:r>
            <a:r>
              <a:rPr lang="zh-CN" altLang="en-US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类似工具平台</a:t>
            </a:r>
            <a:r>
              <a:rPr lang="en-US" altLang="zh-CN" sz="28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）</a:t>
            </a:r>
            <a:endParaRPr lang="en-US" altLang="zh-CN"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6375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0">
                <a:solidFill>
                  <a:srgbClr val="444444"/>
                </a:solidFill>
                <a:latin typeface="微软雅黑" panose="020B0503020204020204" charset="-122"/>
                <a:ea typeface="微软雅黑"/>
              </a:rPr>
              <a:t>Agentic </a:t>
            </a:r>
            <a:r>
              <a:rPr lang="en-US" sz="1300" b="0">
                <a:solidFill>
                  <a:srgbClr val="444444"/>
                </a:solidFill>
                <a:latin typeface="微软雅黑" panose="020B0503020204020204" charset="-122"/>
                <a:ea typeface="微软雅黑"/>
              </a:rPr>
              <a:t>Coding工具（Claude Code、Cursor 等）快速普及但治理严重缺失。OpenSpec-HW2 填补从「写出代码」到「规范地写生产级可追溯代码」的空白。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46120" cy="64008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规范化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24612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让 </a:t>
            </a:r>
            <a:r>
              <a:rPr lang="en-US"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Agnetic Coding </a:t>
            </a:r>
            <a:r>
              <a:rPr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有章可循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3246120" cy="365760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40280"/>
            <a:ext cx="2834640" cy="1096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  <a:ea typeface="微软雅黑"/>
              </a:rPr>
              <a:t>统一工作流标准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Agentic Coding 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遵循 proposal → </a:t>
            </a:r>
            <a:r>
              <a:rPr 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usecase</a:t>
            </a:r>
            <a:r>
              <a:rPr sz="1200">
                <a:solidFill>
                  <a:srgbClr val="555555"/>
                </a:solidFill>
                <a:latin typeface="微软雅黑" panose="020B0503020204020204" charset="-122"/>
                <a:ea typeface="微软雅黑"/>
                <a:sym typeface="+mn-ea"/>
              </a:rPr>
              <a:t>→ 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spec → design → task → implement 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标准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RE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流程，AI 不再各行其是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3456432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456432"/>
            <a:ext cx="2834640" cy="911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  <a:ea typeface="微软雅黑"/>
              </a:rPr>
              <a:t>需求有据可查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每个变更都有 proposal（为什么改）spec（改什么）design（怎么做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）而不是和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Claude Code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的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聊天记录</a:t>
            </a:r>
            <a:endParaRPr lang="zh-CN" altLang="en-US" sz="1200" b="0">
              <a:solidFill>
                <a:srgbClr val="555555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7055" y="4672330"/>
            <a:ext cx="76200" cy="777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  <a:ea typeface="微软雅黑"/>
              </a:rPr>
              <a:t>验收有标准可依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BDD 场景（Given/When/Then）提供明确的验收条件，代码好不好有客观依据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86200" y="1371600"/>
            <a:ext cx="324612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可追溯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86200" y="1691640"/>
            <a:ext cx="324612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让</a:t>
            </a:r>
            <a:r>
              <a:rPr lang="en-US" altLang="zh-CN"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Agentic Coding </a:t>
            </a:r>
            <a:r>
              <a:rPr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每一步决策都有据可查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886200" y="2103120"/>
            <a:ext cx="3246120" cy="3657600"/>
          </a:xfrm>
          <a:prstGeom prst="roundRect">
            <a:avLst/>
          </a:prstGeom>
          <a:solidFill>
            <a:srgbClr val="E8F8E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95928" y="2240280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33088" y="2240280"/>
            <a:ext cx="2834640" cy="911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  <a:ea typeface="微软雅黑"/>
              </a:rPr>
              <a:t>变更全链路追踪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从需求到设计到任务到代码，每一步都有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对应的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文档记录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，大大提高了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Code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到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Spec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的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可追溯性</a:t>
            </a:r>
            <a:endParaRPr lang="zh-CN" altLang="en-US" sz="1200" b="0">
              <a:solidFill>
                <a:srgbClr val="555555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995928" y="3456432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088" y="3456432"/>
            <a:ext cx="2834640" cy="911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  <a:ea typeface="微软雅黑"/>
              </a:rPr>
              <a:t>审计友好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归档机制保留完整上下文，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更好的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满足合规要求；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人类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监管审查时能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通过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Spec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看出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完整的决策链条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96055" y="4672330"/>
            <a:ext cx="76200" cy="756285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33088" y="4672584"/>
            <a:ext cx="2834640" cy="727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  <a:ea typeface="微软雅黑"/>
              </a:rPr>
              <a:t>决策可回溯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design.md 记录技术选型理由和替代方案权衡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，完整记录选择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原因</a:t>
            </a:r>
            <a:endParaRPr lang="zh-CN" sz="1200" b="0">
              <a:solidFill>
                <a:srgbClr val="555555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069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9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0" y="1371600"/>
            <a:ext cx="3246120" cy="64008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可协作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315200" y="1691640"/>
            <a:ext cx="324612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团队</a:t>
            </a:r>
            <a:r>
              <a:rPr lang="zh-CN"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协作</a:t>
            </a:r>
            <a:r>
              <a:rPr lang="en-US" altLang="zh-CN"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Agentic Coding</a:t>
            </a:r>
            <a:r>
              <a:rPr lang="zh-CN" altLang="en-US"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不再靠聊天</a:t>
            </a:r>
            <a:r>
              <a:rPr lang="zh-CN" altLang="en-US" sz="1100" b="0">
                <a:solidFill>
                  <a:srgbClr val="DDEEFF"/>
                </a:solidFill>
                <a:latin typeface="微软雅黑" panose="020B0503020204020204" charset="-122"/>
                <a:ea typeface="微软雅黑"/>
              </a:rPr>
              <a:t>对齐</a:t>
            </a:r>
            <a:endParaRPr lang="zh-CN" altLang="en-US" sz="1100" b="0">
              <a:solidFill>
                <a:srgbClr val="DDEEFF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15200" y="2103120"/>
            <a:ext cx="3246120" cy="3657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24928" y="2240280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2240280"/>
            <a:ext cx="2834640" cy="911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多人并行不冲突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Delta spec 机制让不同变更可以并行推进，各自只描述自己的增量，合并时冲突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能够被通过检测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Spec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检测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到</a:t>
            </a:r>
            <a:endParaRPr lang="zh-CN" altLang="en-US" sz="1200" b="0">
              <a:solidFill>
                <a:srgbClr val="555555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24928" y="3456432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62088" y="3456432"/>
            <a:ext cx="2834640" cy="1096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上下文可共享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规格文件是团队共享资产，不是某个人的 IDE 聊天记录；任何人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在使用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Agentic Coding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的时候</a:t>
            </a:r>
            <a:r>
              <a:rPr lang="en-US" alt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Agent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都能读懂系统全貌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 flipH="1">
            <a:off x="7413625" y="4672330"/>
            <a:ext cx="76200" cy="77597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4672584"/>
            <a:ext cx="2834640" cy="1096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快速</a:t>
            </a:r>
            <a:r>
              <a:rPr lang="zh-CN" sz="14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上</a:t>
            </a:r>
            <a:r>
              <a:rPr sz="1400" b="1">
                <a:solidFill>
                  <a:srgbClr val="FF8C00"/>
                </a:solidFill>
                <a:latin typeface="微软雅黑" panose="020B0503020204020204" charset="-122"/>
                <a:ea typeface="微软雅黑"/>
              </a:rPr>
              <a:t>手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读 specs + design + archived changes 即可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理解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系统演化历程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，没有类似于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"这段代码</a:t>
            </a:r>
            <a:r>
              <a:rPr 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Agent</a:t>
            </a:r>
            <a:r>
              <a:rPr lang="zh-CN" altLang="en-US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当时</a:t>
            </a: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为什么这样写"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的</a:t>
            </a:r>
            <a:r>
              <a:rPr lang="zh-CN" sz="1200" b="0">
                <a:solidFill>
                  <a:srgbClr val="555555"/>
                </a:solidFill>
                <a:latin typeface="微软雅黑" panose="020B0503020204020204" charset="-122"/>
                <a:ea typeface="微软雅黑"/>
              </a:rPr>
              <a:t>问题</a:t>
            </a:r>
            <a:endParaRPr lang="zh-CN" sz="1200" b="0">
              <a:solidFill>
                <a:srgbClr val="555555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498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897880"/>
            <a:ext cx="1024128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9893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C00"/>
                </a:solidFill>
                <a:latin typeface="微软雅黑" panose="020B0503020204020204" charset="-122"/>
                <a:ea typeface="微软雅黑"/>
              </a:rPr>
              <a:t>一句话总结：</a:t>
            </a:r>
            <a:r>
              <a:rPr sz="1400" b="0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OpenSpec 让 AI 编码从"个人即兴创作"变成"团队工程协作"——代码有规范、变更有记录、协作有秩序。</a:t>
            </a:r>
            <a:endParaRPr sz="14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12/34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92405"/>
            <a:ext cx="1120000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000" b="1">
                <a:solidFill>
                  <a:srgbClr val="1A1A2E"/>
                </a:solidFill>
                <a:latin typeface="微软雅黑"/>
                <a:ea typeface="微软雅黑"/>
              </a:rPr>
              <a:t>外部</a:t>
            </a:r>
            <a:r>
              <a:rPr sz="2000" b="1">
                <a:solidFill>
                  <a:srgbClr val="1A1A2E"/>
                </a:solidFill>
                <a:latin typeface="微软雅黑"/>
                <a:ea typeface="微软雅黑"/>
              </a:rPr>
              <a:t>竞品分析：各厂的 Spec-Driven 产品布局</a:t>
            </a:r>
            <a:endParaRPr sz="2000" b="1">
              <a:solidFill>
                <a:srgbClr val="1A1A2E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594360"/>
            <a:ext cx="109728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55555"/>
                </a:solidFill>
                <a:latin typeface="微软雅黑"/>
                <a:ea typeface="微软雅黑"/>
              </a:rPr>
              <a:t>这个方向不只我们在看——2025年下半年起，7 家公司发布规格驱动类 AI 编程产品，说明方向正确但竞争加剧</a:t>
            </a:r>
            <a:endParaRPr sz="1100" b="0">
              <a:solidFill>
                <a:srgbClr val="C0392B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98220"/>
          <a:ext cx="11643995" cy="4176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090"/>
                <a:gridCol w="3175635"/>
                <a:gridCol w="4763770"/>
                <a:gridCol w="1587500"/>
              </a:tblGrid>
              <a:tr h="33591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公司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产品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规格/需求治理核心能力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发布时间</a:t>
                      </a:r>
                      <a:endParaRPr sz="9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C2C2C"/>
                          </a:solidFill>
                        </a:rPr>
                        <a:t>Amazon (AWS)</a:t>
                      </a:r>
                      <a:endParaRPr sz="1200" b="1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Kiro IDE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3阶段 Spec工作流（EARS语法）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requirements → design → tasks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已 GA，有自治 Agent + 属性测试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2025.7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GA 11月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C2C2C"/>
                          </a:solidFill>
                        </a:rPr>
                        <a:t>GitHub</a:t>
                      </a:r>
                      <a:endParaRPr sz="1200" b="1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Spec Kit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开源 SDD 工具包（39.3k stars）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Constitution → Specify → Plan → Tasks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支持 17+ AI Agent，工具无关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2025.9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C2C2C"/>
                          </a:solidFill>
                        </a:rPr>
                        <a:t>阿里</a:t>
                      </a:r>
                      <a:endParaRPr sz="1200" b="1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Qoder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(Quest Mode)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显式要求写 spec 再执行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Quest 1.0 自进化 Agent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可检索 10万+ 代码文件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2025.8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Quest 1月26年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C2C2C"/>
                          </a:solidFill>
                        </a:rPr>
                        <a:t>腾讯</a:t>
                      </a:r>
                      <a:endParaRPr sz="1200" b="1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CodeBuddy IDE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自动生成 PRD/TRD/DRD 文档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Figma 设计稿 → 前后端代码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ADP 3.0 合规监控 + 风控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2025.7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C2C2C"/>
                          </a:solidFill>
                        </a:rPr>
                        <a:t>字节跳动</a:t>
                      </a:r>
                      <a:endParaRPr sz="1200" b="1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Trae SOLO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需求 → PRD → 代码 → 部署全链路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92% 用户满意度，98% 中文解析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预测 2026年 85% 工具将具备此能力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2025.7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C2C2C"/>
                          </a:solidFill>
                        </a:rPr>
                        <a:t>百度</a:t>
                      </a:r>
                      <a:endParaRPr sz="1200" b="1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Comate + Zulu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NL 需求 → 代码 → 部署，自修复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43% 百度内部代码由 AI 生成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  <a:p>
                      <a:pPr algn="l"/>
                      <a:r>
                        <a:rPr sz="1200">
                          <a:solidFill>
                            <a:srgbClr val="2C2C2C"/>
                          </a:solidFill>
                        </a:rPr>
                        <a:t>1000万+ 开发者用户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C2C2C"/>
                          </a:solidFill>
                        </a:rPr>
                        <a:t>2025年中</a:t>
                      </a:r>
                      <a:endParaRPr sz="1200">
                        <a:solidFill>
                          <a:srgbClr val="2C2C2C"/>
                        </a:solidFill>
                      </a:endParaRPr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166360"/>
            <a:ext cx="11643360" cy="128016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11320"/>
            <a:ext cx="11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  <a:ea typeface="微软雅黑"/>
              </a:rPr>
              <a:t>竞争格局启示</a:t>
            </a:r>
            <a:endParaRPr sz="1300" b="1">
              <a:solidFill>
                <a:srgbClr val="C0392B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374828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</a:pPr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标准化</a:t>
            </a:r>
            <a:r>
              <a:rPr lang="zh-CN" sz="1200">
                <a:solidFill>
                  <a:srgbClr val="2C3E50"/>
                </a:solidFill>
                <a:latin typeface="微软雅黑"/>
                <a:ea typeface="微软雅黑"/>
              </a:rPr>
              <a:t>压力：</a:t>
            </a:r>
            <a:endParaRPr sz="1200" b="0">
              <a:solidFill>
                <a:srgbClr val="8B0000"/>
              </a:solidFill>
            </a:endParaRPr>
          </a:p>
          <a:p>
            <a:pPr algn="l">
              <a:lnSpc>
                <a:spcPts val="1200"/>
              </a:lnSpc>
            </a:pPr>
            <a:endParaRPr sz="1200" b="0">
              <a:solidFill>
                <a:srgbClr val="8B0000"/>
              </a:solidFill>
            </a:endParaRPr>
          </a:p>
          <a:p>
            <a:pPr algn="l">
              <a:lnSpc>
                <a:spcPts val="1200"/>
              </a:lnSpc>
            </a:pPr>
            <a:endParaRPr sz="1200" b="0">
              <a:solidFill>
                <a:srgbClr val="8B0000"/>
              </a:solidFill>
            </a:endParaRPr>
          </a:p>
          <a:p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Kiro的EARS + Spec Kit的Constitution</a:t>
            </a:r>
            <a:endParaRPr sz="1200">
              <a:solidFill>
                <a:srgbClr val="2C3E50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正在成为事实上的行业标准</a:t>
            </a:r>
            <a:endParaRPr sz="1200">
              <a:solidFill>
                <a:srgbClr val="2C3E50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97680" y="5532120"/>
            <a:ext cx="374828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</a:pPr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平台绑定趋势</a:t>
            </a:r>
            <a:r>
              <a:rPr lang="zh-CN" sz="1200">
                <a:solidFill>
                  <a:srgbClr val="2C3E50"/>
                </a:solidFill>
                <a:latin typeface="微软雅黑"/>
                <a:ea typeface="微软雅黑"/>
              </a:rPr>
              <a:t>：</a:t>
            </a:r>
            <a:endParaRPr sz="1200" b="0">
              <a:solidFill>
                <a:srgbClr val="8B0000"/>
              </a:solidFill>
            </a:endParaRPr>
          </a:p>
          <a:p>
            <a:pPr algn="l">
              <a:lnSpc>
                <a:spcPts val="1200"/>
              </a:lnSpc>
            </a:pPr>
            <a:endParaRPr sz="1200" b="0">
              <a:solidFill>
                <a:srgbClr val="8B0000"/>
              </a:solidFill>
            </a:endParaRPr>
          </a:p>
          <a:p>
            <a:pPr algn="l">
              <a:lnSpc>
                <a:spcPts val="1200"/>
              </a:lnSpc>
            </a:pPr>
            <a:endParaRPr sz="1200" b="0">
              <a:solidFill>
                <a:srgbClr val="8B0000"/>
              </a:solidFill>
            </a:endParaRPr>
          </a:p>
          <a:p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各厂将spec治理嵌入自家IDE</a:t>
            </a:r>
            <a:endParaRPr sz="1200">
              <a:solidFill>
                <a:srgbClr val="2C3E50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工具无关的轻量级方案仍有空间</a:t>
            </a:r>
            <a:endParaRPr sz="1200">
              <a:solidFill>
                <a:srgbClr val="2C3E50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38160" y="5532120"/>
            <a:ext cx="3748405" cy="863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ts val="1200"/>
              </a:lnSpc>
            </a:pPr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差异化空间</a:t>
            </a:r>
            <a:r>
              <a:rPr lang="zh-CN" sz="1200">
                <a:solidFill>
                  <a:srgbClr val="2C3E50"/>
                </a:solidFill>
                <a:latin typeface="微软雅黑"/>
                <a:ea typeface="微软雅黑"/>
              </a:rPr>
              <a:t>：</a:t>
            </a:r>
            <a:endParaRPr sz="1200" b="0">
              <a:solidFill>
                <a:srgbClr val="8B0000"/>
              </a:solidFill>
            </a:endParaRPr>
          </a:p>
          <a:p>
            <a:pPr algn="l">
              <a:lnSpc>
                <a:spcPts val="1200"/>
              </a:lnSpc>
            </a:pPr>
            <a:endParaRPr sz="1200" b="0">
              <a:solidFill>
                <a:srgbClr val="8B0000"/>
              </a:solidFill>
            </a:endParaRPr>
          </a:p>
          <a:p>
            <a:pPr algn="l">
              <a:lnSpc>
                <a:spcPts val="1200"/>
              </a:lnSpc>
            </a:pPr>
            <a:endParaRPr sz="1200" b="0">
              <a:solidFill>
                <a:srgbClr val="8B0000"/>
              </a:solidFill>
            </a:endParaRPr>
          </a:p>
          <a:p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所有竞品均缺少brownfield变更管理</a:t>
            </a:r>
            <a:endParaRPr sz="1200">
              <a:solidFill>
                <a:srgbClr val="2C3E50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2C3E50"/>
                </a:solidFill>
                <a:latin typeface="微软雅黑"/>
                <a:ea typeface="微软雅黑"/>
              </a:rPr>
              <a:t>和delta spec演进能力</a:t>
            </a:r>
            <a:endParaRPr sz="1200">
              <a:solidFill>
                <a:srgbClr val="2C3E5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13/34</a:t>
            </a:r>
            <a:endParaRPr sz="1000" b="0">
              <a:solidFill>
                <a:srgbClr val="999999"/>
              </a:solidFill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465"/>
            <a:ext cx="1078992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2400" b="1">
                <a:solidFill>
                  <a:srgbClr val="1A1A2E"/>
                </a:solidFill>
                <a:latin typeface="微软雅黑"/>
                <a:ea typeface="微软雅黑"/>
              </a:rPr>
              <a:t>内部与</a:t>
            </a:r>
            <a:r>
              <a:rPr lang="en-US" altLang="zh-CN" sz="2400" b="1">
                <a:solidFill>
                  <a:srgbClr val="1A1A2E"/>
                </a:solidFill>
                <a:latin typeface="微软雅黑"/>
                <a:ea typeface="微软雅黑"/>
              </a:rPr>
              <a:t>CodeArt</a:t>
            </a:r>
            <a:r>
              <a:rPr sz="2400" b="1">
                <a:solidFill>
                  <a:srgbClr val="1A1A2E"/>
                </a:solidFill>
                <a:latin typeface="微软雅黑"/>
                <a:ea typeface="微软雅黑"/>
              </a:rPr>
              <a:t>对比：Pony Agent + CodeArts Req  vs  OpenSpec-HW2</a:t>
            </a:r>
            <a:endParaRPr sz="2400" b="1">
              <a:solidFill>
                <a:srgbClr val="1A1A2E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999999"/>
                </a:solidFill>
                <a:latin typeface="微软雅黑"/>
                <a:ea typeface="微软雅黑"/>
              </a:rPr>
              <a:t>同是“需求→规格”的智能化，但结构化深度和演进能力差异显著</a:t>
            </a:r>
            <a:endParaRPr sz="1300" b="0">
              <a:solidFill>
                <a:srgbClr val="999999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0972800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2560320" cy="320040"/>
          </a:xfrm>
          <a:prstGeom prst="round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7" name="Rounded Rectangle 6"/>
          <p:cNvSpPr/>
          <p:nvPr/>
        </p:nvSpPr>
        <p:spPr>
          <a:xfrm>
            <a:off x="3108960" y="1170432"/>
            <a:ext cx="4023360" cy="320040"/>
          </a:xfrm>
          <a:prstGeom prst="roundRect">
            <a:avLst/>
          </a:prstGeom>
          <a:solidFill>
            <a:srgbClr val="C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8" name="Rounded Rectangle 7"/>
          <p:cNvSpPr/>
          <p:nvPr/>
        </p:nvSpPr>
        <p:spPr>
          <a:xfrm>
            <a:off x="7223760" y="1170432"/>
            <a:ext cx="4206240" cy="32004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9" name="TextBox 8"/>
          <p:cNvSpPr txBox="1"/>
          <p:nvPr/>
        </p:nvSpPr>
        <p:spPr>
          <a:xfrm>
            <a:off x="1390650" y="1179576"/>
            <a:ext cx="69342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对比维度</a:t>
            </a:r>
            <a:endParaRPr sz="1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68456" y="1179576"/>
            <a:ext cx="1904365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Pony Agent + CodeArts Req</a:t>
            </a:r>
            <a:endParaRPr sz="1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28075" y="1179576"/>
            <a:ext cx="1197610" cy="245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OpenSpec-HW2</a:t>
            </a:r>
            <a:endParaRPr sz="1000" b="1">
              <a:solidFill>
                <a:srgbClr val="FFFFFF"/>
              </a:solidFill>
              <a:latin typeface="微软雅黑"/>
              <a:ea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1554480"/>
            <a:ext cx="2560320" cy="530352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13" name="Rounded Rectangle 12"/>
          <p:cNvSpPr/>
          <p:nvPr/>
        </p:nvSpPr>
        <p:spPr>
          <a:xfrm>
            <a:off x="3108960" y="1554480"/>
            <a:ext cx="4023360" cy="530352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14" name="Rounded Rectangle 13"/>
          <p:cNvSpPr/>
          <p:nvPr/>
        </p:nvSpPr>
        <p:spPr>
          <a:xfrm>
            <a:off x="7223760" y="1554480"/>
            <a:ext cx="4206240" cy="530352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15" name="TextBox 14"/>
          <p:cNvSpPr txBox="1"/>
          <p:nvPr/>
        </p:nvSpPr>
        <p:spPr>
          <a:xfrm>
            <a:off x="530352" y="1591056"/>
            <a:ext cx="241401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333333"/>
                </a:solidFill>
                <a:latin typeface="微软雅黑"/>
                <a:ea typeface="微软雅黑"/>
              </a:rPr>
              <a:t>需求输入方式</a:t>
            </a:r>
            <a:endParaRPr sz="1000" b="1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82112" y="1572768"/>
            <a:ext cx="3877056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自然语言 → Pony 生成需求文档</a:t>
            </a:r>
            <a:endParaRPr sz="1000" b="0">
              <a:solidFill>
                <a:srgbClr val="333333"/>
              </a:solidFill>
            </a:endParaRPr>
          </a:p>
          <a:p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/pony 分解需求 → 功能清单 + 优先级</a:t>
            </a:r>
            <a:endParaRPr sz="1000" b="0">
              <a:solidFill>
                <a:srgbClr val="999999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296912" y="1572768"/>
            <a:ext cx="4059935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7C10"/>
                </a:solidFill>
                <a:latin typeface="微软雅黑"/>
                <a:ea typeface="微软雅黑"/>
              </a:rPr>
              <a:t>Proposal → Usecases → Specs 多步演进</a:t>
            </a:r>
            <a:endParaRPr sz="1000" b="1">
              <a:solidFill>
                <a:srgbClr val="107C10"/>
              </a:solidFill>
            </a:endParaRPr>
          </a:p>
          <a:p>
            <a:r>
              <a:rPr sz="1000" b="0">
                <a:solidFill>
                  <a:srgbClr val="555555"/>
                </a:solidFill>
                <a:latin typeface="微软雅黑"/>
                <a:ea typeface="微软雅黑"/>
              </a:rPr>
              <a:t>每步基于前一步的结构化产出推导</a:t>
            </a:r>
            <a:endParaRPr sz="1000" b="0">
              <a:solidFill>
                <a:srgbClr val="555555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57200" y="2112264"/>
            <a:ext cx="2560320" cy="530352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19" name="Rounded Rectangle 18"/>
          <p:cNvSpPr/>
          <p:nvPr/>
        </p:nvSpPr>
        <p:spPr>
          <a:xfrm>
            <a:off x="3108960" y="2112264"/>
            <a:ext cx="4023360" cy="530352"/>
          </a:xfrm>
          <a:prstGeom prst="roundRect">
            <a:avLst/>
          </a:prstGeom>
          <a:solidFill>
            <a:srgbClr val="FE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20" name="Rounded Rectangle 19"/>
          <p:cNvSpPr/>
          <p:nvPr/>
        </p:nvSpPr>
        <p:spPr>
          <a:xfrm>
            <a:off x="7223760" y="2112264"/>
            <a:ext cx="4206240" cy="530352"/>
          </a:xfrm>
          <a:prstGeom prst="roundRect">
            <a:avLst/>
          </a:prstGeom>
          <a:solidFill>
            <a:srgbClr val="FE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21" name="TextBox 20"/>
          <p:cNvSpPr txBox="1"/>
          <p:nvPr/>
        </p:nvSpPr>
        <p:spPr>
          <a:xfrm>
            <a:off x="530352" y="2148840"/>
            <a:ext cx="241401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333333"/>
                </a:solidFill>
                <a:latin typeface="微软雅黑"/>
                <a:ea typeface="微软雅黑"/>
              </a:rPr>
              <a:t>需求结构化程度</a:t>
            </a:r>
            <a:endParaRPr sz="1000" b="1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182112" y="2130552"/>
            <a:ext cx="3877056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文档级：生成需求描述文档</a:t>
            </a:r>
            <a:endParaRPr sz="1000" b="0">
              <a:solidFill>
                <a:srgbClr val="333333"/>
              </a:solidFill>
            </a:endParaRPr>
          </a:p>
          <a:p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IPD 模板：RR → IR → SR → AR 分层</a:t>
            </a:r>
            <a:endParaRPr sz="1000" b="0">
              <a:solidFill>
                <a:srgbClr val="999999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296912" y="2130552"/>
            <a:ext cx="4059935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7C10"/>
                </a:solidFill>
                <a:latin typeface="微软雅黑"/>
                <a:ea typeface="微软雅黑"/>
              </a:rPr>
              <a:t>场景级：Given / When / Then 可测试规格</a:t>
            </a:r>
            <a:endParaRPr sz="1000" b="1">
              <a:solidFill>
                <a:srgbClr val="107C10"/>
              </a:solidFill>
            </a:endParaRPr>
          </a:p>
          <a:p>
            <a:r>
              <a:rPr sz="1000" b="0">
                <a:solidFill>
                  <a:srgbClr val="555555"/>
                </a:solidFill>
                <a:latin typeface="微软雅黑"/>
                <a:ea typeface="微软雅黑"/>
              </a:rPr>
              <a:t>每条 Spec 绑定具体 Usecase 来源</a:t>
            </a:r>
            <a:endParaRPr sz="1000" b="0">
              <a:solidFill>
                <a:srgbClr val="555555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57200" y="2670048"/>
            <a:ext cx="2560320" cy="530352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25" name="Rounded Rectangle 24"/>
          <p:cNvSpPr/>
          <p:nvPr/>
        </p:nvSpPr>
        <p:spPr>
          <a:xfrm>
            <a:off x="3108960" y="2670048"/>
            <a:ext cx="4023360" cy="530352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26" name="Rounded Rectangle 25"/>
          <p:cNvSpPr/>
          <p:nvPr/>
        </p:nvSpPr>
        <p:spPr>
          <a:xfrm>
            <a:off x="7223760" y="2670048"/>
            <a:ext cx="4206240" cy="530352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27" name="TextBox 26"/>
          <p:cNvSpPr txBox="1"/>
          <p:nvPr/>
        </p:nvSpPr>
        <p:spPr>
          <a:xfrm>
            <a:off x="530352" y="2706624"/>
            <a:ext cx="241401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333333"/>
                </a:solidFill>
                <a:latin typeface="微软雅黑"/>
                <a:ea typeface="微软雅黑"/>
              </a:rPr>
              <a:t>异常/边界覆盖</a:t>
            </a:r>
            <a:endParaRPr sz="1000" b="1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82112" y="2688336"/>
            <a:ext cx="3877056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依赖 AI 自行判断</a:t>
            </a:r>
            <a:endParaRPr sz="1000" b="0">
              <a:solidFill>
                <a:srgbClr val="333333"/>
              </a:solidFill>
            </a:endParaRPr>
          </a:p>
          <a:p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无强制的异常场景梳理机制</a:t>
            </a:r>
            <a:endParaRPr sz="1000" b="0">
              <a:solidFill>
                <a:srgbClr val="999999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296912" y="2688336"/>
            <a:ext cx="4059935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7C10"/>
                </a:solidFill>
                <a:latin typeface="微软雅黑"/>
                <a:ea typeface="微软雅黑"/>
              </a:rPr>
              <a:t>Usecases 的 Extensions 强制梳理异常路径</a:t>
            </a:r>
            <a:endParaRPr sz="1000" b="1">
              <a:solidFill>
                <a:srgbClr val="107C10"/>
              </a:solidFill>
            </a:endParaRPr>
          </a:p>
          <a:p>
            <a:r>
              <a:rPr sz="1000" b="0">
                <a:solidFill>
                  <a:srgbClr val="555555"/>
                </a:solidFill>
                <a:latin typeface="微软雅黑"/>
                <a:ea typeface="微软雅黑"/>
              </a:rPr>
              <a:t>实测比原生版多发现 3 个关键边界场景</a:t>
            </a:r>
            <a:endParaRPr sz="1000" b="0">
              <a:solidFill>
                <a:srgbClr val="555555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57200" y="3227832"/>
            <a:ext cx="2560320" cy="530352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31" name="Rounded Rectangle 30"/>
          <p:cNvSpPr/>
          <p:nvPr/>
        </p:nvSpPr>
        <p:spPr>
          <a:xfrm>
            <a:off x="3108960" y="3227832"/>
            <a:ext cx="4023360" cy="530352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32" name="Rounded Rectangle 31"/>
          <p:cNvSpPr/>
          <p:nvPr/>
        </p:nvSpPr>
        <p:spPr>
          <a:xfrm>
            <a:off x="7223760" y="3227832"/>
            <a:ext cx="4206240" cy="530352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33" name="TextBox 32"/>
          <p:cNvSpPr txBox="1"/>
          <p:nvPr/>
        </p:nvSpPr>
        <p:spPr>
          <a:xfrm>
            <a:off x="530352" y="3264408"/>
            <a:ext cx="241401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333333"/>
                </a:solidFill>
                <a:latin typeface="微软雅黑"/>
                <a:ea typeface="微软雅黑"/>
              </a:rPr>
              <a:t>变更管理</a:t>
            </a:r>
            <a:endParaRPr sz="1000" b="1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182112" y="3246120"/>
            <a:ext cx="3877056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需求文档整体替换或人工修改</a:t>
            </a:r>
            <a:endParaRPr sz="1000" b="0">
              <a:solidFill>
                <a:srgbClr val="333333"/>
              </a:solidFill>
            </a:endParaRPr>
          </a:p>
          <a:p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无 delta 机制，变更历史不透明</a:t>
            </a:r>
            <a:endParaRPr sz="1000" b="0">
              <a:solidFill>
                <a:srgbClr val="999999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296912" y="3246120"/>
            <a:ext cx="4059935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7C10"/>
                </a:solidFill>
                <a:latin typeface="微软雅黑"/>
                <a:ea typeface="微软雅黑"/>
              </a:rPr>
              <a:t>Delta Spec：只描述 ADDED / MODIFIED / REMOVED</a:t>
            </a:r>
            <a:endParaRPr sz="1000" b="1">
              <a:solidFill>
                <a:srgbClr val="107C10"/>
              </a:solidFill>
            </a:endParaRPr>
          </a:p>
          <a:p>
            <a:r>
              <a:rPr sz="1000" b="0">
                <a:solidFill>
                  <a:srgbClr val="555555"/>
                </a:solidFill>
                <a:latin typeface="微软雅黑"/>
                <a:ea typeface="微软雅黑"/>
              </a:rPr>
              <a:t>变更意图显式记录，可审查可回溯</a:t>
            </a:r>
            <a:endParaRPr sz="1000" b="0">
              <a:solidFill>
                <a:srgbClr val="555555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57200" y="3785615"/>
            <a:ext cx="2560320" cy="530352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37" name="Rounded Rectangle 36"/>
          <p:cNvSpPr/>
          <p:nvPr/>
        </p:nvSpPr>
        <p:spPr>
          <a:xfrm>
            <a:off x="3108960" y="3785615"/>
            <a:ext cx="4023360" cy="530352"/>
          </a:xfrm>
          <a:prstGeom prst="roundRect">
            <a:avLst/>
          </a:prstGeom>
          <a:solidFill>
            <a:srgbClr val="FE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38" name="Rounded Rectangle 37"/>
          <p:cNvSpPr/>
          <p:nvPr/>
        </p:nvSpPr>
        <p:spPr>
          <a:xfrm>
            <a:off x="7223760" y="3785615"/>
            <a:ext cx="4206240" cy="530352"/>
          </a:xfrm>
          <a:prstGeom prst="roundRect">
            <a:avLst/>
          </a:prstGeom>
          <a:solidFill>
            <a:srgbClr val="FEF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000"/>
          </a:p>
        </p:txBody>
      </p:sp>
      <p:sp>
        <p:nvSpPr>
          <p:cNvPr id="39" name="TextBox 38"/>
          <p:cNvSpPr txBox="1"/>
          <p:nvPr/>
        </p:nvSpPr>
        <p:spPr>
          <a:xfrm>
            <a:off x="530352" y="3822191"/>
            <a:ext cx="2414015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333333"/>
                </a:solidFill>
                <a:latin typeface="微软雅黑"/>
                <a:ea typeface="微软雅黑"/>
              </a:rPr>
              <a:t>Spec 演进能力</a:t>
            </a:r>
            <a:endParaRPr sz="1000" b="1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182112" y="3803903"/>
            <a:ext cx="3877056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需求文档为一次性产出</a:t>
            </a:r>
            <a:endParaRPr sz="1000" b="0">
              <a:solidFill>
                <a:srgbClr val="333333"/>
              </a:solidFill>
            </a:endParaRPr>
          </a:p>
          <a:p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无归档合并、无“活文档”演进机制</a:t>
            </a:r>
            <a:endParaRPr sz="1000" b="0">
              <a:solidFill>
                <a:srgbClr val="999999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296912" y="3803903"/>
            <a:ext cx="4059935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7C10"/>
                </a:solidFill>
                <a:latin typeface="微软雅黑"/>
                <a:ea typeface="微软雅黑"/>
              </a:rPr>
              <a:t>Archive 归档 → delta 合并到 main specs</a:t>
            </a:r>
            <a:endParaRPr sz="1000" b="1">
              <a:solidFill>
                <a:srgbClr val="107C10"/>
              </a:solidFill>
            </a:endParaRPr>
          </a:p>
          <a:p>
            <a:r>
              <a:rPr sz="1000" b="0">
                <a:solidFill>
                  <a:srgbClr val="555555"/>
                </a:solidFill>
                <a:latin typeface="微软雅黑"/>
                <a:ea typeface="微软雅黑"/>
              </a:rPr>
              <a:t>Specs 随迭代持续演进，永远反映最新状态</a:t>
            </a:r>
            <a:endParaRPr sz="1000" b="0">
              <a:solidFill>
                <a:srgbClr val="555555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57200" y="5029200"/>
            <a:ext cx="10789920" cy="9601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74920"/>
            <a:ext cx="1042416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  <a:latin typeface="微软雅黑"/>
                <a:ea typeface="微软雅黑"/>
              </a:rPr>
              <a:t>核心差异</a:t>
            </a:r>
            <a:r>
              <a:rPr lang="en-US" sz="1300" b="1">
                <a:solidFill>
                  <a:srgbClr val="E86C00"/>
                </a:solidFill>
                <a:latin typeface="微软雅黑"/>
                <a:ea typeface="微软雅黑"/>
              </a:rPr>
              <a:t>： Pony Agent</a:t>
            </a:r>
            <a:r>
              <a:rPr lang="zh-CN" altLang="en-US" sz="1300" b="1">
                <a:solidFill>
                  <a:srgbClr val="E86C00"/>
                </a:solidFill>
                <a:latin typeface="微软雅黑"/>
                <a:ea typeface="微软雅黑"/>
              </a:rPr>
              <a:t>对于</a:t>
            </a:r>
            <a:r>
              <a:rPr lang="en-US" altLang="zh-CN" sz="1300" b="1">
                <a:solidFill>
                  <a:srgbClr val="E86C00"/>
                </a:solidFill>
                <a:latin typeface="微软雅黑"/>
                <a:ea typeface="微软雅黑"/>
              </a:rPr>
              <a:t>Agentic Code</a:t>
            </a:r>
            <a:r>
              <a:rPr lang="zh-CN" altLang="en-US" sz="1300" b="1">
                <a:solidFill>
                  <a:srgbClr val="E86C00"/>
                </a:solidFill>
                <a:latin typeface="微软雅黑"/>
                <a:ea typeface="微软雅黑"/>
              </a:rPr>
              <a:t>的需求治理深度不够</a:t>
            </a:r>
            <a:endParaRPr sz="1300" b="1">
              <a:solidFill>
                <a:srgbClr val="E86C00"/>
              </a:solidFill>
            </a:endParaRP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Pony Agent </a:t>
            </a:r>
            <a:r>
              <a:rPr lang="zh-CN" sz="1100" b="0">
                <a:solidFill>
                  <a:srgbClr val="CCCCCC"/>
                </a:solidFill>
                <a:latin typeface="微软雅黑"/>
                <a:ea typeface="微软雅黑"/>
              </a:rPr>
              <a:t>部分</a:t>
            </a:r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解决“把模糊需求变成文档”，OpenSpec-HW2 </a:t>
            </a:r>
            <a:r>
              <a:rPr lang="zh-CN" sz="1100" b="0">
                <a:solidFill>
                  <a:srgbClr val="CCCCCC"/>
                </a:solidFill>
                <a:latin typeface="微软雅黑"/>
                <a:ea typeface="微软雅黑"/>
              </a:rPr>
              <a:t>潜在</a:t>
            </a:r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解决“把需求变成可测试、可追溯、可演进的结构化规格”。</a:t>
            </a:r>
            <a:endParaRPr sz="1100" b="0">
              <a:solidFill>
                <a:srgbClr val="CCCCCC"/>
              </a:solidFill>
            </a:endParaRP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类比：Pony 像一个“需求写手”（写完交付），OpenSpec 像一个“需求工程体系”（写完还要维护、演进、追溯）。</a:t>
            </a:r>
            <a:endParaRPr sz="1100" b="0">
              <a:solidFill>
                <a:srgbClr val="CCCCCC"/>
              </a:solidFill>
            </a:endParaRP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CodeArts Req 的 IPD 追溯链</a:t>
            </a:r>
            <a:r>
              <a:rPr lang="zh-CN" sz="1100" b="0">
                <a:solidFill>
                  <a:srgbClr val="CCCCCC"/>
                </a:solidFill>
                <a:latin typeface="微软雅黑"/>
                <a:ea typeface="微软雅黑"/>
              </a:rPr>
              <a:t>有一定追溯能力</a:t>
            </a:r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，但其</a:t>
            </a:r>
            <a:r>
              <a:rPr lang="en-US" sz="1100" b="0">
                <a:solidFill>
                  <a:srgbClr val="CCCCCC"/>
                </a:solidFill>
                <a:latin typeface="微软雅黑"/>
                <a:ea typeface="微软雅黑"/>
              </a:rPr>
              <a:t>Spec</a:t>
            </a:r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规格仍是传统需求文档，缺少 OpenSpec 的 BDD 场景规格和 delta 变更管理。</a:t>
            </a:r>
            <a:endParaRPr sz="1100" b="0">
              <a:solidFill>
                <a:srgbClr val="CCCCCC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7200" y="6053328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999999"/>
                </a:solidFill>
                <a:latin typeface="微软雅黑"/>
                <a:ea typeface="微软雅黑"/>
              </a:rPr>
              <a:t>数据来源：华为云 CodeArts Req 官方文档 | IT之家 (2025.6) | AI工具集 | Martin Fowler SDD 对比</a:t>
            </a:r>
            <a:endParaRPr sz="800" b="0">
              <a:solidFill>
                <a:srgbClr val="999999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14/34</a:t>
            </a:r>
            <a:endParaRPr sz="1000" b="0">
              <a:solidFill>
                <a:srgbClr val="999999"/>
              </a:solidFill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9728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微软雅黑"/>
                <a:ea typeface="微软雅黑"/>
              </a:rPr>
              <a:t>OpenSpec</a:t>
            </a:r>
            <a:r>
              <a:rPr lang="en-US" sz="2400" b="1">
                <a:solidFill>
                  <a:srgbClr val="1A1A2E"/>
                </a:solidFill>
                <a:latin typeface="微软雅黑"/>
                <a:ea typeface="微软雅黑"/>
              </a:rPr>
              <a:t>-HW2  </a:t>
            </a:r>
            <a:r>
              <a:rPr lang="zh-CN" altLang="en-US" sz="2400" b="1">
                <a:solidFill>
                  <a:srgbClr val="1A1A2E"/>
                </a:solidFill>
                <a:latin typeface="微软雅黑"/>
                <a:ea typeface="微软雅黑"/>
              </a:rPr>
              <a:t>（或类似工具平台）</a:t>
            </a:r>
            <a:r>
              <a:rPr sz="2400" b="1">
                <a:solidFill>
                  <a:srgbClr val="1A1A2E"/>
                </a:solidFill>
                <a:latin typeface="微软雅黑"/>
                <a:ea typeface="微软雅黑"/>
              </a:rPr>
              <a:t> 现有不足与改进空间</a:t>
            </a:r>
            <a:endParaRPr sz="2400" b="1">
              <a:solidFill>
                <a:srgbClr val="1A1A2E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微软雅黑"/>
                <a:ea typeface="微软雅黑"/>
              </a:rPr>
              <a:t>竞品未解决这些问题 → 改进这些不足既能补自身短板，又能形成差异化优势</a:t>
            </a:r>
            <a:endParaRPr sz="1300" b="0">
              <a:solidFill>
                <a:srgbClr val="555555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40080" y="1097280"/>
            <a:ext cx="10881360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88888"/>
                </a:solidFill>
                <a:latin typeface="微软雅黑"/>
                <a:ea typeface="微软雅黑"/>
              </a:rPr>
              <a:t>#</a:t>
            </a:r>
            <a:endParaRPr sz="1100" b="1">
              <a:solidFill>
                <a:srgbClr val="888888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97380" y="1224915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2E"/>
                </a:solidFill>
                <a:latin typeface="微软雅黑"/>
                <a:ea typeface="微软雅黑"/>
              </a:rPr>
              <a:t>OpenSpec 现有不足</a:t>
            </a:r>
            <a:endParaRPr sz="1200" b="1">
              <a:solidFill>
                <a:srgbClr val="1A1A2E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86905" y="119443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78D4"/>
                </a:solidFill>
                <a:latin typeface="微软雅黑"/>
                <a:ea typeface="微软雅黑"/>
              </a:rPr>
              <a:t>→ 改进方向</a:t>
            </a:r>
            <a:endParaRPr sz="1200" b="1">
              <a:solidFill>
                <a:srgbClr val="0078D4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80" y="1508760"/>
            <a:ext cx="10881360" cy="9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10881360" cy="9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03320"/>
            <a:ext cx="10881360" cy="9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10881360" cy="9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78D4"/>
                </a:solidFill>
                <a:latin typeface="微软雅黑"/>
                <a:ea typeface="微软雅黑"/>
              </a:rPr>
              <a:t>1</a:t>
            </a:r>
            <a:endParaRPr sz="1800" b="1">
              <a:solidFill>
                <a:srgbClr val="0078D4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897380" y="160909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33333"/>
                </a:solidFill>
                <a:latin typeface="微软雅黑"/>
                <a:ea typeface="微软雅黑"/>
              </a:rPr>
              <a:t>没有 Spec 质量审查机制</a:t>
            </a:r>
            <a:endParaRPr sz="1100" b="1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Spec 生成后直接用于实现，遗漏、矛盾、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模糊之处全靠人工发现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986905" y="16002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78D4"/>
                </a:solidFill>
                <a:latin typeface="微软雅黑"/>
                <a:ea typeface="微软雅黑"/>
              </a:rPr>
              <a:t>Multi-Perspective</a:t>
            </a:r>
            <a:endParaRPr sz="1100" b="1">
              <a:solidFill>
                <a:srgbClr val="0078D4"/>
              </a:solidFill>
              <a:latin typeface="微软雅黑"/>
              <a:ea typeface="微软雅黑"/>
            </a:endParaRPr>
          </a:p>
          <a:p>
            <a:r>
              <a:rPr sz="1100" b="1">
                <a:solidFill>
                  <a:srgbClr val="0078D4"/>
                </a:solidFill>
                <a:latin typeface="微软雅黑"/>
                <a:ea typeface="微软雅黑"/>
              </a:rPr>
              <a:t>Spec Testing</a:t>
            </a:r>
            <a:endParaRPr sz="1100" b="1">
              <a:solidFill>
                <a:srgbClr val="0078D4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0078D4"/>
                </a:solidFill>
                <a:latin typeface="微软雅黑"/>
                <a:ea typeface="微软雅黑"/>
              </a:rPr>
              <a:t>多视角自动审查 spec 完整性</a:t>
            </a:r>
            <a:endParaRPr sz="1100" b="0">
              <a:solidFill>
                <a:srgbClr val="0078D4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07C10"/>
                </a:solidFill>
                <a:latin typeface="微软雅黑"/>
                <a:ea typeface="微软雅黑"/>
              </a:rPr>
              <a:t>2</a:t>
            </a:r>
            <a:endParaRPr sz="1800" b="1">
              <a:solidFill>
                <a:srgbClr val="107C10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897380" y="271526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33333"/>
                </a:solidFill>
                <a:latin typeface="微软雅黑"/>
                <a:ea typeface="微软雅黑"/>
              </a:rPr>
              <a:t>Spec 只是 Markdown 文档</a:t>
            </a:r>
            <a:endParaRPr sz="1100" b="1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Apply 阶段 AI 可以偏离 spec，没有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强制约束机制，违规无法自动拦截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063740" y="26974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07C10"/>
                </a:solidFill>
                <a:latin typeface="微软雅黑"/>
                <a:ea typeface="微软雅黑"/>
              </a:rPr>
              <a:t>Spec-as-Runtime</a:t>
            </a:r>
            <a:endParaRPr sz="1100" b="1">
              <a:solidFill>
                <a:srgbClr val="107C10"/>
              </a:solidFill>
              <a:latin typeface="微软雅黑"/>
              <a:ea typeface="微软雅黑"/>
            </a:endParaRPr>
          </a:p>
          <a:p>
            <a:r>
              <a:rPr sz="1100" b="1">
                <a:solidFill>
                  <a:srgbClr val="107C10"/>
                </a:solidFill>
                <a:latin typeface="微软雅黑"/>
                <a:ea typeface="微软雅黑"/>
              </a:rPr>
              <a:t>Guardrail</a:t>
            </a:r>
            <a:endParaRPr sz="1100" b="1">
              <a:solidFill>
                <a:srgbClr val="107C10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107C10"/>
                </a:solidFill>
                <a:latin typeface="微软雅黑"/>
                <a:ea typeface="微软雅黑"/>
              </a:rPr>
              <a:t>Spec 编译为运行时约束</a:t>
            </a:r>
            <a:endParaRPr sz="1100" b="0">
              <a:solidFill>
                <a:srgbClr val="107C10"/>
              </a:solidFill>
              <a:latin typeface="微软雅黑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38404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86C00"/>
                </a:solidFill>
                <a:latin typeface="微软雅黑"/>
                <a:ea typeface="微软雅黑"/>
              </a:rPr>
              <a:t>3</a:t>
            </a:r>
            <a:endParaRPr sz="1800" b="1">
              <a:solidFill>
                <a:srgbClr val="E86C00"/>
              </a:solidFill>
              <a:latin typeface="微软雅黑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897380" y="380365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33333"/>
                </a:solidFill>
                <a:latin typeface="微软雅黑"/>
                <a:ea typeface="微软雅黑"/>
              </a:rPr>
              <a:t>每次变更从零开始，无经验积累</a:t>
            </a:r>
            <a:endParaRPr sz="1100" b="1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不会从历史项目中学习哪些 spec 写法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有效，反复踩同样的坑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124065" y="37947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  <a:latin typeface="微软雅黑"/>
                <a:ea typeface="微软雅黑"/>
              </a:rPr>
              <a:t>Self-Evolving</a:t>
            </a:r>
            <a:endParaRPr sz="1100" b="1">
              <a:solidFill>
                <a:srgbClr val="E86C00"/>
              </a:solidFill>
              <a:latin typeface="微软雅黑"/>
              <a:ea typeface="微软雅黑"/>
            </a:endParaRPr>
          </a:p>
          <a:p>
            <a:r>
              <a:rPr sz="1100" b="1">
                <a:solidFill>
                  <a:srgbClr val="E86C00"/>
                </a:solidFill>
                <a:latin typeface="微软雅黑"/>
                <a:ea typeface="微软雅黑"/>
              </a:rPr>
              <a:t>Spec Agents</a:t>
            </a:r>
            <a:endParaRPr sz="1100" b="1">
              <a:solidFill>
                <a:srgbClr val="E86C00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E86C00"/>
                </a:solidFill>
                <a:latin typeface="微软雅黑"/>
                <a:ea typeface="微软雅黑"/>
              </a:rPr>
              <a:t>自动提炼经验，持续进化</a:t>
            </a:r>
            <a:endParaRPr sz="1100" b="0">
              <a:solidFill>
                <a:srgbClr val="E86C00"/>
              </a:solidFill>
              <a:latin typeface="微软雅黑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" y="49377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D13438"/>
                </a:solidFill>
                <a:latin typeface="微软雅黑"/>
                <a:ea typeface="微软雅黑"/>
              </a:rPr>
              <a:t>4</a:t>
            </a:r>
            <a:endParaRPr sz="1800" b="1">
              <a:solidFill>
                <a:srgbClr val="D13438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97380" y="48920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33333"/>
                </a:solidFill>
                <a:latin typeface="微软雅黑"/>
                <a:ea typeface="微软雅黑"/>
              </a:rPr>
              <a:t>通用框架，不懂行业知识</a:t>
            </a:r>
            <a:endParaRPr sz="1100" b="1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不理解 3GPP / ISO 26262 等行业术语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和合规要求，生成的 spec 缺乏行业深度</a:t>
            </a:r>
            <a:endParaRPr sz="1100" b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124065" y="48920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13438"/>
                </a:solidFill>
                <a:latin typeface="微软雅黑"/>
                <a:ea typeface="微软雅黑"/>
              </a:rPr>
              <a:t>Domain-Specific</a:t>
            </a:r>
            <a:endParaRPr sz="1100" b="1">
              <a:solidFill>
                <a:srgbClr val="D13438"/>
              </a:solidFill>
              <a:latin typeface="微软雅黑"/>
              <a:ea typeface="微软雅黑"/>
            </a:endParaRPr>
          </a:p>
          <a:p>
            <a:r>
              <a:rPr sz="1100" b="1">
                <a:solidFill>
                  <a:srgbClr val="D13438"/>
                </a:solidFill>
                <a:latin typeface="微软雅黑"/>
                <a:ea typeface="微软雅黑"/>
              </a:rPr>
              <a:t>Packs</a:t>
            </a:r>
            <a:endParaRPr sz="1100" b="1">
              <a:solidFill>
                <a:srgbClr val="D13438"/>
              </a:solidFill>
              <a:latin typeface="微软雅黑"/>
              <a:ea typeface="微软雅黑"/>
            </a:endParaRPr>
          </a:p>
          <a:p>
            <a:r>
              <a:rPr sz="1100" b="0">
                <a:solidFill>
                  <a:srgbClr val="D13438"/>
                </a:solidFill>
                <a:latin typeface="微软雅黑"/>
                <a:ea typeface="微软雅黑"/>
              </a:rPr>
              <a:t>行业知识预配置包</a:t>
            </a:r>
            <a:endParaRPr sz="1100" b="0">
              <a:solidFill>
                <a:srgbClr val="D13438"/>
              </a:solidFill>
              <a:latin typeface="微软雅黑"/>
              <a:ea typeface="微软雅黑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0080" y="5897880"/>
            <a:ext cx="1088136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  <a:latin typeface="微软雅黑"/>
                <a:ea typeface="微软雅黑"/>
              </a:rPr>
              <a:t>这四个不足既是 OpenSpec 自身的改进目标，也恰好是所有竞品的共同盲区——改进它们就是我们的差异化路径。</a:t>
            </a:r>
            <a:endParaRPr sz="1200" b="0">
              <a:solidFill>
                <a:srgbClr val="1A1A2E"/>
              </a:solidFill>
              <a:latin typeface="微软雅黑"/>
              <a:ea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10996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sz="1000" b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109960" y="640080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333333"/>
                </a:solidFill>
                <a:latin typeface="微软雅黑"/>
                <a:ea typeface="微软雅黑"/>
              </a:rPr>
              <a:t>15/34</a:t>
            </a:r>
            <a:endParaRPr sz="10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26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Openspec-HW2</a:t>
            </a:r>
            <a:r>
              <a:rPr lang="zh-CN" altLang="en-US" sz="26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（或类似工具平台）</a:t>
            </a:r>
            <a:r>
              <a:rPr lang="zh-CN" sz="26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26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的研究方向</a:t>
            </a:r>
            <a:endParaRPr sz="2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2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99895" y="1119990"/>
            <a:ext cx="3500000" cy="24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99895" y="1119990"/>
            <a:ext cx="3500000" cy="6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19895" y="1269990"/>
            <a:ext cx="360000" cy="36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9895" y="128999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1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759895" y="128999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Multi-Perspective Spec Testing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359895" y="173999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多智能体多视角测试 spec
完整性审查员 + 异常路径测试员 + 边界条件分析员 + 集成分析师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59895" y="2619990"/>
            <a:ext cx="3180000" cy="1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9895" y="2739990"/>
            <a:ext cx="31800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Perspective-Based Review 前沿方向</a:t>
            </a:r>
            <a:b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</a:b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基于PBR方法论</a:t>
            </a:r>
            <a:endParaRPr sz="11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949895" y="1119990"/>
            <a:ext cx="35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9895" y="1119990"/>
            <a:ext cx="3500000" cy="6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69895" y="1269990"/>
            <a:ext cx="360000" cy="36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69895" y="128999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2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09895" y="128999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Spec-as-Runtime-Guardrail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09895" y="173999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Spec 编译为运行时约束
AI 写代码时实时拦截违规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09895" y="2619990"/>
            <a:ext cx="3180000" cy="1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9895" y="2739990"/>
            <a:ext cx="3180000" cy="321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事后追溯→事前预防</a:t>
            </a:r>
            <a:endParaRPr sz="11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159905" y="3722855"/>
            <a:ext cx="35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9905" y="3722855"/>
            <a:ext cx="3500000" cy="6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79905" y="3872855"/>
            <a:ext cx="360000" cy="36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79905" y="3892855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3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719905" y="3892855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Self-Evolving Spec Agents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319905" y="4342855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每次 Apply→Verify 循环自动提炼经验
蒸馏“Spec 最佳实践原则”持续进化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19905" y="5222855"/>
            <a:ext cx="3180000" cy="1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19905" y="5342855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经验积累效应：使用越多，spec质量越高</a:t>
            </a:r>
            <a:b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</a:b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差异化路径：竞品目前均为 stateless</a:t>
            </a:r>
            <a:endParaRPr sz="11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949895" y="3719990"/>
            <a:ext cx="3500000" cy="2400000"/>
          </a:xfrm>
          <a:prstGeom prst="roundRect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9895" y="3719990"/>
            <a:ext cx="3500000" cy="6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69895" y="3869990"/>
            <a:ext cx="360000" cy="36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69895" y="388999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4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509895" y="388999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B8B"/>
                </a:solidFill>
                <a:latin typeface="微软雅黑" panose="020B0503020204020204" charset="-122"/>
                <a:ea typeface="微软雅黑"/>
              </a:rPr>
              <a:t>Domain-Specific Packs</a:t>
            </a:r>
            <a:endParaRPr sz="14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109895" y="4339990"/>
            <a:ext cx="31800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lang="zh-CN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光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/</a:t>
            </a:r>
            <a:r>
              <a:rPr lang="en-US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GTS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/</a:t>
            </a:r>
            <a:r>
              <a:rPr lang="zh-CN"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智能驾驶</a:t>
            </a: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行业预配置
行业规则 + spec 模板 + schema 约束 + 验证规则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109895" y="5219990"/>
            <a:ext cx="3180000" cy="1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9895" y="5339990"/>
            <a:ext cx="318000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华为业务域适配：光/GTS/智驾/昇腾/鸿蒙</a:t>
            </a:r>
            <a:r>
              <a:rPr lang="zh-CN" sz="1000" b="0">
                <a:solidFill>
                  <a:srgbClr val="333333"/>
                </a:solidFill>
                <a:latin typeface="微软雅黑"/>
                <a:ea typeface="微软雅黑"/>
              </a:rPr>
              <a:t>潜在都能生成</a:t>
            </a:r>
            <a:r>
              <a:rPr lang="en-US" altLang="zh-CN" sz="1000" b="0">
                <a:solidFill>
                  <a:srgbClr val="333333"/>
                </a:solidFill>
                <a:latin typeface="微软雅黑"/>
                <a:ea typeface="微软雅黑"/>
              </a:rPr>
              <a:t>domain specific</a:t>
            </a: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 Pack</a:t>
            </a:r>
            <a:endParaRPr sz="11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微软雅黑" panose="020B0503020204020204" charset="-122"/>
                <a:ea typeface="微软雅黑"/>
              </a:rPr>
              <a:t>16/34</a:t>
            </a:r>
            <a:endParaRPr sz="10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6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潜在的研究</a:t>
            </a:r>
            <a:r>
              <a:rPr sz="2600" b="1">
                <a:solidFill>
                  <a:srgbClr val="1A1A2E"/>
                </a:solidFill>
                <a:latin typeface="微软雅黑" panose="020B0503020204020204" charset="-122"/>
                <a:ea typeface="微软雅黑"/>
              </a:rPr>
              <a:t>方向</a:t>
            </a:r>
            <a:endParaRPr sz="26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000" y="1300000"/>
            <a:ext cx="2700000" cy="51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Multi-Perspective
Spec Testing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 panose="020B0503020204020204" charset="-122"/>
                <a:ea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单一 AI 检查 spec 只能发现已知问题
缺乏创造性的多视角审查
返工率 30-50% 的深层原因是审查盲区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Potential </a:t>
            </a: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0215" y="3449955"/>
            <a:ext cx="2794000" cy="1445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部署多视角专业化 Agent 测试团队：
• 完整性审查员：找遗漏场景和逻辑矛盾
• 异常路径测试员：生成异常流程和错误场景
• 边界条件分析员：生成边界值和极端场景
• 集成分析师：与 main specs 交叉检测隐性冲突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1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Business Value</a:t>
            </a:r>
            <a:endParaRPr sz="13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基于 Multi-Agent Debate 研究</a:t>
            </a:r>
            <a:br>
              <a:rPr sz="1100">
                <a:solidFill>
                  <a:srgbClr val="333333"/>
                </a:solidFill>
                <a:latin typeface="微软雅黑"/>
                <a:ea typeface="微软雅黑"/>
              </a:rPr>
            </a:b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预计 1-3 月可完成原型验证</a:t>
            </a:r>
            <a:br>
              <a:rPr sz="1100">
                <a:solidFill>
                  <a:srgbClr val="333333"/>
                </a:solidFill>
                <a:latin typeface="微软雅黑"/>
                <a:ea typeface="微软雅黑"/>
              </a:rPr>
            </a:b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多视角审查被 PBR 研究验证有效</a:t>
            </a:r>
            <a:endParaRPr sz="11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802704" y="1300000"/>
            <a:ext cx="2700000" cy="5100000"/>
          </a:xfrm>
          <a:prstGeom prst="roundRect">
            <a:avLst/>
          </a:prstGeom>
          <a:solidFill>
            <a:srgbClr val="F0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B8B"/>
                </a:solidFill>
                <a:latin typeface="微软雅黑" panose="020B0503020204020204" charset="-122"/>
                <a:ea typeface="微软雅黑"/>
              </a:rPr>
              <a:t>Domain-Specific Packs</a:t>
            </a:r>
            <a:endParaRPr sz="15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862704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 panose="020B0503020204020204" charset="-122"/>
                <a:ea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22704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AI 不懂光/GTS/智驾等行业术语和合规要求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862704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Potential </a:t>
            </a: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22704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将领域知识打包为 Domain Packs：
• 行业规则（Rules）+ spec 模板
• Schema 约束 + 验证规则（Validators）
• AI 生成 spec 时自动引用行业知识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862704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B8B"/>
                </a:solidFill>
                <a:latin typeface="微软雅黑" panose="020B0503020204020204" charset="-122"/>
                <a:ea typeface="微软雅黑"/>
              </a:rPr>
              <a:t>Business Value</a:t>
            </a:r>
            <a:endParaRPr sz="13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22704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华为五大业务域的行业知识构成差异化壁垒</a:t>
            </a:r>
            <a:br>
              <a:rPr sz="1100">
                <a:solidFill>
                  <a:srgbClr val="333333"/>
                </a:solidFill>
                <a:latin typeface="微软雅黑"/>
                <a:ea typeface="微软雅黑"/>
              </a:rPr>
            </a:b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3GPP/ISO 26262 等合规需求驱动</a:t>
            </a:r>
            <a:br>
              <a:rPr sz="1100">
                <a:solidFill>
                  <a:srgbClr val="333333"/>
                </a:solidFill>
                <a:latin typeface="微软雅黑"/>
                <a:ea typeface="微软雅黑"/>
              </a:rPr>
            </a:b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十年以上行业积累可结构化封装为 Pack</a:t>
            </a:r>
            <a:endParaRPr sz="11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90000" y="1300000"/>
            <a:ext cx="2700000" cy="5100000"/>
          </a:xfrm>
          <a:prstGeom prst="roundRect">
            <a:avLst/>
          </a:prstGeom>
          <a:solidFill>
            <a:srgbClr val="FFF5E6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Self-Evolving
Spec Agents</a:t>
            </a:r>
            <a:endParaRPr sz="15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05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 panose="020B0503020204020204" charset="-122"/>
                <a:ea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1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AI Agent 每次都从零开始，无记忆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同类项目反复犯相同错误</a:t>
            </a:r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Spec 质量不随使用量提升，无积累效应</a:t>
            </a:r>
            <a:endParaRPr sz="1100" b="0">
              <a:solidFill>
                <a:srgbClr val="333333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05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Potential </a:t>
            </a: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11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每次 Apply→Verify 循环自动提炼经验：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• 记录哪些 spec 写法→高质量实现</a:t>
            </a:r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• 蒸馏“Spec 最佳实践原则”</a:t>
            </a:r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• 下次创建 spec 时自动注入原则</a:t>
            </a:r>
            <a:endParaRPr sz="1100" b="0">
              <a:solidFill>
                <a:srgbClr val="333333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05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Business Value</a:t>
            </a:r>
            <a:endParaRPr sz="13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11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经验积累：使用越多，spec质量越高</a:t>
            </a:r>
            <a:endParaRPr sz="11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经验沉淀为组织知识资产</a:t>
            </a:r>
            <a:endParaRPr sz="1100" b="1">
              <a:solidFill>
                <a:srgbClr val="E86C00"/>
              </a:solidFill>
            </a:endParaRPr>
          </a:p>
          <a:p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有望提升后续 spec 的首次通过率</a:t>
            </a:r>
            <a:endParaRPr sz="1100" b="1">
              <a:solidFill>
                <a:srgbClr val="E86C00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177296" y="1300000"/>
            <a:ext cx="2700000" cy="510000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Spec-as-Runtime
Guardrail</a:t>
            </a:r>
            <a:endParaRPr sz="15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237296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 panose="020B0503020204020204" charset="-122"/>
                <a:ea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297296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Traceability 是事后追溯——错了才发现
合规审计缺少实时证据
AI Agent 写码极快，事后追溯来不及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237296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Potential </a:t>
            </a:r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97296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Spec → 可执行约束编译器：
• AI 写代码时实时监控合规
• 违规代码落盘前拦截
• 自动生成 property-based tests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3237296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97296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Business Value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297296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范式创新：Design by Contract × AI Safety
电信/汽车/能源等安全关键行业
预防 &gt; 追溯，ROI 高 10 倍</a:t>
            </a:r>
            <a:endParaRPr sz="11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17/34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改进方向 1：Multi-Perspective Spec Testing（多智能体多视角规格测试）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现状问题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微软雅黑"/>
                <a:ea typeface="微软雅黑"/>
              </a:rPr>
              <a:t>当前的需求质量检查依赖单一 AI 或规则打分——本质上是“一个人检查自己的作业”。单一视角的审查只能发现已知类型的问题（歧义、冲突），但无法创造性地发现深层漏洞。学术研究表明，多视角审查可提升缺陷发现率 (Basili/Shull PBR: +41%)。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解决方案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部署一组专业化 Agent 测试团队，在 spec 提交前进行多视角交叉审查：完整性审查员（找遗漏场景和逻辑矛盾）、异常路径测试员（生成异常流程和错误场景）、边界条件分析员（生成边界值和竞态条件）、集成分析师（与 main specs 交叉检测隐性冲突）。多轮交叉审查后输出“经过多视角验证幸存的高质量 spec”。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Du et al. (ICML 2024) 证明 Multi-Agent Debate 提升 LLM 推理和事实准确性。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Chan et al. (ICLR 2024) ChatEval 验证了多智能体辩论在文本评估中的有效性。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Oriol et al. (RE@Next! 2025) 首次将 MAD 应用于需求工程，但尚未与结构化 spec 结合。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PBR文献 (Basili/Shull) 显示多视角审查可多发现约40%缺陷。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26/34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改进方向 2：Spec-as-Runtime-Guardrail（规格即运行时护栏）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03020"/>
            <a:ext cx="566928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现状问题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传统的 Spec-Code Traceability 是事后追溯</a:t>
            </a:r>
            <a:r>
              <a:rPr 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。也就是完成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代码</a:t>
            </a:r>
            <a:r>
              <a:rPr 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之后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，再去检查跟 spec 对不对得上。在 Agentic Coding 场景下，AI Agent 写代码的速度</a:t>
            </a:r>
            <a:r>
              <a:rPr 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较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快，事后追溯的延迟</a:t>
            </a:r>
            <a:r>
              <a:rPr 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已经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意味着</a:t>
            </a:r>
            <a:r>
              <a:rPr 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需要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大量返工。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endParaRPr sz="1600" b="1">
              <a:solidFill>
                <a:srgbClr val="107C10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① Spec→Constraint 编译器：把 BDD 的 Given/When/Then 编译为 property-based test predicates 和 invariant assertions</a:t>
            </a:r>
            <a:endParaRPr sz="130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② Agent 行为实时监控：AI 写代码时实时分析合规性</a:t>
            </a:r>
            <a:endParaRPr sz="130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③ 违规拦截：违反 spec 的代码在</a:t>
            </a:r>
            <a:r>
              <a:rPr lang="en-US"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save</a:t>
            </a:r>
            <a:r>
              <a:rPr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前被拦截。</a:t>
            </a:r>
            <a:endParaRPr sz="130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endParaRPr sz="1600" b="1">
              <a:solidFill>
                <a:srgbClr val="107C10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本质上是 Bertrand Meyer 的 Design by Contract 在 Agent </a:t>
            </a:r>
            <a:r>
              <a:rPr lang="en-US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Coding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场景的应用</a:t>
            </a:r>
            <a:r>
              <a:rPr 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，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Specification by Contract for AI Agents</a:t>
            </a:r>
            <a:r>
              <a:rPr 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目前只有</a:t>
            </a:r>
            <a:r>
              <a:rPr lang="en-US" altLang="zh-CN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Kiro</a:t>
            </a:r>
            <a:r>
              <a:rPr lang="zh-CN" altLang="en-US"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进行了验证</a:t>
            </a: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Meyer (1992) Design by Contract 为运行时约束提供了理论基础。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EU AI Act (Reg. 2024/1689) Art.43/72 要求高风险AI系统持续合规监控。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Kiro (GA 2025.11) 的 Property-Based Testing 已验证了 spec→可执行测试 的可行性。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27/34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4945" y="271145"/>
            <a:ext cx="904049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/>
                <a:ea typeface="微软雅黑"/>
              </a:rPr>
              <a:t>改进方向 3：Self-Evolving Spec Agents（自我进化规格智能体）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82420"/>
            <a:ext cx="5029200" cy="3235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微软雅黑"/>
                <a:ea typeface="微软雅黑"/>
              </a:rPr>
              <a:t>现状问题</a:t>
            </a:r>
            <a:endParaRPr sz="16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当前的 AI 编程助手每次执行任务都是 stateless（无状态）的</a:t>
            </a:r>
            <a:r>
              <a:rPr lang="zh-CN" sz="1300" b="0">
                <a:solidFill>
                  <a:srgbClr val="333333"/>
                </a:solidFill>
                <a:latin typeface="微软雅黑"/>
                <a:ea typeface="微软雅黑"/>
              </a:rPr>
              <a:t>，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上一次的成功经验和失败教训不会影响下一次的表现。同一类型的项目，AI 反复犯相同的错误；同样的领域，每次都需要从零教育 AI 如何写好 spec。</a:t>
            </a:r>
            <a:endParaRPr sz="1300" b="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600" b="1">
                <a:solidFill>
                  <a:srgbClr val="E86C00"/>
                </a:solidFill>
                <a:latin typeface="微软雅黑"/>
                <a:ea typeface="微软雅黑"/>
              </a:rPr>
              <a:t>解决方案</a:t>
            </a:r>
            <a:endParaRPr sz="1600" b="1">
              <a:solidFill>
                <a:srgbClr val="E86C00"/>
              </a:solidFill>
            </a:endParaRP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借鉴 EvolveR (arXiv:2510.16079) 的闭环自进化思想，让 OpenSpec 成为一个</a:t>
            </a:r>
            <a:r>
              <a:rPr sz="1300" b="1">
                <a:solidFill>
                  <a:srgbClr val="E86C00"/>
                </a:solidFill>
                <a:latin typeface="微软雅黑"/>
                <a:ea typeface="微软雅黑"/>
              </a:rPr>
              <a:t>会学习的系统</a:t>
            </a:r>
            <a:r>
              <a:rPr lang="zh-CN" sz="1300" b="1">
                <a:solidFill>
                  <a:srgbClr val="E86C00"/>
                </a:solidFill>
                <a:latin typeface="微软雅黑"/>
                <a:ea typeface="微软雅黑"/>
              </a:rPr>
              <a:t>：</a:t>
            </a:r>
            <a:endParaRPr lang="zh-CN" sz="1300" b="1">
              <a:solidFill>
                <a:srgbClr val="E86C00"/>
              </a:solidFill>
              <a:latin typeface="微软雅黑"/>
              <a:ea typeface="微软雅黑"/>
            </a:endParaRPr>
          </a:p>
          <a:p>
            <a:pPr marL="285750" indent="-285750">
              <a:buFont typeface="Arial" panose="020B0704020202020204" pitchFamily="34" charset="0"/>
              <a:buChar char="•"/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① 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</a:endParaRPr>
          </a:p>
          <a:p>
            <a:pPr marL="285750" indent="-285750">
              <a:buFont typeface="Arial" panose="020B0704020202020204" pitchFamily="34" charset="0"/>
              <a:buChar char="•"/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② 蒸馏出Spec实践原则</a:t>
            </a:r>
            <a:r>
              <a:rPr lang="en-US" sz="1300" b="0">
                <a:solidFill>
                  <a:srgbClr val="333333"/>
                </a:solidFill>
                <a:latin typeface="微软雅黑"/>
                <a:ea typeface="微软雅黑"/>
              </a:rPr>
              <a:t> </a:t>
            </a:r>
            <a:r>
              <a:rPr lang="zh-CN" altLang="en-US" sz="1300" b="0">
                <a:solidFill>
                  <a:srgbClr val="333333"/>
                </a:solidFill>
                <a:latin typeface="微软雅黑"/>
                <a:ea typeface="微软雅黑"/>
              </a:rPr>
              <a:t>比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如：金融领域的风控 spec 必须包含 X</a:t>
            </a:r>
            <a:r>
              <a:rPr lang="en-US" sz="1300" b="0">
                <a:solidFill>
                  <a:srgbClr val="333333"/>
                </a:solidFill>
                <a:latin typeface="微软雅黑"/>
                <a:ea typeface="微软雅黑"/>
              </a:rPr>
              <a:t> 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Y</a:t>
            </a:r>
            <a:r>
              <a:rPr lang="en-US" sz="1300" b="0">
                <a:solidFill>
                  <a:srgbClr val="333333"/>
                </a:solidFill>
                <a:latin typeface="微软雅黑"/>
                <a:ea typeface="微软雅黑"/>
              </a:rPr>
              <a:t> 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Z</a:t>
            </a:r>
            <a:r>
              <a:rPr lang="zh-CN" sz="1300" b="0">
                <a:solidFill>
                  <a:srgbClr val="333333"/>
                </a:solidFill>
                <a:latin typeface="微软雅黑"/>
                <a:ea typeface="微软雅黑"/>
              </a:rPr>
              <a:t>等信息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才能让 Agent</a:t>
            </a:r>
            <a:r>
              <a:rPr lang="zh-CN" sz="1300" b="0">
                <a:solidFill>
                  <a:srgbClr val="333333"/>
                </a:solidFill>
                <a:latin typeface="微软雅黑"/>
                <a:ea typeface="微软雅黑"/>
              </a:rPr>
              <a:t>正确生成</a:t>
            </a:r>
            <a:r>
              <a:rPr lang="en-US" altLang="zh-CN" sz="1300" b="0">
                <a:solidFill>
                  <a:srgbClr val="333333"/>
                </a:solidFill>
                <a:latin typeface="微软雅黑"/>
                <a:ea typeface="微软雅黑"/>
              </a:rPr>
              <a:t>code</a:t>
            </a:r>
            <a:endParaRPr sz="1300" b="0">
              <a:solidFill>
                <a:srgbClr val="333333"/>
              </a:solidFill>
            </a:endParaRPr>
          </a:p>
          <a:p>
            <a:pPr marL="285750" indent="-285750">
              <a:buFont typeface="Arial" panose="020B0704020202020204" pitchFamily="34" charset="0"/>
              <a:buChar char="•"/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③ 下次创建 spec 时，系统主动检索并注入相关原则</a:t>
            </a:r>
            <a:endParaRPr sz="1300" b="0">
              <a:solidFill>
                <a:srgbClr val="333333"/>
              </a:solidFill>
            </a:endParaRPr>
          </a:p>
          <a:p>
            <a:endParaRPr sz="1300" b="0">
              <a:solidFill>
                <a:srgbClr val="333333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微软雅黑"/>
                <a:ea typeface="微软雅黑"/>
              </a:rPr>
              <a:t>学术依据：EvolveR (arXiv:2510.16079) | Awesome Self-Evolving Agents (GitHub) | arXiv:2507.21046    商业价值：经验积累效应（越用越好）| 经验沉淀 = 较难快速复制资产 | 与 Domain Packs 双重差异化优势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/>
                <a:ea typeface="微软雅黑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28/34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760720" y="960120"/>
            <a:ext cx="5486400" cy="448056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99999"/>
                </a:solidFill>
                <a:latin typeface="微软雅黑"/>
                <a:ea typeface="微软雅黑"/>
              </a:rPr>
              <a:t>经验积累循环示意图</a:t>
            </a:r>
            <a:endParaRPr sz="1200" b="1">
              <a:solidFill>
                <a:srgbClr val="999999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795260" y="1348740"/>
            <a:ext cx="1417320" cy="59436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① 创建 Spec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自动注入原则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143211" y="2328084"/>
            <a:ext cx="1417320" cy="5943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② Apply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按 spec 实现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628339" y="3912695"/>
            <a:ext cx="141732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③ Verify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对照 spec 验证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962180" y="3912695"/>
            <a:ext cx="1417320" cy="59436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④ 记录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哪些写法效果好/差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447308" y="2328084"/>
            <a:ext cx="1417320" cy="5943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⑤ 蒸馏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提炼最佳实践原则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↘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↙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←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↖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↗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8C00"/>
                </a:solidFill>
                <a:latin typeface="微软雅黑"/>
                <a:ea typeface="微软雅黑"/>
              </a:rPr>
              <a:t>经验积累循环</a:t>
            </a:r>
            <a:endParaRPr sz="1300" b="1">
              <a:solidFill>
                <a:srgbClr val="FF8C00"/>
              </a:solidFill>
            </a:endParaRPr>
          </a:p>
          <a:p>
            <a:pPr algn="ctr"/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越用越好</a:t>
            </a:r>
            <a:endParaRPr sz="1100" b="0">
              <a:solidFill>
                <a:srgbClr val="CCCCCC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每个循环都让下一次 Spec 质量更高</a:t>
            </a:r>
            <a:endParaRPr sz="1000" b="0">
              <a:solidFill>
                <a:srgbClr val="999999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改进方向 4：Domain-Specific Packs（领域规格智能包）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0058400" cy="1371600"/>
          </a:xfrm>
          <a:prstGeom prst="roundRect">
            <a:avLst/>
          </a:prstGeom>
          <a:solidFill>
            <a:srgbClr val="E6F7F7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基本判断</a:t>
            </a:r>
            <a:endParaRPr sz="14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通用大模型擅长写代码，但不懂行业。它不知道电信系统必须符合 3GPP 标准、汽车软件必须通过 ISO 26262 认证、能源系统必须满足 IEC 62109。而公司多年积累的行业 Know-How</a:t>
            </a:r>
            <a:r>
              <a:rPr lang="zh-CN"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，</a:t>
            </a:r>
            <a:r>
              <a:rPr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业务规则、合规标准、最佳实践</a:t>
            </a:r>
            <a:r>
              <a:rPr lang="zh-CN"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，</a:t>
            </a:r>
            <a:r>
              <a:rPr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恰好填补了这个空白。将这些 domain knowledge 封装成结构化的"领域规格包"（Domain Pack），就是把公司的隐性知识变成可复用、可销售的数字资产。</a:t>
            </a:r>
            <a:endParaRPr sz="14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  <a:ea typeface="微软雅黑"/>
              </a:rPr>
              <a:t>什么是 Domain Pack？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1000"/>
              </a:spcAft>
            </a:pP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一个 Pack</a:t>
            </a:r>
            <a:r>
              <a:rPr lang="zh-CN"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包含的具体内容：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29/34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改进方向</a:t>
            </a:r>
            <a:r>
              <a:rPr lang="en-US" alt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4</a:t>
            </a:r>
            <a:r>
              <a:rPr lang="zh-CN" altLang="en-US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：</a:t>
            </a:r>
            <a:r>
              <a:rPr lang="en-US" alt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 </a:t>
            </a:r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Domain-Specific Pack</a:t>
            </a:r>
            <a:r>
              <a:rPr lang="en-US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 - </a:t>
            </a:r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华为潜在</a:t>
            </a:r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行业落地</a:t>
            </a:r>
            <a:r>
              <a:rPr lang="zh-CN"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机会</a:t>
            </a:r>
            <a:endParaRPr lang="zh-CN" sz="2400" b="1">
              <a:solidFill>
                <a:srgbClr val="333333"/>
              </a:solidFill>
              <a:latin typeface="微软雅黑" panose="020B0503020204020204" charset="-122"/>
              <a:ea typeface="微软雅黑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108960" cy="31089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ICT / 电信 Pack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为什</a:t>
            </a:r>
            <a:r>
              <a:rPr lang="zh-CN"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么？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Pack </a:t>
            </a:r>
            <a:r>
              <a:rPr lang="zh-CN"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31920" y="1097280"/>
            <a:ext cx="3108960" cy="3108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数字能源 Pack</a:t>
            </a:r>
            <a:endParaRPr sz="15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Pack </a:t>
            </a:r>
            <a:r>
              <a:rPr lang="zh-CN"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极端工况异常场景库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315200" y="1097280"/>
            <a:ext cx="3108960" cy="310896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智能汽车 Pack</a:t>
            </a:r>
            <a:endParaRPr sz="15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Pack </a:t>
            </a:r>
            <a:r>
              <a:rPr lang="zh-CN"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ASIL 等级 spec 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AUTOSAR 架构约束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OTA 更新安全验证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IEC 61508 工业安全标准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31/34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/>
                <a:ea typeface="微软雅黑"/>
              </a:rPr>
              <a:t>Domain-Specific Packs：为什么是核心竞争差异化优势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行业规则、合规标准、最佳实践，这些知识散布在</a:t>
            </a:r>
            <a:r>
              <a:rPr lang="zh-CN" sz="1400">
                <a:solidFill>
                  <a:srgbClr val="333333"/>
                </a:solidFill>
                <a:latin typeface="微软雅黑"/>
                <a:ea typeface="微软雅黑"/>
              </a:rPr>
              <a:t>华为</a:t>
            </a: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行业专家的脑中、监管文件里、和多年项目经验中。它们无法通过简单的网页爬取或模型训练获得。公司已有的行业积累，就是天然的数据差异化优势。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2. 先发优势带来累积效应</a:t>
            </a:r>
            <a:r>
              <a:rPr lang="en-US" sz="1400">
                <a:solidFill>
                  <a:srgbClr val="333333"/>
                </a:solidFill>
                <a:latin typeface="微软雅黑"/>
                <a:ea typeface="微软雅黑"/>
              </a:rPr>
              <a:t> </a:t>
            </a:r>
            <a:r>
              <a:rPr lang="zh-CN" altLang="en-US" sz="1400">
                <a:solidFill>
                  <a:srgbClr val="333333"/>
                </a:solidFill>
                <a:latin typeface="微软雅黑"/>
                <a:ea typeface="微软雅黑"/>
              </a:rPr>
              <a:t>（呼应改进方向</a:t>
            </a:r>
            <a:r>
              <a:rPr lang="en-US" altLang="zh-CN" sz="1400">
                <a:solidFill>
                  <a:srgbClr val="333333"/>
                </a:solidFill>
                <a:latin typeface="微软雅黑"/>
                <a:ea typeface="微软雅黑"/>
              </a:rPr>
              <a:t>3)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3. 合规认证构成额外差异化优势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如果 Domain Pack 能通过 3GPP（电信）、ISO 26262（汽车）、IEC 62109（能源）等行业认证，这本身就是一个极高的准入门槛。竞争对手不仅要做出 Pack，还要花时间和成本通过认证。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微软雅黑"/>
                <a:ea typeface="微软雅黑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30/34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1800" b="1">
                <a:solidFill>
                  <a:srgbClr val="CCCCCC"/>
                </a:solidFill>
                <a:latin typeface="微软雅黑" panose="020B0503020204020204" charset="-122"/>
                <a:ea typeface="微软雅黑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微软雅黑" panose="020B0503020204020204" charset="-122"/>
            </a:endParaRPr>
          </a:p>
          <a:p>
            <a:pPr algn="ctr">
              <a:spcAft>
                <a:spcPts val="1600"/>
              </a:spcAft>
            </a:pPr>
            <a:r>
              <a:rPr sz="14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微软雅黑" panose="020B0503020204020204" charset="-122"/>
            </a:endParaRP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E8F5E9"/>
                </a:solidFill>
                <a:latin typeface="微软雅黑" panose="020B0503020204020204" charset="-122"/>
                <a:ea typeface="微软雅黑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微软雅黑" panose="020B0503020204020204" charset="-122"/>
            </a:endParaRP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E3F2FD"/>
                </a:solidFill>
                <a:latin typeface="微软雅黑" panose="020B0503020204020204" charset="-122"/>
                <a:ea typeface="微软雅黑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微软雅黑" panose="020B0503020204020204" charset="-122"/>
            </a:endParaRP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0F0F0"/>
                </a:solidFill>
                <a:latin typeface="微软雅黑" panose="020B0503020204020204" charset="-122"/>
                <a:ea typeface="微软雅黑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20/34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3291840" cy="46634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5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5-6 个文件 · 扁平结构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文件清单</a:t>
            </a:r>
            <a:endParaRPr sz="12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app.py: Flask Web (~200行)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设计模式</a:t>
            </a:r>
            <a:endParaRPr sz="12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无接口抽象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977640" y="960120"/>
            <a:ext cx="3291840" cy="46634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35 个文件 · 分层架构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目录结构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src/factors/: 因子计算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src/strategy/: 选股策略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src/risk/: 风控 (4层)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src/backtest/: 回测引擎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tests/: 8 个测试文件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设计模式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80" y="960120"/>
            <a:ext cx="3291840" cy="46634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</a:t>
            </a:r>
            <a:endParaRPr sz="15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6 层架构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L5 风控层: 4层+聚合器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设计模式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21/34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在量化交易中，风控能力决定了系统能否在真实市场中存活。这是三个版本差距最大的地方。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4389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5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13438"/>
                </a:solidFill>
                <a:latin typeface="微软雅黑" panose="020B0503020204020204" charset="-122"/>
                <a:ea typeface="微软雅黑"/>
              </a:rPr>
              <a:t>风控等级：初级</a:t>
            </a:r>
            <a:endParaRPr sz="12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仅固定止损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不随市场波动调整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无持仓限制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无行业集中度控制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无异常波动检测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D13438"/>
                </a:solidFill>
                <a:latin typeface="微软雅黑" panose="020B0503020204020204" charset="-122"/>
                <a:ea typeface="微软雅黑"/>
              </a:rPr>
              <a:t>风险评估</a:t>
            </a:r>
            <a:endParaRPr sz="12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真实交易风险极高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极端行情下可能爆仓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77640" y="1234440"/>
            <a:ext cx="3291840" cy="43891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风控等级：完整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4 层风控体系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L1 ATR 动态止损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L2 持仓限制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  单只上限 + 总仓位控制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L3 行业集中度控制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  避免板块过度集中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L4 异常波动检测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  异常行情自动触发保护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498080" y="1234440"/>
            <a:ext cx="3291840" cy="4389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</a:t>
            </a:r>
            <a:endParaRPr sz="15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风控等级：生产级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4 层 + 聚合入口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+ 完整风控执行日志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+ 风控事件回调机制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增量价值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22/34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回测真实性三方对比：你的回测结果能信多少？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A 股交易规则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Vanilla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原生 OpenSpec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OpenSpec-HW2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T+1 交收制度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涨跌停限制 (10%)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印花税 / 佣金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最小买入单位 (100股)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停牌处理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前视偏差检测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滑点模拟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基础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完整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性能评估指标对比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微软雅黑" panose="020B0503020204020204" charset="-122"/>
                <a:ea typeface="微软雅黑"/>
              </a:rPr>
              <a:t>Vanilla Claude Code</a:t>
            </a:r>
            <a:endParaRPr sz="1200" b="1">
              <a:solidFill>
                <a:srgbClr val="787878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原生 OpenSpec — 7 个指标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OpenSpec-HW2 — 13+ 个指标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信息比率、Alpha、Beta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基准对比分析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4434840"/>
            <a:ext cx="10332720" cy="118872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回测真实性结论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23/34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测试覆盖度三方深度对比：不只是数量，更是结构与深度</a:t>
            </a:r>
            <a:endParaRPr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测试数量不是唯一指标——测试结构（单元/集成/端到端）、测试深度（每函数断言数）、工程规范（fixtures/conftest）共同决定测试有效性</a:t>
            </a:r>
            <a:endParaRPr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2743200" cy="36576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1100" b="1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Vanilla Claude Code</a:t>
            </a:r>
            <a:endParaRPr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246120" y="1005840"/>
            <a:ext cx="2743200" cy="365760"/>
          </a:xfrm>
          <a:prstGeom prst="rect">
            <a:avLst/>
          </a:prstGeom>
          <a:solidFill>
            <a:srgbClr val="D4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1100" b="1">
                <a:solidFill>
                  <a:srgbClr val="2D5A88"/>
                </a:solidFill>
                <a:latin typeface="微软雅黑"/>
              </a:defRPr>
            </a:pPr>
            <a:r>
              <a:rPr>
                <a:ea typeface="微软雅黑"/>
              </a:rPr>
              <a:t>原生 OpenSpec</a:t>
            </a:r>
            <a:endParaRPr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126480" y="1005840"/>
            <a:ext cx="2743200" cy="36576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1100" b="1">
                <a:solidFill>
                  <a:srgbClr val="278B4C"/>
                </a:solidFill>
                <a:latin typeface="微软雅黑"/>
              </a:defRPr>
            </a:pPr>
            <a:r>
              <a:rPr>
                <a:ea typeface="微软雅黑"/>
              </a:rPr>
              <a:t>OpenSpec-HW2</a:t>
            </a:r>
            <a:endParaRPr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1">
                <a:solidFill>
                  <a:srgbClr val="C0392B"/>
                </a:solidFill>
                <a:latin typeface="微软雅黑"/>
              </a:defRPr>
            </a:pPr>
            <a:r>
              <a:rPr>
                <a:ea typeface="微软雅黑"/>
              </a:rPr>
              <a:t>测试文件：0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1000" b="1">
                <a:solidFill>
                  <a:srgbClr val="C0392B"/>
                </a:solidFill>
                <a:latin typeface="微软雅黑"/>
              </a:defRPr>
            </a:pPr>
            <a:r>
              <a:rPr>
                <a:ea typeface="微软雅黑"/>
              </a:rPr>
              <a:t>测试函数：0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1000" b="1">
                <a:solidFill>
                  <a:srgbClr val="C0392B"/>
                </a:solidFill>
                <a:latin typeface="微软雅黑"/>
              </a:defRPr>
            </a:pPr>
            <a:r>
              <a:rPr>
                <a:ea typeface="微软雅黑"/>
              </a:rPr>
              <a:t>测试代码：0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微软雅黑"/>
              </a:defRPr>
            </a:pPr>
          </a:p>
          <a:p>
            <a:pPr algn="l">
              <a:spcAft>
                <a:spcPts val="200"/>
              </a:spcAft>
              <a:defRPr sz="9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AI 完全跳过测试环节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无任何单元测试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无集成测试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无端到端测试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无测试框架引入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600" b="0">
                <a:solidFill>
                  <a:srgbClr val="333333"/>
                </a:solidFill>
                <a:latin typeface="微软雅黑"/>
              </a:defRPr>
            </a:pPr>
          </a:p>
          <a:p>
            <a:pPr algn="l">
              <a:spcAft>
                <a:spcPts val="200"/>
              </a:spcAft>
              <a:defRPr sz="900" b="1">
                <a:solidFill>
                  <a:srgbClr val="C0392B"/>
                </a:solidFill>
                <a:latin typeface="微软雅黑"/>
              </a:defRPr>
            </a:pPr>
            <a:r>
              <a:rPr>
                <a:ea typeface="微软雅黑"/>
              </a:rPr>
              <a:t>覆盖模块：0/6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0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没有任何质量保障手段</a:t>
            </a:r>
            <a:endParaRPr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46120" y="14173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2D5A88"/>
                </a:solidFill>
                <a:latin typeface="微软雅黑"/>
              </a:defRPr>
            </a:pPr>
            <a:r>
              <a:rPr>
                <a:ea typeface="微软雅黑"/>
              </a:rPr>
              <a:t>测试文件：8 个  |  测试函数：67 个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1">
                <a:solidFill>
                  <a:srgbClr val="2D5A88"/>
                </a:solidFill>
                <a:latin typeface="微软雅黑"/>
              </a:defRPr>
            </a:pPr>
            <a:r>
              <a:rPr>
                <a:ea typeface="微软雅黑"/>
              </a:rPr>
              <a:t>测试代码：570 行  |  断言：98 个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微软雅黑"/>
              </a:defRPr>
            </a:pPr>
          </a:p>
          <a:p>
            <a:pPr algn="l">
              <a:spcAft>
                <a:spcPts val="200"/>
              </a:spcAft>
              <a:defRPr sz="800" b="1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按模块覆盖（扁平组织，全在 tests/ 下）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test_backtest.py: 11 函数 / 115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test_risk.py: 13 函数 / 119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test_factors.py: 12 函数 / 75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test_universe.py: 9 函数 / 45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test_timing.py: 7 函数 / 61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test_data_pipeline.py: 5 函数 / 69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test_strategy.py: 5 函数 / 51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test_metrics.py: 5 函数 / 35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微软雅黑"/>
              </a:defRPr>
            </a:pPr>
          </a:p>
          <a:p>
            <a:pPr algn="l">
              <a:spcAft>
                <a:spcPts val="200"/>
              </a:spcAft>
              <a:defRPr sz="900" b="1">
                <a:solidFill>
                  <a:srgbClr val="2D5A88"/>
                </a:solidFill>
                <a:latin typeface="微软雅黑"/>
              </a:defRPr>
            </a:pPr>
            <a:r>
              <a:rPr>
                <a:ea typeface="微软雅黑"/>
              </a:rPr>
              <a:t>覆盖模块：8/8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全部单元测试，无集成/端到端测试</a:t>
            </a:r>
            <a:endParaRPr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126480" y="14173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278B4C"/>
                </a:solidFill>
                <a:latin typeface="微软雅黑"/>
              </a:defRPr>
            </a:pPr>
            <a:r>
              <a:rPr>
                <a:ea typeface="微软雅黑"/>
              </a:rPr>
              <a:t>测试文件：9+1 个  |  测试函数：57 个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1">
                <a:solidFill>
                  <a:srgbClr val="278B4C"/>
                </a:solidFill>
                <a:latin typeface="微软雅黑"/>
              </a:defRPr>
            </a:pPr>
            <a:r>
              <a:rPr>
                <a:ea typeface="微软雅黑"/>
              </a:rPr>
              <a:t>测试代码：779 行  |  断言：105 个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400" b="0">
                <a:solidFill>
                  <a:srgbClr val="333333"/>
                </a:solidFill>
                <a:latin typeface="微软雅黑"/>
              </a:defRPr>
            </a:pPr>
          </a:p>
          <a:p>
            <a:pPr algn="l">
              <a:spcAft>
                <a:spcPts val="200"/>
              </a:spcAft>
              <a:defRPr sz="800" b="1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按模块子目录组织 + conftest 共享 fixtures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test_integration.py: 6 函数 / 195 行 ★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backtest/test_backtest.py: 9 / 81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risk/test_risk.py: 9 / 82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strategy/test_scorer.py: 6 / 89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report/test_report.py: 6 / 78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data/test_validators.py: 5 / 71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strategy/test_timing.py: 7 / 37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factors/test_standardizer.py: 5 / 49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• universe/test_filter.py: 4 / 65 行</a:t>
            </a:r>
            <a:endParaRPr>
              <a:ea typeface="微软雅黑"/>
            </a:endParaRPr>
          </a:p>
          <a:p>
            <a:pPr algn="l">
              <a:spcAft>
                <a:spcPts val="200"/>
              </a:spcAft>
              <a:defRPr sz="900" b="1">
                <a:solidFill>
                  <a:srgbClr val="278B4C"/>
                </a:solidFill>
                <a:latin typeface="微软雅黑"/>
              </a:defRPr>
            </a:pPr>
            <a:r>
              <a:rPr>
                <a:ea typeface="微软雅黑"/>
              </a:rPr>
              <a:t>覆盖模块：7/7 + 集成测试</a:t>
            </a:r>
            <a:endParaRPr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5760" y="4663440"/>
            <a:ext cx="8412480" cy="13716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10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关键差异分析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400" b="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① 测试结构升级：Native 全部扁平在 tests/ 下；HW2 按模块建子目录 + conftest.py 共享 fixtures，更接近生产级工程规范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② 集成测试从无到有：HW2 新增 195 行端到端集成测试（含合成数据库、完整 pipeline 验证），Native 无集成测试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③ 测试深度 &gt; 测试数量：HW2 每函数平均 13.7 行（vs Native 8.5 行），含更多 setup/teardown 和多步骤验证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④ 数据驱动测试：HW2 集成测试用 SQLite + 合成 OHLCV + 期货数据完整模拟真实数据管道，验证跨模块协作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结论：HW2 的测试策略是"少量高质量函数 + 集成覆盖"，优于 Native 的"大量简单单元测试"</a:t>
            </a:r>
            <a:endParaRPr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46720" y="6217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55555"/>
                </a:solidFill>
                <a:latin typeface="微软雅黑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代码规模与任务分解三方深度对比：规格化如何驱动系统完整度</a:t>
            </a:r>
            <a:endParaRPr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相同需求描述，三种方式产出的代码规模、模块分布、任务分解粒度差异直接反映规格化程度对 AI 行为的引导效果</a:t>
            </a:r>
            <a:endParaRPr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960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代码规模分布（含测试）</a:t>
            </a:r>
            <a:endParaRPr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560320" cy="173736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0392B"/>
                </a:solidFill>
                <a:latin typeface="微软雅黑"/>
              </a:defRPr>
            </a:pPr>
            <a:r>
              <a:rPr>
                <a:ea typeface="微软雅黑"/>
              </a:rPr>
              <a:t>Vanilla: 1,194 行 · 6 文件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300" b="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data_fetcher.py      316 行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factor_engine.py     290 行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backtester.py          257 行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app.py                     155 行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strategy.py              90 行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config.py                 86 行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300" b="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100"/>
              </a:spcAft>
              <a:defRPr sz="700" b="1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单文件承担多职责，无模块化</a:t>
            </a:r>
            <a:endParaRPr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108960" y="1234440"/>
            <a:ext cx="2743200" cy="1737360"/>
          </a:xfrm>
          <a:prstGeom prst="rect">
            <a:avLst/>
          </a:prstGeom>
          <a:solidFill>
            <a:srgbClr val="EE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2D5A88"/>
                </a:solidFill>
                <a:latin typeface="微软雅黑"/>
              </a:defRPr>
            </a:pPr>
            <a:r>
              <a:rPr>
                <a:ea typeface="微软雅黑"/>
              </a:rPr>
              <a:t>原生 OpenSpec: 2,824 行 · 32 文件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(含 570 行测试)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src/data         512 行   数据管道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src/backtest   423 行   回测引擎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src/factors     314 行   因子引擎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src/report      298 行   报告生成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src/risk          207 行   风控体系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src/strategy   164 行   评分策略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src/universe  103 行   股票池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src/timing       99 行   市场择时</a:t>
            </a:r>
            <a:endParaRPr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35040" y="1234440"/>
            <a:ext cx="2743200" cy="1737360"/>
          </a:xfrm>
          <a:prstGeom prst="rect">
            <a:avLst/>
          </a:prstGeom>
          <a:solidFill>
            <a:srgbClr val="EA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278B4C"/>
                </a:solidFill>
                <a:latin typeface="微软雅黑"/>
              </a:defRPr>
            </a:pPr>
            <a:r>
              <a:rPr>
                <a:ea typeface="微软雅黑"/>
              </a:rPr>
              <a:t>HW2: 5,015 行 · 31 文件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(含 779 行测试 + 114 行 notebook)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src/data         813 行   多源管道+验证器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src/backtest   775 行   4 子模块引擎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src/factors     607 行   16 因子+标准化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src/strategy   571 行   评分+分配+信号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src/risk          501 行   4 层+聚合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src/report      431 行   Plotly 交互报告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src/universe  211 行   过滤+分类器</a:t>
            </a:r>
            <a:endParaRPr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3063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任务分解对比</a:t>
            </a:r>
            <a:endParaRPr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3337560"/>
            <a:ext cx="2560320" cy="109728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C0392B"/>
                </a:solidFill>
                <a:latin typeface="微软雅黑"/>
              </a:defRPr>
            </a:pPr>
            <a:r>
              <a:rPr>
                <a:ea typeface="微软雅黑"/>
              </a:rPr>
              <a:t>Vanilla: 0 个任务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300" b="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无任何前置规划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AI 凭自身判断决定架构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无 spec / design / task 产出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555555"/>
                </a:solidFill>
                <a:latin typeface="微软雅黑"/>
              </a:defRPr>
            </a:pPr>
            <a:r>
              <a:rPr>
                <a:ea typeface="微软雅黑"/>
              </a:rPr>
              <a:t>结果：6 个文件一气呵成</a:t>
            </a:r>
            <a:endParaRPr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108960" y="3337560"/>
            <a:ext cx="2743200" cy="1097280"/>
          </a:xfrm>
          <a:prstGeom prst="rect">
            <a:avLst/>
          </a:prstGeom>
          <a:solidFill>
            <a:srgbClr val="EE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2D5A88"/>
                </a:solidFill>
                <a:latin typeface="微软雅黑"/>
              </a:defRPr>
            </a:pPr>
            <a:r>
              <a:rPr>
                <a:ea typeface="微软雅黑"/>
              </a:rPr>
              <a:t>原生 OpenSpec: 44 个任务 · 10 个模块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300" b="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数据管道 6 | 股票池 4 | 因子 7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评分策略 4 | 风控 5 | 择时 4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回测 5 | 报告 4 | CLI 2 | 基建 3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1">
                <a:solidFill>
                  <a:srgbClr val="2D5A88"/>
                </a:solidFill>
                <a:latin typeface="微软雅黑"/>
              </a:defRPr>
            </a:pPr>
            <a:r>
              <a:rPr>
                <a:ea typeface="微软雅黑"/>
              </a:rPr>
              <a:t>每模块含独立测试任务</a:t>
            </a:r>
            <a:endParaRPr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35040" y="3337560"/>
            <a:ext cx="2743200" cy="1097280"/>
          </a:xfrm>
          <a:prstGeom prst="rect">
            <a:avLst/>
          </a:prstGeom>
          <a:solidFill>
            <a:srgbClr val="EA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900" b="1">
                <a:solidFill>
                  <a:srgbClr val="278B4C"/>
                </a:solidFill>
                <a:latin typeface="微软雅黑"/>
              </a:defRPr>
            </a:pPr>
            <a:r>
              <a:rPr>
                <a:ea typeface="微软雅黑"/>
              </a:rPr>
              <a:t>HW2: 65 个任务 · 10 个模块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300" b="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数据管道 8 | 股票池 6 | 因子 9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评分策略 7 | 风控 6 | 择时 4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回测 7 | 报告 8 | 集成 5 | 基建 5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700" b="1">
                <a:solidFill>
                  <a:srgbClr val="278B4C"/>
                </a:solidFill>
                <a:latin typeface="微软雅黑"/>
              </a:defRPr>
            </a:pPr>
            <a:r>
              <a:rPr>
                <a:ea typeface="微软雅黑"/>
              </a:rPr>
              <a:t>每模块含测试 + 边界处理任务</a:t>
            </a:r>
            <a:endParaRPr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8412480" cy="1463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0800" rIns="76200" bIns="50800" rtlCol="0" anchor="ctr"/>
          <a:lstStyle/>
          <a:p>
            <a:pPr algn="ctr">
              <a:spcAft>
                <a:spcPts val="100"/>
              </a:spcAft>
              <a:defRPr sz="10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Usecases 步骤的增量影响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400" b="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① 任务粒度更细：HW2 比 Native 多 21 个任务（65 vs 44，+48%），主要增量在数据验证器、信号生成器、存活偏差防护、因子 IC 跟踪等细节任务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② 代码量增长显著：HW2 源码 4,236 行 vs Native 2,254 行（+88%），增量集中在 strategy（+248%）、risk（+142%）、backtest（+83%）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③ 模块功能密度提升：HW2 data 模块增加了 DataSource Protocol + 验证器 + 增量更新；backtest 拆分为 engine/broker/portfolio/metrics 四子模块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0">
                <a:solidFill>
                  <a:srgbClr val="333333"/>
                </a:solidFill>
                <a:latin typeface="微软雅黑"/>
              </a:defRPr>
            </a:pPr>
            <a:r>
              <a:rPr>
                <a:ea typeface="微软雅黑"/>
              </a:rPr>
              <a:t>④ 工程化产物：HW2 独有 conftest.py 共享测试 fixtures、notebooks/demo_workflow.py 演示流程、README.md 文档</a:t>
            </a:r>
            <a:endParaRPr>
              <a:ea typeface="微软雅黑"/>
            </a:endParaRPr>
          </a:p>
          <a:p>
            <a:pPr>
              <a:spcAft>
                <a:spcPts val="100"/>
              </a:spcAft>
              <a:defRPr sz="800" b="1">
                <a:solidFill>
                  <a:srgbClr val="1A1A2E"/>
                </a:solidFill>
                <a:latin typeface="微软雅黑"/>
              </a:defRPr>
            </a:pPr>
            <a:r>
              <a:rPr>
                <a:ea typeface="微软雅黑"/>
              </a:rPr>
              <a:t>结论：Usecases 步骤让 AI 在编码前充分理解业务场景，直接导致更细的任务分解 → 更完整的模块实现 → 更高的代码量和测试质量</a:t>
            </a:r>
            <a:endParaRPr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20" y="62179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55555"/>
                </a:solidFill>
                <a:latin typeface="微软雅黑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综合评分：三方八维度逐项打分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10332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097280"/>
                <a:gridCol w="5394960"/>
              </a:tblGrid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维度 (/10)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Vanilla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原生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HW2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关键差异</a:t>
                      </a:r>
                      <a:endParaRPr sz="11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架构清晰度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Protocol 架构 vs 简单类 vs 扁平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测试完备性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2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0→67→88 测试用例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风控能力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固定止损→4层→4层+聚合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回测真实性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无规则→完整→+防前视偏差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A股规则合规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无→完整模拟→完整+增强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可维护性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简单易读→模块化→YAML配置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可扩展性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改代码→基本扩展→插件式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开发效率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最快交付（但质量最低）</a:t>
                      </a:r>
                      <a:endParaRPr sz="1100" b="0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合计 (/80)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44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56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67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微软雅黑" panose="020B0503020204020204" charset="-122"/>
                        </a:rPr>
                        <a:t>Vanilla 仅在开发效率领先</a:t>
                      </a:r>
                      <a:endParaRPr sz="1100" b="1">
                        <a:solidFill>
                          <a:srgbClr val="333333"/>
                        </a:solidFill>
                        <a:latin typeface="微软雅黑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937760"/>
            <a:ext cx="10332720" cy="10972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三方对比核心结论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① 规格前置 = 质量保障：三者总分 44→56→67，规格化程度越高，产出质量越高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② OpenSpec-HW2 Usecases 的增量价值：原生→HW2 的 11 分差距（56→67），完全由 Usecases 步骤驱动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③ 不是代码多就好：Vanilla 代码最少但最快，适合原型；企业级系统需要 HW2 级别的规格化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24/34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82296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/>
              </a:rPr>
              <a:t>附录 2：研究方向详解</a:t>
            </a:r>
            <a:endParaRPr sz="3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8229600" cy="1383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CCCCCC"/>
                </a:solidFill>
                <a:latin typeface="微软雅黑" panose="020B0503020204020204" charset="-122"/>
                <a:ea typeface="微软雅黑"/>
              </a:rPr>
              <a:t>以下内容基于 2023-2026 年软件工程与需求工程领域的学术研究，</a:t>
            </a:r>
            <a:endParaRPr sz="1500" b="0">
              <a:solidFill>
                <a:srgbClr val="CCCCCC"/>
              </a:solidFill>
              <a:latin typeface="微软雅黑" panose="020B0503020204020204" charset="-122"/>
            </a:endParaRPr>
          </a:p>
          <a:p>
            <a:pPr algn="ctr">
              <a:spcAft>
                <a:spcPts val="2000"/>
              </a:spcAft>
            </a:pPr>
            <a:r>
              <a:rPr sz="1500" b="0">
                <a:solidFill>
                  <a:srgbClr val="CCCCCC"/>
                </a:solidFill>
                <a:latin typeface="微软雅黑" panose="020B0503020204020204" charset="-122"/>
                <a:ea typeface="微软雅黑"/>
              </a:rPr>
              <a:t>结合 17 次定向文献检索，梳理了 OpenSpec </a:t>
            </a:r>
            <a:r>
              <a:rPr lang="en-US" sz="1500" b="0">
                <a:solidFill>
                  <a:srgbClr val="CCCCCC"/>
                </a:solidFill>
                <a:latin typeface="微软雅黑" panose="020B0503020204020204" charset="-122"/>
                <a:ea typeface="微软雅黑"/>
              </a:rPr>
              <a:t> </a:t>
            </a:r>
            <a:r>
              <a:rPr lang="zh-CN" altLang="en-US" sz="1500" b="0">
                <a:solidFill>
                  <a:srgbClr val="CCCCCC"/>
                </a:solidFill>
                <a:latin typeface="微软雅黑" panose="020B0503020204020204" charset="-122"/>
                <a:ea typeface="微软雅黑"/>
              </a:rPr>
              <a:t>研究</a:t>
            </a:r>
            <a:r>
              <a:rPr sz="1500" b="0">
                <a:solidFill>
                  <a:srgbClr val="CCCCCC"/>
                </a:solidFill>
                <a:latin typeface="微软雅黑" panose="020B0503020204020204" charset="-122"/>
                <a:ea typeface="微软雅黑"/>
              </a:rPr>
              <a:t>方向。</a:t>
            </a:r>
            <a:endParaRPr sz="1500" b="0">
              <a:solidFill>
                <a:srgbClr val="CCCCCC"/>
              </a:solidFill>
              <a:latin typeface="微软雅黑" panose="020B0503020204020204" charset="-122"/>
            </a:endParaRP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每个方向包含：现状问题 → 解决方案 → 学术依据 → 商业价值</a:t>
            </a:r>
            <a:endParaRPr sz="1400" b="0">
              <a:solidFill>
                <a:srgbClr val="999999"/>
              </a:solidFill>
              <a:latin typeface="微软雅黑" panose="020B0503020204020204" charset="-122"/>
            </a:endParaRPr>
          </a:p>
          <a:p>
            <a:pPr algn="ctr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微软雅黑"/>
                <a:ea typeface="微软雅黑"/>
              </a:rPr>
              <a:t>其中 Domain-Specific Packs 作为公司研究方向，进行了重点展开。</a:t>
            </a:r>
            <a:endParaRPr sz="1400" b="1">
              <a:solidFill>
                <a:srgbClr val="FFD70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25/34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改进方向 1：Multi-Perspective Spec Testing（多智能体多视角规格测试）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现状问题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微软雅黑"/>
                <a:ea typeface="微软雅黑"/>
              </a:rPr>
              <a:t>当前的需求质量检查依赖单一 AI 或规则打分——本质上是“一个人检查自己的作业”。单一视角的审查只能发现已知类型的问题（歧义、冲突），但无法创造性地发现深层漏洞。学术研究表明，多视角审查可提升缺陷发现率 (Basili/Shull PBR: +41%)。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解决方案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部署一组专业化 Agent 测试团队，在 spec 提交前进行多视角交叉审查：完整性审查员（找遗漏场景和逻辑矛盾）、异常路径测试员（生成异常流程和错误场景）、边界条件分析员（生成边界值和竞态条件）、集成分析师（与 main specs 交叉检测隐性冲突）。多轮交叉审查后输出“经过多视角验证幸存的高质量 spec”。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Du et al. (ICML 2024) 证明 Multi-Agent Debate 提升 LLM 推理和事实准确性。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Chan et al. (ICLR 2024) ChatEval 验证了多智能体辩论在文本评估中的有效性。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Oriol et al. (RE@Next! 2025) 首次将 MAD 应用于需求工程，但尚未与结构化 spec 结合。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PBR文献 (Basili/Shull) 显示多视角审查可多发现约40%缺陷。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26/34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改进方向 2：Spec-as-Runtime-Guardrail（规格即运行时护栏）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90320"/>
            <a:ext cx="5669280" cy="382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现状问题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传统的 Spec-Code Traceability 是事后追溯——代码已经写完了，再去检查跟 spec 对不对得上。这就像考完试再对答案，错了也晚了。在 Agentic Coding 场景下，AI Agent 写代码的速度极快，事后追溯的延迟意味着大量返工已经发生。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解决方案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① Spec→Constraint 编译器：把 BDD 的 Given/When/Then 自动编译为 property-based test predicates 和 invariant assertions</a:t>
            </a:r>
            <a:endParaRPr sz="130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② Agent 行为实时监控：AI 写代码时实时分析合规性</a:t>
            </a:r>
            <a:endParaRPr sz="130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③ 违规拦截：违反 spec 的代码在落盘前被拦截。</a:t>
            </a:r>
            <a:endParaRPr sz="130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endParaRPr sz="1600" b="1">
              <a:solidFill>
                <a:srgbClr val="107C10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本质上是 Bertrand Meyer 的 Design by Contract 在 AI Agent 编码场景的全新应用——Specification by Contract for AI Agents——这个概念目前不存在。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Meyer (1992) Design by Contract 为运行时约束提供了理论基础。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EU AI Act (Reg. 2024/1689) Art.43/72 要求高风险AI系统持续合规监控。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  <a:p>
            <a:r>
              <a:rPr sz="1200">
                <a:solidFill>
                  <a:srgbClr val="333333"/>
                </a:solidFill>
                <a:latin typeface="微软雅黑"/>
                <a:ea typeface="微软雅黑"/>
              </a:rPr>
              <a:t>• Kiro (GA 2025.11) 的 Property-Based Testing 已验证了 spec→可执行测试 的可行性。</a:t>
            </a:r>
            <a:endParaRPr sz="120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27/34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4945" y="271145"/>
            <a:ext cx="904049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/>
                <a:ea typeface="微软雅黑"/>
              </a:rPr>
              <a:t>改进方向 3：Self-Evolving Spec Agents（自我进化规格智能体）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82420"/>
            <a:ext cx="5029200" cy="3235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微软雅黑"/>
                <a:ea typeface="微软雅黑"/>
              </a:rPr>
              <a:t>现状问题</a:t>
            </a:r>
            <a:endParaRPr sz="16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当前的 AI 编程助手每次执行任务都是 stateless（无状态）的</a:t>
            </a:r>
            <a:r>
              <a:rPr lang="zh-CN" sz="1300" b="0">
                <a:solidFill>
                  <a:srgbClr val="333333"/>
                </a:solidFill>
                <a:latin typeface="微软雅黑"/>
                <a:ea typeface="微软雅黑"/>
              </a:rPr>
              <a:t>，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上一次的成功经验和失败教训不会影响下一次的表现。同一类型的项目，AI 反复犯相同的错误；同样的领域，每次都需要从零教育 AI 如何写好 spec。</a:t>
            </a:r>
            <a:endParaRPr sz="1300" b="0">
              <a:solidFill>
                <a:srgbClr val="333333"/>
              </a:solidFill>
              <a:latin typeface="微软雅黑"/>
              <a:ea typeface="微软雅黑"/>
            </a:endParaRP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600" b="1">
                <a:solidFill>
                  <a:srgbClr val="E86C00"/>
                </a:solidFill>
                <a:latin typeface="微软雅黑"/>
                <a:ea typeface="微软雅黑"/>
              </a:rPr>
              <a:t>解决方案</a:t>
            </a:r>
            <a:endParaRPr sz="1600" b="1">
              <a:solidFill>
                <a:srgbClr val="E86C00"/>
              </a:solidFill>
            </a:endParaRP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借鉴 EvolveR (arXiv:2510.16079) 的闭环自进化思想，让 OpenSpec 成为一个</a:t>
            </a:r>
            <a:r>
              <a:rPr sz="1300" b="1">
                <a:solidFill>
                  <a:srgbClr val="E86C00"/>
                </a:solidFill>
                <a:latin typeface="微软雅黑"/>
                <a:ea typeface="微软雅黑"/>
              </a:rPr>
              <a:t>会学习的系统</a:t>
            </a: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：</a:t>
            </a:r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① 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② 自动蒸馏出“Spec 最佳实践原则”（如：“金融领域的风控 spec 必须包含 X、Y、Z 才能让 Agent 一次做对”）</a:t>
            </a:r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③ 下次创建 spec 时，系统主动检索并注入相关原则，越做越好</a:t>
            </a:r>
            <a:endParaRPr sz="1300" b="0">
              <a:solidFill>
                <a:srgbClr val="333333"/>
              </a:solidFill>
            </a:endParaRPr>
          </a:p>
          <a:p>
            <a:endParaRPr sz="1300" b="0">
              <a:solidFill>
                <a:srgbClr val="333333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微软雅黑"/>
                <a:ea typeface="微软雅黑"/>
              </a:rPr>
              <a:t>学术依据：EvolveR (arXiv:2510.16079) | Awesome Self-Evolving Agents (GitHub) | arXiv:2507.21046    商业价值：经验积累效应（越用越好）| 经验沉淀 = 较难快速复制资产 | 与 Domain Packs 双重差异化优势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/>
                <a:ea typeface="微软雅黑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28/34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760720" y="960120"/>
            <a:ext cx="5486400" cy="448056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999999"/>
                </a:solidFill>
                <a:latin typeface="微软雅黑"/>
                <a:ea typeface="微软雅黑"/>
              </a:rPr>
              <a:t>经验积累循环示意图</a:t>
            </a:r>
            <a:endParaRPr sz="1200" b="1">
              <a:solidFill>
                <a:srgbClr val="999999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795260" y="1348740"/>
            <a:ext cx="1417320" cy="59436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① 创建 Spec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自动注入原则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143211" y="2328084"/>
            <a:ext cx="1417320" cy="5943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② Apply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按 spec 实现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628339" y="3912695"/>
            <a:ext cx="141732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③ Verify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对照 spec 验证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962180" y="3912695"/>
            <a:ext cx="1417320" cy="59436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④ 记录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哪些写法效果好/差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447308" y="2328084"/>
            <a:ext cx="1417320" cy="5943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⑤ 蒸馏</a:t>
            </a:r>
            <a:endParaRPr sz="1100" b="1">
              <a:solidFill>
                <a:srgbClr val="FFFFFF"/>
              </a:solidFill>
            </a:endParaRPr>
          </a:p>
          <a:p>
            <a:pPr algn="ctr"/>
            <a:r>
              <a:rPr sz="900" b="0">
                <a:solidFill>
                  <a:srgbClr val="EEEEEE"/>
                </a:solidFill>
                <a:latin typeface="微软雅黑"/>
                <a:ea typeface="微软雅黑"/>
              </a:rPr>
              <a:t>提炼最佳实践原则</a:t>
            </a:r>
            <a:endParaRPr sz="900" b="0">
              <a:solidFill>
                <a:srgbClr val="EEEEEE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↘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↙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←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↖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AAAA"/>
                </a:solidFill>
                <a:latin typeface="微软雅黑"/>
                <a:ea typeface="微软雅黑"/>
              </a:rPr>
              <a:t>↗</a:t>
            </a:r>
            <a:endParaRPr sz="1800" b="1">
              <a:solidFill>
                <a:srgbClr val="AAAAAA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8C00"/>
                </a:solidFill>
                <a:latin typeface="微软雅黑"/>
                <a:ea typeface="微软雅黑"/>
              </a:rPr>
              <a:t>经验积累循环</a:t>
            </a:r>
            <a:endParaRPr sz="1300" b="1">
              <a:solidFill>
                <a:srgbClr val="FF8C00"/>
              </a:solidFill>
            </a:endParaRPr>
          </a:p>
          <a:p>
            <a:pPr algn="ctr"/>
            <a:r>
              <a:rPr sz="1100" b="0">
                <a:solidFill>
                  <a:srgbClr val="CCCCCC"/>
                </a:solidFill>
                <a:latin typeface="微软雅黑"/>
                <a:ea typeface="微软雅黑"/>
              </a:rPr>
              <a:t>越用越好</a:t>
            </a:r>
            <a:endParaRPr sz="1100" b="0">
              <a:solidFill>
                <a:srgbClr val="CCCCCC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/>
                <a:ea typeface="微软雅黑"/>
              </a:rPr>
              <a:t>每个循环都让下一次 Spec 质量更高</a:t>
            </a:r>
            <a:endParaRPr sz="1000" b="0">
              <a:solidFill>
                <a:srgbClr val="999999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改进方向 4：Domain-Specific Packs（领域规格智能包）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0058400" cy="1371600"/>
          </a:xfrm>
          <a:prstGeom prst="roundRect">
            <a:avLst/>
          </a:prstGeom>
          <a:solidFill>
            <a:srgbClr val="E6F7F7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基本判断</a:t>
            </a:r>
            <a:endParaRPr sz="14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通用大模型擅长写代码，但不懂行业。它不知道电信系统必须符合 3GPP 标准、汽车软件必须通过 ISO 26262 认证、能源系统必须满足 IEC 62109。而公司多年积累的行业 Know-How</a:t>
            </a:r>
            <a:r>
              <a:rPr lang="zh-CN"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，</a:t>
            </a:r>
            <a:r>
              <a:rPr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业务规则、合规标准、最佳实践</a:t>
            </a:r>
            <a:r>
              <a:rPr lang="zh-CN"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，</a:t>
            </a:r>
            <a:r>
              <a:rPr sz="14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恰好填补了这个空白。将这些 domain knowledge 封装成结构化的"领域规格包"（Domain Pack），就是把公司的隐性知识变成可复用、可销售的数字资产。</a:t>
            </a:r>
            <a:endParaRPr sz="14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  <a:ea typeface="微软雅黑"/>
              </a:rPr>
              <a:t>什么是 Domain Pack？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chemeClr val="tx1"/>
                </a:solidFill>
                <a:latin typeface="微软雅黑" panose="020B0503020204020204" charset="-122"/>
                <a:ea typeface="微软雅黑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tx1"/>
              </a:solidFill>
              <a:latin typeface="微软雅黑" panose="020B0503020204020204" charset="-122"/>
              <a:ea typeface="微软雅黑"/>
            </a:endParaRPr>
          </a:p>
          <a:p>
            <a:pPr algn="l">
              <a:spcAft>
                <a:spcPts val="1000"/>
              </a:spcAft>
            </a:pP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一个 Pack</a:t>
            </a:r>
            <a:r>
              <a:rPr lang="zh-CN"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潜在</a:t>
            </a:r>
            <a:r>
              <a:rPr sz="13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包含的具体内容：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29/34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Domain-Specific Packs：行业示例与落地路线图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108960" cy="31089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微软雅黑" panose="020B0503020204020204" charset="-122"/>
                <a:ea typeface="微软雅黑"/>
              </a:rPr>
              <a:t>ICT / 电信 Pack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为什</a:t>
            </a:r>
            <a:r>
              <a:rPr lang="zh-CN"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么？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31920" y="1097280"/>
            <a:ext cx="3108960" cy="3108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微软雅黑" panose="020B0503020204020204" charset="-122"/>
                <a:ea typeface="微软雅黑"/>
              </a:rPr>
              <a:t>数字能源 Pack</a:t>
            </a:r>
            <a:endParaRPr sz="15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极端工况异常场景库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315200" y="1097280"/>
            <a:ext cx="3108960" cy="310896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6C00"/>
                </a:solidFill>
                <a:latin typeface="微软雅黑" panose="020B0503020204020204" charset="-122"/>
                <a:ea typeface="微软雅黑"/>
              </a:rPr>
              <a:t>智能汽车 Pack</a:t>
            </a:r>
            <a:endParaRPr sz="15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333333"/>
                </a:solidFill>
                <a:latin typeface="微软雅黑"/>
                <a:ea typeface="微软雅黑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ASIL 等级 spec 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AUTOSAR 架构约束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OTA 更新安全验证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• IEC 61508 工业安全标准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31/34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333333"/>
                </a:solidFill>
                <a:latin typeface="微软雅黑"/>
                <a:ea typeface="微软雅黑"/>
              </a:rPr>
              <a:t>Domain-Specific Packs：为什么是核心竞争差异化优势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行业规则、合规标准、最佳实践，这些知识散布在行业专家的脑中、监管文件里、和多年项目经验中。它们无法通过简单的网页爬取或模型训练获得。公司已有的行业积累，就是天然的数据差异化优势。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2. 先发优势带来累积效应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>
                <a:solidFill>
                  <a:srgbClr val="333333"/>
                </a:solidFill>
                <a:latin typeface="微软雅黑"/>
                <a:ea typeface="微软雅黑"/>
              </a:rPr>
              <a:t>3. 合规认证构成额外差异化优势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  <a:ea typeface="微软雅黑"/>
              </a:rPr>
              <a:t>如果 Domain Pack 能通过 3GPP（电信）、ISO 26262（汽车）、IEC 62109（能源）等行业认证，这本身就是一个极高的准入门槛。竞争对手不仅要做出 Pack，还要花时间和成本通过认证。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  <a:latin typeface="微软雅黑"/>
                <a:ea typeface="微软雅黑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  <a:ea typeface="微软雅黑"/>
              </a:rPr>
              <a:t>30/34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2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3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4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5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6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7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8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9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10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11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12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22430</Words>
  <Application>WPS 演示</Application>
  <PresentationFormat>On-screen Show (4:3)</PresentationFormat>
  <Paragraphs>1776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1" baseType="lpstr">
      <vt:lpstr>Arial</vt:lpstr>
      <vt:lpstr>宋体</vt:lpstr>
      <vt:lpstr>Wingdings</vt:lpstr>
      <vt:lpstr>Arial</vt:lpstr>
      <vt:lpstr>微软雅黑</vt:lpstr>
      <vt:lpstr>汉仪旗黑</vt:lpstr>
      <vt:lpstr>微软雅黑</vt:lpstr>
      <vt:lpstr>Calibri</vt:lpstr>
      <vt:lpstr>Helvetica Neue</vt:lpstr>
      <vt:lpstr>宋体</vt:lpstr>
      <vt:lpstr>Arial Unicode MS</vt:lpstr>
      <vt:lpstr>宋体-简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zhifei dou</cp:lastModifiedBy>
  <cp:revision>175</cp:revision>
  <dcterms:created xsi:type="dcterms:W3CDTF">2026-02-24T22:00:43Z</dcterms:created>
  <dcterms:modified xsi:type="dcterms:W3CDTF">2026-02-24T22:00:43Z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2052-12.1.23155.23155</vt:lpwstr>
  </property>
</Properties>
</file>